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07" r:id="rId3"/>
    <p:sldId id="313" r:id="rId4"/>
    <p:sldId id="257" r:id="rId5"/>
    <p:sldId id="308" r:id="rId6"/>
    <p:sldId id="258" r:id="rId7"/>
    <p:sldId id="259" r:id="rId8"/>
    <p:sldId id="310" r:id="rId9"/>
    <p:sldId id="311" r:id="rId10"/>
    <p:sldId id="312" r:id="rId11"/>
    <p:sldId id="260" r:id="rId12"/>
    <p:sldId id="265" r:id="rId13"/>
    <p:sldId id="267" r:id="rId14"/>
    <p:sldId id="268" r:id="rId15"/>
    <p:sldId id="314" r:id="rId16"/>
    <p:sldId id="270" r:id="rId17"/>
    <p:sldId id="271" r:id="rId18"/>
    <p:sldId id="272" r:id="rId19"/>
    <p:sldId id="315" r:id="rId20"/>
    <p:sldId id="299" r:id="rId21"/>
    <p:sldId id="273" r:id="rId22"/>
    <p:sldId id="274" r:id="rId23"/>
    <p:sldId id="289" r:id="rId24"/>
    <p:sldId id="275" r:id="rId25"/>
    <p:sldId id="276" r:id="rId26"/>
    <p:sldId id="278" r:id="rId27"/>
    <p:sldId id="31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CC00FF"/>
    <a:srgbClr val="0000FF"/>
    <a:srgbClr val="3366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936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FCC65-E1FA-4B5F-9D86-01376DACA007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B5742-2198-42C3-A90E-F69D189FB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9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35F3D0-22C6-4AEA-878F-205F056F0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559199-E6F1-4825-B63A-D4F68265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8A46F4-6062-4D3F-A416-8A2B6342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5FC2AD-ED6F-45D9-B41B-416CC8E3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7A4850-33CB-44AC-A353-4301275E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0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EC3393-B9BC-453E-B060-C4F4AEF1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42721B-C867-4E4A-8AA7-DCDF90B83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C5A902-FDBF-4B13-BDFF-8E50B835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BE7968-A380-4A8A-9E5B-D6E13614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65666A-9F66-496B-B6B3-B1E6A565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D96CCA-BD78-4FE1-9CE8-FBBED901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40E2C5-11FA-49DD-BCC0-B8AF306C9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19ADF7-4800-42BA-9F42-8AE17A33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463598-6172-4D27-8BEA-20F28B6C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93865F-E681-462E-8BFF-7B5D64EB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1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F034CE-8D33-4568-AD36-8D19FAB4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1DAE2A-E9CB-4ECF-BF46-F4F5443CC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966AB0-EE86-4B00-A255-FCD25CB1A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FF8526-C39B-4E2B-8BB3-BEA2B764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F373A9-9EAD-4F55-AEB8-10448BC0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9C509F4-A1E3-4332-92BC-37897226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0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029B59-3425-4E78-8B1A-C5970B52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77E27BF-3FF5-4669-8936-4E495148E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A5FD413-47C2-4008-9095-9B5820B68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ED5D0C9-D183-4A81-A620-3B34D1966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88A31A5-38D7-46B2-AF38-FD3469760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833FBF9-E990-4ADC-ABCC-E88DCC42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A874819-4A61-4AAB-9F47-E94B03CF0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B7A1E10-2C17-4C3F-AD1C-AEECB358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1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7EF48C-0FAE-4675-AFA5-ECD871F3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76FD18B-4049-47C0-ACF1-C3F21B60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AF9960C-157F-4CAB-8281-5670F4D8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7AC9764-9D4E-4232-8808-6DA738E6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C8C87FF-FF64-48FB-BD02-12522D38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403A43-6E23-431C-AB02-FCA9822C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C42409D-754E-4B6A-80F3-09390300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58EDDD-DF63-4585-802D-27272C2A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EC75C5-1ACB-4D93-9C91-37B0BAE9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D11CCD3-D551-4B43-9E23-106A88FC7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2305765-F690-492F-BF8F-6048E9B5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45DECED-ABAC-4660-A9D6-5D9469CC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708333B-D452-44E9-AFDF-37B58FD6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2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CC84E2-0EE6-4163-997D-2EB1B65A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F46E698-3EAE-41AE-95CD-E47316F9D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EA4F642-A7A9-4D08-8A1F-286A3B57C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31F5BF-0D0B-4214-B005-CBE6CA7B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21CB28-614E-4690-9352-917BF472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51883C0-6727-4DAD-9F73-99C591F6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20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03306-139D-42CD-9780-07A1E814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FAF0C84-DC1D-4D58-B819-E9E4B17C4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3F4301-1429-42C9-A9E5-7C836E44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E70BEE-EC7E-4C7D-84E4-431D245E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8C3A05-B199-4F64-AEDE-1640882C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9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AA6FEDD-A9B9-434C-BE21-D65E4D060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4FD80E9-1250-49D0-A4B4-D70712EAB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E3E5C-8B6D-4064-B6E6-0A436676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6F3B16-A030-4907-84B0-996728BC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7F7369-8B97-4061-9AB4-C135220D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0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B5236A9-A0F1-4896-8ED9-B17F7545F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355922-15E9-49EE-9FFE-93EBD76E5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7E0075-817C-4846-90CF-007C0F31E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81166-C4D6-4ABE-BAF4-5CD1EB917BCF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A67045-28E8-4E6F-8588-3B5232290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2BDCC1-8CC2-4DDB-8066-543067F7D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6103E-EE45-40D3-BB3D-05138FF5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9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497" y="1269899"/>
            <a:ext cx="9144000" cy="1655762"/>
          </a:xfrm>
        </p:spPr>
        <p:txBody>
          <a:bodyPr>
            <a:noAutofit/>
          </a:bodyPr>
          <a:lstStyle/>
          <a:p>
            <a:r>
              <a:rPr lang="vi-VN" sz="6000" b="1" dirty="0" smtClean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TẬP</a:t>
            </a:r>
            <a:endParaRPr lang="en-US" sz="6000" b="1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CẤU </a:t>
            </a:r>
            <a:r>
              <a:rPr lang="en-US" sz="88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TẠO CHẤT</a:t>
            </a:r>
          </a:p>
          <a:p>
            <a:r>
              <a:rPr lang="en-US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Tháng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12 </a:t>
            </a:r>
            <a:r>
              <a:rPr lang="en-US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2020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01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362" y="0"/>
            <a:ext cx="12049126" cy="6627393"/>
          </a:xfrm>
        </p:spPr>
        <p:txBody>
          <a:bodyPr>
            <a:normAutofit fontScale="32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8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8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sz="8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8600" dirty="0">
                <a:latin typeface="Arial" panose="020B0604020202020204" pitchFamily="34" charset="0"/>
                <a:cs typeface="Arial" panose="020B0604020202020204" pitchFamily="34" charset="0"/>
              </a:rPr>
              <a:t> (AO).</a:t>
            </a:r>
          </a:p>
          <a:p>
            <a:pPr algn="l">
              <a:lnSpc>
                <a:spcPct val="170000"/>
              </a:lnSpc>
            </a:pP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AO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8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8600" dirty="0">
              <a:solidFill>
                <a:srgbClr val="CC00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AO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quanh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8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8600" dirty="0">
              <a:solidFill>
                <a:srgbClr val="C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AO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quanh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8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≥ 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bởi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86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86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8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n, ℓ, 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8600" baseline="-25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8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8600" dirty="0">
              <a:solidFill>
                <a:srgbClr val="0000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r>
              <a:rPr lang="en-US" sz="86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4.AO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xoay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quanh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bởi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8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8600" baseline="-25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86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8600" dirty="0" smtClean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70000"/>
              </a:lnSpc>
            </a:pPr>
            <a:r>
              <a:rPr lang="en-US" sz="8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Hai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ô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 smtClean="0">
                <a:latin typeface="Arial" pitchFamily="34" charset="0"/>
                <a:cs typeface="Arial" pitchFamily="34" charset="0"/>
              </a:rPr>
              <a:t>chung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 smtClean="0">
                <a:latin typeface="Arial" pitchFamily="34" charset="0"/>
                <a:cs typeface="Arial" pitchFamily="34" charset="0"/>
              </a:rPr>
              <a:t>một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hàm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vì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 smtClean="0">
                <a:latin typeface="Arial" pitchFamily="34" charset="0"/>
                <a:cs typeface="Arial" pitchFamily="34" charset="0"/>
              </a:rPr>
              <a:t>cùng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 3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8600" dirty="0">
                <a:latin typeface="Arial" pitchFamily="34" charset="0"/>
                <a:cs typeface="Arial" pitchFamily="34" charset="0"/>
              </a:rPr>
              <a:t>n, ℓ, </a:t>
            </a:r>
            <a:r>
              <a:rPr lang="en-US" sz="8600" dirty="0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86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ℓ</a:t>
            </a:r>
            <a:r>
              <a:rPr lang="en-US" sz="8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8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endParaRPr lang="en-US" sz="7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endParaRPr lang="en-US" sz="7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66222A21-0D29-46D3-8073-F2C30A3015FB}"/>
              </a:ext>
            </a:extLst>
          </p:cNvPr>
          <p:cNvSpPr/>
          <p:nvPr/>
        </p:nvSpPr>
        <p:spPr>
          <a:xfrm>
            <a:off x="233362" y="5305489"/>
            <a:ext cx="461081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1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69607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6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6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6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6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sz="3600" dirty="0">
                <a:solidFill>
                  <a:srgbClr val="006600"/>
                </a:solidFill>
                <a:cs typeface="Arial" panose="020B0604020202020204" pitchFamily="34" charset="0"/>
              </a:rPr>
              <a:t>ư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n.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US" sz="36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6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6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sz="36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aseline="-25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70000"/>
              </a:lnSpc>
              <a:buNone/>
            </a:pPr>
            <a:r>
              <a:rPr lang="en-US" sz="3600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3.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hydrogenoid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36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70000"/>
              </a:lnSpc>
              <a:buNone/>
            </a:pP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vi-VN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và</a:t>
            </a:r>
            <a:r>
              <a:rPr lang="en-US" sz="36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ℓ.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6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3600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6. 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ℓ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(n, ℓ). </a:t>
            </a:r>
          </a:p>
          <a:p>
            <a:endParaRPr lang="en-US" sz="1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buNone/>
            </a:pPr>
            <a:endParaRPr lang="en-US" dirty="0" smtClean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</a:pPr>
            <a:endParaRPr lang="en-US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66222A21-0D29-46D3-8073-F2C30A3015FB}"/>
              </a:ext>
            </a:extLst>
          </p:cNvPr>
          <p:cNvSpPr/>
          <p:nvPr/>
        </p:nvSpPr>
        <p:spPr>
          <a:xfrm>
            <a:off x="2821" y="1609789"/>
            <a:ext cx="461081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80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8342" y="1615825"/>
            <a:ext cx="9624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Câu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4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.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tối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thiểu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vi-VN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AO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32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 ; 1s .    </a:t>
            </a:r>
            <a:endParaRPr lang="en-US" sz="3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8342" y="252645"/>
            <a:ext cx="11487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AO(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3;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0.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708933" y="916441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AO(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3s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12866" y="898294"/>
                <a:ext cx="3638550" cy="541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AO(</a:t>
                </a:r>
                <a:r>
                  <a:rPr lang="en-US" sz="2800" dirty="0" smtClean="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sz="2800" dirty="0">
                    <a:solidFill>
                      <a:srgbClr val="CC00FF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, 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</a:rPr>
                  <a:t>) </a:t>
                </a:r>
                <a:r>
                  <a:rPr lang="en-US" sz="2800" dirty="0" smtClean="0">
                    <a:latin typeface="Arial" pitchFamily="34" charset="0"/>
                    <a:cs typeface="Arial" pitchFamily="34" charset="0"/>
                    <a:sym typeface="Symbol"/>
                  </a:rPr>
                  <a:t> </a:t>
                </a:r>
                <a:r>
                  <a:rPr lang="en-US" sz="2800" b="1" dirty="0" smtClean="0">
                    <a:solidFill>
                      <a:srgbClr val="006600"/>
                    </a:solidFill>
                    <a:latin typeface="Arial" pitchFamily="34" charset="0"/>
                    <a:cs typeface="Arial" pitchFamily="34" charset="0"/>
                    <a:sym typeface="Symbol"/>
                  </a:rPr>
                  <a:t>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6600"/>
                            </a:solidFill>
                            <a:latin typeface="Cambria Math"/>
                            <a:cs typeface="Arial" pitchFamily="34" charset="0"/>
                            <a:sym typeface="Symbol"/>
                          </a:rPr>
                          <m:t>𝒅</m:t>
                        </m:r>
                      </m:e>
                      <m:sub>
                        <m:sSup>
                          <m:sSupPr>
                            <m:ctrlPr>
                              <a:rPr lang="en-US" sz="2800" b="1" i="1" smtClean="0">
                                <a:solidFill>
                                  <a:srgbClr val="0066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sz="2800" b="1" i="1" smtClean="0">
                                <a:solidFill>
                                  <a:srgbClr val="0066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𝒛</m:t>
                            </m:r>
                          </m:e>
                          <m:sup>
                            <m:r>
                              <a:rPr lang="en-US" sz="2800" b="1" i="1" smtClean="0">
                                <a:solidFill>
                                  <a:srgbClr val="006600"/>
                                </a:solidFill>
                                <a:latin typeface="Cambria Math"/>
                                <a:cs typeface="Arial" pitchFamily="34" charset="0"/>
                                <a:sym typeface="Symbol"/>
                              </a:rPr>
                              <m:t>𝟐</m:t>
                            </m:r>
                          </m:sup>
                        </m:sSup>
                      </m:sub>
                    </m:sSub>
                  </m:oMath>
                </a14:m>
                <a:endParaRPr lang="en-US" sz="2800" b="1" dirty="0">
                  <a:solidFill>
                    <a:srgbClr val="0066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2866" y="898294"/>
                <a:ext cx="3638550" cy="541367"/>
              </a:xfrm>
              <a:prstGeom prst="rect">
                <a:avLst/>
              </a:prstGeom>
              <a:blipFill rotWithShape="1">
                <a:blip r:embed="rId2"/>
                <a:stretch>
                  <a:fillRect l="-3518" t="-12360" b="-25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995057" y="916441"/>
            <a:ext cx="316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AO(</a:t>
            </a:r>
            <a:r>
              <a:rPr lang="en-US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3p</a:t>
            </a:r>
            <a:r>
              <a:rPr lang="en-US" sz="2800" b="1" baseline="-250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z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6579" y="2200600"/>
            <a:ext cx="921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AO 5s:  n = 5 </a:t>
            </a:r>
            <a:r>
              <a:rPr lang="en-US" sz="32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ℓ = 0 ;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AO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:  n =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8341" y="2798975"/>
            <a:ext cx="11249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5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định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số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lượng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tử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chính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số AO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số electron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tối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tử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Q.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6579" y="3857143"/>
            <a:ext cx="90963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 </a:t>
            </a:r>
            <a:r>
              <a:rPr lang="vi-VN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; số AO = 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32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49 </a:t>
            </a: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; </a:t>
            </a:r>
            <a:r>
              <a:rPr lang="vi-VN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số electron = 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2n</a:t>
            </a:r>
            <a:r>
              <a:rPr lang="en-US" sz="3200" baseline="300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98e</a:t>
            </a:r>
            <a:r>
              <a:rPr lang="vi-VN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2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201" y="5479515"/>
            <a:ext cx="1234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006600"/>
                </a:solidFill>
              </a:rPr>
              <a:t>Phân lớp 5f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số AO = </a:t>
            </a: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(2ℓ + 1) = 7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số electron = </a:t>
            </a: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2.(2ℓ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+ 1</a:t>
            </a:r>
            <a:r>
              <a:rPr lang="en-US" sz="32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14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200" dirty="0">
              <a:solidFill>
                <a:srgbClr val="006600"/>
              </a:solidFill>
            </a:endParaRPr>
          </a:p>
          <a:p>
            <a:r>
              <a:rPr lang="vi-VN" sz="3200" dirty="0" smtClean="0">
                <a:solidFill>
                  <a:srgbClr val="006600"/>
                </a:solidFill>
              </a:rPr>
              <a:t> 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8342" y="4410036"/>
            <a:ext cx="11249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6.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định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tên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phân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lớp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số AO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số electron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tối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trong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phân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lớp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tử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có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n = 5 </a:t>
            </a:r>
            <a:r>
              <a:rPr lang="en-US" sz="32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 ℓ 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= 3.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875" y="73418"/>
            <a:ext cx="12706350" cy="7879957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12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</a:t>
            </a:r>
            <a:r>
              <a:rPr lang="en-US" sz="128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r>
              <a:rPr lang="en-US" sz="1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1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Theo </a:t>
            </a:r>
            <a:r>
              <a:rPr lang="en-US" sz="12800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sz="128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2800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E(3d</a:t>
            </a:r>
            <a:r>
              <a:rPr lang="en-US" sz="12800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</a:t>
            </a: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E(3d</a:t>
            </a:r>
            <a:r>
              <a:rPr lang="en-US" sz="12800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xz</a:t>
            </a: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E(3d</a:t>
            </a:r>
            <a:r>
              <a:rPr lang="en-US" sz="12800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E(3d</a:t>
            </a:r>
            <a:r>
              <a:rPr lang="en-US" sz="12800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</a:t>
            </a: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E(3d</a:t>
            </a:r>
            <a:r>
              <a:rPr lang="en-US" sz="12800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x2-y2</a:t>
            </a:r>
            <a:r>
              <a:rPr lang="en-US" sz="128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US" sz="12800" baseline="30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E</a:t>
            </a:r>
            <a:r>
              <a:rPr lang="en-US" sz="128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US" sz="12800" baseline="30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28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He) &lt; E</a:t>
            </a:r>
            <a:r>
              <a:rPr lang="en-US" sz="12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800" dirty="0" smtClean="0">
                <a:latin typeface="Arial" panose="020B0604020202020204" pitchFamily="34" charset="0"/>
                <a:cs typeface="Arial" panose="020B0604020202020204" pitchFamily="34" charset="0"/>
              </a:rPr>
              <a:t>He) 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1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1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O) &gt; E</a:t>
            </a:r>
            <a:r>
              <a:rPr lang="en-US" sz="128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1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F)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1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1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8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sz="1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&gt; E</a:t>
            </a:r>
            <a:r>
              <a:rPr lang="en-US" sz="1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sz="1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128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sz="1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sz="12800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</a:t>
            </a: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sz="1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12800" baseline="-250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12800" baseline="-250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sz="12800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</a:t>
            </a:r>
            <a:r>
              <a:rPr lang="en-US" sz="1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1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5d</a:t>
            </a:r>
            <a:r>
              <a:rPr lang="en-US" sz="1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r>
              <a:rPr lang="en-US" sz="1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La)  &lt; E</a:t>
            </a:r>
            <a:r>
              <a:rPr lang="en-US" sz="1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4f</a:t>
            </a:r>
            <a:r>
              <a:rPr lang="en-US" sz="1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8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r>
              <a:rPr lang="en-US" sz="128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La)</a:t>
            </a:r>
          </a:p>
          <a:p>
            <a:pPr marL="514350" indent="-514350" algn="l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endParaRPr lang="en-US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0" y="114300"/>
            <a:ext cx="232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TẤT CẢ</a:t>
            </a:r>
            <a:endParaRPr lang="en-US" sz="4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4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591" y="186030"/>
            <a:ext cx="11784564" cy="7119256"/>
          </a:xfrm>
        </p:spPr>
        <p:txBody>
          <a:bodyPr>
            <a:normAutofit fontScale="550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58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5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</a:t>
            </a:r>
            <a:r>
              <a:rPr lang="en-US" sz="5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5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1. AO </a:t>
            </a:r>
            <a:r>
              <a:rPr lang="vi-VN" sz="5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AO 1s.</a:t>
            </a:r>
          </a:p>
          <a:p>
            <a:pPr algn="l">
              <a:lnSpc>
                <a:spcPct val="170000"/>
              </a:lnSpc>
            </a:pP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 </a:t>
            </a:r>
            <a:r>
              <a:rPr lang="vi-VN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5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5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</a:t>
            </a:r>
            <a:r>
              <a:rPr lang="vi-VN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en-US" sz="5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vi-VN" sz="58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58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70000"/>
              </a:lnSpc>
            </a:pP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AO </a:t>
            </a:r>
            <a:r>
              <a:rPr lang="vi-VN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5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yoz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5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70000"/>
              </a:lnSpc>
            </a:pP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AO 3d</a:t>
            </a:r>
            <a:r>
              <a:rPr lang="en-US" sz="5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vi-VN" sz="5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5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vi-VN" sz="5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lang="en-US" sz="5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5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y.</a:t>
            </a:r>
          </a:p>
          <a:p>
            <a:pPr algn="l">
              <a:lnSpc>
                <a:spcPct val="170000"/>
              </a:lnSpc>
            </a:pP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AO: s, p, d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5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91F4FB42-5FAF-4755-BCCC-97BB30CB268F}"/>
              </a:ext>
            </a:extLst>
          </p:cNvPr>
          <p:cNvSpPr/>
          <p:nvPr/>
        </p:nvSpPr>
        <p:spPr>
          <a:xfrm>
            <a:off x="106167" y="1206814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12C8DF8-DA86-4AA9-9705-4882842377BC}"/>
              </a:ext>
            </a:extLst>
          </p:cNvPr>
          <p:cNvSpPr/>
          <p:nvPr/>
        </p:nvSpPr>
        <p:spPr>
          <a:xfrm>
            <a:off x="108878" y="2922850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2B3E5CFE-0462-44D5-99A6-656EFE57F73C}"/>
              </a:ext>
            </a:extLst>
          </p:cNvPr>
          <p:cNvSpPr/>
          <p:nvPr/>
        </p:nvSpPr>
        <p:spPr>
          <a:xfrm>
            <a:off x="127232" y="4486167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0262AFA-8E00-44FE-B569-2899F7F0347C}"/>
              </a:ext>
            </a:extLst>
          </p:cNvPr>
          <p:cNvSpPr/>
          <p:nvPr/>
        </p:nvSpPr>
        <p:spPr>
          <a:xfrm>
            <a:off x="127232" y="5369320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9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16" y="186613"/>
            <a:ext cx="12019384" cy="6027575"/>
          </a:xfrm>
        </p:spPr>
        <p:txBody>
          <a:bodyPr>
            <a:normAutofit fontScale="47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7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7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</a:t>
            </a:r>
            <a:r>
              <a:rPr lang="en-US" sz="7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ng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70000"/>
              </a:lnSpc>
            </a:pP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1s</a:t>
            </a:r>
            <a:r>
              <a:rPr lang="en-US" sz="76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76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vi-VN" sz="76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vi-VN" sz="76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vi-VN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76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vi-VN" sz="76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76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76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7600" baseline="300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</a:p>
          <a:p>
            <a:pPr algn="l">
              <a:lnSpc>
                <a:spcPct val="170000"/>
              </a:lnSpc>
            </a:pP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1s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76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76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7600" dirty="0">
              <a:solidFill>
                <a:srgbClr val="0066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70000"/>
              </a:lnSpc>
            </a:pP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1s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7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76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algn="l">
              <a:lnSpc>
                <a:spcPct val="170000"/>
              </a:lnSpc>
            </a:pP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US" sz="7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1s</a:t>
            </a:r>
            <a:r>
              <a:rPr lang="en-US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4p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4d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5s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5p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6s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4f</a:t>
            </a:r>
            <a:r>
              <a:rPr lang="vi-VN" sz="76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7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2F37657-93DA-46F8-A3A9-324629281230}"/>
              </a:ext>
            </a:extLst>
          </p:cNvPr>
          <p:cNvSpPr/>
          <p:nvPr/>
        </p:nvSpPr>
        <p:spPr>
          <a:xfrm>
            <a:off x="172616" y="1332208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4902D0E6-9CED-45E2-8CDE-1285561A0A27}"/>
              </a:ext>
            </a:extLst>
          </p:cNvPr>
          <p:cNvSpPr/>
          <p:nvPr/>
        </p:nvSpPr>
        <p:spPr>
          <a:xfrm>
            <a:off x="135506" y="2279841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91055BAC-0864-447E-B131-FE054C9F286B}"/>
              </a:ext>
            </a:extLst>
          </p:cNvPr>
          <p:cNvSpPr/>
          <p:nvPr/>
        </p:nvSpPr>
        <p:spPr>
          <a:xfrm>
            <a:off x="172616" y="3276267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BF736F8-E6FE-48D3-9F6A-338D1DDA76B9}"/>
              </a:ext>
            </a:extLst>
          </p:cNvPr>
          <p:cNvSpPr/>
          <p:nvPr/>
        </p:nvSpPr>
        <p:spPr>
          <a:xfrm>
            <a:off x="135506" y="4205026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62474" y="1331835"/>
            <a:ext cx="5095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vi-VN" sz="3200" baseline="-25000" dirty="0" smtClean="0">
                <a:solidFill>
                  <a:srgbClr val="C00000"/>
                </a:solidFill>
              </a:rPr>
              <a:t>8</a:t>
            </a:r>
            <a:r>
              <a:rPr lang="vi-VN" sz="3200" dirty="0" smtClean="0">
                <a:solidFill>
                  <a:srgbClr val="C00000"/>
                </a:solidFill>
              </a:rPr>
              <a:t>O: 2s</a:t>
            </a:r>
            <a:r>
              <a:rPr lang="vi-VN" sz="3200" baseline="30000" dirty="0" smtClean="0">
                <a:solidFill>
                  <a:srgbClr val="C00000"/>
                </a:solidFill>
              </a:rPr>
              <a:t>2</a:t>
            </a:r>
            <a:r>
              <a:rPr lang="vi-VN" sz="3200" dirty="0" smtClean="0">
                <a:solidFill>
                  <a:srgbClr val="C00000"/>
                </a:solidFill>
              </a:rPr>
              <a:t>2p</a:t>
            </a:r>
            <a:r>
              <a:rPr lang="vi-VN" sz="3200" baseline="30000" dirty="0" smtClean="0">
                <a:solidFill>
                  <a:srgbClr val="C00000"/>
                </a:solidFill>
              </a:rPr>
              <a:t>2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vi-VN" sz="32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vi-VN" sz="32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4025" y="2307463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006600"/>
                </a:solidFill>
                <a:sym typeface="Symbol"/>
              </a:rPr>
              <a:t> </a:t>
            </a:r>
            <a:r>
              <a:rPr lang="vi-VN" sz="3200" baseline="-25000" dirty="0" smtClean="0">
                <a:solidFill>
                  <a:srgbClr val="006600"/>
                </a:solidFill>
                <a:sym typeface="Symbol"/>
              </a:rPr>
              <a:t>24</a:t>
            </a:r>
            <a:r>
              <a:rPr lang="vi-VN" sz="3200" dirty="0" smtClean="0">
                <a:solidFill>
                  <a:srgbClr val="006600"/>
                </a:solidFill>
                <a:sym typeface="Symbol"/>
              </a:rPr>
              <a:t>Cr</a:t>
            </a:r>
            <a:r>
              <a:rPr lang="vi-VN" sz="3200" dirty="0" smtClean="0">
                <a:solidFill>
                  <a:srgbClr val="006600"/>
                </a:solidFill>
              </a:rPr>
              <a:t>: 3d</a:t>
            </a:r>
            <a:r>
              <a:rPr lang="vi-VN" sz="3200" baseline="30000" dirty="0" smtClean="0">
                <a:solidFill>
                  <a:srgbClr val="006600"/>
                </a:solidFill>
              </a:rPr>
              <a:t>5</a:t>
            </a:r>
            <a:r>
              <a:rPr lang="vi-VN" sz="3200" dirty="0" smtClean="0">
                <a:solidFill>
                  <a:srgbClr val="006600"/>
                </a:solidFill>
              </a:rPr>
              <a:t>4s</a:t>
            </a:r>
            <a:r>
              <a:rPr lang="vi-VN" sz="3200" baseline="30000" dirty="0" smtClean="0">
                <a:solidFill>
                  <a:srgbClr val="006600"/>
                </a:solidFill>
              </a:rPr>
              <a:t>1</a:t>
            </a:r>
            <a:r>
              <a:rPr lang="vi-VN" sz="3200" dirty="0" smtClean="0">
                <a:solidFill>
                  <a:srgbClr val="006600"/>
                </a:solidFill>
              </a:rPr>
              <a:t> (</a:t>
            </a:r>
            <a:r>
              <a:rPr lang="vi-VN" sz="3200" baseline="-25000" dirty="0" smtClean="0">
                <a:solidFill>
                  <a:srgbClr val="006600"/>
                </a:solidFill>
              </a:rPr>
              <a:t>42</a:t>
            </a:r>
            <a:r>
              <a:rPr lang="vi-VN" sz="3200" dirty="0" smtClean="0">
                <a:solidFill>
                  <a:srgbClr val="006600"/>
                </a:solidFill>
              </a:rPr>
              <a:t>Mo: 4d</a:t>
            </a:r>
            <a:r>
              <a:rPr lang="vi-VN" sz="3200" baseline="30000" dirty="0" smtClean="0">
                <a:solidFill>
                  <a:srgbClr val="006600"/>
                </a:solidFill>
              </a:rPr>
              <a:t>5</a:t>
            </a:r>
            <a:r>
              <a:rPr lang="vi-VN" sz="3200" dirty="0" smtClean="0">
                <a:solidFill>
                  <a:srgbClr val="006600"/>
                </a:solidFill>
              </a:rPr>
              <a:t>5s</a:t>
            </a:r>
            <a:r>
              <a:rPr lang="vi-VN" sz="3200" baseline="30000" dirty="0" smtClean="0">
                <a:solidFill>
                  <a:srgbClr val="006600"/>
                </a:solidFill>
              </a:rPr>
              <a:t>1</a:t>
            </a:r>
            <a:r>
              <a:rPr lang="vi-VN" sz="3200" dirty="0" smtClean="0">
                <a:solidFill>
                  <a:srgbClr val="006600"/>
                </a:solidFill>
              </a:rPr>
              <a:t>) 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19750" y="3276267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 </a:t>
            </a:r>
            <a:r>
              <a:rPr lang="vi-VN" sz="3200" baseline="-25000" dirty="0" smtClean="0">
                <a:solidFill>
                  <a:srgbClr val="0000FF"/>
                </a:solidFill>
                <a:sym typeface="Symbol"/>
              </a:rPr>
              <a:t>29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Cu</a:t>
            </a:r>
            <a:r>
              <a:rPr lang="vi-VN" sz="3200" dirty="0" smtClean="0">
                <a:solidFill>
                  <a:srgbClr val="0000FF"/>
                </a:solidFill>
              </a:rPr>
              <a:t>: 3d</a:t>
            </a:r>
            <a:r>
              <a:rPr lang="vi-VN" sz="3200" baseline="30000" dirty="0" smtClean="0">
                <a:solidFill>
                  <a:srgbClr val="0000FF"/>
                </a:solidFill>
              </a:rPr>
              <a:t>10</a:t>
            </a:r>
            <a:r>
              <a:rPr lang="vi-VN" sz="3200" dirty="0" smtClean="0">
                <a:solidFill>
                  <a:srgbClr val="0000FF"/>
                </a:solidFill>
              </a:rPr>
              <a:t>4s</a:t>
            </a:r>
            <a:r>
              <a:rPr lang="vi-VN" sz="3200" baseline="30000" dirty="0" smtClean="0">
                <a:solidFill>
                  <a:srgbClr val="0000FF"/>
                </a:solidFill>
              </a:rPr>
              <a:t>1</a:t>
            </a:r>
            <a:r>
              <a:rPr lang="vi-VN" sz="3200" dirty="0" smtClean="0">
                <a:solidFill>
                  <a:srgbClr val="0000FF"/>
                </a:solidFill>
              </a:rPr>
              <a:t> (</a:t>
            </a:r>
            <a:r>
              <a:rPr lang="vi-VN" sz="3200" baseline="-25000" dirty="0" smtClean="0">
                <a:solidFill>
                  <a:srgbClr val="0000FF"/>
                </a:solidFill>
              </a:rPr>
              <a:t>47</a:t>
            </a:r>
            <a:r>
              <a:rPr lang="vi-VN" sz="3200" dirty="0" smtClean="0">
                <a:solidFill>
                  <a:srgbClr val="0000FF"/>
                </a:solidFill>
              </a:rPr>
              <a:t>Ag , </a:t>
            </a:r>
            <a:r>
              <a:rPr lang="vi-VN" sz="3200" baseline="-25000" dirty="0" smtClean="0">
                <a:solidFill>
                  <a:srgbClr val="0000FF"/>
                </a:solidFill>
              </a:rPr>
              <a:t>79</a:t>
            </a:r>
            <a:r>
              <a:rPr lang="vi-VN" sz="3200" dirty="0" smtClean="0">
                <a:solidFill>
                  <a:srgbClr val="0000FF"/>
                </a:solidFill>
              </a:rPr>
              <a:t>Au) 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14650" y="4838886"/>
            <a:ext cx="6419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 </a:t>
            </a:r>
            <a:r>
              <a:rPr lang="vi-VN" sz="3200" dirty="0" smtClean="0">
                <a:solidFill>
                  <a:srgbClr val="CC00FF"/>
                </a:solidFill>
                <a:sym typeface="Symbol"/>
              </a:rPr>
              <a:t> </a:t>
            </a:r>
            <a:r>
              <a:rPr lang="vi-VN" sz="3200" baseline="-25000" dirty="0" smtClean="0">
                <a:solidFill>
                  <a:srgbClr val="CC00FF"/>
                </a:solidFill>
                <a:sym typeface="Symbol"/>
              </a:rPr>
              <a:t>57</a:t>
            </a:r>
            <a:r>
              <a:rPr lang="vi-VN" sz="3200" dirty="0" smtClean="0">
                <a:solidFill>
                  <a:srgbClr val="CC00FF"/>
                </a:solidFill>
                <a:sym typeface="Symbol"/>
              </a:rPr>
              <a:t>La</a:t>
            </a:r>
            <a:r>
              <a:rPr lang="vi-VN" sz="3200" dirty="0" smtClean="0">
                <a:solidFill>
                  <a:srgbClr val="CC00FF"/>
                </a:solidFill>
              </a:rPr>
              <a:t>: 5d</a:t>
            </a:r>
            <a:r>
              <a:rPr lang="vi-VN" sz="3200" baseline="30000" dirty="0" smtClean="0">
                <a:solidFill>
                  <a:srgbClr val="CC00FF"/>
                </a:solidFill>
              </a:rPr>
              <a:t>1</a:t>
            </a:r>
            <a:r>
              <a:rPr lang="vi-VN" sz="3200" dirty="0" smtClean="0">
                <a:solidFill>
                  <a:srgbClr val="CC00FF"/>
                </a:solidFill>
              </a:rPr>
              <a:t>6s</a:t>
            </a:r>
            <a:r>
              <a:rPr lang="vi-VN" sz="3200" baseline="30000" dirty="0">
                <a:solidFill>
                  <a:srgbClr val="CC00FF"/>
                </a:solidFill>
              </a:rPr>
              <a:t>2</a:t>
            </a:r>
            <a:r>
              <a:rPr lang="vi-VN" sz="3200" dirty="0" smtClean="0">
                <a:solidFill>
                  <a:srgbClr val="CC00FF"/>
                </a:solidFill>
              </a:rPr>
              <a:t> (</a:t>
            </a:r>
            <a:r>
              <a:rPr lang="vi-VN" sz="3200" baseline="-25000" dirty="0" smtClean="0">
                <a:solidFill>
                  <a:srgbClr val="CC00FF"/>
                </a:solidFill>
              </a:rPr>
              <a:t>89</a:t>
            </a:r>
            <a:r>
              <a:rPr lang="vi-VN" sz="3200" dirty="0" smtClean="0">
                <a:solidFill>
                  <a:srgbClr val="CC00FF"/>
                </a:solidFill>
              </a:rPr>
              <a:t>Ac: 6d</a:t>
            </a:r>
            <a:r>
              <a:rPr lang="vi-VN" sz="3200" baseline="30000" dirty="0" smtClean="0">
                <a:solidFill>
                  <a:srgbClr val="CC00FF"/>
                </a:solidFill>
              </a:rPr>
              <a:t>1</a:t>
            </a:r>
            <a:r>
              <a:rPr lang="vi-VN" sz="3200" dirty="0" smtClean="0">
                <a:solidFill>
                  <a:srgbClr val="CC00FF"/>
                </a:solidFill>
              </a:rPr>
              <a:t>7s</a:t>
            </a:r>
            <a:r>
              <a:rPr lang="vi-VN" sz="3200" baseline="30000" dirty="0">
                <a:solidFill>
                  <a:srgbClr val="CC00FF"/>
                </a:solidFill>
              </a:rPr>
              <a:t>2</a:t>
            </a:r>
            <a:r>
              <a:rPr lang="vi-VN" sz="3200" dirty="0" smtClean="0">
                <a:solidFill>
                  <a:srgbClr val="CC00FF"/>
                </a:solidFill>
              </a:rPr>
              <a:t>) </a:t>
            </a:r>
            <a:endParaRPr lang="en-US" sz="3200" dirty="0">
              <a:solidFill>
                <a:srgbClr val="CC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64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904655"/>
          </a:xfrm>
        </p:spPr>
        <p:txBody>
          <a:bodyPr>
            <a:normAutofit/>
          </a:bodyPr>
          <a:lstStyle/>
          <a:p>
            <a:pPr algn="l">
              <a:lnSpc>
                <a:spcPct val="160000"/>
              </a:lnSpc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HTTH</a:t>
            </a:r>
            <a:r>
              <a:rPr lang="vi-V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hóa học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60000"/>
              </a:lnSpc>
            </a:pPr>
            <a:r>
              <a:rPr lang="en-US" sz="3200" dirty="0">
                <a:solidFill>
                  <a:srgbClr val="CC00FF"/>
                </a:solidFill>
                <a:cs typeface="Arial" panose="020B0604020202020204" pitchFamily="34" charset="0"/>
              </a:rPr>
              <a:t>1. </a:t>
            </a:r>
            <a:r>
              <a:rPr lang="vi-VN" sz="3200" dirty="0">
                <a:solidFill>
                  <a:srgbClr val="CC00FF"/>
                </a:solidFill>
                <a:cs typeface="Arial" panose="020B0604020202020204" pitchFamily="34" charset="0"/>
              </a:rPr>
              <a:t>Điện tích hiệu dụng của hạt nhân luôn nhỏ hơn điện tích hạt nhân </a:t>
            </a:r>
            <a:r>
              <a:rPr lang="vi-VN" sz="3200" dirty="0" smtClean="0">
                <a:solidFill>
                  <a:srgbClr val="CC00FF"/>
                </a:solidFill>
                <a:cs typeface="Arial" panose="020B0604020202020204" pitchFamily="34" charset="0"/>
              </a:rPr>
              <a:t>nguyên </a:t>
            </a:r>
            <a:r>
              <a:rPr lang="vi-VN" sz="3200" dirty="0">
                <a:solidFill>
                  <a:srgbClr val="CC00FF"/>
                </a:solidFill>
                <a:cs typeface="Arial" panose="020B0604020202020204" pitchFamily="34" charset="0"/>
              </a:rPr>
              <a:t>tử.</a:t>
            </a:r>
            <a:endParaRPr lang="en-US" sz="3200" dirty="0">
              <a:solidFill>
                <a:srgbClr val="CC00FF"/>
              </a:solidFill>
              <a:cs typeface="Arial" panose="020B0604020202020204" pitchFamily="34" charset="0"/>
            </a:endParaRPr>
          </a:p>
          <a:p>
            <a:pPr algn="l">
              <a:lnSpc>
                <a:spcPct val="160000"/>
              </a:lnSpc>
            </a:pP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mức năng lượng của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tố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ℓ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vi-VN" sz="3200" dirty="0" smtClean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60000"/>
              </a:lnSpc>
            </a:pPr>
            <a:r>
              <a:rPr lang="vi-VN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sz="32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 lượng ion hóa I</a:t>
            </a:r>
            <a:r>
              <a:rPr lang="vi-VN" sz="32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tăng đều đặn cũng như ái lực điện tử mạnh dần đều.</a:t>
            </a:r>
            <a:endParaRPr lang="vi-VN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67C4E61-6600-4E19-A5DA-164245388D3D}"/>
              </a:ext>
            </a:extLst>
          </p:cNvPr>
          <p:cNvSpPr/>
          <p:nvPr/>
        </p:nvSpPr>
        <p:spPr>
          <a:xfrm>
            <a:off x="-71295" y="1071837"/>
            <a:ext cx="538020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A2C5A12-D995-474E-92BF-3623EF759F02}"/>
              </a:ext>
            </a:extLst>
          </p:cNvPr>
          <p:cNvSpPr/>
          <p:nvPr/>
        </p:nvSpPr>
        <p:spPr>
          <a:xfrm>
            <a:off x="0" y="2722406"/>
            <a:ext cx="481033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05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232" y="195941"/>
            <a:ext cx="11961417" cy="7259217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r>
              <a:rPr lang="en-US" sz="1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</a:t>
            </a:r>
            <a:r>
              <a:rPr lang="en-US" sz="1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11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ns 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np 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xâm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	  </a:t>
            </a:r>
          </a:p>
          <a:p>
            <a:pPr algn="l">
              <a:lnSpc>
                <a:spcPct val="12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2. Electron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1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pt-BR" sz="11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 ứng chắn tác động lên mọi electron là như nhau. </a:t>
            </a:r>
            <a:r>
              <a:rPr lang="en-US" sz="11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 tốn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đôi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spin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 1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AO.</a:t>
            </a:r>
          </a:p>
          <a:p>
            <a:pPr algn="l">
              <a:lnSpc>
                <a:spcPct val="120000"/>
              </a:lnSpc>
            </a:pP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xâm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đám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mây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1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112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chiếm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orbital.</a:t>
            </a:r>
          </a:p>
          <a:p>
            <a:pPr algn="l">
              <a:lnSpc>
                <a:spcPct val="170000"/>
              </a:lnSpc>
            </a:pPr>
            <a:endParaRPr lang="en-US" sz="8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B5B40636-EDF0-40C6-B6F0-95253CA8F873}"/>
              </a:ext>
            </a:extLst>
          </p:cNvPr>
          <p:cNvSpPr/>
          <p:nvPr/>
        </p:nvSpPr>
        <p:spPr>
          <a:xfrm>
            <a:off x="137627" y="702194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433726A6-C328-455F-A937-9427BDB95926}"/>
              </a:ext>
            </a:extLst>
          </p:cNvPr>
          <p:cNvSpPr/>
          <p:nvPr/>
        </p:nvSpPr>
        <p:spPr>
          <a:xfrm>
            <a:off x="137627" y="2834264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420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98" y="139961"/>
            <a:ext cx="12101804" cy="6350486"/>
          </a:xfrm>
        </p:spPr>
        <p:txBody>
          <a:bodyPr>
            <a:normAutofit fontScale="475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67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67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</a:t>
            </a:r>
            <a:r>
              <a:rPr lang="en-US" sz="6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HTTH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lang="vi-VN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67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F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6700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6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lang="en-US" sz="67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endParaRPr lang="en-US" sz="80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vi-VN" sz="8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67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 13.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HTTH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lang="vi-VN" sz="67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67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67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lnSpc>
                <a:spcPct val="120000"/>
              </a:lnSpc>
            </a:pP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Cl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O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Rb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P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Ca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Cr  </a:t>
            </a:r>
            <a:r>
              <a:rPr lang="en-US" sz="67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6700" dirty="0">
                <a:latin typeface="Arial" panose="020B0604020202020204" pitchFamily="34" charset="0"/>
                <a:cs typeface="Arial" panose="020B0604020202020204" pitchFamily="34" charset="0"/>
              </a:rPr>
              <a:t>F                        </a:t>
            </a:r>
          </a:p>
          <a:p>
            <a:pPr algn="l">
              <a:lnSpc>
                <a:spcPct val="170000"/>
              </a:lnSpc>
            </a:pPr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endParaRPr lang="en-US" sz="8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3BF212F-84A6-4114-BE47-E753A31570A9}"/>
              </a:ext>
            </a:extLst>
          </p:cNvPr>
          <p:cNvSpPr txBox="1"/>
          <p:nvPr/>
        </p:nvSpPr>
        <p:spPr>
          <a:xfrm>
            <a:off x="1550221" y="2230275"/>
            <a:ext cx="94702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40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40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40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40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40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sz="4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4000" baseline="30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32D8612-259F-471A-B51F-6918C7AA0295}"/>
              </a:ext>
            </a:extLst>
          </p:cNvPr>
          <p:cNvSpPr txBox="1"/>
          <p:nvPr/>
        </p:nvSpPr>
        <p:spPr>
          <a:xfrm>
            <a:off x="1550221" y="5025380"/>
            <a:ext cx="898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3600" baseline="-25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825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918" y="279918"/>
            <a:ext cx="11912082" cy="5766318"/>
          </a:xfrm>
        </p:spPr>
        <p:txBody>
          <a:bodyPr>
            <a:normAutofit fontScale="70000" lnSpcReduction="20000"/>
          </a:bodyPr>
          <a:lstStyle/>
          <a:p>
            <a:pPr algn="l">
              <a:lnSpc>
                <a:spcPct val="220000"/>
              </a:lnSpc>
            </a:pPr>
            <a:r>
              <a:rPr lang="en-US" sz="4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4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sz="4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6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4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4600" dirty="0">
                <a:cs typeface="Arial" panose="020B0604020202020204" pitchFamily="34" charset="0"/>
              </a:rPr>
              <a:t>hợp chất </a:t>
            </a:r>
            <a:r>
              <a:rPr lang="vi-VN" sz="4600" dirty="0" smtClean="0">
                <a:cs typeface="Arial" panose="020B0604020202020204" pitchFamily="34" charset="0"/>
              </a:rPr>
              <a:t>AB</a:t>
            </a:r>
            <a:r>
              <a:rPr lang="en-US" sz="4600" baseline="-25000" dirty="0" smtClean="0">
                <a:cs typeface="Arial" panose="020B0604020202020204" pitchFamily="34" charset="0"/>
              </a:rPr>
              <a:t>n</a:t>
            </a:r>
            <a:r>
              <a:rPr lang="vi-VN" sz="4600" dirty="0" smtClean="0">
                <a:cs typeface="Arial" panose="020B0604020202020204" pitchFamily="34" charset="0"/>
              </a:rPr>
              <a:t>.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20000"/>
              </a:lnSpc>
            </a:pPr>
            <a:r>
              <a:rPr lang="en-US" sz="4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4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electron </a:t>
            </a:r>
            <a:r>
              <a:rPr lang="en-US" sz="4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vi-VN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cùng có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 = 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vi-VN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 </a:t>
            </a:r>
            <a:r>
              <a:rPr lang="vi-VN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0, </a:t>
            </a:r>
            <a:r>
              <a:rPr lang="en-US" sz="4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4600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vi-VN" sz="4600" dirty="0">
                <a:solidFill>
                  <a:srgbClr val="C0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 </a:t>
            </a:r>
            <a:r>
              <a:rPr lang="en-US" sz="4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½.</a:t>
            </a:r>
          </a:p>
          <a:p>
            <a:pPr algn="l">
              <a:lnSpc>
                <a:spcPct val="220000"/>
              </a:lnSpc>
            </a:pPr>
            <a:r>
              <a:rPr lang="vi-VN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guyên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n= 3, ℓ= 1, m</a:t>
            </a:r>
            <a:r>
              <a:rPr lang="en-US" sz="46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ℓ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vi-VN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4600" baseline="-25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46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–½ 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ước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electron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điền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vi-VN" sz="4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bita</a:t>
            </a:r>
            <a:r>
              <a:rPr lang="vi-VN" sz="4600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sz="4600" baseline="-25000" dirty="0">
                <a:latin typeface="Arial" panose="020B0604020202020204" pitchFamily="34" charset="0"/>
                <a:cs typeface="Arial" panose="020B0604020202020204" pitchFamily="34" charset="0"/>
              </a:rPr>
              <a:t>ℓ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+ℓ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– ℓ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điền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spin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dương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âm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77B6309-00AB-48F4-BCDE-BAE277FC1B8E}"/>
              </a:ext>
            </a:extLst>
          </p:cNvPr>
          <p:cNvSpPr txBox="1"/>
          <p:nvPr/>
        </p:nvSpPr>
        <p:spPr>
          <a:xfrm>
            <a:off x="6372808" y="522514"/>
            <a:ext cx="2183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FF0000"/>
                </a:solidFill>
              </a:rPr>
              <a:t>MgCl</a:t>
            </a:r>
            <a:r>
              <a:rPr lang="vi-VN" sz="4000" b="1" baseline="-25000" dirty="0">
                <a:solidFill>
                  <a:srgbClr val="FF0000"/>
                </a:solidFill>
              </a:rPr>
              <a:t>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34550" y="1277094"/>
            <a:ext cx="828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3200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86850" y="2384941"/>
            <a:ext cx="828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32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US" sz="3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13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98" y="139960"/>
            <a:ext cx="12101804" cy="5256793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1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</a:t>
            </a:r>
            <a:r>
              <a:rPr lang="en-US" sz="11200" dirty="0" smtClean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HTTH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1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70000"/>
              </a:lnSpc>
            </a:pPr>
            <a:r>
              <a:rPr lang="vi-VN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sz="11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ợng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algn="l">
              <a:lnSpc>
                <a:spcPct val="170000"/>
              </a:lnSpc>
            </a:pPr>
            <a:r>
              <a:rPr lang="vi-VN" sz="1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1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US" sz="11200" dirty="0" smtClean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US" sz="112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n-US" sz="112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P,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Na,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Cl,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Ar,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Ne,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Mg,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Si,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S,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He,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Al.</a:t>
            </a:r>
          </a:p>
          <a:p>
            <a:pPr lvl="0" algn="l">
              <a:lnSpc>
                <a:spcPct val="170000"/>
              </a:lnSpc>
            </a:pPr>
            <a:endParaRPr lang="en-US" sz="1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lnSpc>
                <a:spcPct val="170000"/>
              </a:lnSpc>
            </a:pPr>
            <a:r>
              <a:rPr lang="en-US" sz="11200" b="1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1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16. </a:t>
            </a:r>
            <a:r>
              <a:rPr lang="vi-VN" sz="11200" dirty="0">
                <a:latin typeface="Arial" panose="020B0604020202020204" pitchFamily="34" charset="0"/>
                <a:cs typeface="Arial" panose="020B0604020202020204" pitchFamily="34" charset="0"/>
              </a:rPr>
              <a:t>Chọn cấu tử có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ái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vi-VN" sz="11200" dirty="0">
                <a:latin typeface="Arial" panose="020B0604020202020204" pitchFamily="34" charset="0"/>
                <a:cs typeface="Arial" panose="020B0604020202020204" pitchFamily="34" charset="0"/>
              </a:rPr>
              <a:t>mạnh hơn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cặp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l">
              <a:lnSpc>
                <a:spcPct val="170000"/>
              </a:lnSpc>
            </a:pP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11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   </a:t>
            </a:r>
            <a:r>
              <a:rPr lang="en-US" sz="11200" baseline="-250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11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1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1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1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   </a:t>
            </a:r>
            <a:r>
              <a:rPr lang="en-US" sz="11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11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1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    </a:t>
            </a:r>
            <a:r>
              <a:rPr lang="en-US" sz="11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; 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Si   </a:t>
            </a:r>
            <a:r>
              <a:rPr lang="en-US" sz="1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P ; </a:t>
            </a:r>
            <a:r>
              <a:rPr lang="en-US" sz="11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   </a:t>
            </a:r>
            <a:r>
              <a:rPr lang="en-US" sz="11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  <a:r>
              <a:rPr lang="en-US" sz="1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 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 </a:t>
            </a:r>
            <a:r>
              <a:rPr lang="en-US" sz="11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11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 </a:t>
            </a:r>
            <a:r>
              <a:rPr lang="en-US" sz="11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1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</a:t>
            </a:r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70000"/>
              </a:lnSpc>
            </a:pPr>
            <a:endParaRPr lang="en-US" sz="1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EEC47D1-94C9-4C16-85F2-4DDDED6F1B38}"/>
              </a:ext>
            </a:extLst>
          </p:cNvPr>
          <p:cNvSpPr txBox="1"/>
          <p:nvPr/>
        </p:nvSpPr>
        <p:spPr>
          <a:xfrm>
            <a:off x="107851" y="2483223"/>
            <a:ext cx="1208414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&lt;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 &lt; 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28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n-US" sz="28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A455D5-CC53-4948-9718-EAFD11D24F8E}"/>
              </a:ext>
            </a:extLst>
          </p:cNvPr>
          <p:cNvSpPr txBox="1"/>
          <p:nvPr/>
        </p:nvSpPr>
        <p:spPr>
          <a:xfrm>
            <a:off x="107851" y="4826486"/>
            <a:ext cx="122099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  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  </a:t>
            </a:r>
            <a:r>
              <a:rPr lang="vi-VN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vi-VN" sz="3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3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32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36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xmlns="" id="{44C953B4-8858-47F0-864C-EA0DEBEDCF7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270" y="0"/>
                <a:ext cx="12166730" cy="7218171"/>
              </a:xfrm>
            </p:spPr>
            <p:txBody>
              <a:bodyPr>
                <a:normAutofit fontScale="47500" lnSpcReduction="20000"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da-DK" sz="6700" b="1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Câu 16.</a:t>
                </a:r>
                <a:r>
                  <a:rPr lang="da-DK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a-DK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Chọn </a:t>
                </a:r>
                <a:r>
                  <a:rPr lang="da-DK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ph</a:t>
                </a:r>
                <a:r>
                  <a:rPr lang="vi-VN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ương án</a:t>
                </a:r>
                <a:r>
                  <a:rPr lang="da-DK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a-DK" sz="67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sai</a:t>
                </a:r>
                <a:r>
                  <a:rPr lang="da-DK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uy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ước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trong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một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phân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lớp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điền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vào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các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orbital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theo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thứ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tự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m</a:t>
                </a:r>
                <a:r>
                  <a:rPr lang="en-US" sz="67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ℓ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từ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+ℓ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đến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– ℓ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và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điền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67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6700" dirty="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 </a:t>
                </a:r>
                <a:r>
                  <a:rPr lang="en-US" sz="6700" dirty="0">
                    <a:solidFill>
                      <a:schemeClr val="accent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6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  <m:r>
                      <a:rPr lang="en-US" sz="67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.</m:t>
                    </m:r>
                  </m:oMath>
                </a14:m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I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on 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67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3+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cấu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hình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electron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phân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lớp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cuối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cùng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là</a:t>
                </a: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5d</a:t>
                </a:r>
                <a:r>
                  <a:rPr lang="en-US" sz="6700" baseline="30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nên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: </a:t>
                </a:r>
                <a:endParaRPr lang="en-US" sz="6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en-US" sz="67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vi-VN" sz="6700" b="1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6700" dirty="0" err="1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Z=</a:t>
                </a:r>
                <a:r>
                  <a:rPr lang="vi-VN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79, </a:t>
                </a:r>
                <a:r>
                  <a:rPr lang="en-US" sz="67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thuộc</a:t>
                </a:r>
                <a:r>
                  <a:rPr lang="en-US" sz="67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chu </a:t>
                </a:r>
                <a:r>
                  <a:rPr lang="en-US" sz="67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kỳ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6, IB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67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OXH d</a:t>
                </a:r>
                <a:r>
                  <a:rPr lang="vi-VN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ư</a:t>
                </a:r>
                <a:r>
                  <a:rPr lang="en-US" sz="67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ơng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cao nhất </a:t>
                </a:r>
                <a:r>
                  <a:rPr lang="en-US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sz="67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6700" dirty="0" smtClean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  <a:endParaRPr lang="en-US" sz="67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6700" b="1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n-US" sz="6700" b="1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 </a:t>
                </a:r>
                <a:r>
                  <a:rPr lang="en-US" sz="67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ngoài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cùng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X </a:t>
                </a:r>
                <a:r>
                  <a:rPr lang="en-US" sz="67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n = </a:t>
                </a:r>
                <a:r>
                  <a:rPr lang="en-US" sz="67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6, 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ℓ = 0, m</a:t>
                </a:r>
                <a:r>
                  <a:rPr lang="en-US" sz="6700" baseline="-250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ℓ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0, </a:t>
                </a:r>
                <a:r>
                  <a:rPr lang="en-US" sz="67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6700" baseline="-25000" dirty="0" err="1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6700" dirty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</a:t>
                </a:r>
                <a:r>
                  <a:rPr lang="en-US" sz="6700" dirty="0" smtClean="0">
                    <a:solidFill>
                      <a:srgbClr val="CC00FF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700" i="1" smtClean="0">
                            <a:solidFill>
                              <a:srgbClr val="CC00FF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67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67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endParaRPr lang="en-US" sz="6700" dirty="0">
                  <a:solidFill>
                    <a:srgbClr val="CC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6700" b="1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en-US" sz="6700" b="1" dirty="0" smtClean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 </a:t>
                </a:r>
                <a:r>
                  <a:rPr lang="en-US" sz="67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cuối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cùng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của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X </a:t>
                </a:r>
                <a:r>
                  <a:rPr lang="en-US" sz="67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vi-VN" sz="6700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:</a:t>
                </a:r>
                <a:r>
                  <a:rPr lang="en-US" sz="6700" dirty="0">
                    <a:solidFill>
                      <a:srgbClr val="0066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 = 5</a:t>
                </a:r>
                <a:r>
                  <a:rPr lang="en-US" sz="6700" dirty="0" smtClean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ℓ = 2, m</a:t>
                </a:r>
                <a:r>
                  <a:rPr lang="en-US" sz="6700" baseline="-250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ℓ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sz="6700" dirty="0" smtClean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-2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67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en-US" sz="6700" baseline="-25000" dirty="0" err="1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700" i="1">
                            <a:solidFill>
                              <a:srgbClr val="006600"/>
                            </a:solidFill>
                            <a:latin typeface="Cambria Math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67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>
                          <a:rPr lang="en-US" sz="67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6700" dirty="0">
                    <a:solidFill>
                      <a:srgbClr val="0066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pPr algn="l">
                  <a:lnSpc>
                    <a:spcPct val="170000"/>
                  </a:lnSpc>
                </a:pPr>
                <a:r>
                  <a:rPr lang="en-US" sz="6700" dirty="0">
                    <a:latin typeface="Arial" panose="020B0604020202020204" pitchFamily="34" charset="0"/>
                    <a:cs typeface="Arial" panose="020B0604020202020204" pitchFamily="34" charset="0"/>
                  </a:rPr>
                  <a:t>4.</a:t>
                </a:r>
                <a:r>
                  <a:rPr lang="en-US" sz="6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có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tính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nghịch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67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từ</a:t>
                </a:r>
                <a:r>
                  <a:rPr lang="en-US" sz="67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32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C953B4-8858-47F0-864C-EA0DEBEDC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270" y="0"/>
                <a:ext cx="12166730" cy="7218171"/>
              </a:xfrm>
              <a:blipFill rotWithShape="1">
                <a:blip r:embed="rId2"/>
                <a:stretch>
                  <a:fillRect l="-1253" r="-1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xmlns="" id="{A9FF8FC4-E035-4076-9084-6773F83E887D}"/>
              </a:ext>
            </a:extLst>
          </p:cNvPr>
          <p:cNvSpPr/>
          <p:nvPr/>
        </p:nvSpPr>
        <p:spPr>
          <a:xfrm>
            <a:off x="52082" y="3725811"/>
            <a:ext cx="523875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A9FF8FC4-E035-4076-9084-6773F83E887D}"/>
              </a:ext>
            </a:extLst>
          </p:cNvPr>
          <p:cNvSpPr/>
          <p:nvPr/>
        </p:nvSpPr>
        <p:spPr>
          <a:xfrm>
            <a:off x="52082" y="5687961"/>
            <a:ext cx="523875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4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C953B4-8858-47F0-864C-EA0DEBEDC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5250"/>
            <a:ext cx="12537427" cy="1655762"/>
          </a:xfrm>
        </p:spPr>
        <p:txBody>
          <a:bodyPr>
            <a:noAutofit/>
          </a:bodyPr>
          <a:lstStyle/>
          <a:p>
            <a:pPr algn="l">
              <a:lnSpc>
                <a:spcPct val="220000"/>
              </a:lnSpc>
            </a:pPr>
            <a:r>
              <a:rPr lang="en-US" sz="3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r>
              <a:rPr lang="en-US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000" b="1" dirty="0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. Theo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VB:</a:t>
            </a:r>
          </a:p>
          <a:p>
            <a:pPr algn="l">
              <a:lnSpc>
                <a:spcPct val="220000"/>
              </a:lnSpc>
            </a:pP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0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cùng điều kiện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bền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vi-VN" sz="30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p-p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vi-VN" sz="30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s-p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vi-VN" sz="3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vi-VN" sz="30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s-s</a:t>
            </a:r>
            <a:endParaRPr lang="en-US" sz="30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20000"/>
              </a:lnSpc>
            </a:pPr>
            <a:r>
              <a:rPr lang="en-US" sz="3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l">
              <a:lnSpc>
                <a:spcPct val="220000"/>
              </a:lnSpc>
            </a:pPr>
            <a:r>
              <a:rPr lang="en-US" sz="3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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và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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có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thể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tạo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thành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bằng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cơ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chế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ghép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đôi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hay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cho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3000" dirty="0" err="1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nhận</a:t>
            </a:r>
            <a:r>
              <a:rPr lang="en-US" sz="3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sz="3000" dirty="0" smtClean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220000"/>
              </a:lnSpc>
            </a:pPr>
            <a:r>
              <a:rPr lang="en-US" sz="3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bền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961544D9-792B-43FF-B1AE-9139270A4BAA}"/>
              </a:ext>
            </a:extLst>
          </p:cNvPr>
          <p:cNvSpPr/>
          <p:nvPr/>
        </p:nvSpPr>
        <p:spPr>
          <a:xfrm>
            <a:off x="-1" y="2723087"/>
            <a:ext cx="466725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961544D9-792B-43FF-B1AE-9139270A4BAA}"/>
              </a:ext>
            </a:extLst>
          </p:cNvPr>
          <p:cNvSpPr/>
          <p:nvPr/>
        </p:nvSpPr>
        <p:spPr>
          <a:xfrm>
            <a:off x="0" y="4951937"/>
            <a:ext cx="466725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0"/>
            <a:ext cx="11982450" cy="1325563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18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Xác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định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cộng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hóa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trị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các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nguyên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latin typeface="Arial" pitchFamily="34" charset="0"/>
                <a:cs typeface="Arial" pitchFamily="34" charset="0"/>
              </a:rPr>
              <a:t>tố</a:t>
            </a:r>
            <a:r>
              <a:rPr lang="vi-VN" sz="3200" dirty="0" smtClean="0">
                <a:latin typeface="Arial" pitchFamily="34" charset="0"/>
                <a:cs typeface="Arial" pitchFamily="34" charset="0"/>
              </a:rPr>
              <a:t> N, O , P</a:t>
            </a:r>
            <a:r>
              <a:rPr lang="en-US" sz="3200" dirty="0" smtClean="0">
                <a:latin typeface="Arial" pitchFamily="34" charset="0"/>
                <a:cs typeface="Arial" pitchFamily="34" charset="0"/>
              </a:rPr>
              <a:t>: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Bài 9: Axit nitric và muối nitrat - Tìm đáp án, giải bài tập, để họ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99" y="1057275"/>
            <a:ext cx="3197225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ta-Phosphoric acid | Sigma-Aldri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meta-Phosphoric acid | Sigma-Aldrich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meta-Phosphoric acid | Sigma-Aldrich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meta-Phosphoric acid | Sigma-Aldrich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meta-Phosphoric acid | Sigma-Aldrich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Inorganic Metaphosphoric Acid, 158 Degree C, Rs 1 /kilogram Jayaveda  Globaline LLP | ID: 211589898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930563"/>
            <a:ext cx="4724399" cy="363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ChemTeam: Four Electron Domai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3338512"/>
            <a:ext cx="2162174" cy="27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705224" y="1432441"/>
            <a:ext cx="21907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 smtClean="0">
                <a:solidFill>
                  <a:srgbClr val="CC00FF"/>
                </a:solidFill>
              </a:rPr>
              <a:t>N: 4</a:t>
            </a:r>
          </a:p>
          <a:p>
            <a:r>
              <a:rPr lang="vi-VN" sz="4000" dirty="0" smtClean="0">
                <a:solidFill>
                  <a:srgbClr val="CC00FF"/>
                </a:solidFill>
              </a:rPr>
              <a:t>O: 1,2</a:t>
            </a:r>
            <a:endParaRPr lang="en-US" sz="4000" dirty="0">
              <a:solidFill>
                <a:srgbClr val="CC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25000" y="1432441"/>
            <a:ext cx="2085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 smtClean="0">
                <a:solidFill>
                  <a:srgbClr val="006600"/>
                </a:solidFill>
              </a:rPr>
              <a:t>P: 5</a:t>
            </a:r>
          </a:p>
          <a:p>
            <a:r>
              <a:rPr lang="vi-VN" sz="4000" dirty="0" smtClean="0">
                <a:solidFill>
                  <a:srgbClr val="006600"/>
                </a:solidFill>
              </a:rPr>
              <a:t>O: 2</a:t>
            </a:r>
            <a:endParaRPr lang="en-US" sz="4000" dirty="0">
              <a:solidFill>
                <a:srgbClr val="0066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71850" y="4305300"/>
            <a:ext cx="1428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 smtClean="0">
                <a:solidFill>
                  <a:srgbClr val="3366FF"/>
                </a:solidFill>
              </a:rPr>
              <a:t>O: 3</a:t>
            </a:r>
            <a:endParaRPr lang="en-US" sz="4000" dirty="0">
              <a:solidFill>
                <a:srgbClr val="3366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43875" y="2094160"/>
            <a:ext cx="819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+5</a:t>
            </a: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914650" y="4403436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/>
              <a:t>+</a:t>
            </a:r>
            <a:endParaRPr lang="en-US" sz="3200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352674" y="4695823"/>
            <a:ext cx="447676" cy="29238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80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315137-2742-45BE-BECA-A13B5321C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6" y="388710"/>
            <a:ext cx="12185779" cy="53402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momen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lưỡng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vi-VN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trong các cặp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 </a:t>
            </a: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</a:t>
            </a:r>
            <a:r>
              <a:rPr lang="en-US" sz="32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vi-VN" sz="3200" b="1" baseline="-25000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vi-VN" sz="3200" dirty="0" smtClean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vi-VN" sz="32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lang="en-US" sz="3200" b="1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b="1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US" sz="3200" b="1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endParaRPr lang="en-US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9EAC21B-3EDE-4E56-8C68-F22E6704156D}"/>
              </a:ext>
            </a:extLst>
          </p:cNvPr>
          <p:cNvSpPr/>
          <p:nvPr/>
        </p:nvSpPr>
        <p:spPr>
          <a:xfrm>
            <a:off x="765175" y="1494159"/>
            <a:ext cx="1026368" cy="7469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CA9B348C-B21C-493A-A0CB-E1C32B24BF95}"/>
              </a:ext>
            </a:extLst>
          </p:cNvPr>
          <p:cNvSpPr/>
          <p:nvPr/>
        </p:nvSpPr>
        <p:spPr>
          <a:xfrm>
            <a:off x="917575" y="3786936"/>
            <a:ext cx="1026368" cy="7469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utoShape 2" descr="explain in detail why bond pair angle is less in h20 than that of f20  inspite both compounds have lone - Chemistry - - 9693353 | Meritnation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explain in detail why bond pair angle is less in h20 than that of f20  inspite both compounds have lone - Chemistry - - 9693353 | Meritnation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168" y="1254259"/>
            <a:ext cx="5012482" cy="192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029325" y="1617149"/>
            <a:ext cx="304800" cy="2075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5226844" y="1674425"/>
            <a:ext cx="297656" cy="22561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5400675" y="1207738"/>
            <a:ext cx="247650" cy="24651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953125" y="1254259"/>
            <a:ext cx="304800" cy="17481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7523162" y="1732902"/>
            <a:ext cx="358775" cy="22561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429625" y="1652360"/>
            <a:ext cx="304800" cy="23274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7677149" y="1254259"/>
            <a:ext cx="273050" cy="27398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8277225" y="1254259"/>
            <a:ext cx="219075" cy="2720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226844" y="1175508"/>
            <a:ext cx="0" cy="637301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896350" y="1429072"/>
            <a:ext cx="0" cy="311335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94471" y="1210830"/>
            <a:ext cx="1981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 = 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1,85 D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29700" y="1270328"/>
            <a:ext cx="1852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 = </a:t>
            </a:r>
            <a:r>
              <a:rPr lang="en-US" sz="28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0,32 D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2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4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" name="AutoShape 6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9" name="AutoShape 8" descr="F:\H%C3%93A %C4%90%E1%BA%A0I C%C6%AF%C6%A0NG M%E1%BB%9AI 2021\T%C3%80I LI%C3%8AU THAM KH%E1%BA%A2O\LI%C3%8AN K%E1%BA%BET H%C3%93A H%E1%BB%8CC\momen l%C6%B0%E1%BB%A1ng c%E1%BB%B1c NH3.webp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0" name="AutoShape 10" descr="F:\H%C3%93A %C4%90%E1%BA%A0I C%C6%AF%C6%A0NG M%E1%BB%9AI 2021\T%C3%80I LI%C3%8AU THAM KH%E1%BA%A2O\LI%C3%8AN K%E1%BA%BET H%C3%93A H%E1%BB%8CC\momen l%C6%B0%E1%BB%A1ng c%E1%BB%B1c NH3.webp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1" name="AutoShape 12" descr="F:\H%C3%93A %C4%90%E1%BA%A0I C%C6%AF%C6%A0NG M%E1%BB%9AI 2021\T%C3%80I LI%C3%8AU THAM KH%E1%BA%A2O\LI%C3%8AN K%E1%BA%BET H%C3%93A H%E1%BB%8CC\momen l%C6%B0%E1%BB%A1ng c%E1%BB%B1c NH3.webp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3" name="AutoShape 14" descr="F:\H%C3%93A %C4%90%E1%BA%A0I C%C6%AF%C6%A0NG M%E1%BB%9AI 2021\T%C3%80I LI%C3%8AU THAM KH%E1%BA%A2O\LI%C3%8AN K%E1%BA%BET H%C3%93A H%E1%BB%8CC\momen l%C6%B0%E1%BB%A1ng c%E1%BB%B1c NH3.webp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16" descr="Whose dipole moment is greater NH3 or NF3? - Quora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AutoShape 19" descr="F:\H%C3%93A %C4%90%E1%BA%A0I C%C6%AF%C6%A0NG M%E1%BB%9AI 2021\T%C3%80I LI%C3%8AU THAM KH%E1%BA%A2O\LI%C3%8AN K%E1%BA%BET H%C3%93A H%E1%BB%8CC\main-qimg-12f7a51cc5c0275f335c6e6519b39d76.webp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7" name="AutoShape 21" descr="https://qph.fs.quoracdn.net/main-qimg-12f7a51cc5c0275f335c6e6519b39d76.webp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7" name="Picture 23" descr="https://qph.fs.quoracdn.net/main-qimg-12f7a51cc5c0275f335c6e6519b39d7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3276600"/>
            <a:ext cx="5429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96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5" grpId="0" animBg="1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5627C3-F4AA-4809-B439-A5D08BA7C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22" y="332726"/>
            <a:ext cx="11736355" cy="600276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CH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─ CH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3200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O ─ CH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─ C ≡ </a:t>
            </a:r>
            <a:r>
              <a:rPr lang="en-US" sz="32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 </a:t>
            </a:r>
            <a:endParaRPr lang="vi-VN" sz="3200" dirty="0" smtClean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32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CH ═ CH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CH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─ </a:t>
            </a: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─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CH = CH ─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681663" y="2400298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</a:t>
            </a:r>
            <a:r>
              <a:rPr lang="vi-VN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3200" baseline="30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681663" y="3267075"/>
            <a:ext cx="56102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</a:t>
            </a:r>
            <a:r>
              <a:rPr lang="vi-VN" sz="32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2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3200" baseline="30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353175" y="4262139"/>
            <a:ext cx="541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</a:t>
            </a:r>
            <a:r>
              <a:rPr lang="vi-VN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3200" baseline="30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3025" y="5200650"/>
            <a:ext cx="44577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 </a:t>
            </a:r>
            <a:r>
              <a:rPr lang="vi-VN" sz="32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sz="32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sp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rot="19161537">
            <a:off x="5539749" y="4068860"/>
            <a:ext cx="38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6600"/>
                </a:solidFill>
                <a:sym typeface="Symbol"/>
              </a:rPr>
              <a:t></a:t>
            </a:r>
            <a:endParaRPr lang="en-US" sz="3200" b="1" dirty="0">
              <a:solidFill>
                <a:srgbClr val="0066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 rot="20443932">
            <a:off x="5773731" y="3897989"/>
            <a:ext cx="27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US" sz="32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672137" y="4646887"/>
            <a:ext cx="257175" cy="200027"/>
          </a:xfrm>
          <a:prstGeom prst="line">
            <a:avLst/>
          </a:prstGeom>
          <a:ln w="254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02317" y="4554525"/>
            <a:ext cx="27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</a:t>
            </a:r>
          </a:p>
        </p:txBody>
      </p:sp>
      <p:cxnSp>
        <p:nvCxnSpPr>
          <p:cNvPr id="12" name="Straight Connector 11"/>
          <p:cNvCxnSpPr>
            <a:endCxn id="14" idx="1"/>
          </p:cNvCxnSpPr>
          <p:nvPr/>
        </p:nvCxnSpPr>
        <p:spPr>
          <a:xfrm flipV="1">
            <a:off x="4497347" y="5174426"/>
            <a:ext cx="254021" cy="15957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83090" y="5670022"/>
            <a:ext cx="258753" cy="1783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51368" y="4882038"/>
            <a:ext cx="27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1843" y="5477649"/>
            <a:ext cx="276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 rot="19842044">
            <a:off x="2160166" y="2973944"/>
            <a:ext cx="428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sym typeface="Symbol"/>
              </a:rPr>
              <a:t>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 rot="2488566">
            <a:off x="1824541" y="2996133"/>
            <a:ext cx="38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sym typeface="Symbol"/>
              </a:rPr>
              <a:t>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3962415" y="4777976"/>
            <a:ext cx="625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sym typeface="Symbol"/>
              </a:rPr>
              <a:t>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352924" y="3350076"/>
            <a:ext cx="464329" cy="457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589894" y="4332208"/>
            <a:ext cx="482826" cy="457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624511" y="4190376"/>
            <a:ext cx="304801" cy="36415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589895" y="5274736"/>
            <a:ext cx="482826" cy="4572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495DE0-E000-4A75-A286-1EC67E0C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30" y="360719"/>
            <a:ext cx="1164616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chiều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NO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NO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3) NO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NO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NH</a:t>
            </a:r>
            <a:r>
              <a:rPr lang="en-US" sz="32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  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6) NH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7) NH</a:t>
            </a:r>
            <a:r>
              <a:rPr lang="en-US" sz="3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32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6FFBD38-DEC2-4FCC-A6AD-6DAE1E86E1D8}"/>
              </a:ext>
            </a:extLst>
          </p:cNvPr>
          <p:cNvSpPr txBox="1"/>
          <p:nvPr/>
        </p:nvSpPr>
        <p:spPr>
          <a:xfrm>
            <a:off x="3136001" y="5115469"/>
            <a:ext cx="579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&lt; 7 &lt; 5 &lt; 1 &lt; 4 &lt; 2 &lt; 3</a:t>
            </a:r>
          </a:p>
        </p:txBody>
      </p:sp>
      <p:pic>
        <p:nvPicPr>
          <p:cNvPr id="4" name="Picture 3" descr="C:\Users\Win 8 64Bit VS7\AppData\Local\Microsoft\Windows\Temporary Internet Files\Content.MSO\DF9BA23D.tmp">
            <a:extLst>
              <a:ext uri="{FF2B5EF4-FFF2-40B4-BE49-F238E27FC236}">
                <a16:creationId xmlns:a16="http://schemas.microsoft.com/office/drawing/2014/main" xmlns="" id="{FE611CF1-B2EE-4993-B50E-E002403DCF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134" y="3541935"/>
            <a:ext cx="1393536" cy="1433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Skeletal formula of nitrogen dioxide with some measurementsEP">
            <a:extLst>
              <a:ext uri="{FF2B5EF4-FFF2-40B4-BE49-F238E27FC236}">
                <a16:creationId xmlns:a16="http://schemas.microsoft.com/office/drawing/2014/main" xmlns="" id="{53A48C13-5A25-45C0-8B9B-F2C1AE967ED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945" y="1793940"/>
            <a:ext cx="1802879" cy="1246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Kết quả hình ảnh cho NH4+">
            <a:extLst>
              <a:ext uri="{FF2B5EF4-FFF2-40B4-BE49-F238E27FC236}">
                <a16:creationId xmlns:a16="http://schemas.microsoft.com/office/drawing/2014/main" xmlns="" id="{BDB35199-7299-4528-B0E1-DA36F161797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455" y="3610519"/>
            <a:ext cx="1641134" cy="110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Kết quả hình ảnh cho amide ion wiki">
            <a:extLst>
              <a:ext uri="{FF2B5EF4-FFF2-40B4-BE49-F238E27FC236}">
                <a16:creationId xmlns:a16="http://schemas.microsoft.com/office/drawing/2014/main" xmlns="" id="{A550350F-9BE5-4B8D-9735-E559DC59481A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624" y="1926406"/>
            <a:ext cx="843915" cy="4908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2A97536-BC07-4FBA-BA25-290CB2AC3BE9}"/>
              </a:ext>
            </a:extLst>
          </p:cNvPr>
          <p:cNvSpPr txBox="1"/>
          <p:nvPr/>
        </p:nvSpPr>
        <p:spPr>
          <a:xfrm>
            <a:off x="9143624" y="2479308"/>
            <a:ext cx="1074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104,5</a:t>
            </a:r>
            <a:r>
              <a:rPr lang="en-US" sz="2400" baseline="30000" dirty="0">
                <a:solidFill>
                  <a:srgbClr val="FF0000"/>
                </a:solidFill>
              </a:rPr>
              <a:t>0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" name="Picture 9" descr="Kết quả hình ảnh cho ion nitrat">
            <a:extLst>
              <a:ext uri="{FF2B5EF4-FFF2-40B4-BE49-F238E27FC236}">
                <a16:creationId xmlns:a16="http://schemas.microsoft.com/office/drawing/2014/main" xmlns="" id="{934ACAD2-35C2-45AD-969C-4147C7400F99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867" y="1694329"/>
            <a:ext cx="1802879" cy="124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61B7E47-EAD1-4666-8101-301437B5A4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06" y="3480678"/>
            <a:ext cx="1717461" cy="987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A4AF32D-6CD1-46CD-85AF-8C7677576C41}"/>
              </a:ext>
            </a:extLst>
          </p:cNvPr>
          <p:cNvSpPr txBox="1"/>
          <p:nvPr/>
        </p:nvSpPr>
        <p:spPr>
          <a:xfrm>
            <a:off x="3536557" y="4363648"/>
            <a:ext cx="232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Ion </a:t>
            </a:r>
            <a:r>
              <a:rPr lang="en-US" sz="2400" dirty="0" err="1"/>
              <a:t>nitronium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33A5884-944B-42E9-BDC8-DB54D6017374}"/>
              </a:ext>
            </a:extLst>
          </p:cNvPr>
          <p:cNvSpPr txBox="1"/>
          <p:nvPr/>
        </p:nvSpPr>
        <p:spPr>
          <a:xfrm>
            <a:off x="398322" y="5051160"/>
            <a:ext cx="168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Ion nitrite</a:t>
            </a:r>
          </a:p>
        </p:txBody>
      </p:sp>
      <p:pic>
        <p:nvPicPr>
          <p:cNvPr id="1026" name="Picture 2" descr="Kết quả hình ảnh cho molecular bond covalence NO2 - nitrite">
            <a:extLst>
              <a:ext uri="{FF2B5EF4-FFF2-40B4-BE49-F238E27FC236}">
                <a16:creationId xmlns:a16="http://schemas.microsoft.com/office/drawing/2014/main" xmlns="" id="{32577F50-76BA-4082-8AFD-A708FC89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94" y="3610519"/>
            <a:ext cx="1876425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FB305AB-C2F7-4274-8022-C4BE831F7B22}"/>
              </a:ext>
            </a:extLst>
          </p:cNvPr>
          <p:cNvSpPr txBox="1"/>
          <p:nvPr/>
        </p:nvSpPr>
        <p:spPr>
          <a:xfrm>
            <a:off x="8866205" y="1350479"/>
            <a:ext cx="154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Ion amide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6615035-2670-4B9D-B33A-11EF13FB7B47}"/>
              </a:ext>
            </a:extLst>
          </p:cNvPr>
          <p:cNvSpPr txBox="1"/>
          <p:nvPr/>
        </p:nvSpPr>
        <p:spPr>
          <a:xfrm>
            <a:off x="7687444" y="3747280"/>
            <a:ext cx="1074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109,5</a:t>
            </a:r>
            <a:r>
              <a:rPr lang="en-US" sz="2400" baseline="30000" dirty="0">
                <a:solidFill>
                  <a:srgbClr val="FF0000"/>
                </a:solidFill>
              </a:rPr>
              <a:t>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55CCF07-0B39-4038-BBB2-BC405274706B}"/>
              </a:ext>
            </a:extLst>
          </p:cNvPr>
          <p:cNvSpPr txBox="1"/>
          <p:nvPr/>
        </p:nvSpPr>
        <p:spPr>
          <a:xfrm>
            <a:off x="6325448" y="1984659"/>
            <a:ext cx="1074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120</a:t>
            </a:r>
            <a:r>
              <a:rPr lang="en-US" sz="2400" baseline="30000" dirty="0">
                <a:solidFill>
                  <a:srgbClr val="FF0000"/>
                </a:solidFill>
              </a:rPr>
              <a:t>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0995ED-3B4D-4900-8FCA-007B3FDAA7AF}"/>
              </a:ext>
            </a:extLst>
          </p:cNvPr>
          <p:cNvSpPr txBox="1"/>
          <p:nvPr/>
        </p:nvSpPr>
        <p:spPr>
          <a:xfrm rot="19839863">
            <a:off x="9574428" y="1557071"/>
            <a:ext cx="44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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9F38A59-E0AF-49B6-997B-91553476914D}"/>
              </a:ext>
            </a:extLst>
          </p:cNvPr>
          <p:cNvSpPr txBox="1"/>
          <p:nvPr/>
        </p:nvSpPr>
        <p:spPr>
          <a:xfrm rot="1906618">
            <a:off x="9283595" y="1619950"/>
            <a:ext cx="44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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4185C67-838F-4C83-857F-01CF8365A32D}"/>
              </a:ext>
            </a:extLst>
          </p:cNvPr>
          <p:cNvSpPr txBox="1"/>
          <p:nvPr/>
        </p:nvSpPr>
        <p:spPr>
          <a:xfrm>
            <a:off x="2729266" y="1534869"/>
            <a:ext cx="44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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278BC8B-F9EE-4461-8590-236B867DED1C}"/>
              </a:ext>
            </a:extLst>
          </p:cNvPr>
          <p:cNvSpPr txBox="1"/>
          <p:nvPr/>
        </p:nvSpPr>
        <p:spPr>
          <a:xfrm rot="16200000">
            <a:off x="980409" y="3230775"/>
            <a:ext cx="44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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67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13" grpId="0"/>
      <p:bldP spid="14" grpId="0"/>
      <p:bldP spid="15" grpId="0"/>
      <p:bldP spid="17" grpId="0"/>
      <p:bldP spid="18" grpId="0"/>
      <p:bldP spid="16" grpId="0"/>
      <p:bldP spid="20" grpId="0"/>
      <p:bldP spid="21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918A4-302F-4020-BCF2-0C7E2379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83" y="1568843"/>
            <a:ext cx="11725834" cy="108715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-250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u="sng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vi-VN" sz="3200" b="1" u="sng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vi-VN" sz="3200" b="1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</a:t>
            </a:r>
            <a:r>
              <a:rPr lang="vi-VN" sz="3200" b="1" u="sng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sz="32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vi-VN" sz="3200" b="1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vi-VN" sz="32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3200" baseline="-250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vi-VN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="1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u="sng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vi-VN" sz="32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</a:t>
            </a:r>
            <a:r>
              <a:rPr lang="vi-VN" sz="3200" b="1" u="sng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sz="3200" b="1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vi-VN" sz="3200" b="1" baseline="-25000" dirty="0" smtClean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200" b="1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8BCB20-61CA-4A59-B6F8-C8A9F4A66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74" y="3486023"/>
            <a:ext cx="11860305" cy="10871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3200" dirty="0" smtClean="0">
                <a:solidFill>
                  <a:srgbClr val="006600"/>
                </a:solidFill>
              </a:rPr>
              <a:t>Do khả </a:t>
            </a:r>
            <a:r>
              <a:rPr lang="vi-VN" sz="3200" dirty="0">
                <a:solidFill>
                  <a:srgbClr val="006600"/>
                </a:solidFill>
              </a:rPr>
              <a:t>năng lai hóa của nguyên tử trung tâm giảm </a:t>
            </a:r>
            <a:r>
              <a:rPr lang="vi-VN" sz="3200" dirty="0" smtClean="0">
                <a:solidFill>
                  <a:srgbClr val="006600"/>
                </a:solidFill>
              </a:rPr>
              <a:t>dần: O </a:t>
            </a:r>
            <a:r>
              <a:rPr lang="vi-VN" sz="3200" dirty="0" smtClean="0">
                <a:solidFill>
                  <a:srgbClr val="006600"/>
                </a:solidFill>
                <a:sym typeface="Symbol"/>
              </a:rPr>
              <a:t> Te</a:t>
            </a:r>
            <a:endParaRPr lang="vi-VN" sz="3200" dirty="0">
              <a:solidFill>
                <a:srgbClr val="0066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vi-VN" sz="3200" dirty="0" smtClean="0">
                <a:solidFill>
                  <a:srgbClr val="0000FF"/>
                </a:solidFill>
              </a:rPr>
              <a:t>Hay độ </a:t>
            </a:r>
            <a:r>
              <a:rPr lang="vi-VN" sz="3200" dirty="0">
                <a:solidFill>
                  <a:srgbClr val="0000FF"/>
                </a:solidFill>
              </a:rPr>
              <a:t>âm điện của nguyên tử trung tâm giảm </a:t>
            </a:r>
            <a:r>
              <a:rPr lang="vi-VN" sz="3200" dirty="0" smtClean="0">
                <a:solidFill>
                  <a:srgbClr val="0000FF"/>
                </a:solidFill>
              </a:rPr>
              <a:t>dần:</a:t>
            </a:r>
            <a:r>
              <a:rPr lang="vi-VN" sz="3200" dirty="0" smtClean="0">
                <a:solidFill>
                  <a:srgbClr val="006600"/>
                </a:solidFill>
              </a:rPr>
              <a:t> O </a:t>
            </a:r>
            <a:r>
              <a:rPr lang="vi-VN" sz="3200" dirty="0">
                <a:solidFill>
                  <a:srgbClr val="006600"/>
                </a:solidFill>
                <a:sym typeface="Symbol"/>
              </a:rPr>
              <a:t> </a:t>
            </a:r>
            <a:r>
              <a:rPr lang="vi-VN" sz="3200" dirty="0" smtClean="0">
                <a:solidFill>
                  <a:srgbClr val="006600"/>
                </a:solidFill>
                <a:sym typeface="Symbol"/>
              </a:rPr>
              <a:t>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3200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vi-VN" sz="3200" dirty="0" smtClean="0">
                <a:solidFill>
                  <a:srgbClr val="006600"/>
                </a:solidFill>
                <a:sym typeface="Symbol"/>
              </a:rPr>
              <a:t> </a:t>
            </a:r>
            <a:r>
              <a:rPr lang="vi-VN" sz="3200" dirty="0">
                <a:solidFill>
                  <a:srgbClr val="C00000"/>
                </a:solidFill>
                <a:sym typeface="Symbol"/>
              </a:rPr>
              <a:t>G</a:t>
            </a:r>
            <a:r>
              <a:rPr lang="vi-VN" sz="3200" dirty="0" smtClean="0">
                <a:solidFill>
                  <a:srgbClr val="C00000"/>
                </a:solidFill>
              </a:rPr>
              <a:t>óc </a:t>
            </a:r>
            <a:r>
              <a:rPr lang="vi-VN" sz="3200" dirty="0">
                <a:solidFill>
                  <a:srgbClr val="C00000"/>
                </a:solidFill>
              </a:rPr>
              <a:t>hóa trị giảm dần từ trái sang </a:t>
            </a:r>
            <a:r>
              <a:rPr lang="vi-VN" sz="3200" dirty="0" smtClean="0">
                <a:solidFill>
                  <a:srgbClr val="C00000"/>
                </a:solidFill>
              </a:rPr>
              <a:t>phải.</a:t>
            </a:r>
            <a:endParaRPr lang="vi-VN" sz="32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vi-VN" sz="3200" dirty="0">
              <a:solidFill>
                <a:srgbClr val="0066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EAF509D-FD98-4A96-90EF-3389577EB3E4}"/>
              </a:ext>
            </a:extLst>
          </p:cNvPr>
          <p:cNvSpPr txBox="1"/>
          <p:nvPr/>
        </p:nvSpPr>
        <p:spPr>
          <a:xfrm>
            <a:off x="-45719" y="298535"/>
            <a:ext cx="1220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</a:rPr>
              <a:t> </a:t>
            </a:r>
            <a:r>
              <a:rPr lang="vi-VN" sz="2800" b="1" dirty="0" smtClean="0">
                <a:solidFill>
                  <a:srgbClr val="0000FF"/>
                </a:solidFill>
              </a:rPr>
              <a:t>Câu 23. </a:t>
            </a:r>
            <a:r>
              <a:rPr lang="vi-VN" sz="2800" dirty="0" smtClean="0"/>
              <a:t>So sánh góc hóa trị các phân tử AB</a:t>
            </a:r>
            <a:r>
              <a:rPr lang="vi-VN" sz="2800" baseline="-25000" dirty="0"/>
              <a:t>2</a:t>
            </a:r>
            <a:r>
              <a:rPr lang="vi-VN" sz="2800" dirty="0" smtClean="0"/>
              <a:t>E</a:t>
            </a:r>
            <a:r>
              <a:rPr lang="vi-VN" sz="2800" baseline="-25000" dirty="0" smtClean="0"/>
              <a:t>2 </a:t>
            </a:r>
            <a:r>
              <a:rPr lang="vi-VN" sz="2800" dirty="0" smtClean="0"/>
              <a:t>, có cùng B khác A(VIA): </a:t>
            </a:r>
            <a:endParaRPr 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76424" y="1157198"/>
            <a:ext cx="1924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(104,5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sz="28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05325" y="1185535"/>
            <a:ext cx="179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(92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72350" y="1184850"/>
            <a:ext cx="156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(91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vi-V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20273" y="1165799"/>
            <a:ext cx="1419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(90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038475" y="1928634"/>
            <a:ext cx="1857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(103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     </a:t>
            </a:r>
            <a:r>
              <a:rPr lang="vi-V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0" y="1901250"/>
            <a:ext cx="1428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(98</a:t>
            </a:r>
            <a:r>
              <a:rPr lang="vi-VN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vi-VN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3143250" y="2660422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(111</a:t>
            </a:r>
            <a:r>
              <a:rPr lang="vi-VN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)     </a:t>
            </a:r>
            <a:r>
              <a:rPr lang="vi-V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6555" y="2660422"/>
            <a:ext cx="199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103</a:t>
            </a:r>
            <a:r>
              <a:rPr lang="vi-VN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vi-V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vi-VN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2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2238317-F0F7-4FD6-AB01-B36FB954146A}"/>
              </a:ext>
            </a:extLst>
          </p:cNvPr>
          <p:cNvSpPr txBox="1"/>
          <p:nvPr/>
        </p:nvSpPr>
        <p:spPr>
          <a:xfrm>
            <a:off x="1264249" y="821755"/>
            <a:ext cx="6436434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C00000"/>
                </a:solidFill>
              </a:rPr>
              <a:t>N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</a:t>
            </a:r>
            <a:r>
              <a:rPr lang="vi-VN" sz="3200" dirty="0" smtClean="0"/>
              <a:t>      </a:t>
            </a:r>
            <a:r>
              <a:rPr lang="vi-VN" sz="3200" dirty="0" smtClean="0">
                <a:solidFill>
                  <a:srgbClr val="006600"/>
                </a:solidFill>
              </a:rPr>
              <a:t>P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</a:t>
            </a:r>
            <a:r>
              <a:rPr lang="vi-VN" sz="3200" dirty="0" smtClean="0"/>
              <a:t>        </a:t>
            </a:r>
            <a:r>
              <a:rPr lang="vi-VN" sz="3200" dirty="0" smtClean="0">
                <a:solidFill>
                  <a:srgbClr val="0000FF"/>
                </a:solidFill>
              </a:rPr>
              <a:t>As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       </a:t>
            </a:r>
            <a:r>
              <a:rPr lang="vi-VN" sz="3200" dirty="0" smtClean="0">
                <a:solidFill>
                  <a:srgbClr val="CC00FF"/>
                </a:solidFill>
              </a:rPr>
              <a:t>Sb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 </a:t>
            </a:r>
          </a:p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C00000"/>
                </a:solidFill>
              </a:rPr>
              <a:t>N</a:t>
            </a:r>
            <a:r>
              <a:rPr lang="vi-VN" sz="3200" dirty="0" smtClean="0"/>
              <a:t>Cl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C00000"/>
                </a:solidFill>
              </a:rPr>
              <a:t>     </a:t>
            </a:r>
            <a:r>
              <a:rPr lang="vi-VN" sz="3200" dirty="0" smtClean="0">
                <a:solidFill>
                  <a:srgbClr val="006600"/>
                </a:solidFill>
              </a:rPr>
              <a:t>P</a:t>
            </a:r>
            <a:r>
              <a:rPr lang="vi-VN" sz="3200" dirty="0" smtClean="0"/>
              <a:t>Cl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C00000"/>
                </a:solidFill>
              </a:rPr>
              <a:t>      </a:t>
            </a:r>
            <a:r>
              <a:rPr lang="vi-VN" sz="3200" dirty="0" smtClean="0">
                <a:solidFill>
                  <a:srgbClr val="0000FF"/>
                </a:solidFill>
              </a:rPr>
              <a:t>As</a:t>
            </a:r>
            <a:r>
              <a:rPr lang="vi-VN" sz="3200" dirty="0" smtClean="0"/>
              <a:t>Cl</a:t>
            </a:r>
            <a:r>
              <a:rPr lang="vi-VN" sz="3200" baseline="-25000" dirty="0" smtClean="0"/>
              <a:t>3</a:t>
            </a:r>
            <a:r>
              <a:rPr lang="vi-VN" sz="3200" baseline="-25000" dirty="0" smtClean="0">
                <a:solidFill>
                  <a:srgbClr val="C00000"/>
                </a:solidFill>
              </a:rPr>
              <a:t>      </a:t>
            </a:r>
            <a:r>
              <a:rPr lang="vi-VN" sz="3200" dirty="0" smtClean="0">
                <a:solidFill>
                  <a:srgbClr val="CC00FF"/>
                </a:solidFill>
              </a:rPr>
              <a:t>Sb</a:t>
            </a:r>
            <a:r>
              <a:rPr lang="vi-VN" sz="3200" dirty="0" smtClean="0"/>
              <a:t>Cl</a:t>
            </a:r>
            <a:r>
              <a:rPr lang="vi-VN" sz="3200" baseline="-25000" dirty="0" smtClean="0"/>
              <a:t>3</a:t>
            </a:r>
            <a:r>
              <a:rPr lang="vi-VN" sz="3200" baseline="-25000" dirty="0" smtClean="0">
                <a:solidFill>
                  <a:srgbClr val="C0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vi-VN" sz="3200" dirty="0" smtClean="0">
                <a:solidFill>
                  <a:srgbClr val="C00000"/>
                </a:solidFill>
              </a:rPr>
              <a:t>N</a:t>
            </a:r>
            <a:r>
              <a:rPr lang="vi-VN" sz="3200" dirty="0" smtClean="0"/>
              <a:t>Br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006600"/>
                </a:solidFill>
              </a:rPr>
              <a:t>     P</a:t>
            </a:r>
            <a:r>
              <a:rPr lang="vi-VN" sz="3200" dirty="0" smtClean="0"/>
              <a:t>Br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006600"/>
                </a:solidFill>
              </a:rPr>
              <a:t>      </a:t>
            </a:r>
            <a:r>
              <a:rPr lang="vi-VN" sz="3200" dirty="0" smtClean="0">
                <a:solidFill>
                  <a:srgbClr val="0000FF"/>
                </a:solidFill>
              </a:rPr>
              <a:t>As</a:t>
            </a:r>
            <a:r>
              <a:rPr lang="vi-VN" sz="3200" dirty="0" smtClean="0"/>
              <a:t>Br</a:t>
            </a:r>
            <a:r>
              <a:rPr lang="vi-VN" sz="3200" baseline="-25000" dirty="0" smtClean="0"/>
              <a:t>3</a:t>
            </a:r>
            <a:r>
              <a:rPr lang="vi-VN" sz="3200" baseline="-25000" dirty="0" smtClean="0">
                <a:solidFill>
                  <a:srgbClr val="006600"/>
                </a:solidFill>
              </a:rPr>
              <a:t>     </a:t>
            </a:r>
            <a:r>
              <a:rPr lang="vi-VN" sz="3200" dirty="0" smtClean="0">
                <a:solidFill>
                  <a:srgbClr val="CC00FF"/>
                </a:solidFill>
              </a:rPr>
              <a:t>Sb</a:t>
            </a:r>
            <a:r>
              <a:rPr lang="vi-VN" sz="3200" dirty="0" smtClean="0"/>
              <a:t>Br</a:t>
            </a:r>
            <a:r>
              <a:rPr lang="vi-VN" sz="3200" baseline="-25000" dirty="0" smtClean="0"/>
              <a:t>3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EAF509D-FD98-4A96-90EF-3389577EB3E4}"/>
              </a:ext>
            </a:extLst>
          </p:cNvPr>
          <p:cNvSpPr txBox="1"/>
          <p:nvPr/>
        </p:nvSpPr>
        <p:spPr>
          <a:xfrm>
            <a:off x="-45719" y="298535"/>
            <a:ext cx="12204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rgbClr val="FF0000"/>
                </a:solidFill>
              </a:rPr>
              <a:t> </a:t>
            </a:r>
            <a:r>
              <a:rPr lang="vi-VN" sz="2800" b="1" dirty="0" smtClean="0">
                <a:solidFill>
                  <a:srgbClr val="0000FF"/>
                </a:solidFill>
              </a:rPr>
              <a:t>Câu 24. </a:t>
            </a:r>
            <a:r>
              <a:rPr lang="vi-VN" sz="2800" dirty="0" smtClean="0"/>
              <a:t>So sánh góc hóa trị các phân tử AB</a:t>
            </a:r>
            <a:r>
              <a:rPr lang="vi-VN" sz="2800" baseline="-25000" dirty="0"/>
              <a:t>3</a:t>
            </a:r>
            <a:r>
              <a:rPr lang="vi-VN" sz="2800" dirty="0" smtClean="0"/>
              <a:t>E</a:t>
            </a:r>
            <a:r>
              <a:rPr lang="vi-VN" sz="2800" baseline="-25000" dirty="0" smtClean="0"/>
              <a:t>1 </a:t>
            </a:r>
            <a:r>
              <a:rPr lang="en-US" sz="2800" dirty="0" smtClean="0"/>
              <a:t> </a:t>
            </a:r>
            <a:r>
              <a:rPr lang="vi-VN" sz="2800" dirty="0" smtClean="0"/>
              <a:t>, có cùng A khác B (VIIA): </a:t>
            </a:r>
            <a:endParaRPr 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238317-F0F7-4FD6-AB01-B36FB954146A}"/>
              </a:ext>
            </a:extLst>
          </p:cNvPr>
          <p:cNvSpPr txBox="1"/>
          <p:nvPr/>
        </p:nvSpPr>
        <p:spPr>
          <a:xfrm>
            <a:off x="331695" y="907480"/>
            <a:ext cx="1186030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dirty="0" smtClean="0"/>
              <a:t>   </a:t>
            </a:r>
            <a:r>
              <a:rPr lang="vi-VN" sz="3200" dirty="0" smtClean="0">
                <a:solidFill>
                  <a:srgbClr val="C00000"/>
                </a:solidFill>
              </a:rPr>
              <a:t>N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</a:t>
            </a:r>
            <a:r>
              <a:rPr lang="vi-VN" sz="3200" dirty="0" smtClean="0"/>
              <a:t>  </a:t>
            </a:r>
            <a:r>
              <a:rPr lang="vi-VN" sz="3200" dirty="0"/>
              <a:t>(102</a:t>
            </a:r>
            <a:r>
              <a:rPr lang="vi-VN" sz="3200" baseline="30000" dirty="0"/>
              <a:t>0</a:t>
            </a:r>
            <a:r>
              <a:rPr lang="vi-VN" sz="3200" dirty="0"/>
              <a:t>)      </a:t>
            </a:r>
            <a:r>
              <a:rPr lang="vi-VN" sz="3200" dirty="0" smtClean="0"/>
              <a:t>    </a:t>
            </a:r>
            <a:r>
              <a:rPr lang="vi-VN" sz="3200" dirty="0" smtClean="0">
                <a:solidFill>
                  <a:srgbClr val="006600"/>
                </a:solidFill>
              </a:rPr>
              <a:t>P</a:t>
            </a:r>
            <a:r>
              <a:rPr lang="vi-VN" sz="3200" dirty="0" smtClean="0"/>
              <a:t>F</a:t>
            </a:r>
            <a:r>
              <a:rPr lang="vi-VN" sz="3200" baseline="-25000" dirty="0" smtClean="0"/>
              <a:t>3</a:t>
            </a:r>
            <a:r>
              <a:rPr lang="vi-VN" sz="3200" dirty="0" smtClean="0"/>
              <a:t> </a:t>
            </a:r>
            <a:r>
              <a:rPr lang="vi-VN" sz="3200" dirty="0"/>
              <a:t>(97</a:t>
            </a:r>
            <a:r>
              <a:rPr lang="vi-VN" sz="3200" baseline="30000" dirty="0"/>
              <a:t>0</a:t>
            </a:r>
            <a:r>
              <a:rPr lang="vi-VN" sz="3200" dirty="0"/>
              <a:t>)      </a:t>
            </a:r>
            <a:r>
              <a:rPr lang="vi-VN" sz="3200" dirty="0" smtClean="0"/>
              <a:t>  </a:t>
            </a:r>
            <a:r>
              <a:rPr lang="vi-VN" sz="3200" dirty="0">
                <a:solidFill>
                  <a:srgbClr val="0000FF"/>
                </a:solidFill>
              </a:rPr>
              <a:t>As</a:t>
            </a:r>
            <a:r>
              <a:rPr lang="vi-VN" sz="3200" dirty="0"/>
              <a:t>F</a:t>
            </a:r>
            <a:r>
              <a:rPr lang="vi-VN" sz="3200" baseline="-25000" dirty="0"/>
              <a:t>3</a:t>
            </a:r>
            <a:r>
              <a:rPr lang="vi-VN" sz="3200" dirty="0"/>
              <a:t>(96</a:t>
            </a:r>
            <a:r>
              <a:rPr lang="vi-VN" sz="3200" baseline="30000" dirty="0"/>
              <a:t>0</a:t>
            </a:r>
            <a:r>
              <a:rPr lang="vi-VN" sz="3200" dirty="0"/>
              <a:t>)    </a:t>
            </a:r>
            <a:r>
              <a:rPr lang="vi-VN" sz="3200" dirty="0" smtClean="0"/>
              <a:t>  </a:t>
            </a:r>
            <a:r>
              <a:rPr lang="vi-VN" sz="3200" dirty="0">
                <a:solidFill>
                  <a:srgbClr val="CC00FF"/>
                </a:solidFill>
              </a:rPr>
              <a:t>Sb</a:t>
            </a:r>
            <a:r>
              <a:rPr lang="vi-VN" sz="3200" dirty="0"/>
              <a:t>F</a:t>
            </a:r>
            <a:r>
              <a:rPr lang="vi-VN" sz="3200" baseline="-25000" dirty="0"/>
              <a:t>3</a:t>
            </a:r>
            <a:r>
              <a:rPr lang="vi-VN" sz="3200" dirty="0"/>
              <a:t>(95</a:t>
            </a:r>
            <a:r>
              <a:rPr lang="vi-VN" sz="3200" baseline="30000" dirty="0"/>
              <a:t>0</a:t>
            </a:r>
            <a:r>
              <a:rPr lang="vi-VN" sz="3200" dirty="0"/>
              <a:t>)</a:t>
            </a:r>
          </a:p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CC00FF"/>
                </a:solidFill>
              </a:rPr>
              <a:t>   </a:t>
            </a:r>
            <a:r>
              <a:rPr lang="vi-VN" sz="3200" dirty="0">
                <a:solidFill>
                  <a:srgbClr val="C00000"/>
                </a:solidFill>
              </a:rPr>
              <a:t>N</a:t>
            </a:r>
            <a:r>
              <a:rPr lang="vi-VN" sz="3200" dirty="0"/>
              <a:t>Cl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C00000"/>
                </a:solidFill>
              </a:rPr>
              <a:t>  (107,1</a:t>
            </a:r>
            <a:r>
              <a:rPr lang="vi-VN" sz="3200" baseline="30000" dirty="0">
                <a:solidFill>
                  <a:srgbClr val="C00000"/>
                </a:solidFill>
              </a:rPr>
              <a:t>0</a:t>
            </a:r>
            <a:r>
              <a:rPr lang="vi-VN" sz="3200" dirty="0">
                <a:solidFill>
                  <a:srgbClr val="C00000"/>
                </a:solidFill>
              </a:rPr>
              <a:t>)  </a:t>
            </a:r>
            <a:r>
              <a:rPr lang="vi-VN" sz="3200" dirty="0" smtClean="0">
                <a:solidFill>
                  <a:srgbClr val="C00000"/>
                </a:solidFill>
              </a:rPr>
              <a:t>    </a:t>
            </a:r>
            <a:r>
              <a:rPr lang="vi-VN" sz="3200" dirty="0" smtClean="0">
                <a:solidFill>
                  <a:srgbClr val="006600"/>
                </a:solidFill>
              </a:rPr>
              <a:t>P</a:t>
            </a:r>
            <a:r>
              <a:rPr lang="vi-VN" sz="3200" dirty="0" smtClean="0"/>
              <a:t>Cl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C00000"/>
                </a:solidFill>
              </a:rPr>
              <a:t> </a:t>
            </a:r>
            <a:r>
              <a:rPr lang="vi-VN" sz="3200" dirty="0">
                <a:solidFill>
                  <a:srgbClr val="C00000"/>
                </a:solidFill>
              </a:rPr>
              <a:t>(100</a:t>
            </a:r>
            <a:r>
              <a:rPr lang="vi-VN" sz="3200" baseline="30000" dirty="0">
                <a:solidFill>
                  <a:srgbClr val="C00000"/>
                </a:solidFill>
              </a:rPr>
              <a:t>0</a:t>
            </a:r>
            <a:r>
              <a:rPr lang="vi-VN" sz="3200" dirty="0">
                <a:solidFill>
                  <a:srgbClr val="C00000"/>
                </a:solidFill>
              </a:rPr>
              <a:t>)   </a:t>
            </a:r>
            <a:r>
              <a:rPr lang="vi-VN" sz="3200" dirty="0" smtClean="0">
                <a:solidFill>
                  <a:srgbClr val="C00000"/>
                </a:solidFill>
              </a:rPr>
              <a:t>  </a:t>
            </a:r>
            <a:r>
              <a:rPr lang="vi-VN" sz="3200" dirty="0">
                <a:solidFill>
                  <a:srgbClr val="0000FF"/>
                </a:solidFill>
              </a:rPr>
              <a:t>As</a:t>
            </a:r>
            <a:r>
              <a:rPr lang="vi-VN" sz="3200" dirty="0"/>
              <a:t>Cl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C00000"/>
                </a:solidFill>
              </a:rPr>
              <a:t>(99</a:t>
            </a:r>
            <a:r>
              <a:rPr lang="vi-VN" sz="3200" baseline="30000" dirty="0">
                <a:solidFill>
                  <a:srgbClr val="C00000"/>
                </a:solidFill>
              </a:rPr>
              <a:t>0</a:t>
            </a:r>
            <a:r>
              <a:rPr lang="vi-VN" sz="3200" dirty="0">
                <a:solidFill>
                  <a:srgbClr val="C00000"/>
                </a:solidFill>
              </a:rPr>
              <a:t>)  </a:t>
            </a:r>
            <a:r>
              <a:rPr lang="vi-VN" sz="3200" dirty="0" smtClean="0">
                <a:solidFill>
                  <a:srgbClr val="C00000"/>
                </a:solidFill>
              </a:rPr>
              <a:t>  </a:t>
            </a:r>
            <a:r>
              <a:rPr lang="vi-VN" sz="3200" dirty="0">
                <a:solidFill>
                  <a:srgbClr val="CC00FF"/>
                </a:solidFill>
              </a:rPr>
              <a:t>Sb</a:t>
            </a:r>
            <a:r>
              <a:rPr lang="vi-VN" sz="3200" dirty="0"/>
              <a:t>Cl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C00000"/>
                </a:solidFill>
              </a:rPr>
              <a:t>(97</a:t>
            </a:r>
            <a:r>
              <a:rPr lang="vi-VN" sz="3200" baseline="30000" dirty="0">
                <a:solidFill>
                  <a:srgbClr val="C00000"/>
                </a:solidFill>
              </a:rPr>
              <a:t>0</a:t>
            </a:r>
            <a:r>
              <a:rPr lang="vi-VN" sz="3200" dirty="0">
                <a:solidFill>
                  <a:srgbClr val="C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vi-VN" sz="3200" dirty="0">
                <a:solidFill>
                  <a:srgbClr val="CC00FF"/>
                </a:solidFill>
              </a:rPr>
              <a:t>   </a:t>
            </a:r>
            <a:r>
              <a:rPr lang="vi-VN" sz="3200" dirty="0">
                <a:solidFill>
                  <a:srgbClr val="C00000"/>
                </a:solidFill>
              </a:rPr>
              <a:t>N</a:t>
            </a:r>
            <a:r>
              <a:rPr lang="vi-VN" sz="3200" dirty="0"/>
              <a:t>Br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006600"/>
                </a:solidFill>
              </a:rPr>
              <a:t> (107,8</a:t>
            </a:r>
            <a:r>
              <a:rPr lang="vi-VN" sz="3200" baseline="30000" dirty="0">
                <a:solidFill>
                  <a:srgbClr val="006600"/>
                </a:solidFill>
              </a:rPr>
              <a:t>0</a:t>
            </a:r>
            <a:r>
              <a:rPr lang="vi-VN" sz="3200" dirty="0">
                <a:solidFill>
                  <a:srgbClr val="006600"/>
                </a:solidFill>
              </a:rPr>
              <a:t>)   </a:t>
            </a:r>
            <a:r>
              <a:rPr lang="vi-VN" sz="3200" dirty="0" smtClean="0">
                <a:solidFill>
                  <a:srgbClr val="006600"/>
                </a:solidFill>
              </a:rPr>
              <a:t>    P</a:t>
            </a:r>
            <a:r>
              <a:rPr lang="vi-VN" sz="3200" dirty="0" smtClean="0"/>
              <a:t>Br</a:t>
            </a:r>
            <a:r>
              <a:rPr lang="vi-VN" sz="3200" baseline="-25000" dirty="0" smtClean="0"/>
              <a:t>3</a:t>
            </a:r>
            <a:r>
              <a:rPr lang="vi-VN" sz="3200" dirty="0" smtClean="0">
                <a:solidFill>
                  <a:srgbClr val="006600"/>
                </a:solidFill>
              </a:rPr>
              <a:t> </a:t>
            </a:r>
            <a:r>
              <a:rPr lang="vi-VN" sz="3200" dirty="0">
                <a:solidFill>
                  <a:srgbClr val="006600"/>
                </a:solidFill>
              </a:rPr>
              <a:t>(101</a:t>
            </a:r>
            <a:r>
              <a:rPr lang="vi-VN" sz="3200" baseline="30000" dirty="0">
                <a:solidFill>
                  <a:srgbClr val="006600"/>
                </a:solidFill>
              </a:rPr>
              <a:t>0</a:t>
            </a:r>
            <a:r>
              <a:rPr lang="vi-VN" sz="3200" dirty="0">
                <a:solidFill>
                  <a:srgbClr val="006600"/>
                </a:solidFill>
              </a:rPr>
              <a:t>)  </a:t>
            </a:r>
            <a:r>
              <a:rPr lang="vi-VN" sz="3200" dirty="0" smtClean="0">
                <a:solidFill>
                  <a:srgbClr val="006600"/>
                </a:solidFill>
              </a:rPr>
              <a:t>  </a:t>
            </a:r>
            <a:r>
              <a:rPr lang="vi-VN" sz="3200" dirty="0">
                <a:solidFill>
                  <a:srgbClr val="0000FF"/>
                </a:solidFill>
              </a:rPr>
              <a:t>As</a:t>
            </a:r>
            <a:r>
              <a:rPr lang="vi-VN" sz="3200" dirty="0"/>
              <a:t>Br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006600"/>
                </a:solidFill>
              </a:rPr>
              <a:t>(100</a:t>
            </a:r>
            <a:r>
              <a:rPr lang="vi-VN" sz="3200" baseline="30000" dirty="0">
                <a:solidFill>
                  <a:srgbClr val="006600"/>
                </a:solidFill>
              </a:rPr>
              <a:t>0</a:t>
            </a:r>
            <a:r>
              <a:rPr lang="vi-VN" sz="3200" dirty="0">
                <a:solidFill>
                  <a:srgbClr val="006600"/>
                </a:solidFill>
              </a:rPr>
              <a:t>) </a:t>
            </a:r>
            <a:r>
              <a:rPr lang="vi-VN" sz="3200" dirty="0" smtClean="0">
                <a:solidFill>
                  <a:srgbClr val="006600"/>
                </a:solidFill>
              </a:rPr>
              <a:t>  </a:t>
            </a:r>
            <a:r>
              <a:rPr lang="vi-VN" sz="3200" dirty="0">
                <a:solidFill>
                  <a:srgbClr val="CC00FF"/>
                </a:solidFill>
              </a:rPr>
              <a:t>Sb</a:t>
            </a:r>
            <a:r>
              <a:rPr lang="vi-VN" sz="3200" dirty="0"/>
              <a:t>Br</a:t>
            </a:r>
            <a:r>
              <a:rPr lang="vi-VN" sz="3200" baseline="-25000" dirty="0"/>
              <a:t>3</a:t>
            </a:r>
            <a:r>
              <a:rPr lang="vi-VN" sz="3200" dirty="0">
                <a:solidFill>
                  <a:srgbClr val="006600"/>
                </a:solidFill>
              </a:rPr>
              <a:t>(98</a:t>
            </a:r>
            <a:r>
              <a:rPr lang="vi-VN" sz="3200" baseline="30000" dirty="0">
                <a:solidFill>
                  <a:srgbClr val="006600"/>
                </a:solidFill>
              </a:rPr>
              <a:t>0</a:t>
            </a:r>
            <a:r>
              <a:rPr lang="vi-VN" sz="3200" dirty="0">
                <a:solidFill>
                  <a:srgbClr val="006600"/>
                </a:solidFill>
              </a:rPr>
              <a:t>)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5D8BCB20-61CA-4A59-B6F8-C8A9F4A66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927" y="3365260"/>
            <a:ext cx="11860305" cy="10871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Xét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từ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 err="1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xuống</a:t>
            </a:r>
            <a:r>
              <a:rPr lang="en-US" sz="3200" dirty="0" smtClean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3200" dirty="0" smtClean="0">
                <a:solidFill>
                  <a:srgbClr val="0000FF"/>
                </a:solidFill>
              </a:rPr>
              <a:t>Do độ </a:t>
            </a:r>
            <a:r>
              <a:rPr lang="vi-VN" sz="3200" dirty="0">
                <a:solidFill>
                  <a:srgbClr val="0000FF"/>
                </a:solidFill>
              </a:rPr>
              <a:t>âm điện của nguyên tử </a:t>
            </a:r>
            <a:r>
              <a:rPr lang="vi-VN" sz="3200" dirty="0" smtClean="0">
                <a:solidFill>
                  <a:srgbClr val="0000FF"/>
                </a:solidFill>
              </a:rPr>
              <a:t>liên kết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vi-VN" sz="3200" dirty="0" smtClean="0">
                <a:solidFill>
                  <a:srgbClr val="0000FF"/>
                </a:solidFill>
              </a:rPr>
              <a:t> giảm dần:</a:t>
            </a:r>
            <a:r>
              <a:rPr lang="vi-VN" sz="3200" dirty="0" smtClean="0">
                <a:solidFill>
                  <a:srgbClr val="006600"/>
                </a:solidFill>
              </a:rPr>
              <a:t> </a:t>
            </a:r>
            <a:r>
              <a:rPr lang="vi-VN" sz="3200" dirty="0">
                <a:solidFill>
                  <a:srgbClr val="0000FF"/>
                </a:solidFill>
              </a:rPr>
              <a:t>F</a:t>
            </a:r>
            <a:r>
              <a:rPr lang="vi-VN" sz="3200" dirty="0" smtClean="0">
                <a:solidFill>
                  <a:srgbClr val="0000FF"/>
                </a:solidFill>
              </a:rPr>
              <a:t> </a:t>
            </a:r>
            <a:r>
              <a:rPr lang="vi-VN" sz="3200" dirty="0">
                <a:solidFill>
                  <a:srgbClr val="0000FF"/>
                </a:solidFill>
                <a:sym typeface="Symbol"/>
              </a:rPr>
              <a:t> </a:t>
            </a:r>
            <a:r>
              <a:rPr lang="vi-VN" sz="3200" dirty="0" smtClean="0">
                <a:solidFill>
                  <a:srgbClr val="0000FF"/>
                </a:solidFill>
                <a:sym typeface="Symbol"/>
              </a:rPr>
              <a:t>Br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sz="3200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vi-VN" sz="3200" dirty="0">
                <a:solidFill>
                  <a:srgbClr val="C00000"/>
                </a:solidFill>
                <a:sym typeface="Symbol"/>
              </a:rPr>
              <a:t>G</a:t>
            </a:r>
            <a:r>
              <a:rPr lang="vi-VN" sz="3200" dirty="0" smtClean="0">
                <a:solidFill>
                  <a:srgbClr val="C00000"/>
                </a:solidFill>
              </a:rPr>
              <a:t>óc </a:t>
            </a:r>
            <a:r>
              <a:rPr lang="vi-VN" sz="3200" dirty="0">
                <a:solidFill>
                  <a:srgbClr val="C00000"/>
                </a:solidFill>
              </a:rPr>
              <a:t>hóa trị </a:t>
            </a:r>
            <a:r>
              <a:rPr lang="vi-VN" sz="3200" dirty="0" smtClean="0">
                <a:solidFill>
                  <a:srgbClr val="C00000"/>
                </a:solidFill>
              </a:rPr>
              <a:t>tăng </a:t>
            </a:r>
            <a:r>
              <a:rPr lang="vi-VN" sz="3200" dirty="0">
                <a:solidFill>
                  <a:srgbClr val="C00000"/>
                </a:solidFill>
              </a:rPr>
              <a:t>dần </a:t>
            </a:r>
            <a:r>
              <a:rPr lang="vi-VN" sz="3200" dirty="0" smtClean="0">
                <a:solidFill>
                  <a:srgbClr val="C00000"/>
                </a:solidFill>
              </a:rPr>
              <a:t>từ trên xuống dưới.</a:t>
            </a:r>
            <a:endParaRPr lang="vi-VN" sz="32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vi-VN" dirty="0">
              <a:solidFill>
                <a:srgbClr val="0066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95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95373F-B73D-484D-899A-8D9C77FD8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463" y="288818"/>
            <a:ext cx="11700588" cy="58690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 25.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vi-VN" sz="3200" dirty="0" smtClean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SO</a:t>
            </a:r>
            <a:r>
              <a:rPr lang="en-US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2;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thẳng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cực.</a:t>
            </a:r>
            <a:endParaRPr lang="en-US" sz="3200" dirty="0">
              <a:solidFill>
                <a:srgbClr val="00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n-US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1,33;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cực.</a:t>
            </a:r>
            <a:endParaRPr lang="en-US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US" sz="32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2;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32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1;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tháp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tam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vi-V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11EAE88D-8208-430A-AAC4-C13BBD857F16}"/>
              </a:ext>
            </a:extLst>
          </p:cNvPr>
          <p:cNvSpPr/>
          <p:nvPr/>
        </p:nvSpPr>
        <p:spPr>
          <a:xfrm>
            <a:off x="218030" y="3863525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Kết quả hình ảnh cho molecular SO 2">
            <a:extLst>
              <a:ext uri="{FF2B5EF4-FFF2-40B4-BE49-F238E27FC236}">
                <a16:creationId xmlns:a16="http://schemas.microsoft.com/office/drawing/2014/main" xmlns="" id="{862A0E14-0A4A-412A-8ECF-6B7E7FAC0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918" y="1253495"/>
            <a:ext cx="1843647" cy="95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8769AA7-16F0-46A3-B3C7-E48806F3E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96488">
            <a:off x="6753104" y="4894183"/>
            <a:ext cx="3726074" cy="1501420"/>
          </a:xfrm>
          <a:prstGeom prst="rect">
            <a:avLst/>
          </a:prstGeom>
        </p:spPr>
      </p:pic>
      <p:pic>
        <p:nvPicPr>
          <p:cNvPr id="2052" name="Picture 4" descr="Kết quả hình ảnh cho H3O+ molecular">
            <a:extLst>
              <a:ext uri="{FF2B5EF4-FFF2-40B4-BE49-F238E27FC236}">
                <a16:creationId xmlns:a16="http://schemas.microsoft.com/office/drawing/2014/main" xmlns="" id="{15287E5A-68F4-44F3-A766-143359064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570" y="4652695"/>
            <a:ext cx="3350157" cy="173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What is the hybridization of carbon in CO3 2-? What is the mechanism for  this process? - Quor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What is the hybridization of carbon in CO3 2-? What is the mechanism for  this process? - Quor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LewisVSEPRanswers.htm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993" y="2696712"/>
            <a:ext cx="1669293" cy="125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H="1">
            <a:off x="2659424" y="5242591"/>
            <a:ext cx="670648" cy="246113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74918" y="904381"/>
            <a:ext cx="2000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solidFill>
                  <a:srgbClr val="006600"/>
                </a:solidFill>
              </a:rPr>
              <a:t>Góc, có cực</a:t>
            </a:r>
            <a:endParaRPr lang="en-US" sz="2400" b="1" dirty="0">
              <a:solidFill>
                <a:srgbClr val="0066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27736" y="2977551"/>
            <a:ext cx="2610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/>
              <a:buChar char="D"/>
            </a:pPr>
            <a:r>
              <a:rPr lang="vi-VN" sz="2400" dirty="0" smtClean="0">
                <a:sym typeface="Symbol"/>
              </a:rPr>
              <a:t>đều</a:t>
            </a:r>
          </a:p>
          <a:p>
            <a:r>
              <a:rPr lang="vi-VN" sz="2400" dirty="0"/>
              <a:t>K</a:t>
            </a:r>
            <a:r>
              <a:rPr lang="vi-VN" sz="2400" dirty="0" smtClean="0"/>
              <a:t>hông cực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7282422" y="4780926"/>
            <a:ext cx="284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 smtClean="0">
                <a:sym typeface="Symbol"/>
              </a:rPr>
              <a:t>Thẳng, </a:t>
            </a:r>
            <a:r>
              <a:rPr lang="vi-VN" sz="2400" dirty="0">
                <a:sym typeface="Symbol"/>
              </a:rPr>
              <a:t>k</a:t>
            </a:r>
            <a:r>
              <a:rPr lang="vi-VN" sz="2400" dirty="0" smtClean="0"/>
              <a:t>hông cực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2177022" y="4421862"/>
            <a:ext cx="2845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 smtClean="0">
                <a:sym typeface="Symbol"/>
              </a:rPr>
              <a:t>Tháp </a:t>
            </a:r>
            <a:r>
              <a:rPr lang="vi-VN" sz="2400" dirty="0">
                <a:sym typeface="Symbol"/>
              </a:rPr>
              <a:t></a:t>
            </a:r>
            <a:r>
              <a:rPr lang="vi-VN" sz="2400" dirty="0" smtClean="0">
                <a:sym typeface="Symbol"/>
              </a:rPr>
              <a:t> , có</a:t>
            </a:r>
            <a:r>
              <a:rPr lang="vi-VN" sz="2400" dirty="0" smtClean="0"/>
              <a:t> cực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594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/>
      <p:bldP spid="19" grpId="0"/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0A2400-ADFA-483E-8E51-9E01CFA79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96" y="102637"/>
            <a:ext cx="12017828" cy="744582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3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43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43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43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43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tr</a:t>
            </a:r>
            <a:r>
              <a:rPr lang="vi-VN" sz="43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b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. Theo pp MO (z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43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43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FO: (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2pz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2px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2py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2px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2py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bền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FO</a:t>
            </a:r>
            <a:r>
              <a:rPr lang="en-US" sz="43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FO &gt; FO</a:t>
            </a:r>
            <a:r>
              <a:rPr lang="en-US" sz="4300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3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	</a:t>
            </a:r>
            <a:r>
              <a:rPr lang="en-US" sz="43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43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NO: (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2px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2py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2pz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2px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4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2py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4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3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endParaRPr lang="en-US" sz="4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NO</a:t>
            </a:r>
            <a:r>
              <a:rPr lang="en-US" sz="43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</a:t>
            </a:r>
            <a:r>
              <a:rPr lang="en-US" sz="43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NO, NO</a:t>
            </a:r>
            <a:r>
              <a:rPr lang="en-US" sz="43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FO</a:t>
            </a:r>
            <a:r>
              <a:rPr lang="en-US" sz="4300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FO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43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lang="en-US" sz="43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(NO)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lang="en-US" sz="43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vi-VN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4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lang="en-US" sz="43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(O).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NO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3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43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2F8B9AF-A506-44C0-8F49-442FD4DD3185}"/>
              </a:ext>
            </a:extLst>
          </p:cNvPr>
          <p:cNvSpPr txBox="1"/>
          <p:nvPr/>
        </p:nvSpPr>
        <p:spPr>
          <a:xfrm>
            <a:off x="3023117" y="5355772"/>
            <a:ext cx="54957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 CẢ ĐỀU ĐÚNG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391900" y="1609725"/>
            <a:ext cx="65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0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57777E-BB0B-4991-A5CE-F0434B5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685" y="344244"/>
            <a:ext cx="11716395" cy="66340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MO: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AO,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đấy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vi-VN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bital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electron.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(MO).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 phân tử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 MO lk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vi-V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 phản lk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58376CA-74C4-49A9-A0A6-AD4BE8871F37}"/>
              </a:ext>
            </a:extLst>
          </p:cNvPr>
          <p:cNvSpPr/>
          <p:nvPr/>
        </p:nvSpPr>
        <p:spPr>
          <a:xfrm>
            <a:off x="215153" y="5288963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9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57777E-BB0B-4991-A5CE-F0434B56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72" y="111967"/>
            <a:ext cx="11802456" cy="663406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MO: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trừ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tuân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Kleshkovski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MO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MO 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phẳng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vuông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trục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xứng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AO.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A9B2400-388C-45C8-A1BD-ED77194DE72A}"/>
              </a:ext>
            </a:extLst>
          </p:cNvPr>
          <p:cNvSpPr/>
          <p:nvPr/>
        </p:nvSpPr>
        <p:spPr>
          <a:xfrm>
            <a:off x="63822" y="1022119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2896F255-16CB-47D1-9CA2-8839EDF0CEBC}"/>
              </a:ext>
            </a:extLst>
          </p:cNvPr>
          <p:cNvSpPr/>
          <p:nvPr/>
        </p:nvSpPr>
        <p:spPr>
          <a:xfrm>
            <a:off x="63460" y="3157065"/>
            <a:ext cx="623582" cy="61239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4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A8B371-6727-4435-8C43-12AC37AA3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3" y="363894"/>
            <a:ext cx="11831216" cy="642879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 </a:t>
            </a:r>
            <a:r>
              <a:rPr lang="pt-BR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pt-BR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pt-BR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Khi tổ hợp tuyến tính các AO trong phân tử A</a:t>
            </a:r>
            <a:r>
              <a:rPr lang="pt-BR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(A thuộc chu kì 3; z là trục liên nhân), tên các MO là: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3s </a:t>
            </a:r>
            <a:r>
              <a:rPr lang="pt-B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3s                                         </a:t>
            </a:r>
            <a:r>
              <a:rPr lang="pt-BR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pt-BR" sz="3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 </a:t>
            </a:r>
            <a:r>
              <a:rPr lang="pt-BR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pt-BR" sz="3200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z2</a:t>
            </a:r>
            <a:r>
              <a:rPr lang="pt-BR" sz="3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pt-BR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3p</a:t>
            </a:r>
            <a:r>
              <a:rPr lang="pt-BR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                                     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pt-BR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xz 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pt-BR" sz="32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xz </a:t>
            </a:r>
            <a:endParaRPr lang="pt-BR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pt-BR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3p</a:t>
            </a:r>
            <a:r>
              <a:rPr lang="pt-BR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</a:t>
            </a:r>
            <a:r>
              <a:rPr lang="pt-BR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pt-BR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yz </a:t>
            </a:r>
            <a:r>
              <a:rPr lang="pt-BR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pt-BR" sz="3200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yz</a:t>
            </a:r>
            <a:r>
              <a:rPr lang="pt-BR" sz="32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3p</a:t>
            </a:r>
            <a:r>
              <a:rPr lang="pt-BR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3p</a:t>
            </a:r>
            <a:r>
              <a:rPr lang="pt-BR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3d</a:t>
            </a:r>
            <a:r>
              <a:rPr lang="pt-BR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x2-y2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pt-BR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x2-y2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pt-BR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 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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r>
              <a:rPr lang="pt-BR" sz="3200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</a:t>
            </a:r>
            <a:r>
              <a:rPr lang="pt-BR" sz="32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sz="3200" dirty="0">
                <a:solidFill>
                  <a:srgbClr val="CC00FF"/>
                </a:solidFill>
              </a:rPr>
              <a:t>      </a:t>
            </a:r>
            <a:endParaRPr lang="pt-BR" sz="3200" dirty="0">
              <a:solidFill>
                <a:srgbClr val="CC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1EB99F-B9CB-495B-892A-BCB77174169B}"/>
              </a:ext>
            </a:extLst>
          </p:cNvPr>
          <p:cNvSpPr txBox="1"/>
          <p:nvPr/>
        </p:nvSpPr>
        <p:spPr>
          <a:xfrm>
            <a:off x="2461728" y="2659196"/>
            <a:ext cx="981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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01E7FA4-8314-4626-A3F6-007911B5CD50}"/>
              </a:ext>
            </a:extLst>
          </p:cNvPr>
          <p:cNvSpPr txBox="1"/>
          <p:nvPr/>
        </p:nvSpPr>
        <p:spPr>
          <a:xfrm>
            <a:off x="2550368" y="1914358"/>
            <a:ext cx="1107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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FB47FA0-06B9-4601-9C45-0AAA8A494D7A}"/>
              </a:ext>
            </a:extLst>
          </p:cNvPr>
          <p:cNvSpPr txBox="1"/>
          <p:nvPr/>
        </p:nvSpPr>
        <p:spPr>
          <a:xfrm>
            <a:off x="8324458" y="1861514"/>
            <a:ext cx="1533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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5D874F6-4662-4C9F-A491-F78170C405F3}"/>
              </a:ext>
            </a:extLst>
          </p:cNvPr>
          <p:cNvSpPr txBox="1"/>
          <p:nvPr/>
        </p:nvSpPr>
        <p:spPr>
          <a:xfrm>
            <a:off x="2461727" y="4200217"/>
            <a:ext cx="98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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2B8BD3B-56C6-4667-B8FE-F38D3C03C443}"/>
              </a:ext>
            </a:extLst>
          </p:cNvPr>
          <p:cNvSpPr txBox="1"/>
          <p:nvPr/>
        </p:nvSpPr>
        <p:spPr>
          <a:xfrm>
            <a:off x="2464838" y="3452269"/>
            <a:ext cx="1192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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99D304C-2781-4496-8A29-AE7C5CE18F31}"/>
              </a:ext>
            </a:extLst>
          </p:cNvPr>
          <p:cNvSpPr txBox="1"/>
          <p:nvPr/>
        </p:nvSpPr>
        <p:spPr>
          <a:xfrm>
            <a:off x="8397546" y="3499546"/>
            <a:ext cx="1203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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1F177DB-1417-42F7-813B-5D33FD34D7FA}"/>
              </a:ext>
            </a:extLst>
          </p:cNvPr>
          <p:cNvSpPr txBox="1"/>
          <p:nvPr/>
        </p:nvSpPr>
        <p:spPr>
          <a:xfrm>
            <a:off x="8416207" y="2682721"/>
            <a:ext cx="981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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B7E6603-F8D9-4888-8BAA-98313D6DE4BF}"/>
              </a:ext>
            </a:extLst>
          </p:cNvPr>
          <p:cNvSpPr txBox="1"/>
          <p:nvPr/>
        </p:nvSpPr>
        <p:spPr>
          <a:xfrm>
            <a:off x="8441087" y="4952353"/>
            <a:ext cx="1160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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D7B3321-FB16-4317-A6C8-2BFCACE40219}"/>
              </a:ext>
            </a:extLst>
          </p:cNvPr>
          <p:cNvSpPr txBox="1"/>
          <p:nvPr/>
        </p:nvSpPr>
        <p:spPr>
          <a:xfrm>
            <a:off x="8472186" y="4247494"/>
            <a:ext cx="981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 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71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673C49-D064-4E86-AD7E-2637352D9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225" y="391885"/>
            <a:ext cx="10515600" cy="541185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3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200" b="1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tồn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  <a:r>
              <a:rPr lang="vi-V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b="1" baseline="-250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­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2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n-US" sz="3200" b="1" baseline="-250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3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b="1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3200" b="1" baseline="-25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30000" dirty="0">
                <a:solidFill>
                  <a:srgbClr val="CC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="1" baseline="-25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baseline="300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endParaRPr lang="fr-FR" sz="3200" b="1" baseline="-250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fr-FR" sz="3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fr-FR" sz="3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fr-FR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NCl</a:t>
            </a:r>
            <a:r>
              <a:rPr lang="fr-FR" sz="3200" b="1" baseline="-25000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fr-FR" sz="32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</a:t>
            </a:r>
            <a:r>
              <a:rPr lang="fr-F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fr-FR" sz="32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600C4D08-C04A-4424-BD56-CF3C0B9E7EC8}"/>
              </a:ext>
            </a:extLst>
          </p:cNvPr>
          <p:cNvSpPr/>
          <p:nvPr/>
        </p:nvSpPr>
        <p:spPr>
          <a:xfrm>
            <a:off x="754225" y="2099388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7D35C99-2575-4F43-8358-9F60E64216B5}"/>
              </a:ext>
            </a:extLst>
          </p:cNvPr>
          <p:cNvSpPr/>
          <p:nvPr/>
        </p:nvSpPr>
        <p:spPr>
          <a:xfrm>
            <a:off x="726232" y="2915871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61789A31-5CEB-42EA-AA12-63AE29ED6223}"/>
              </a:ext>
            </a:extLst>
          </p:cNvPr>
          <p:cNvSpPr/>
          <p:nvPr/>
        </p:nvSpPr>
        <p:spPr>
          <a:xfrm>
            <a:off x="692020" y="3800783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07EE84D-1B61-4ED1-BC84-B1625010555E}"/>
              </a:ext>
            </a:extLst>
          </p:cNvPr>
          <p:cNvSpPr/>
          <p:nvPr/>
        </p:nvSpPr>
        <p:spPr>
          <a:xfrm>
            <a:off x="6220408" y="3853543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5D1B806F-3884-4F84-B06B-F26557796400}"/>
              </a:ext>
            </a:extLst>
          </p:cNvPr>
          <p:cNvSpPr/>
          <p:nvPr/>
        </p:nvSpPr>
        <p:spPr>
          <a:xfrm>
            <a:off x="6164425" y="2915872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987BA89-81F8-45BF-8FD0-5520AC7AD64D}"/>
              </a:ext>
            </a:extLst>
          </p:cNvPr>
          <p:cNvSpPr/>
          <p:nvPr/>
        </p:nvSpPr>
        <p:spPr>
          <a:xfrm>
            <a:off x="692020" y="4685695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986377E7-B064-42BE-8594-91EFEB94F769}"/>
              </a:ext>
            </a:extLst>
          </p:cNvPr>
          <p:cNvSpPr/>
          <p:nvPr/>
        </p:nvSpPr>
        <p:spPr>
          <a:xfrm>
            <a:off x="6220408" y="4671752"/>
            <a:ext cx="1149219" cy="7185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369627" y="3013546"/>
            <a:ext cx="1895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4e hóa trị</a:t>
            </a:r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903444" y="3101695"/>
            <a:ext cx="2105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16e hóa trị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1903444" y="2197062"/>
            <a:ext cx="1895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4e hóa trị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7456519" y="4783369"/>
            <a:ext cx="2105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16e hóa trị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1970119" y="3898457"/>
            <a:ext cx="2601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F: 4AO hóa trị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903444" y="4783369"/>
            <a:ext cx="2601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N</a:t>
            </a:r>
            <a:r>
              <a:rPr lang="vi-VN" sz="2800" dirty="0" smtClean="0"/>
              <a:t>: 4AO hóa trị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7456518" y="3915849"/>
            <a:ext cx="2601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O</a:t>
            </a:r>
            <a:r>
              <a:rPr lang="vi-VN" sz="2800" dirty="0" smtClean="0"/>
              <a:t>: 4AO hóa trị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760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8" grpId="0" animBg="1"/>
      <p:bldP spid="13" grpId="0" animBg="1"/>
      <p:bldP spid="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2039600" cy="661352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sz="3500" b="1" dirty="0" smtClean="0">
                <a:solidFill>
                  <a:srgbClr val="0000FF"/>
                </a:solidFill>
              </a:rPr>
              <a:t>Câu 30.</a:t>
            </a:r>
            <a:r>
              <a:rPr lang="en-US" sz="3500" dirty="0"/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án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đúng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vi-VN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ố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oxy </a:t>
            </a:r>
            <a:r>
              <a:rPr lang="en-US" sz="35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điện hóa trị</a:t>
            </a:r>
            <a:r>
              <a:rPr lang="en-US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hay cộng hóa trị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 smtClean="0">
                <a:latin typeface="Arial" pitchFamily="34" charset="0"/>
                <a:cs typeface="Arial" pitchFamily="34" charset="0"/>
              </a:rPr>
              <a:t>của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các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phân tử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sau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có giá trị lần lượt </a:t>
            </a:r>
            <a:r>
              <a:rPr lang="en-US" sz="3500" dirty="0" err="1" smtClean="0">
                <a:latin typeface="Arial" pitchFamily="34" charset="0"/>
                <a:cs typeface="Arial" pitchFamily="34" charset="0"/>
              </a:rPr>
              <a:t>là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</a:t>
            </a:r>
            <a:endParaRPr lang="en-US" sz="35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KClO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4      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O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	</a:t>
            </a:r>
            <a:endParaRPr lang="vi-VN" sz="35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Na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CrO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4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Na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O: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35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BaSO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Ba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+2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O: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S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.</a:t>
            </a:r>
            <a:endParaRPr lang="vi-VN" sz="35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K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MnO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O: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Mn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3500" dirty="0" smtClean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KNO</a:t>
            </a:r>
            <a:r>
              <a:rPr lang="vi-VN" sz="3500" b="1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vi-VN" sz="3500" b="1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+1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O: </a:t>
            </a:r>
            <a:r>
              <a:rPr lang="en-US" sz="35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;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  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vi-VN" sz="3500" dirty="0">
                <a:latin typeface="Arial" pitchFamily="34" charset="0"/>
                <a:cs typeface="Arial" pitchFamily="34" charset="0"/>
              </a:rPr>
              <a:t>N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vi-VN" sz="3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vi-VN" sz="35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vi-VN" sz="3500" dirty="0" smtClean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.</a:t>
            </a:r>
            <a:endParaRPr lang="vi-VN" sz="35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vi-VN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39200" y="1371600"/>
            <a:ext cx="232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TẤT CẢ</a:t>
            </a:r>
            <a:endParaRPr lang="en-US" sz="4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81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3964</TotalTime>
  <Words>2342</Words>
  <Application>Microsoft Office PowerPoint</Application>
  <PresentationFormat>Custom</PresentationFormat>
  <Paragraphs>238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Câu 18. Xác định cộng hóa trị của các nguyên tố N, O , P:</vt:lpstr>
      <vt:lpstr>PowerPoint Presentation</vt:lpstr>
      <vt:lpstr>PowerPoint Presentation</vt:lpstr>
      <vt:lpstr>PowerPoint Presentation</vt:lpstr>
      <vt:lpstr>       H2 O                H2 S                 H2 Se              H2 Te                   OF2                             SF2                           Cl2 O                            SCl2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 8 64Bit VS7</dc:creator>
  <cp:lastModifiedBy>USER</cp:lastModifiedBy>
  <cp:revision>210</cp:revision>
  <dcterms:created xsi:type="dcterms:W3CDTF">2019-10-29T07:59:15Z</dcterms:created>
  <dcterms:modified xsi:type="dcterms:W3CDTF">2020-12-03T16:17:40Z</dcterms:modified>
</cp:coreProperties>
</file>