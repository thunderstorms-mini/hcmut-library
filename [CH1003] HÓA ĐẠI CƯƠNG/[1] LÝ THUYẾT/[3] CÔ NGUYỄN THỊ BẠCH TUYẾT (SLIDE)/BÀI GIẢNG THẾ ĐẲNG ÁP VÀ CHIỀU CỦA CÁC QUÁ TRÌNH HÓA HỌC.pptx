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528" r:id="rId3"/>
    <p:sldId id="307" r:id="rId4"/>
    <p:sldId id="308" r:id="rId5"/>
    <p:sldId id="398" r:id="rId6"/>
    <p:sldId id="309" r:id="rId7"/>
    <p:sldId id="420" r:id="rId8"/>
    <p:sldId id="406" r:id="rId9"/>
    <p:sldId id="300" r:id="rId10"/>
    <p:sldId id="285" r:id="rId11"/>
    <p:sldId id="551" r:id="rId12"/>
    <p:sldId id="301" r:id="rId13"/>
    <p:sldId id="302" r:id="rId14"/>
    <p:sldId id="303" r:id="rId15"/>
    <p:sldId id="395" r:id="rId16"/>
    <p:sldId id="419" r:id="rId17"/>
    <p:sldId id="399" r:id="rId18"/>
    <p:sldId id="397" r:id="rId19"/>
    <p:sldId id="409" r:id="rId20"/>
    <p:sldId id="544" r:id="rId21"/>
    <p:sldId id="423" r:id="rId22"/>
    <p:sldId id="421" r:id="rId23"/>
    <p:sldId id="422" r:id="rId24"/>
    <p:sldId id="412" r:id="rId25"/>
    <p:sldId id="413" r:id="rId26"/>
    <p:sldId id="414" r:id="rId27"/>
    <p:sldId id="554" r:id="rId28"/>
    <p:sldId id="415" r:id="rId29"/>
    <p:sldId id="549" r:id="rId30"/>
    <p:sldId id="557" r:id="rId31"/>
    <p:sldId id="552" r:id="rId32"/>
    <p:sldId id="416" r:id="rId33"/>
    <p:sldId id="545" r:id="rId34"/>
    <p:sldId id="546" r:id="rId35"/>
    <p:sldId id="547" r:id="rId36"/>
    <p:sldId id="556" r:id="rId37"/>
    <p:sldId id="548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CC00FF"/>
    <a:srgbClr val="663300"/>
    <a:srgbClr val="9933FF"/>
    <a:srgbClr val="008000"/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>
      <p:cViewPr>
        <p:scale>
          <a:sx n="101" d="100"/>
          <a:sy n="101" d="100"/>
        </p:scale>
        <p:origin x="-1914" y="-4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xmlns="" id="{4D9056AE-CB60-4B23-BA9C-55FA54B2FB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xmlns="" id="{61D9A1E4-FEDE-4135-8585-B6909FB959C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xmlns="" id="{AC51FF42-FE30-4B05-B472-8DCE7EB0FB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xmlns="" id="{D4A07144-FF72-44D6-87E2-19B6E788FDD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xmlns="" id="{7B8BB024-F0CA-4242-A8BF-6D027D05FED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xmlns="" id="{7F886A49-A5C9-48EC-BF94-E94673203A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06BAB7E-F90C-474B-811C-651F57412F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1239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xmlns="" id="{E61F3890-5982-4BE5-9E41-01AB5C6EA4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xmlns="" id="{DB1975D9-157D-4937-8CC1-A4EA46EC4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xmlns="" id="{0165B95A-2921-4555-A902-13C45B878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A9478B-BADC-4486-83D2-836790197F4B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xmlns="" id="{E2BA9394-B2D7-4006-B420-401C3630EC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xmlns="" id="{3F29F1AD-98E5-44F9-B57D-736AE8ABF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xmlns="" id="{44AB8CCE-8847-41E2-B488-43E19900F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0E12099-8BF0-4A49-A4DE-57C3256D7467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xmlns="" id="{55BBBC94-EAA3-4845-AA2D-2FD86D6494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xmlns="" id="{0DF0B6EF-5F7B-493E-B099-3551C0449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xmlns="" id="{C8F05A8B-1C20-45E2-842F-8771D9F9E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4C5DCFE-4AF8-45F6-ADA1-8E2C3C300F0B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xmlns="" id="{99D7BCF5-6006-4518-8C65-D8A222E102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xmlns="" id="{CA6F4664-8DE2-46D1-8C4B-6613BE33F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xmlns="" id="{7B1E3BFF-DA10-432A-B1B4-7CB936F34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FDAACDE-32C4-44CE-9E29-A24A019383C3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xmlns="" id="{2B008EDB-B88C-455B-9E59-233A73E59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xmlns="" id="{06E2E4BD-932C-4C6A-86AE-3E3873361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xmlns="" id="{0ED6F7F7-1C5E-480B-94EF-28C0961BB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5B07BC8-1CAC-432C-9623-1EF1556550A0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xmlns="" id="{A3E19E66-FD55-4ED5-A82E-2E6143030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xmlns="" id="{20B4ECF8-2156-4B10-8828-5E49FE553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xmlns="" id="{30792987-3844-4FEA-9293-6D39A49A2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49C7C09-2D07-4434-8A06-A7CAA211C511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xmlns="" id="{F4C5C644-08AF-45CF-9767-ACEDBBDB79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xmlns="" id="{C46D72C3-FCDF-4A8C-A3CB-9307EB250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xmlns="" id="{6922A195-C9BE-49EB-99C1-A5C0EF47B58D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0950BA9-CC10-4A47-A3BA-34F6457B27C7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xmlns="" id="{E8C97BD4-6133-4BCF-A932-532DA727BC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xmlns="" id="{8BBC6B97-4CBF-4D1A-A257-438063490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xmlns="" id="{28D897AB-8ECD-4D3D-91CF-0B26998F9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C72524-F2C2-47B2-BE08-1CB132E7E630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xmlns="" id="{B9D6C271-EF8B-4715-B3A9-552EDB4ADC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xmlns="" id="{28AD482E-4483-47EB-A642-C26971142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xmlns="" id="{25A7E410-3913-47FA-8E82-405B8106B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E0F05F5-AE62-487B-B0FE-BFE27747DF55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xmlns="" id="{C56C0001-90E3-4A5B-AB7B-DAE3508651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xmlns="" id="{E3AAF3E1-0722-491A-8F89-FFE88CC40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xmlns="" id="{3BE6AF16-433A-4A36-92C3-2E6B8DAB6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1B9C640-88DE-483D-84B8-B2BE0D424879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xmlns="" id="{2C10EDBA-44FA-4E28-B0A0-AE8A075D82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xmlns="" id="{46FF6BB8-2767-4CA7-A3E0-C6E01D6D3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xmlns="" id="{F52D2BDA-E6EA-439C-9428-ACACF5E77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9819405-55A6-4E09-82AA-0B06ADC56640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2170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xmlns="" id="{2C10EDBA-44FA-4E28-B0A0-AE8A075D82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xmlns="" id="{46FF6BB8-2767-4CA7-A3E0-C6E01D6D3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xmlns="" id="{F52D2BDA-E6EA-439C-9428-ACACF5E77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9819405-55A6-4E09-82AA-0B06ADC56640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173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xmlns="" id="{2A044BA2-6432-42F4-93C7-F68FCD354C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xmlns="" id="{E314399C-6445-436F-9BF5-2637E13B8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xmlns="" id="{8FA73F80-3D33-4088-96B9-191782339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AE23253-7244-4947-9D18-B4292CD3AC3B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xmlns="" id="{2480240D-9F4D-4C89-933C-1B1FC23DD8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xmlns="" id="{F151E641-6C7D-46D5-A1BB-E93A0D39D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xmlns="" id="{89DA6DEA-A88B-4D60-B510-919AF2BE8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749843-5280-4214-B329-C88C9B23652B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xmlns="" id="{B3C80186-A839-4D7A-A3DD-65DC86BD4B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xmlns="" id="{5FB14899-AA1B-45A5-B158-10E39F43C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xmlns="" id="{4900F6C7-83F2-40FA-ADD6-BB11EA7CD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4327730-DCF8-46DA-8D10-1F737F5FF030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xmlns="" id="{A7999711-B06C-42D1-9955-59A0FED46F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xmlns="" id="{4CC4A45E-2D15-470B-A528-3943D020A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xmlns="" id="{4F811EA8-AEF0-4C70-9A55-D41D92591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F6C2F71-760E-4554-865C-42B7A311F58C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xmlns="" id="{BB072DDE-1986-4E5F-B0B0-093F255F30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xmlns="" id="{1C39FF48-1B72-4DDA-8AF0-4E817064D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xmlns="" id="{9FD54DBB-69BF-42C5-A78B-DA485DA5A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34916D2-A353-4FE4-A209-3B4B8B1F3D7B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xmlns="" id="{531A14E7-18C8-447B-8196-54AF36390D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xmlns="" id="{9E0BEC43-7B78-4C72-BC06-298C13C90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xmlns="" id="{34A0AA84-02EB-4C28-B597-5E1BB43E2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0B35D4-3C4D-46B2-86A8-6CB99D57F907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xmlns="" id="{D7B59117-B3E4-4D74-965D-D5950566A0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82CF291-BD12-4940-95AD-C4EF0E9F0F70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xmlns="" id="{29C10127-45A0-457C-8D0B-66F38F7215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xmlns="" id="{DB093778-AFEE-4F4F-B7E5-D0A44F230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xmlns="" id="{EDD361B6-196D-4BA9-8A69-40C0F4FD06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xmlns="" id="{A36E55CA-742B-42E4-A69C-9232FDEA6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xmlns="" id="{C773220D-528A-45B2-B10B-66921F1944CC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5D0B712-B640-423B-B528-972F831A680D}" type="slidenum">
              <a:rPr lang="en-US" altLang="en-US"/>
              <a:pPr algn="r" eaLnBrk="1" hangingPunct="1"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xmlns="" id="{ED328A6E-FCC7-4759-9B54-A77FCF585D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xmlns="" id="{187E5961-9398-40DA-8138-460789611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xmlns="" id="{94EEB1C0-72B1-4F0A-8C36-2C26FC697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F5F8C9-69EB-4F94-AF0B-4136C926823D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xmlns="" id="{87B9F270-48D4-44E2-A93B-CABD42C2BA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xmlns="" id="{E63B570A-1C0B-409C-884E-B18B20005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xmlns="" id="{F8F982DE-8688-4123-9A4A-19F0748B3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DD4CD58-AA69-4BEF-8BEE-E1C37E52A3C4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xmlns="" id="{89899DCA-B7CB-4BEB-9BA3-C2E2D56CA5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xmlns="" id="{E425937C-9F6E-4FEC-9711-C9593BADE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xmlns="" id="{7694A2D7-8576-4812-94E5-100D952C0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09E15E0-F44E-4C9E-A0E7-DFDB0081447B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xmlns="" id="{B3F1E94E-288F-4735-8741-E88D5DD614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xmlns="" id="{FDE0B173-0D74-4934-9CE7-45AFE211F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xmlns="" id="{43FE2265-763A-4B50-A8FB-657EB5625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3C2D33A-E4B2-40C6-9333-2D3763F2AA4C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xmlns="" id="{3D81D71F-0995-4A28-B50B-885DAD9E06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xmlns="" id="{687D0F75-3A64-450A-97B4-078AE5AA6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xmlns="" id="{BCC6EC0C-1DBE-4555-85E9-CD4DC5697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E74F1C1-A42D-48E2-99C1-9B7F0535E394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820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xmlns="" id="{8DF5104B-6D1A-4051-96CE-47507230DC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xmlns="" id="{54E70864-9593-405A-9B80-5CCB61D7B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xmlns="" id="{3DB4E0BD-D620-4B01-9074-F3A4538BB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9BDD0B5-5F20-4B6E-9705-C7F137ED9FCF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xmlns="" id="{4BBFF9CF-1200-4620-BFB0-9DDC35D07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xmlns="" id="{2D968556-0842-4AAF-8508-1A2C2DD03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xmlns="" id="{1C499EAD-D2E4-4A9C-8FDF-C063C6D38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B083106-9459-44C4-B611-966EA3CCB37C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BF9C649-F7AA-4544-B938-34E5D002B5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2D47C4B-EFC7-4001-B14F-18A533D4C8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1FE0938D-6B23-4AD0-822E-99A8A1F2CE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3E328-FAC0-4765-9BB1-3A1E543981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778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4E9F5411-F031-4B71-88A6-02C1AFD980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D90017E5-78AA-4A32-87E0-0A6EC1E967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0540E358-777C-4BAB-B66D-324CCE8EDC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D369B-B9D6-4BA8-B1BC-24ECAE1887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7085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52402E8-5141-4152-9C75-CB066DCAA6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ACDA0D63-EFCE-4474-B503-3201A11FBD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1BA9EFC1-7FC1-4C34-8B1E-7D97C927F3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EFD18-DEF1-4A02-AF32-A93D5DBD00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15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26BF559-875D-42DB-9F7E-924AA09525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CAD365B-06E1-4D8E-815D-FAC3EA2D1B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4518F83-6135-474A-84F1-742D053AE2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B53B8-AC75-4767-9670-1FA7B1E3EF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709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7BA9E051-0B4E-452D-9931-0A66CDB9DB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577657F4-5218-48A5-89A4-E2458C2A17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D885434D-444D-4A81-BF9B-CE57240D20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8C0F2-0087-4CF5-BAD4-9EDE0F55F8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953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1F02830F-0500-4307-B392-15952E770D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60C4C699-B3F6-40F3-A9AF-A45E449E0C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84AE150F-D75E-4EE2-BB90-87A4BBDBC4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A3E05-667C-4ABA-BAD0-D93536E548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79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315E4794-F2BB-40F5-BB07-F839372B84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9C40CB02-29CB-4878-98A1-EAC6AB6A18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DB951938-24D4-4F0D-8C84-18F3E3CE97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3A90B7-052F-4953-8F64-2BDD178C86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665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FE05A92-5F81-45E1-95F4-47766C38A1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0D5B076-CD76-4FB2-B895-DCAAF62E06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6BFCB80-14B6-486A-ABE5-4DBE2BB7CE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46C7D-4259-4BED-8F53-B3F404FD5A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773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D53340E-2250-4F79-9A30-6C150215BF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E69ADC7-4C89-4253-857E-B68136D620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E57D00B-1C54-4C8F-AD39-074F2FAA82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2655A-3C95-4013-B74A-91FFAA1427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285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DD09671E-ABAE-4B2A-A73F-29DF60E4A9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509EA8C2-3BF3-4C02-9F77-58B418E50D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D810603-EC53-4BF6-953D-96E36A92CA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5C2D7B-5979-4C3F-B668-EA44B637C1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853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54558DEF-3671-4E90-9D5C-2D13F60C2F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AC71FB4-50DC-4631-89DD-405A3B5E02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A23842E4-77C2-4BF0-97F8-9713415DB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A4957E-9A46-43C0-8DE7-48B921EA65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3578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F606D321-22D5-4A11-B5E2-0580AE713F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A88A3597-6979-4A61-8780-37EB2EF433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35F72AD2-4512-4AE7-9951-97501223FC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35BE1-21BE-461D-8AD3-8E8DC4564C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0953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57E8DA9-317B-4AB5-94BE-011C515961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6694616-8D0E-454E-8826-DC0878FCC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C1E8565-6C01-49B5-8BC8-0EEC026CB2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1CF88-8A27-4FB8-B2F3-5C5DBB2EC2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1849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5BBC2FAF-BA47-499F-83B9-9E881282F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B54539B5-EEB6-408A-AC1F-7A6E3E11A4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CD0E4FB1-B7FC-4EB9-AF6F-DACBBD5DA4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BDB3A-75F6-47D7-8F82-E99883740F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53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14F591D1-55A7-4954-9ECC-3B0C894EF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852285FE-23F7-42B3-9670-208ED56F4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C337B2D7-BAE2-406D-B2C0-7BC96715CFA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59777415-9460-46F0-A976-4608A19EA28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2D3801CD-F0C9-4B41-A023-25CB6ECD45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34932EA-0F27-4776-AFE1-8523B508B0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3" Type="http://schemas.openxmlformats.org/officeDocument/2006/relationships/image" Target="../media/image331.png"/><Relationship Id="rId7" Type="http://schemas.openxmlformats.org/officeDocument/2006/relationships/image" Target="../media/image37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11" Type="http://schemas.openxmlformats.org/officeDocument/2006/relationships/image" Target="../media/image99.png"/><Relationship Id="rId5" Type="http://schemas.openxmlformats.org/officeDocument/2006/relationships/image" Target="../media/image350.png"/><Relationship Id="rId15" Type="http://schemas.openxmlformats.org/officeDocument/2006/relationships/image" Target="../media/image103.png"/><Relationship Id="rId4" Type="http://schemas.openxmlformats.org/officeDocument/2006/relationships/image" Target="../media/image341.png"/><Relationship Id="rId1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xmlns="" id="{509F4920-15EC-498C-9F29-FF073CEE054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-71438" y="481013"/>
            <a:ext cx="9144001" cy="1371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CHƯƠNG  5</a:t>
            </a:r>
            <a:r>
              <a:rPr lang="en-US" alt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> </a:t>
            </a:r>
            <a:r>
              <a:rPr lang="en-US" altLang="en-US" sz="3600" dirty="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  <a:t/>
            </a:r>
            <a:br>
              <a:rPr lang="en-US" altLang="en-US" sz="3600" dirty="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rPr>
            </a:br>
            <a:r>
              <a:rPr lang="en-US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ngsana New" panose="02020603050405020304" pitchFamily="18" charset="-34"/>
              </a:rPr>
              <a:t>THẾ ĐẲNG </a:t>
            </a:r>
            <a:r>
              <a:rPr lang="en-US" altLang="en-US" sz="3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ngsana New" panose="02020603050405020304" pitchFamily="18" charset="-34"/>
              </a:rPr>
              <a:t>ÁP</a:t>
            </a:r>
            <a:r>
              <a:rPr lang="vi-VN" altLang="en-US" sz="36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ngsana New" panose="02020603050405020304" pitchFamily="18" charset="-34"/>
              </a:rPr>
              <a:t> &amp;</a:t>
            </a:r>
            <a:r>
              <a:rPr lang="en-US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ngsana New" panose="02020603050405020304" pitchFamily="18" charset="-34"/>
              </a:rPr>
              <a:t/>
            </a:r>
            <a:br>
              <a:rPr lang="en-US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ngsana New" panose="02020603050405020304" pitchFamily="18" charset="-34"/>
              </a:rPr>
            </a:br>
            <a:r>
              <a:rPr lang="en-US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ngsana New" panose="02020603050405020304" pitchFamily="18" charset="-34"/>
              </a:rPr>
              <a:t>CHIỀU CỦA CÁC QUÁ TRÌNH HOÁ HỌC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xmlns="" id="{C2ED1B52-73D7-49C7-A5E2-D11B2A5B3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0" y="6507163"/>
            <a:ext cx="6629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 © The McGraw-Hill Companies, Inc.  Permission required for reproduction or display.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pic>
        <p:nvPicPr>
          <p:cNvPr id="3076" name="Picture 6" descr="CHA56016">
            <a:extLst>
              <a:ext uri="{FF2B5EF4-FFF2-40B4-BE49-F238E27FC236}">
                <a16:creationId xmlns:a16="http://schemas.microsoft.com/office/drawing/2014/main" xmlns="" id="{26B5DA94-EC0C-4EEB-A822-68B3E4A66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700" y="2060575"/>
            <a:ext cx="3967163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7" descr="CHA56026">
            <a:extLst>
              <a:ext uri="{FF2B5EF4-FFF2-40B4-BE49-F238E27FC236}">
                <a16:creationId xmlns:a16="http://schemas.microsoft.com/office/drawing/2014/main" xmlns="" id="{D06F8341-3DB9-452C-934F-7EDA9AD0F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2060575"/>
            <a:ext cx="4056063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xmlns="" id="{A510021B-D4FA-4572-B8CA-B61E36DD6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7086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dirty="0"/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xmlns="" id="{DFED11F4-4CAE-432D-A8D3-259EC636A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68263"/>
            <a:ext cx="6321425" cy="427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endParaRPr lang="en-US" alt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úa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ngược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giống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gây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gì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cũng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3600" dirty="0">
              <a:solidFill>
                <a:srgbClr val="FFFF00"/>
              </a:solidFill>
            </a:endParaRPr>
          </a:p>
        </p:txBody>
      </p:sp>
      <p:sp>
        <p:nvSpPr>
          <p:cNvPr id="5124" name="Text Box 5">
            <a:extLst>
              <a:ext uri="{FF2B5EF4-FFF2-40B4-BE49-F238E27FC236}">
                <a16:creationId xmlns:a16="http://schemas.microsoft.com/office/drawing/2014/main" xmlns="" id="{02D49FB4-5264-4630-B878-7955BBF75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828800"/>
            <a:ext cx="388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/>
          </a:p>
        </p:txBody>
      </p:sp>
      <p:sp>
        <p:nvSpPr>
          <p:cNvPr id="5125" name="Text Box 6">
            <a:extLst>
              <a:ext uri="{FF2B5EF4-FFF2-40B4-BE49-F238E27FC236}">
                <a16:creationId xmlns:a16="http://schemas.microsoft.com/office/drawing/2014/main" xmlns="" id="{C390DDC7-FA2A-40B0-81E4-DAEF7B39D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8800"/>
            <a:ext cx="472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/>
          </a:p>
        </p:txBody>
      </p:sp>
      <p:pic>
        <p:nvPicPr>
          <p:cNvPr id="5126" name="Picture 8" descr="Kết quả hình ảnh cho QUÁ TRÌNH THUẬN NGHỊCH">
            <a:extLst>
              <a:ext uri="{FF2B5EF4-FFF2-40B4-BE49-F238E27FC236}">
                <a16:creationId xmlns:a16="http://schemas.microsoft.com/office/drawing/2014/main" xmlns="" id="{B928F586-FE0C-44C4-982F-D09656588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075" y="1127125"/>
            <a:ext cx="21145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TextBox 1">
            <a:extLst>
              <a:ext uri="{FF2B5EF4-FFF2-40B4-BE49-F238E27FC236}">
                <a16:creationId xmlns:a16="http://schemas.microsoft.com/office/drawing/2014/main" xmlns="" id="{1529FCBA-FE29-4B53-99D0-A5D21FF21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71450"/>
            <a:ext cx="7315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 TRÌNH THUẬN NGHỊCH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980" y="53023"/>
            <a:ext cx="9062039" cy="36009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 smtClean="0">
                <a:solidFill>
                  <a:srgbClr val="C00000"/>
                </a:solidFill>
              </a:rPr>
              <a:t>Các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quá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trình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thuận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nghịch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xảy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ra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với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tốc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độ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vô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cùng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</a:rPr>
              <a:t>chậm</a:t>
            </a:r>
            <a:r>
              <a:rPr lang="en-US" sz="3200" dirty="0" smtClean="0">
                <a:solidFill>
                  <a:srgbClr val="C00000"/>
                </a:solidFill>
              </a:rPr>
              <a:t>. </a:t>
            </a:r>
            <a:endParaRPr lang="en-US" sz="32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vi-VN" sz="3200" dirty="0" smtClean="0">
                <a:solidFill>
                  <a:srgbClr val="0000FF"/>
                </a:solidFill>
              </a:rPr>
              <a:t>C</a:t>
            </a:r>
            <a:r>
              <a:rPr lang="en-US" sz="3200" dirty="0" err="1" smtClean="0">
                <a:solidFill>
                  <a:srgbClr val="0000FF"/>
                </a:solidFill>
              </a:rPr>
              <a:t>ông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hệ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sinh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trong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quá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trình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thuận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nghịch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là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cực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đại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chỉ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phụ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thuộc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tr</a:t>
            </a:r>
            <a:r>
              <a:rPr lang="vi-VN" sz="3200" dirty="0" smtClean="0">
                <a:solidFill>
                  <a:srgbClr val="0000FF"/>
                </a:solidFill>
              </a:rPr>
              <a:t>ạng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thái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đầu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và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err="1" smtClean="0">
                <a:solidFill>
                  <a:srgbClr val="0000FF"/>
                </a:solidFill>
              </a:rPr>
              <a:t>cuối</a:t>
            </a:r>
            <a:r>
              <a:rPr lang="en-US" sz="3200" dirty="0" smtClean="0">
                <a:solidFill>
                  <a:srgbClr val="0000FF"/>
                </a:solidFill>
              </a:rPr>
              <a:t>.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xmlns="" id="{DE51CDAE-7F67-4699-AD0A-712DFFA953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3140968"/>
            <a:ext cx="8755062" cy="3385542"/>
          </a:xfrm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 TRÌNH BẤT THUẬN NGHỊCH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Là c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ác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qúa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thoả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mãn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qt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thuận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vi-VN" altLang="en-US" sz="28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úa trình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xảy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nhiên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 tốc độ quan sát được </a:t>
            </a:r>
            <a:r>
              <a:rPr lang="en-US" altLang="en-US" sz="28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altLang="en-US" sz="28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úa 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rình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thuận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xmlns="" id="{4532B0C2-4C6D-4826-B21E-7A7EABFD8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9144000" cy="1143000"/>
          </a:xfrm>
        </p:spPr>
        <p:txBody>
          <a:bodyPr/>
          <a:lstStyle/>
          <a:p>
            <a:pPr eaLnBrk="1" hangingPunct="1">
              <a:tabLst>
                <a:tab pos="169863" algn="l"/>
                <a:tab pos="8337550" algn="l"/>
                <a:tab pos="8802688" algn="l"/>
              </a:tabLst>
            </a:pPr>
            <a:r>
              <a:rPr lang="vi-VN" altLang="en-US" sz="3200" b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QUÁ TRÌNH CÓ THỂ XEM LÀ QUÁ TRÌNH THUẬN NGHỊCH</a:t>
            </a:r>
            <a:r>
              <a:rPr lang="en-US" altLang="en-US" sz="3600" b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3600" b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3600" b="1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xmlns="" id="{F9FAC427-A4C5-4B00-B313-522B6A6D9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1268413"/>
            <a:ext cx="8858250" cy="41148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</a:pP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eaLnBrk="1" hangingPunct="1">
              <a:lnSpc>
                <a:spcPct val="150000"/>
              </a:lnSpc>
              <a:buFontTx/>
              <a:buNone/>
            </a:pP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chậm</a:t>
            </a:r>
            <a:r>
              <a:rPr lang="en-US" alt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eaLnBrk="1" hangingPunct="1">
              <a:lnSpc>
                <a:spcPct val="150000"/>
              </a:lnSpc>
              <a:buFontTx/>
              <a:buNone/>
            </a:pP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dãn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nở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đẳng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chậm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alt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eaLnBrk="1" hangingPunct="1">
              <a:lnSpc>
                <a:spcPct val="150000"/>
              </a:lnSpc>
              <a:buFontTx/>
              <a:buNone/>
            </a:pP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rất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xmlns="" id="{D13B225F-4FC1-4AA4-9CF0-8090F09C5F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5475" y="2603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 SUẤT NHIỆT ĐỘNG W</a:t>
            </a:r>
          </a:p>
        </p:txBody>
      </p:sp>
      <p:sp>
        <p:nvSpPr>
          <p:cNvPr id="11267" name="Text Box 5">
            <a:extLst>
              <a:ext uri="{FF2B5EF4-FFF2-40B4-BE49-F238E27FC236}">
                <a16:creationId xmlns:a16="http://schemas.microsoft.com/office/drawing/2014/main" xmlns="" id="{C105D706-F6E7-495B-B660-6EAB9C9F4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" y="1403350"/>
            <a:ext cx="86042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 W&gt;&gt;1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 descr="1">
            <a:extLst>
              <a:ext uri="{FF2B5EF4-FFF2-40B4-BE49-F238E27FC236}">
                <a16:creationId xmlns:a16="http://schemas.microsoft.com/office/drawing/2014/main" xmlns="" id="{2DB52EC3-2A7F-425A-9640-A882DC30CD2E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4525" y="371079"/>
            <a:ext cx="7669192" cy="4679950"/>
          </a:xfrm>
          <a:noFill/>
        </p:spPr>
      </p:pic>
      <p:sp>
        <p:nvSpPr>
          <p:cNvPr id="13315" name="Text Box 5">
            <a:extLst>
              <a:ext uri="{FF2B5EF4-FFF2-40B4-BE49-F238E27FC236}">
                <a16:creationId xmlns:a16="http://schemas.microsoft.com/office/drawing/2014/main" xmlns="" id="{89DF03EE-1D3C-46E1-8BEB-205E6352C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594475"/>
            <a:ext cx="8640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3316" name="TextBox 2">
            <a:extLst>
              <a:ext uri="{FF2B5EF4-FFF2-40B4-BE49-F238E27FC236}">
                <a16:creationId xmlns:a16="http://schemas.microsoft.com/office/drawing/2014/main" xmlns="" id="{16BAB3B1-8DA5-4D7F-888D-8427D32F0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4043"/>
            <a:ext cx="882015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vi-VN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đóng          </a:t>
            </a:r>
            <a:r>
              <a:rPr lang="vi-VN" altLang="en-US" sz="3600" b="1" dirty="0">
                <a:solidFill>
                  <a:srgbClr val="FF0000"/>
                </a:solidFill>
                <a:latin typeface="Arial" panose="020B0604020202020204" pitchFamily="34" charset="0"/>
              </a:rPr>
              <a:t>w</a:t>
            </a:r>
            <a:r>
              <a:rPr lang="vi-VN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          mở</a:t>
            </a:r>
            <a:endParaRPr lang="en-US" altLang="en-US" sz="36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74F24C5-B0DC-481F-864A-18E4123C2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412" y="1162010"/>
            <a:ext cx="230346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1 nguyên tử A</a:t>
            </a:r>
            <a:endParaRPr lang="en-US" altLang="en-US" sz="2400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E8C4535-A11C-4790-B5B8-7E468501A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3006" y="757140"/>
            <a:ext cx="10810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2</a:t>
            </a:r>
            <a:r>
              <a:rPr lang="vi-VN" altLang="en-US" sz="2400" b="1" baseline="30000" dirty="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  <a:r>
              <a:rPr lang="vi-V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 = 2</a:t>
            </a:r>
            <a:endParaRPr lang="en-US" altLang="en-US" sz="2400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29609B4-8C37-4E13-A0B8-17F7C91BB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095" y="2123020"/>
            <a:ext cx="28067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2 nguyên tử: A, B</a:t>
            </a:r>
            <a:endParaRPr lang="en-US" altLang="en-US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5F813E8-45B1-4536-AEA5-9AFB69D3C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7502" y="1595526"/>
            <a:ext cx="10810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2</a:t>
            </a:r>
            <a:r>
              <a:rPr lang="vi-VN" altLang="en-US" sz="2400" b="1" baseline="30000" dirty="0">
                <a:solidFill>
                  <a:srgbClr val="C00000"/>
                </a:solidFill>
                <a:latin typeface="Arial" panose="020B0604020202020204" pitchFamily="34" charset="0"/>
              </a:rPr>
              <a:t>2</a:t>
            </a:r>
            <a:r>
              <a:rPr lang="vi-V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 = 4</a:t>
            </a:r>
            <a:endParaRPr lang="en-US" altLang="en-US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74B0802-9E45-484F-BF96-718E1865D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146" y="3794228"/>
            <a:ext cx="31369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 b="1" dirty="0">
                <a:solidFill>
                  <a:srgbClr val="006600"/>
                </a:solidFill>
                <a:latin typeface="Arial" panose="020B0604020202020204" pitchFamily="34" charset="0"/>
              </a:rPr>
              <a:t>3 nguyên tử: A, B, C</a:t>
            </a:r>
            <a:endParaRPr lang="en-US" altLang="en-US" sz="2400" b="1" dirty="0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2D401C5-3D81-4778-BBFA-FD5ABEE37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8184" y="3259138"/>
            <a:ext cx="10810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 b="1" dirty="0">
                <a:solidFill>
                  <a:srgbClr val="006600"/>
                </a:solidFill>
                <a:latin typeface="Arial" panose="020B0604020202020204" pitchFamily="34" charset="0"/>
              </a:rPr>
              <a:t>2</a:t>
            </a:r>
            <a:r>
              <a:rPr lang="vi-VN" altLang="en-US" sz="2400" b="1" baseline="30000" dirty="0">
                <a:solidFill>
                  <a:srgbClr val="006600"/>
                </a:solidFill>
                <a:latin typeface="Arial" panose="020B0604020202020204" pitchFamily="34" charset="0"/>
              </a:rPr>
              <a:t>3</a:t>
            </a:r>
            <a:r>
              <a:rPr lang="vi-VN" altLang="en-US" sz="2400" b="1" dirty="0">
                <a:solidFill>
                  <a:srgbClr val="006600"/>
                </a:solidFill>
                <a:latin typeface="Arial" panose="020B0604020202020204" pitchFamily="34" charset="0"/>
              </a:rPr>
              <a:t> = 8</a:t>
            </a:r>
            <a:endParaRPr lang="en-US" altLang="en-US" sz="2400" b="1" dirty="0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AD53688-FBFA-4EBA-AC90-7018F9FC2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886" y="4591468"/>
            <a:ext cx="3654499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vi-VN" altLang="en-US" sz="2400" b="1" dirty="0">
                <a:latin typeface="Arial" panose="020B0604020202020204" pitchFamily="34" charset="0"/>
              </a:rPr>
              <a:t>1mol nguyên tử</a:t>
            </a: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ABB4CA6-D50D-4752-A276-23E56F666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256" y="5176206"/>
            <a:ext cx="86756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Xác suất nhiệt động đặc trưng cho độ hỗn độn của hệ.</a:t>
            </a:r>
            <a:endParaRPr lang="en-US" altLang="en-US" dirty="0">
              <a:solidFill>
                <a:srgbClr val="CC00FF"/>
              </a:solidFill>
              <a:latin typeface="Arial" panose="020B0604020202020204" pitchFamily="34" charset="0"/>
            </a:endParaRPr>
          </a:p>
        </p:txBody>
      </p:sp>
      <p:sp>
        <p:nvSpPr>
          <p:cNvPr id="13328" name="TextBox 5">
            <a:extLst>
              <a:ext uri="{FF2B5EF4-FFF2-40B4-BE49-F238E27FC236}">
                <a16:creationId xmlns:a16="http://schemas.microsoft.com/office/drawing/2014/main" xmlns="" id="{44B18B99-D045-437D-AA4D-3595799F3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4595813"/>
            <a:ext cx="400050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3226B0B-FCC7-412A-8CB9-0EDCCE78C975}"/>
              </a:ext>
            </a:extLst>
          </p:cNvPr>
          <p:cNvSpPr txBox="1"/>
          <p:nvPr/>
        </p:nvSpPr>
        <p:spPr>
          <a:xfrm>
            <a:off x="334136" y="736862"/>
            <a:ext cx="83038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W=1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B3B02BBB-5AE6-4F4E-8957-F653510F1D09}"/>
              </a:ext>
            </a:extLst>
          </p:cNvPr>
          <p:cNvSpPr txBox="1"/>
          <p:nvPr/>
        </p:nvSpPr>
        <p:spPr>
          <a:xfrm>
            <a:off x="398621" y="3243560"/>
            <a:ext cx="81958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600"/>
                </a:solidFill>
              </a:rPr>
              <a:t>W=1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5EFCFDB-615A-4DE9-AE97-69BA9C613E52}"/>
              </a:ext>
            </a:extLst>
          </p:cNvPr>
          <p:cNvSpPr txBox="1"/>
          <p:nvPr/>
        </p:nvSpPr>
        <p:spPr>
          <a:xfrm>
            <a:off x="304397" y="4230853"/>
            <a:ext cx="9138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W=1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4493944-21B7-447E-8B96-6B4DA86DAF4E}"/>
              </a:ext>
            </a:extLst>
          </p:cNvPr>
          <p:cNvSpPr txBox="1"/>
          <p:nvPr/>
        </p:nvSpPr>
        <p:spPr>
          <a:xfrm>
            <a:off x="342779" y="1638004"/>
            <a:ext cx="83038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F08A3D81-72B1-4FE9-8596-034FAA56D87C}"/>
                  </a:ext>
                </a:extLst>
              </p:cNvPr>
              <p:cNvSpPr txBox="1"/>
              <p:nvPr/>
            </p:nvSpPr>
            <p:spPr>
              <a:xfrm>
                <a:off x="3498971" y="4206982"/>
                <a:ext cx="838151" cy="46820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8A3D81-72B1-4FE9-8596-034FAA56D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971" y="4206982"/>
                <a:ext cx="838151" cy="4682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9" grpId="0"/>
      <p:bldP spid="2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>
            <a:extLst>
              <a:ext uri="{FF2B5EF4-FFF2-40B4-BE49-F238E27FC236}">
                <a16:creationId xmlns:a16="http://schemas.microsoft.com/office/drawing/2014/main" xmlns="" id="{6AFB246D-95B3-4067-8EB3-3706351B3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15938"/>
            <a:ext cx="85725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2">
            <a:extLst>
              <a:ext uri="{FF2B5EF4-FFF2-40B4-BE49-F238E27FC236}">
                <a16:creationId xmlns:a16="http://schemas.microsoft.com/office/drawing/2014/main" xmlns="" id="{60AE56C4-7B5E-471C-BE41-62B6A1CB0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77788"/>
            <a:ext cx="8132762" cy="104775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US" alt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ENTROPY</a:t>
            </a:r>
            <a:r>
              <a:rPr lang="vi-VN" alt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(S)</a:t>
            </a:r>
            <a:endParaRPr lang="en-US" altLang="en-US" sz="5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4" name="Text Box 5">
            <a:extLst>
              <a:ext uri="{FF2B5EF4-FFF2-40B4-BE49-F238E27FC236}">
                <a16:creationId xmlns:a16="http://schemas.microsoft.com/office/drawing/2014/main" xmlns="" id="{20FD3B2E-EE0B-42F4-8E4A-4A0C3BAE5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" y="3789363"/>
            <a:ext cx="9144000" cy="646112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3600" b="1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3600" b="1">
                <a:solidFill>
                  <a:schemeClr val="bg1"/>
                </a:solidFill>
                <a:latin typeface="Arial" panose="020B0604020202020204" pitchFamily="34" charset="0"/>
              </a:rPr>
              <a:t>Entropy là thước đo độ hỗn </a:t>
            </a:r>
            <a:r>
              <a:rPr lang="vi-VN" altLang="en-US" sz="3600" b="1">
                <a:solidFill>
                  <a:schemeClr val="bg1"/>
                </a:solidFill>
                <a:latin typeface="Arial" panose="020B0604020202020204" pitchFamily="34" charset="0"/>
              </a:rPr>
              <a:t>độn</a:t>
            </a:r>
            <a:r>
              <a:rPr lang="en-US" altLang="en-US" sz="3600" b="1">
                <a:solidFill>
                  <a:schemeClr val="bg1"/>
                </a:solidFill>
                <a:latin typeface="Arial" panose="020B0604020202020204" pitchFamily="34" charset="0"/>
              </a:rPr>
              <a:t> của hệ.</a:t>
            </a:r>
            <a:endParaRPr lang="en-US" altLang="en-US" sz="36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5365" name="Text Box 21">
            <a:extLst>
              <a:ext uri="{FF2B5EF4-FFF2-40B4-BE49-F238E27FC236}">
                <a16:creationId xmlns:a16="http://schemas.microsoft.com/office/drawing/2014/main" xmlns="" id="{29047F84-5302-4D20-8A37-7D625D778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4572000"/>
            <a:ext cx="877411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Entropy là hàm trạng thái</a:t>
            </a:r>
            <a:r>
              <a:rPr lang="vi-VN" altLang="en-US">
                <a:solidFill>
                  <a:srgbClr val="FF0000"/>
                </a:solidFill>
                <a:latin typeface="Arial" panose="020B0604020202020204" pitchFamily="34" charset="0"/>
              </a:rPr>
              <a:t>: S = f(W)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CC00FF"/>
                </a:solidFill>
                <a:latin typeface="Arial" panose="020B0604020202020204" pitchFamily="34" charset="0"/>
              </a:rPr>
              <a:t>Entropy là thông số dung độ</a:t>
            </a:r>
            <a:r>
              <a:rPr lang="vi-VN" altLang="en-US">
                <a:solidFill>
                  <a:srgbClr val="CC00FF"/>
                </a:solidFill>
                <a:latin typeface="Arial" panose="020B0604020202020204" pitchFamily="34" charset="0"/>
              </a:rPr>
              <a:t> nên có tính cộng.</a:t>
            </a:r>
            <a:endParaRPr lang="en-US" altLang="en-US" sz="2400">
              <a:solidFill>
                <a:srgbClr val="CC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HA56011">
            <a:extLst>
              <a:ext uri="{FF2B5EF4-FFF2-40B4-BE49-F238E27FC236}">
                <a16:creationId xmlns:a16="http://schemas.microsoft.com/office/drawing/2014/main" xmlns="" id="{B07DD3D6-5F21-4A5D-B067-7C51C1C30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11213"/>
            <a:ext cx="8839200" cy="588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3">
            <a:extLst>
              <a:ext uri="{FF2B5EF4-FFF2-40B4-BE49-F238E27FC236}">
                <a16:creationId xmlns:a16="http://schemas.microsoft.com/office/drawing/2014/main" xmlns="" id="{FE5A7B70-704D-443F-8711-94A4C399F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7432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xmlns="" id="{0B08CD80-9BAE-4917-A11D-97F36A3AD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410200"/>
            <a:ext cx="381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xmlns="" id="{D2E36BAA-F2B1-4B60-B35F-CF28CDBCE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528638"/>
            <a:ext cx="16192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C00FF"/>
                </a:solidFill>
                <a:latin typeface="Arial" panose="020B0604020202020204" pitchFamily="34" charset="0"/>
              </a:rPr>
              <a:t>Tự </a:t>
            </a:r>
            <a:r>
              <a:rPr lang="en-US" altLang="en-US" sz="2800" b="1">
                <a:solidFill>
                  <a:srgbClr val="CC00FF"/>
                </a:solidFill>
                <a:latin typeface="Arial" panose="020B0604020202020204" pitchFamily="34" charset="0"/>
              </a:rPr>
              <a:t>phát</a:t>
            </a:r>
          </a:p>
        </p:txBody>
      </p:sp>
      <p:sp>
        <p:nvSpPr>
          <p:cNvPr id="72710" name="Text Box 6">
            <a:extLst>
              <a:ext uri="{FF2B5EF4-FFF2-40B4-BE49-F238E27FC236}">
                <a16:creationId xmlns:a16="http://schemas.microsoft.com/office/drawing/2014/main" xmlns="" id="{EB03A59E-86B2-43A9-A9F3-D461BC76E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395788"/>
            <a:ext cx="3005138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C00FF"/>
                </a:solidFill>
                <a:latin typeface="Arial" panose="020B0604020202020204" pitchFamily="34" charset="0"/>
              </a:rPr>
              <a:t>Không tự phát</a:t>
            </a:r>
          </a:p>
        </p:txBody>
      </p:sp>
      <p:sp>
        <p:nvSpPr>
          <p:cNvPr id="72711" name="Text Box 8">
            <a:extLst>
              <a:ext uri="{FF2B5EF4-FFF2-40B4-BE49-F238E27FC236}">
                <a16:creationId xmlns:a16="http://schemas.microsoft.com/office/drawing/2014/main" xmlns="" id="{DEC8C165-EB9D-47A4-AB05-E278BCA82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2703513"/>
            <a:ext cx="5627688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Cân bằng: S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vi-VN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max</a:t>
            </a:r>
            <a:r>
              <a:rPr lang="vi-VN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,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vi-VN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72713" name="Text Box 9">
            <a:extLst>
              <a:ext uri="{FF2B5EF4-FFF2-40B4-BE49-F238E27FC236}">
                <a16:creationId xmlns:a16="http://schemas.microsoft.com/office/drawing/2014/main" xmlns="" id="{EFF34542-51BC-4488-A975-2049D93B3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3" y="1114425"/>
            <a:ext cx="122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∆H=0</a:t>
            </a:r>
          </a:p>
        </p:txBody>
      </p:sp>
      <p:sp>
        <p:nvSpPr>
          <p:cNvPr id="17417" name="TextBox 1">
            <a:extLst>
              <a:ext uri="{FF2B5EF4-FFF2-40B4-BE49-F238E27FC236}">
                <a16:creationId xmlns:a16="http://schemas.microsoft.com/office/drawing/2014/main" xmlns="" id="{4B0CE583-1B69-486D-98BC-CC3EDC151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825500"/>
            <a:ext cx="1619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>
                <a:latin typeface="Arial" panose="020B0604020202020204" pitchFamily="34" charset="0"/>
              </a:rPr>
              <a:t>mở khóa </a:t>
            </a: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B98AA4D-A3B7-41BA-9393-22472B350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1938338"/>
            <a:ext cx="4333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800" b="1">
                <a:solidFill>
                  <a:srgbClr val="C00000"/>
                </a:solidFill>
                <a:latin typeface="Arial" panose="020B0604020202020204" pitchFamily="34" charset="0"/>
              </a:rPr>
              <a:t>S</a:t>
            </a:r>
            <a:endParaRPr lang="en-US" altLang="en-US" sz="2800" b="1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9928A456-7B32-4BE6-BAE2-CEF17115BCC2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4197350" y="1984375"/>
            <a:ext cx="322263" cy="2159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9435E04-E8F3-4FA9-9B64-B7A100EEE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0" y="1712913"/>
            <a:ext cx="928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800" b="1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vi-VN" altLang="en-US" sz="2800" b="1" baseline="-2500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max</a:t>
            </a:r>
            <a:endParaRPr lang="en-US" altLang="en-US" sz="2800" b="1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25AACFE5-CCBD-4303-9693-29153FA33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4988" y="3130550"/>
            <a:ext cx="3648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b="1">
                <a:solidFill>
                  <a:srgbClr val="0000FF"/>
                </a:solidFill>
                <a:latin typeface="Arial" panose="020B0604020202020204" pitchFamily="34" charset="0"/>
              </a:rPr>
              <a:t>Qt thuận nghịch</a:t>
            </a:r>
            <a:endParaRPr lang="en-US" altLang="en-US" b="1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A739F3B-1799-4D48-AC0C-43F280C6B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300" y="558800"/>
            <a:ext cx="52006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b="1">
                <a:solidFill>
                  <a:srgbClr val="0000FF"/>
                </a:solidFill>
                <a:latin typeface="Arial" panose="020B0604020202020204" pitchFamily="34" charset="0"/>
              </a:rPr>
              <a:t>Qt bất thuận nghịch</a:t>
            </a:r>
            <a:endParaRPr lang="en-US" altLang="en-US" b="1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422ED6B-ED2E-48A8-8E0A-AB6AF4785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963" y="115888"/>
            <a:ext cx="2659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</a:rPr>
              <a:t>HỆ CÔ LẬP </a:t>
            </a:r>
            <a:endParaRPr lang="en-US" altLang="en-US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xmlns="" id="{B3462017-A9A9-427A-8C2F-FA445EC51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050" y="1084263"/>
            <a:ext cx="125412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∆</a:t>
            </a:r>
            <a:r>
              <a:rPr lang="vi-VN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S &gt; </a:t>
            </a: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7D447ED-3CF9-4469-9CC8-6A8EB8435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2825" y="96838"/>
            <a:ext cx="1778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∆</a:t>
            </a: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 0</a:t>
            </a:r>
            <a:endParaRPr lang="en-US" altLang="en-US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 animBg="1"/>
      <p:bldP spid="72711" grpId="0" animBg="1"/>
      <p:bldP spid="72713" grpId="0"/>
      <p:bldP spid="3" grpId="0"/>
      <p:bldP spid="7" grpId="0"/>
      <p:bldP spid="15" grpId="0"/>
      <p:bldP spid="24" grpId="0"/>
      <p:bldP spid="19" grpId="0"/>
      <p:bldP spid="29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xmlns="" id="{28E4092F-9847-456E-95FA-DD30F538F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" y="404813"/>
            <a:ext cx="91440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vi-V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NTROPY LÀ TIÊU CHUẨN XÉT CHIỀU TRONG HỆ CÔ LẬP</a:t>
            </a:r>
            <a:endParaRPr lang="en-US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xmlns="" id="{F1C8DAFA-2355-476D-AF58-C804E8923F9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-252413" y="1339850"/>
            <a:ext cx="9720263" cy="20955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sz="2800" dirty="0"/>
              <a:t>   </a:t>
            </a:r>
            <a:r>
              <a:rPr lang="vi-VN" altLang="en-US" sz="2800" dirty="0"/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S  0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S &gt; 0</a:t>
            </a: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(S): quá trình (bất thuận nghịch) tự phát. 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Chiều diễn biến: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vi-VN" altLang="en-US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Từ trật tự  hỗn độn</a:t>
            </a:r>
            <a:r>
              <a:rPr lang="vi-VN" altLang="en-US" sz="2800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 </a:t>
            </a:r>
            <a:r>
              <a:rPr lang="vi-VN" altLang="en-US" sz="2800" i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Từ không đồng nhất  đồng nhất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vi-VN" altLang="en-US" sz="2800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vi-VN" altLang="en-US" sz="2800" i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Từ W nhỏ  W lớn.</a:t>
            </a:r>
            <a:r>
              <a:rPr lang="vi-VN" altLang="en-US" sz="2800" i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2800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Từ  </a:t>
            </a:r>
            <a:r>
              <a:rPr lang="vi-VN" altLang="en-US" sz="2800" i="1" dirty="0" smtClean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entrop</a:t>
            </a:r>
            <a:r>
              <a:rPr lang="en-US" altLang="en-US" sz="2800" i="1" dirty="0" smtClean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vi-VN" altLang="en-US" sz="2800" i="1" dirty="0" smtClean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2800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nhỏ  </a:t>
            </a:r>
            <a:r>
              <a:rPr lang="vi-VN" altLang="en-US" sz="2800" i="1" dirty="0" smtClean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entrop</a:t>
            </a:r>
            <a:r>
              <a:rPr lang="en-US" altLang="en-US" sz="2800" i="1" smtClean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vi-VN" altLang="en-US" sz="2800" i="1" smtClean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sz="2800" i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lớn.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endParaRPr lang="en-US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783BB2A-5C69-4BFA-B696-F3802480C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5373688"/>
            <a:ext cx="9001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S</a:t>
            </a:r>
            <a:r>
              <a:rPr lang="vi-VN" altLang="en-US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0 </a:t>
            </a:r>
            <a:r>
              <a:rPr lang="vi-VN" altLang="en-US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(S</a:t>
            </a:r>
            <a:r>
              <a:rPr lang="vi-VN" altLang="en-US" baseline="-25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max</a:t>
            </a:r>
            <a:r>
              <a:rPr lang="vi-VN" altLang="en-US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): quá trình</a:t>
            </a:r>
            <a:r>
              <a:rPr lang="en-US" altLang="en-US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(thuận nghịch) </a:t>
            </a:r>
            <a:r>
              <a:rPr lang="en-US" altLang="en-US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cân bằng</a:t>
            </a:r>
            <a:r>
              <a:rPr lang="vi-VN" altLang="en-US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altLang="en-US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xmlns="" id="{1CC63435-9EA1-49DB-A970-6028688FB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36538"/>
            <a:ext cx="9144000" cy="1908175"/>
          </a:xfrm>
        </p:spPr>
        <p:txBody>
          <a:bodyPr/>
          <a:lstStyle/>
          <a:p>
            <a:pPr eaLnBrk="1" hangingPunct="1"/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</a:rPr>
              <a:t>Quá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</a:rPr>
              <a:t>trình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</a:rPr>
              <a:t>nóng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</a:rPr>
              <a:t>chảy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  <a:t> và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  <a:t>bay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</a:rPr>
              <a:t>hơi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</a:rPr>
              <a:t>có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H &gt;0 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đều tự phát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</a:rPr>
              <a:t>theo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</a:rPr>
              <a:t>chiều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rgbClr val="006600"/>
                </a:solidFill>
                <a:latin typeface="Arial" panose="020B0604020202020204" pitchFamily="34" charset="0"/>
              </a:rPr>
              <a:t>hướng</a:t>
            </a:r>
            <a:r>
              <a:rPr lang="vi-VN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  <a:t> tăng entropy</a:t>
            </a:r>
            <a: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  <a:t>.</a:t>
            </a:r>
            <a:br>
              <a:rPr lang="en-US" altLang="en-US" sz="3200" dirty="0">
                <a:solidFill>
                  <a:srgbClr val="006600"/>
                </a:solidFill>
                <a:latin typeface="Arial" panose="020B0604020202020204" pitchFamily="34" charset="0"/>
              </a:rPr>
            </a:br>
            <a:endParaRPr lang="en-US" altLang="en-US" sz="3200" dirty="0">
              <a:solidFill>
                <a:srgbClr val="0066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pic>
        <p:nvPicPr>
          <p:cNvPr id="21507" name="Picture 4" descr="evapor1">
            <a:extLst>
              <a:ext uri="{FF2B5EF4-FFF2-40B4-BE49-F238E27FC236}">
                <a16:creationId xmlns:a16="http://schemas.microsoft.com/office/drawing/2014/main" xmlns="" id="{95270890-A1AD-41EB-89AF-77F5ECF9F64A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9882" y="1716088"/>
            <a:ext cx="4176712" cy="2592387"/>
          </a:xfrm>
          <a:noFill/>
        </p:spPr>
      </p:pic>
      <p:sp>
        <p:nvSpPr>
          <p:cNvPr id="21508" name="Text Box 5">
            <a:extLst>
              <a:ext uri="{FF2B5EF4-FFF2-40B4-BE49-F238E27FC236}">
                <a16:creationId xmlns:a16="http://schemas.microsoft.com/office/drawing/2014/main" xmlns="" id="{8131017A-2C3A-4AB1-BEEC-173FE2B9B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916113"/>
            <a:ext cx="4211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21509" name="Picture 6" descr="FG20_00_02UN">
            <a:extLst>
              <a:ext uri="{FF2B5EF4-FFF2-40B4-BE49-F238E27FC236}">
                <a16:creationId xmlns:a16="http://schemas.microsoft.com/office/drawing/2014/main" xmlns="" id="{93D372D5-77BD-4B11-9E5A-B48FA49D1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288" y="1716088"/>
            <a:ext cx="4289425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5" name="Text Box 7">
            <a:extLst>
              <a:ext uri="{FF2B5EF4-FFF2-40B4-BE49-F238E27FC236}">
                <a16:creationId xmlns:a16="http://schemas.microsoft.com/office/drawing/2014/main" xmlns="" id="{9C1C99C5-5D84-4E6F-AF04-9A7E0E2F7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3" y="4803775"/>
            <a:ext cx="8994775" cy="221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H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chưa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thể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xem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đại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lượng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tiêu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chuẩn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để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tiên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đoán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chiều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giới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hạn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quá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trình</a:t>
            </a:r>
            <a:r>
              <a:rPr lang="vi-VN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hóa học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  <a:b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</a:b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1511" name="Text Box 8">
            <a:extLst>
              <a:ext uri="{FF2B5EF4-FFF2-40B4-BE49-F238E27FC236}">
                <a16:creationId xmlns:a16="http://schemas.microsoft.com/office/drawing/2014/main" xmlns="" id="{3FCCF80F-59F7-4928-B4F7-F924E6284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85" y="4294188"/>
            <a:ext cx="4199339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H</a:t>
            </a:r>
            <a:r>
              <a:rPr lang="en-US" altLang="en-US" sz="2800" b="1" baseline="-25000" dirty="0">
                <a:solidFill>
                  <a:srgbClr val="CC00FF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O(ℓ)</a:t>
            </a:r>
            <a:r>
              <a:rPr lang="vi-VN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=</a:t>
            </a:r>
            <a:r>
              <a:rPr lang="vi-VN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H</a:t>
            </a:r>
            <a:r>
              <a:rPr lang="en-US" altLang="en-US" sz="2800" b="1" baseline="-25000" dirty="0">
                <a:solidFill>
                  <a:srgbClr val="CC00FF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O(k)</a:t>
            </a:r>
            <a:r>
              <a:rPr lang="vi-VN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,</a:t>
            </a:r>
            <a:r>
              <a:rPr lang="en-US" altLang="en-US" sz="2800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sz="2800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800" baseline="-25000" dirty="0" err="1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en-US" altLang="en-US" sz="2800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&gt;0 </a:t>
            </a:r>
            <a:endParaRPr lang="en-US" altLang="en-US" sz="2800" b="1" dirty="0">
              <a:solidFill>
                <a:srgbClr val="CC00FF"/>
              </a:solidFill>
              <a:latin typeface="Arial" panose="020B0604020202020204" pitchFamily="34" charset="0"/>
            </a:endParaRPr>
          </a:p>
        </p:txBody>
      </p:sp>
      <p:sp>
        <p:nvSpPr>
          <p:cNvPr id="21512" name="Text Box 9">
            <a:extLst>
              <a:ext uri="{FF2B5EF4-FFF2-40B4-BE49-F238E27FC236}">
                <a16:creationId xmlns:a16="http://schemas.microsoft.com/office/drawing/2014/main" xmlns="" id="{A53ECFFA-61A4-4A4F-9E43-077F8F217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850" y="4308475"/>
            <a:ext cx="4445000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H</a:t>
            </a:r>
            <a:r>
              <a:rPr lang="en-US" altLang="en-US" sz="2800" b="1" baseline="-25000" dirty="0">
                <a:solidFill>
                  <a:srgbClr val="C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O(r)</a:t>
            </a:r>
            <a:r>
              <a:rPr lang="vi-V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=</a:t>
            </a:r>
            <a:r>
              <a:rPr lang="vi-V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H</a:t>
            </a:r>
            <a:r>
              <a:rPr lang="en-US" altLang="en-US" sz="2800" b="1" baseline="-25000" dirty="0">
                <a:solidFill>
                  <a:srgbClr val="C00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O(ℓ)</a:t>
            </a:r>
            <a:r>
              <a:rPr lang="vi-V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sz="2800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800" baseline="-25000" dirty="0" err="1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nc</a:t>
            </a:r>
            <a:r>
              <a:rPr lang="en-US" altLang="en-US" sz="2800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&gt;0 </a:t>
            </a:r>
            <a:endParaRPr lang="en-US" altLang="en-US" sz="28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1513" name="TextBox 1">
            <a:extLst>
              <a:ext uri="{FF2B5EF4-FFF2-40B4-BE49-F238E27FC236}">
                <a16:creationId xmlns:a16="http://schemas.microsoft.com/office/drawing/2014/main" xmlns="" id="{297BC165-85CC-4E30-B513-F51C61858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8" y="1917700"/>
            <a:ext cx="1943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latin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vi-VN" altLang="en-US" sz="3600" baseline="-25000">
                <a:latin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en-US" altLang="en-US" sz="3600">
                <a:latin typeface="Arial" panose="020B0604020202020204" pitchFamily="34" charset="0"/>
                <a:sym typeface="Symbol" panose="05050102010706020507" pitchFamily="18" charset="2"/>
              </a:rPr>
              <a:t>&gt;</a:t>
            </a:r>
            <a:r>
              <a:rPr lang="vi-VN" altLang="en-US" sz="36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6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5B22A01-E7B8-4210-AC34-2A267068E973}"/>
              </a:ext>
            </a:extLst>
          </p:cNvPr>
          <p:cNvSpPr txBox="1"/>
          <p:nvPr/>
        </p:nvSpPr>
        <p:spPr>
          <a:xfrm>
            <a:off x="4525963" y="1895475"/>
            <a:ext cx="194468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en-US" sz="36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H</a:t>
            </a:r>
            <a:r>
              <a:rPr lang="vi-VN" altLang="en-US" sz="3600" baseline="-250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nc</a:t>
            </a:r>
            <a:r>
              <a:rPr lang="en-US" altLang="en-US" sz="36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&gt;</a:t>
            </a:r>
            <a:r>
              <a:rPr lang="vi-VN" altLang="en-US" sz="36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en-US" sz="3600" dirty="0">
                <a:solidFill>
                  <a:schemeClr val="bg1">
                    <a:lumMod val="95000"/>
                  </a:schemeClr>
                </a:solidFill>
                <a:sym typeface="Symbol" panose="05050102010706020507" pitchFamily="18" charset="2"/>
              </a:rPr>
              <a:t>0</a:t>
            </a:r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515" name="TextBox 1">
            <a:extLst>
              <a:ext uri="{FF2B5EF4-FFF2-40B4-BE49-F238E27FC236}">
                <a16:creationId xmlns:a16="http://schemas.microsoft.com/office/drawing/2014/main" xmlns="" id="{E087CDAB-B4E5-42BC-8DA6-46276057F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624263"/>
            <a:ext cx="1233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30</a:t>
            </a:r>
            <a:r>
              <a:rPr lang="en-US" altLang="en-US" b="1" baseline="300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21516" name="TextBox 11">
            <a:extLst>
              <a:ext uri="{FF2B5EF4-FFF2-40B4-BE49-F238E27FC236}">
                <a16:creationId xmlns:a16="http://schemas.microsoft.com/office/drawing/2014/main" xmlns="" id="{7AB2CC4D-95BA-4810-BC9F-DE726C4ED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1979613"/>
            <a:ext cx="1233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30</a:t>
            </a:r>
            <a:r>
              <a:rPr lang="en-US" altLang="en-US" b="1" baseline="300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48135" grpId="0"/>
      <p:bldP spid="21511" grpId="0" animBg="1"/>
      <p:bldP spid="21512" grpId="0" animBg="1"/>
      <p:bldP spid="10" grpId="0"/>
      <p:bldP spid="215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4">
            <a:extLst>
              <a:ext uri="{FF2B5EF4-FFF2-40B4-BE49-F238E27FC236}">
                <a16:creationId xmlns:a16="http://schemas.microsoft.com/office/drawing/2014/main" xmlns="" id="{9BAD8732-938D-4ABC-A617-E103453C9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925" y="139700"/>
            <a:ext cx="59039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3600" b="1">
                <a:solidFill>
                  <a:srgbClr val="0000FF"/>
                </a:solidFill>
                <a:latin typeface="Arial" panose="020B0604020202020204" pitchFamily="34" charset="0"/>
              </a:rPr>
              <a:t>BIỂU THỨC </a:t>
            </a:r>
            <a:r>
              <a:rPr lang="en-US" altLang="en-US" sz="3600" b="1">
                <a:solidFill>
                  <a:srgbClr val="0000FF"/>
                </a:solidFill>
                <a:latin typeface="Arial" panose="020B0604020202020204" pitchFamily="34" charset="0"/>
              </a:rPr>
              <a:t>E</a:t>
            </a:r>
            <a:r>
              <a:rPr lang="vi-VN" altLang="en-US" sz="3600" b="1">
                <a:solidFill>
                  <a:srgbClr val="0000FF"/>
                </a:solidFill>
                <a:latin typeface="Arial" panose="020B0604020202020204" pitchFamily="34" charset="0"/>
              </a:rPr>
              <a:t>NTROPY</a:t>
            </a:r>
            <a:endParaRPr lang="en-US" altLang="en-US" sz="3600" b="1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Text Box 14">
            <a:extLst>
              <a:ext uri="{FF2B5EF4-FFF2-40B4-BE49-F238E27FC236}">
                <a16:creationId xmlns:a16="http://schemas.microsoft.com/office/drawing/2014/main" xmlns="" id="{2B61A1C6-357D-402B-80BD-806993C42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492375"/>
            <a:ext cx="302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23556" name="Picture 15" descr="FG20_02_01UN">
            <a:extLst>
              <a:ext uri="{FF2B5EF4-FFF2-40B4-BE49-F238E27FC236}">
                <a16:creationId xmlns:a16="http://schemas.microsoft.com/office/drawing/2014/main" xmlns="" id="{148216B4-BCA7-4739-B4A3-A737C322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1017588"/>
            <a:ext cx="239077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16">
            <a:extLst>
              <a:ext uri="{FF2B5EF4-FFF2-40B4-BE49-F238E27FC236}">
                <a16:creationId xmlns:a16="http://schemas.microsoft.com/office/drawing/2014/main" xmlns="" id="{ED44D60F-B1D8-40CF-A8CF-7347AC166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906838"/>
            <a:ext cx="467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HỆ THỨC</a:t>
            </a: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BOLTZMANN</a:t>
            </a:r>
          </a:p>
        </p:txBody>
      </p:sp>
      <p:sp>
        <p:nvSpPr>
          <p:cNvPr id="23558" name="Text Box 17">
            <a:extLst>
              <a:ext uri="{FF2B5EF4-FFF2-40B4-BE49-F238E27FC236}">
                <a16:creationId xmlns:a16="http://schemas.microsoft.com/office/drawing/2014/main" xmlns="" id="{6CA75D59-B9CF-45BD-A97C-247A24D3C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2852738"/>
            <a:ext cx="424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aphicFrame>
        <p:nvGraphicFramePr>
          <p:cNvPr id="1026" name="Object 18">
            <a:extLst>
              <a:ext uri="{FF2B5EF4-FFF2-40B4-BE49-F238E27FC236}">
                <a16:creationId xmlns:a16="http://schemas.microsoft.com/office/drawing/2014/main" xmlns="" id="{7E9999D1-D14A-41BC-BDAC-CFAD76BEC2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313" y="4267200"/>
          <a:ext cx="4446587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6" name="Equation" r:id="rId5" imgW="1333500" imgH="431800" progId="Equation.3">
                  <p:embed/>
                </p:oleObj>
              </mc:Choice>
              <mc:Fallback>
                <p:oleObj name="Equation" r:id="rId5" imgW="1333500" imgH="4318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4267200"/>
                        <a:ext cx="4446587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 Box 19">
            <a:extLst>
              <a:ext uri="{FF2B5EF4-FFF2-40B4-BE49-F238E27FC236}">
                <a16:creationId xmlns:a16="http://schemas.microsoft.com/office/drawing/2014/main" xmlns="" id="{B78690BA-D24C-4A49-8283-07E582AAF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233988"/>
            <a:ext cx="35274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en-US" sz="2400">
                <a:solidFill>
                  <a:srgbClr val="990000"/>
                </a:solidFill>
                <a:latin typeface="Arial" panose="020B0604020202020204" pitchFamily="34" charset="0"/>
              </a:rPr>
              <a:t>k</a:t>
            </a:r>
            <a:r>
              <a:rPr lang="en-US" altLang="en-US" sz="2400">
                <a:solidFill>
                  <a:srgbClr val="990000"/>
                </a:solidFill>
                <a:latin typeface="Arial" panose="020B0604020202020204" pitchFamily="34" charset="0"/>
              </a:rPr>
              <a:t>- hằng số Boltzmann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990000"/>
                </a:solidFill>
                <a:latin typeface="Arial" panose="020B0604020202020204" pitchFamily="34" charset="0"/>
              </a:rPr>
              <a:t>= 1.38 x 10-23 J/K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Arial" panose="020B0604020202020204" pitchFamily="34" charset="0"/>
              </a:rPr>
              <a:t>W- xác suất nhiệt động</a:t>
            </a:r>
          </a:p>
        </p:txBody>
      </p:sp>
      <p:sp>
        <p:nvSpPr>
          <p:cNvPr id="1034" name="Text Box 20">
            <a:extLst>
              <a:ext uri="{FF2B5EF4-FFF2-40B4-BE49-F238E27FC236}">
                <a16:creationId xmlns:a16="http://schemas.microsoft.com/office/drawing/2014/main" xmlns="" id="{F3E430DD-B0DA-41C3-BE13-753A9B9BB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6575" y="5013325"/>
            <a:ext cx="4568825" cy="13239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</a:rPr>
              <a:t>         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= </a:t>
            </a: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</a:rPr>
              <a:t>n.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lnW </a:t>
            </a:r>
            <a:endParaRPr lang="vi-VN" altLang="en-US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en-US" b="1">
                <a:latin typeface="Arial" panose="020B0604020202020204" pitchFamily="34" charset="0"/>
              </a:rPr>
              <a:t>     </a:t>
            </a:r>
            <a:r>
              <a:rPr lang="en-US" altLang="en-US" b="1">
                <a:latin typeface="Arial" panose="020B0604020202020204" pitchFamily="34" charset="0"/>
              </a:rPr>
              <a:t>(</a:t>
            </a:r>
            <a:r>
              <a:rPr lang="en-US" altLang="en-US">
                <a:latin typeface="Arial" panose="020B0604020202020204" pitchFamily="34" charset="0"/>
              </a:rPr>
              <a:t>tính cho </a:t>
            </a:r>
            <a:r>
              <a:rPr lang="vi-VN" altLang="en-US">
                <a:latin typeface="Arial" panose="020B0604020202020204" pitchFamily="34" charset="0"/>
              </a:rPr>
              <a:t>n </a:t>
            </a:r>
            <a:r>
              <a:rPr lang="en-US" altLang="en-US">
                <a:latin typeface="Arial" panose="020B0604020202020204" pitchFamily="34" charset="0"/>
              </a:rPr>
              <a:t>mol chất)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A0535BB-C94E-4EEF-BBC7-0E8FC1182541}"/>
              </a:ext>
            </a:extLst>
          </p:cNvPr>
          <p:cNvSpPr/>
          <p:nvPr/>
        </p:nvSpPr>
        <p:spPr>
          <a:xfrm>
            <a:off x="4538663" y="1135063"/>
            <a:ext cx="1223962" cy="1087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0ADFC4A-5646-46E2-9517-6A565F7F3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1470025"/>
            <a:ext cx="4333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>
                <a:solidFill>
                  <a:srgbClr val="006600"/>
                </a:solidFill>
                <a:latin typeface="Arial" panose="020B0604020202020204" pitchFamily="34" charset="0"/>
              </a:rPr>
              <a:t>1</a:t>
            </a:r>
            <a:endParaRPr lang="en-US" altLang="en-US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63283E3-38C6-4669-9F00-552B2FC87A35}"/>
              </a:ext>
            </a:extLst>
          </p:cNvPr>
          <p:cNvSpPr/>
          <p:nvPr/>
        </p:nvSpPr>
        <p:spPr>
          <a:xfrm>
            <a:off x="5767388" y="1144588"/>
            <a:ext cx="863600" cy="10779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ABC577A-6642-4693-A464-3AE71FDF2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525" y="1379538"/>
            <a:ext cx="4333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>
                <a:solidFill>
                  <a:srgbClr val="CC00FF"/>
                </a:solidFill>
                <a:latin typeface="Arial" panose="020B0604020202020204" pitchFamily="34" charset="0"/>
              </a:rPr>
              <a:t>2</a:t>
            </a:r>
            <a:endParaRPr lang="en-US" altLang="en-US">
              <a:solidFill>
                <a:srgbClr val="CC00F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40ED216-1149-4D48-8E4C-1BD472944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825" y="1371600"/>
            <a:ext cx="1584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>
                <a:solidFill>
                  <a:srgbClr val="006600"/>
                </a:solidFill>
                <a:latin typeface="Arial" panose="020B0604020202020204" pitchFamily="34" charset="0"/>
              </a:rPr>
              <a:t>S</a:t>
            </a:r>
            <a:r>
              <a:rPr lang="vi-VN" altLang="en-US" sz="2400" baseline="-25000">
                <a:solidFill>
                  <a:srgbClr val="006600"/>
                </a:solidFill>
                <a:latin typeface="Arial" panose="020B0604020202020204" pitchFamily="34" charset="0"/>
              </a:rPr>
              <a:t>1</a:t>
            </a:r>
            <a:r>
              <a:rPr lang="vi-VN" altLang="en-US" sz="2400">
                <a:solidFill>
                  <a:srgbClr val="006600"/>
                </a:solidFill>
                <a:latin typeface="Arial" panose="020B0604020202020204" pitchFamily="34" charset="0"/>
              </a:rPr>
              <a:t>= f(W</a:t>
            </a:r>
            <a:r>
              <a:rPr lang="vi-VN" altLang="en-US" sz="2400" baseline="-25000">
                <a:solidFill>
                  <a:srgbClr val="006600"/>
                </a:solidFill>
                <a:latin typeface="Arial" panose="020B0604020202020204" pitchFamily="34" charset="0"/>
              </a:rPr>
              <a:t>1</a:t>
            </a:r>
            <a:r>
              <a:rPr lang="vi-VN" altLang="en-US" sz="2400">
                <a:solidFill>
                  <a:srgbClr val="006600"/>
                </a:solidFill>
                <a:latin typeface="Arial" panose="020B0604020202020204" pitchFamily="34" charset="0"/>
              </a:rPr>
              <a:t>)</a:t>
            </a:r>
            <a:endParaRPr lang="en-US" altLang="en-US" sz="2400">
              <a:solidFill>
                <a:srgbClr val="0066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61F4B4C-F596-4568-9C59-E1EAEEACD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513" y="1384300"/>
            <a:ext cx="1584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>
                <a:solidFill>
                  <a:srgbClr val="CC00FF"/>
                </a:solidFill>
                <a:latin typeface="Arial" panose="020B0604020202020204" pitchFamily="34" charset="0"/>
              </a:rPr>
              <a:t>S</a:t>
            </a:r>
            <a:r>
              <a:rPr lang="vi-VN" altLang="en-US" sz="2400" baseline="-25000">
                <a:solidFill>
                  <a:srgbClr val="CC00FF"/>
                </a:solidFill>
                <a:latin typeface="Arial" panose="020B0604020202020204" pitchFamily="34" charset="0"/>
              </a:rPr>
              <a:t>2</a:t>
            </a:r>
            <a:r>
              <a:rPr lang="vi-VN" altLang="en-US" sz="2400">
                <a:solidFill>
                  <a:srgbClr val="CC00FF"/>
                </a:solidFill>
                <a:latin typeface="Arial" panose="020B0604020202020204" pitchFamily="34" charset="0"/>
              </a:rPr>
              <a:t>= f(W</a:t>
            </a:r>
            <a:r>
              <a:rPr lang="vi-VN" altLang="en-US" sz="2400" baseline="-25000">
                <a:solidFill>
                  <a:srgbClr val="CC00FF"/>
                </a:solidFill>
                <a:latin typeface="Arial" panose="020B0604020202020204" pitchFamily="34" charset="0"/>
              </a:rPr>
              <a:t>2</a:t>
            </a:r>
            <a:r>
              <a:rPr lang="vi-VN" altLang="en-US" sz="2400">
                <a:solidFill>
                  <a:srgbClr val="CC00FF"/>
                </a:solidFill>
                <a:latin typeface="Arial" panose="020B0604020202020204" pitchFamily="34" charset="0"/>
              </a:rPr>
              <a:t>)</a:t>
            </a:r>
            <a:endParaRPr lang="en-US" altLang="en-US" sz="2400">
              <a:solidFill>
                <a:srgbClr val="CC00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0599A06-5605-461D-8638-0E825991E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8" y="2792413"/>
            <a:ext cx="83534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>
                <a:latin typeface="Arial" panose="020B0604020202020204" pitchFamily="34" charset="0"/>
              </a:rPr>
              <a:t>                                 </a:t>
            </a:r>
            <a:r>
              <a:rPr lang="vi-VN" altLang="en-US" sz="2800">
                <a:latin typeface="Arial" panose="020B0604020202020204" pitchFamily="34" charset="0"/>
              </a:rPr>
              <a:t>S =  S</a:t>
            </a:r>
            <a:r>
              <a:rPr lang="vi-VN" altLang="en-US" sz="2800" baseline="-25000">
                <a:latin typeface="Arial" panose="020B0604020202020204" pitchFamily="34" charset="0"/>
              </a:rPr>
              <a:t>1</a:t>
            </a:r>
            <a:r>
              <a:rPr lang="vi-VN" altLang="en-US" sz="2800">
                <a:latin typeface="Arial" panose="020B0604020202020204" pitchFamily="34" charset="0"/>
              </a:rPr>
              <a:t> +  S</a:t>
            </a:r>
            <a:r>
              <a:rPr lang="vi-VN" altLang="en-US" sz="2800" baseline="-25000">
                <a:latin typeface="Arial" panose="020B0604020202020204" pitchFamily="34" charset="0"/>
              </a:rPr>
              <a:t>2</a:t>
            </a:r>
            <a:r>
              <a:rPr lang="vi-VN" altLang="en-US" sz="2800">
                <a:latin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800">
                <a:latin typeface="Arial" panose="020B0604020202020204" pitchFamily="34" charset="0"/>
                <a:sym typeface="Symbol" panose="05050102010706020507" pitchFamily="18" charset="2"/>
              </a:rPr>
              <a:t>f(W</a:t>
            </a:r>
            <a:r>
              <a:rPr lang="vi-VN" altLang="en-US" sz="2800" baseline="-250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vi-VN" altLang="en-US" sz="2800">
                <a:latin typeface="Arial" panose="020B0604020202020204" pitchFamily="34" charset="0"/>
                <a:sym typeface="Symbol" panose="05050102010706020507" pitchFamily="18" charset="2"/>
              </a:rPr>
              <a:t>.W</a:t>
            </a:r>
            <a:r>
              <a:rPr lang="vi-VN" altLang="en-US" sz="2800" baseline="-250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vi-VN" altLang="en-US" sz="2800">
                <a:latin typeface="Arial" panose="020B0604020202020204" pitchFamily="34" charset="0"/>
                <a:sym typeface="Symbol" panose="05050102010706020507" pitchFamily="18" charset="2"/>
              </a:rPr>
              <a:t>) =</a:t>
            </a:r>
            <a:r>
              <a:rPr lang="vi-VN" altLang="en-US" sz="2800">
                <a:latin typeface="Arial" panose="020B0604020202020204" pitchFamily="34" charset="0"/>
              </a:rPr>
              <a:t> f(W</a:t>
            </a:r>
            <a:r>
              <a:rPr lang="vi-VN" altLang="en-US" sz="2800" baseline="-25000">
                <a:latin typeface="Arial" panose="020B0604020202020204" pitchFamily="34" charset="0"/>
              </a:rPr>
              <a:t>1</a:t>
            </a:r>
            <a:r>
              <a:rPr lang="vi-VN" altLang="en-US" sz="2800">
                <a:latin typeface="Arial" panose="020B0604020202020204" pitchFamily="34" charset="0"/>
              </a:rPr>
              <a:t>)  + f(W</a:t>
            </a:r>
            <a:r>
              <a:rPr lang="vi-VN" altLang="en-US" sz="2800" baseline="-25000">
                <a:latin typeface="Arial" panose="020B0604020202020204" pitchFamily="34" charset="0"/>
              </a:rPr>
              <a:t>2</a:t>
            </a:r>
            <a:r>
              <a:rPr lang="vi-VN" altLang="en-US" sz="2800">
                <a:latin typeface="Arial" panose="020B0604020202020204" pitchFamily="34" charset="0"/>
              </a:rPr>
              <a:t>) </a:t>
            </a:r>
            <a:r>
              <a:rPr lang="vi-VN" altLang="en-US" sz="2800">
                <a:latin typeface="Arial" panose="020B0604020202020204" pitchFamily="34" charset="0"/>
                <a:sym typeface="Symbol" panose="05050102010706020507" pitchFamily="18" charset="2"/>
              </a:rPr>
              <a:t> f : hàm logarit</a:t>
            </a:r>
            <a:endParaRPr lang="en-US" altLang="en-US" sz="280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E6478A-0E34-45DE-B7ED-8B6FFDD82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1313" y="2438400"/>
            <a:ext cx="38877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800">
                <a:solidFill>
                  <a:srgbClr val="C00000"/>
                </a:solidFill>
                <a:latin typeface="Arial" panose="020B0604020202020204" pitchFamily="34" charset="0"/>
              </a:rPr>
              <a:t>S = f(W) = f(W</a:t>
            </a:r>
            <a:r>
              <a:rPr lang="vi-VN" altLang="en-US" sz="2800" baseline="-25000">
                <a:solidFill>
                  <a:srgbClr val="C00000"/>
                </a:solidFill>
                <a:latin typeface="Arial" panose="020B0604020202020204" pitchFamily="34" charset="0"/>
              </a:rPr>
              <a:t>1</a:t>
            </a:r>
            <a:r>
              <a:rPr lang="vi-VN" altLang="en-US" sz="2800">
                <a:solidFill>
                  <a:srgbClr val="C00000"/>
                </a:solidFill>
                <a:latin typeface="Arial" panose="020B0604020202020204" pitchFamily="34" charset="0"/>
              </a:rPr>
              <a:t>.W</a:t>
            </a:r>
            <a:r>
              <a:rPr lang="vi-VN" altLang="en-US" sz="2800" baseline="-25000">
                <a:solidFill>
                  <a:srgbClr val="C00000"/>
                </a:solidFill>
                <a:latin typeface="Arial" panose="020B0604020202020204" pitchFamily="34" charset="0"/>
              </a:rPr>
              <a:t>2</a:t>
            </a:r>
            <a:r>
              <a:rPr lang="vi-VN" altLang="en-US" sz="2800">
                <a:solidFill>
                  <a:srgbClr val="C00000"/>
                </a:solidFill>
                <a:latin typeface="Arial" panose="020B0604020202020204" pitchFamily="34" charset="0"/>
              </a:rPr>
              <a:t>)</a:t>
            </a:r>
            <a:endParaRPr lang="en-US" altLang="en-US" sz="280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xmlns="" id="{C449105D-AF09-4F35-B29B-68F4DFFF11ED}"/>
              </a:ext>
            </a:extLst>
          </p:cNvPr>
          <p:cNvSpPr/>
          <p:nvPr/>
        </p:nvSpPr>
        <p:spPr>
          <a:xfrm rot="16200000" flipV="1">
            <a:off x="5457826" y="1343025"/>
            <a:ext cx="215900" cy="2016125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0AA9408-305C-4880-84F9-11953A8BB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5" y="4460875"/>
            <a:ext cx="3167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>
                <a:latin typeface="Arial" panose="020B0604020202020204" pitchFamily="34" charset="0"/>
              </a:rPr>
              <a:t>(Tính cho 1 tiểu phân)</a:t>
            </a:r>
            <a:endParaRPr lang="en-US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" grpId="0"/>
      <p:bldP spid="1033" grpId="0"/>
      <p:bldP spid="1034" grpId="0" animBg="1"/>
      <p:bldP spid="2" grpId="0" animBg="1"/>
      <p:bldP spid="3" grpId="0"/>
      <p:bldP spid="4" grpId="0" animBg="1"/>
      <p:bldP spid="15" grpId="0"/>
      <p:bldP spid="5" grpId="0"/>
      <p:bldP spid="17" grpId="0"/>
      <p:bldP spid="6" grpId="0"/>
      <p:bldP spid="7" grpId="0"/>
      <p:bldP spid="8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xmlns="" id="{F67F65A1-447F-4D3D-A6A7-4E001E28C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108520" y="188640"/>
            <a:ext cx="9144000" cy="381642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NGUYÊN LÝ THỨ BA CỦA NHIỆT ĐỘNG HỌC </a:t>
            </a: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vi-VN" altLang="en-US" dirty="0" smtClean="0">
                <a:solidFill>
                  <a:srgbClr val="006600"/>
                </a:solidFill>
                <a:latin typeface="Arial" panose="020B0604020202020204" pitchFamily="34" charset="0"/>
              </a:rPr>
              <a:t>   Entropi của một chất rắn </a:t>
            </a:r>
            <a:r>
              <a:rPr lang="vi-VN" altLang="en-US" u="sng" dirty="0" smtClean="0">
                <a:solidFill>
                  <a:srgbClr val="006600"/>
                </a:solidFill>
                <a:latin typeface="Arial" panose="020B0604020202020204" pitchFamily="34" charset="0"/>
              </a:rPr>
              <a:t>nguyên chất </a:t>
            </a:r>
            <a:r>
              <a:rPr lang="vi-VN" altLang="en-US" dirty="0" smtClean="0">
                <a:solidFill>
                  <a:srgbClr val="006600"/>
                </a:solidFill>
                <a:latin typeface="Arial" panose="020B0604020202020204" pitchFamily="34" charset="0"/>
              </a:rPr>
              <a:t>có cấu tạo </a:t>
            </a:r>
            <a:r>
              <a:rPr lang="vi-VN" altLang="en-US" u="sng" dirty="0" smtClean="0">
                <a:solidFill>
                  <a:srgbClr val="006600"/>
                </a:solidFill>
                <a:latin typeface="Arial" panose="020B0604020202020204" pitchFamily="34" charset="0"/>
              </a:rPr>
              <a:t>tinh thể hoàn chỉnh lý tưởng </a:t>
            </a:r>
            <a:r>
              <a:rPr lang="vi-VN" altLang="en-US" dirty="0" smtClean="0">
                <a:solidFill>
                  <a:srgbClr val="006600"/>
                </a:solidFill>
                <a:latin typeface="Arial" panose="020B0604020202020204" pitchFamily="34" charset="0"/>
              </a:rPr>
              <a:t>của tất cả các đơn chất hay hợp chất đều bằng không ở </a:t>
            </a:r>
            <a:r>
              <a:rPr lang="vi-VN" altLang="en-US" b="1" dirty="0" smtClean="0">
                <a:solidFill>
                  <a:srgbClr val="006600"/>
                </a:solidFill>
                <a:latin typeface="Arial" panose="020B0604020202020204" pitchFamily="34" charset="0"/>
              </a:rPr>
              <a:t>không độ tuyệt đối </a:t>
            </a:r>
            <a:r>
              <a:rPr lang="vi-VN" altLang="en-US" dirty="0" smtClean="0">
                <a:solidFill>
                  <a:srgbClr val="006600"/>
                </a:solidFill>
                <a:latin typeface="Arial" panose="020B0604020202020204" pitchFamily="34" charset="0"/>
              </a:rPr>
              <a:t>(0K)</a:t>
            </a:r>
            <a:r>
              <a:rPr lang="en-US" altLang="en-US" dirty="0" smtClean="0">
                <a:solidFill>
                  <a:srgbClr val="006600"/>
                </a:solidFill>
                <a:latin typeface="Arial" panose="020B0604020202020204" pitchFamily="34" charset="0"/>
              </a:rPr>
              <a:t>.</a:t>
            </a:r>
            <a:r>
              <a:rPr lang="vi-VN" altLang="en-US" dirty="0" smtClean="0">
                <a:solidFill>
                  <a:srgbClr val="0066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rgbClr val="006600"/>
                </a:solidFill>
                <a:latin typeface="Arial" panose="020B0604020202020204" pitchFamily="34" charset="0"/>
              </a:rPr>
              <a:t>W = 1 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altLang="en-US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dirty="0">
              <a:solidFill>
                <a:srgbClr val="006600"/>
              </a:solidFill>
              <a:latin typeface="Arial" panose="020B0604020202020204" pitchFamily="34" charset="0"/>
            </a:endParaRPr>
          </a:p>
          <a:p>
            <a:pPr marL="0" indent="0">
              <a:buFontTx/>
              <a:buNone/>
              <a:defRPr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endParaRPr lang="vi-V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Tx/>
              <a:buNone/>
              <a:defRPr/>
            </a:pPr>
            <a:r>
              <a:rPr lang="vi-VN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42F3044-F580-4D3C-AC63-1262E6471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27" y="4149080"/>
            <a:ext cx="8785225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</a:rPr>
              <a:t>---&gt; 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 thể xác định được entropy tuyệt đối của các chất ở nhiệt độ bất kỳ.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22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Text Box 4">
            <a:extLst>
              <a:ext uri="{FF2B5EF4-FFF2-40B4-BE49-F238E27FC236}">
                <a16:creationId xmlns:a16="http://schemas.microsoft.com/office/drawing/2014/main" xmlns="" id="{577B5D45-16D6-4A1C-8FA9-88118C267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1" y="563846"/>
            <a:ext cx="9144000" cy="2217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</a:rPr>
              <a:t>Biến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</a:rPr>
              <a:t>thiên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</a:rPr>
              <a:t> </a:t>
            </a:r>
            <a:r>
              <a:rPr lang="vi-VN" altLang="en-US" dirty="0">
                <a:solidFill>
                  <a:srgbClr val="990000"/>
                </a:solidFill>
                <a:latin typeface="Arial" panose="020B0604020202020204" pitchFamily="34" charset="0"/>
              </a:rPr>
              <a:t>e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</a:rPr>
              <a:t>ntropy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</a:rPr>
              <a:t> (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S</a:t>
            </a:r>
            <a:r>
              <a:rPr lang="en-US" altLang="en-US" baseline="-25000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trong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quá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trình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biến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đổi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chất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ở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dạng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tinh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thể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hoàn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hảo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đều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bằng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không</a:t>
            </a:r>
            <a:r>
              <a:rPr lang="en-US" altLang="en-US" dirty="0">
                <a:solidFill>
                  <a:srgbClr val="99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ở 0K.</a:t>
            </a: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xmlns="" id="{BE8E807F-7B52-44C9-B142-D4A0B520C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51" y="3068960"/>
            <a:ext cx="91440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</a:rPr>
              <a:t>Ví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latin typeface="Arial" panose="020B0604020202020204" pitchFamily="34" charset="0"/>
              </a:rPr>
              <a:t>dụ</a:t>
            </a:r>
            <a:r>
              <a:rPr lang="vi-V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.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  ở 0K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,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</a:rPr>
              <a:t>phản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Arial" panose="020B0604020202020204" pitchFamily="34" charset="0"/>
              </a:rPr>
              <a:t>ứng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: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 C(gr)+O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(r) = CO</a:t>
            </a:r>
            <a:r>
              <a:rPr lang="en-US" altLang="en-US" sz="2800" baseline="-25000" dirty="0">
                <a:solidFill>
                  <a:srgbClr val="0000FF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(r) </a:t>
            </a: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có </a:t>
            </a:r>
            <a:r>
              <a:rPr lang="en-US" altLang="en-US" sz="28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2800" dirty="0" smtClean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800" baseline="-25000" dirty="0" smtClean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sz="2800" dirty="0" smtClean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=0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en-US" sz="2800" dirty="0" smtClean="0">
                <a:latin typeface="Arial" panose="020B0604020202020204" pitchFamily="34" charset="0"/>
                <a:sym typeface="Symbol" panose="05050102010706020507" pitchFamily="18" charset="2"/>
              </a:rPr>
              <a:t>Do </a:t>
            </a:r>
            <a:r>
              <a:rPr lang="en-US" altLang="en-US" sz="2800" dirty="0" err="1" smtClean="0">
                <a:latin typeface="Arial" panose="020B0604020202020204" pitchFamily="34" charset="0"/>
                <a:sym typeface="Symbol" panose="05050102010706020507" pitchFamily="18" charset="2"/>
              </a:rPr>
              <a:t>entropi</a:t>
            </a:r>
            <a:r>
              <a:rPr lang="vi-VN" altLang="en-US" sz="2800" dirty="0" smtClean="0">
                <a:latin typeface="Arial" panose="020B0604020202020204" pitchFamily="34" charset="0"/>
                <a:sym typeface="Symbol" panose="05050102010706020507" pitchFamily="18" charset="2"/>
              </a:rPr>
              <a:t> các chất trong phản ứng đều ở dạng tinh thể hoàn hảo có giá trị bằng 0 ở 0K.</a:t>
            </a:r>
            <a:endParaRPr lang="en-US" altLang="en-US" sz="28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3000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xmlns="" id="{66807A19-CB7B-4644-A2CD-47410ADBC74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xfrm>
            <a:off x="453330" y="332656"/>
            <a:ext cx="8511158" cy="1143000"/>
          </a:xfrm>
          <a:blipFill>
            <a:blip r:embed="rId3"/>
            <a:stretch>
              <a:fillRect b="-10160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xmlns="" id="{22D9EB2C-8FFE-422F-8B60-A651F095AF5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685800" y="1844824"/>
            <a:ext cx="7772400" cy="2527300"/>
          </a:xfrm>
          <a:blipFill>
            <a:blip r:embed="rId4"/>
            <a:stretch>
              <a:fillRect l="-2039" t="-3140" b="-2174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ABD0E2B-3F14-41DB-857C-BC1EF3D191A1}"/>
              </a:ext>
            </a:extLst>
          </p:cNvPr>
          <p:cNvSpPr txBox="1"/>
          <p:nvPr/>
        </p:nvSpPr>
        <p:spPr>
          <a:xfrm>
            <a:off x="685800" y="4372124"/>
            <a:ext cx="8352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</a:rPr>
              <a:t>QUI </a:t>
            </a:r>
            <a:r>
              <a:rPr lang="vi-VN" sz="3200" dirty="0">
                <a:solidFill>
                  <a:srgbClr val="0000FF"/>
                </a:solidFill>
              </a:rPr>
              <a:t>Ư</a:t>
            </a:r>
            <a:r>
              <a:rPr lang="en-US" sz="3200" dirty="0">
                <a:solidFill>
                  <a:srgbClr val="0000FF"/>
                </a:solidFill>
              </a:rPr>
              <a:t>ỚC: S</a:t>
            </a:r>
            <a:r>
              <a:rPr lang="en-US" sz="3200" baseline="30000" dirty="0">
                <a:solidFill>
                  <a:srgbClr val="0000FF"/>
                </a:solidFill>
              </a:rPr>
              <a:t>0</a:t>
            </a:r>
            <a:r>
              <a:rPr lang="en-US" sz="3200" dirty="0">
                <a:solidFill>
                  <a:srgbClr val="0000FF"/>
                </a:solidFill>
              </a:rPr>
              <a:t>(H</a:t>
            </a:r>
            <a:r>
              <a:rPr lang="en-US" sz="3200" baseline="30000" dirty="0">
                <a:solidFill>
                  <a:srgbClr val="0000FF"/>
                </a:solidFill>
              </a:rPr>
              <a:t>+</a:t>
            </a:r>
            <a:r>
              <a:rPr lang="en-US" sz="3200" dirty="0">
                <a:solidFill>
                  <a:srgbClr val="0000FF"/>
                </a:solidFill>
              </a:rPr>
              <a:t>.aq) = 0 ở </a:t>
            </a:r>
            <a:r>
              <a:rPr lang="en-US" sz="3200" dirty="0" err="1">
                <a:solidFill>
                  <a:srgbClr val="0000FF"/>
                </a:solidFill>
              </a:rPr>
              <a:t>mọi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 err="1">
                <a:solidFill>
                  <a:srgbClr val="0000FF"/>
                </a:solidFill>
              </a:rPr>
              <a:t>nhiệt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 err="1">
                <a:solidFill>
                  <a:srgbClr val="0000FF"/>
                </a:solidFill>
              </a:rPr>
              <a:t>độ</a:t>
            </a:r>
            <a:endParaRPr lang="en-US" sz="32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xmlns="" id="{A7357816-AA54-45AE-9A71-33F7D90D3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8013" y="15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TÍNH CHẤT ENTROPY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xmlns="" id="{34C2DDBC-AB4C-41C6-A14E-08D192561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6588" y="2565400"/>
            <a:ext cx="7848600" cy="1584325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en-US" dirty="0" err="1">
                <a:solidFill>
                  <a:srgbClr val="990000"/>
                </a:solidFill>
                <a:latin typeface="Arial" pitchFamily="34" charset="0"/>
                <a:cs typeface="Arial" pitchFamily="34" charset="0"/>
              </a:rPr>
              <a:t>Ví</a:t>
            </a:r>
            <a:r>
              <a:rPr lang="en-US" altLang="en-US" dirty="0">
                <a:solidFill>
                  <a:srgbClr val="99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dirty="0" err="1">
                <a:solidFill>
                  <a:srgbClr val="990000"/>
                </a:solidFill>
                <a:latin typeface="Arial" pitchFamily="34" charset="0"/>
                <a:cs typeface="Arial" pitchFamily="34" charset="0"/>
              </a:rPr>
              <a:t>dụ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 :   S</a:t>
            </a:r>
            <a:r>
              <a:rPr lang="en-US" altLang="en-US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altLang="en-US" baseline="-25000" dirty="0">
                <a:latin typeface="Arial" pitchFamily="34" charset="0"/>
                <a:cs typeface="Arial" pitchFamily="34" charset="0"/>
              </a:rPr>
              <a:t>298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(O) &lt; S</a:t>
            </a:r>
            <a:r>
              <a:rPr lang="en-US" altLang="en-US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altLang="en-US" baseline="-25000" dirty="0">
                <a:latin typeface="Arial" pitchFamily="34" charset="0"/>
                <a:cs typeface="Arial" pitchFamily="34" charset="0"/>
              </a:rPr>
              <a:t>298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(O</a:t>
            </a:r>
            <a:r>
              <a:rPr lang="en-US" altLang="en-US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) &lt; S</a:t>
            </a:r>
            <a:r>
              <a:rPr lang="en-US" altLang="en-US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altLang="en-US" baseline="-25000" dirty="0">
                <a:latin typeface="Arial" pitchFamily="34" charset="0"/>
                <a:cs typeface="Arial" pitchFamily="34" charset="0"/>
              </a:rPr>
              <a:t>298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(O</a:t>
            </a:r>
            <a:r>
              <a:rPr lang="en-US" altLang="en-US" baseline="-25000" dirty="0">
                <a:latin typeface="Arial" pitchFamily="34" charset="0"/>
                <a:cs typeface="Arial" pitchFamily="34" charset="0"/>
              </a:rPr>
              <a:t>3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)</a:t>
            </a:r>
          </a:p>
          <a:p>
            <a:pPr eaLnBrk="1" hangingPunct="1">
              <a:buFontTx/>
              <a:buNone/>
              <a:defRPr/>
            </a:pPr>
            <a:r>
              <a:rPr lang="en-US" altLang="en-US" dirty="0">
                <a:latin typeface="Arial" pitchFamily="34" charset="0"/>
                <a:cs typeface="Arial" pitchFamily="34" charset="0"/>
              </a:rPr>
              <a:t>                  S</a:t>
            </a:r>
            <a:r>
              <a:rPr lang="en-US" altLang="en-US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altLang="en-US" baseline="-25000" dirty="0">
                <a:latin typeface="Arial" pitchFamily="34" charset="0"/>
                <a:cs typeface="Arial" pitchFamily="34" charset="0"/>
              </a:rPr>
              <a:t>298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(NO) &lt; S</a:t>
            </a:r>
            <a:r>
              <a:rPr lang="en-US" altLang="en-US" baseline="30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altLang="en-US" baseline="-25000" dirty="0">
                <a:latin typeface="Arial" pitchFamily="34" charset="0"/>
                <a:cs typeface="Arial" pitchFamily="34" charset="0"/>
              </a:rPr>
              <a:t>298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(NO</a:t>
            </a:r>
            <a:r>
              <a:rPr lang="en-US" altLang="en-US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)</a:t>
            </a:r>
          </a:p>
          <a:p>
            <a:pPr eaLnBrk="1" hangingPunct="1">
              <a:buFontTx/>
              <a:buNone/>
              <a:defRPr/>
            </a:pPr>
            <a:r>
              <a:rPr lang="en-US" altLang="en-US" baseline="-25000" dirty="0"/>
              <a:t>                             </a:t>
            </a: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xmlns="" id="{2DD2BFDC-7133-4A2A-9576-DBBCCD5E3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5300663"/>
            <a:ext cx="309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29701" name="Picture 5" descr="FG20_08">
            <a:extLst>
              <a:ext uri="{FF2B5EF4-FFF2-40B4-BE49-F238E27FC236}">
                <a16:creationId xmlns:a16="http://schemas.microsoft.com/office/drawing/2014/main" xmlns="" id="{008BA823-FCDE-4EFB-ABE4-325EEB846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7" y="4005064"/>
            <a:ext cx="7921625" cy="188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Text Box 6">
            <a:extLst>
              <a:ext uri="{FF2B5EF4-FFF2-40B4-BE49-F238E27FC236}">
                <a16:creationId xmlns:a16="http://schemas.microsoft.com/office/drawing/2014/main" xmlns="" id="{DD4EAE06-CE75-4156-BA6D-B70597CE5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908720"/>
            <a:ext cx="8640960" cy="1478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</a:rPr>
              <a:t>Hệ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</a:rPr>
              <a:t>càng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</a:rPr>
              <a:t>phức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</a:rPr>
              <a:t>tạp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</a:rPr>
              <a:t>phân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</a:rPr>
              <a:t>tử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</a:rPr>
              <a:t>càng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rgbClr val="0000FF"/>
                </a:solidFill>
                <a:latin typeface="Arial" panose="020B0604020202020204" pitchFamily="34" charset="0"/>
              </a:rPr>
              <a:t>phức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rgbClr val="0000FF"/>
                </a:solidFill>
                <a:latin typeface="Arial" panose="020B0604020202020204" pitchFamily="34" charset="0"/>
              </a:rPr>
              <a:t>tạp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</a:rPr>
              <a:t>, kích thước càng lớn</a:t>
            </a:r>
            <a:r>
              <a:rPr lang="en-US" altLang="en-US" dirty="0" smtClean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</a:rPr>
              <a:t>thì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 entropy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</a:rPr>
              <a:t>càng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</a:rPr>
              <a:t>lớn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xmlns="" id="{FE5749B5-753F-4834-AC37-680FA29B0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346075"/>
            <a:ext cx="9144000" cy="15192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trong cùng điều kiện: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vi-VN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S(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&lt; S(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&lt; S(</a:t>
            </a:r>
            <a:r>
              <a:rPr lang="en-US" alt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xmlns="" id="{4703D988-D1DA-4901-A1F2-48E3EE8C5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284538"/>
            <a:ext cx="2519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31748" name="Picture 5">
            <a:extLst>
              <a:ext uri="{FF2B5EF4-FFF2-40B4-BE49-F238E27FC236}">
                <a16:creationId xmlns:a16="http://schemas.microsoft.com/office/drawing/2014/main" xmlns="" id="{D4290646-DF98-4A0A-A248-0D52CDDE8DF8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276600"/>
            <a:ext cx="4248150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398" name="Rectangle 6">
            <a:extLst>
              <a:ext uri="{FF2B5EF4-FFF2-40B4-BE49-F238E27FC236}">
                <a16:creationId xmlns:a16="http://schemas.microsoft.com/office/drawing/2014/main" xmlns="" id="{7B052FA6-636F-4B92-97A0-02672BD26CD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819108" y="3424813"/>
            <a:ext cx="3600450" cy="1993751"/>
          </a:xfrm>
          <a:prstGeom prst="rect">
            <a:avLst/>
          </a:prstGeom>
          <a:blipFill>
            <a:blip r:embed="rId5"/>
            <a:stretch>
              <a:fillRect l="-1958"/>
            </a:stretch>
          </a:blipFill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graphicFrame>
        <p:nvGraphicFramePr>
          <p:cNvPr id="31750" name="Object 7">
            <a:hlinkClick r:id="" action="ppaction://ole?verb=0"/>
            <a:extLst>
              <a:ext uri="{FF2B5EF4-FFF2-40B4-BE49-F238E27FC236}">
                <a16:creationId xmlns:a16="http://schemas.microsoft.com/office/drawing/2014/main" xmlns="" id="{A33EB3F7-4D03-42F3-A679-D42326D4AC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7888" y="1557338"/>
          <a:ext cx="3814762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6" name="QuickTime Movie" r:id="rId6" imgW="2839598" imgH="1716102" progId="PlayerFrameClass">
                  <p:embed/>
                </p:oleObj>
              </mc:Choice>
              <mc:Fallback>
                <p:oleObj name="QuickTime Movie" r:id="rId6" imgW="2839598" imgH="1716102" progId="PlayerFrameClass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1557338"/>
                        <a:ext cx="3814762" cy="157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356" name="Group 52">
            <a:extLst>
              <a:ext uri="{FF2B5EF4-FFF2-40B4-BE49-F238E27FC236}">
                <a16:creationId xmlns:a16="http://schemas.microsoft.com/office/drawing/2014/main" xmlns="" id="{EE1D34FF-A4FF-4705-B75B-63CF0AC02F0D}"/>
              </a:ext>
            </a:extLst>
          </p:cNvPr>
          <p:cNvGraphicFramePr>
            <a:graphicFrameLocks noGrp="1"/>
          </p:cNvGraphicFramePr>
          <p:nvPr/>
        </p:nvGraphicFramePr>
        <p:xfrm>
          <a:off x="539750" y="1052513"/>
          <a:ext cx="8247063" cy="4418014"/>
        </p:xfrm>
        <a:graphic>
          <a:graphicData uri="http://schemas.openxmlformats.org/drawingml/2006/table">
            <a:tbl>
              <a:tblPr/>
              <a:tblGrid>
                <a:gridCol w="160336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717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002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717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Chất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stretch>
                        <a:fillRect l="-62796" t="-5714" r="-159953" b="-60190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Chất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>
                      <a:blip r:embed="rId3"/>
                      <a:stretch>
                        <a:fillRect l="-263539" t="-5714" r="-1609" b="-601905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O(l)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69.9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NaCl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(r)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72.3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O(k)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188.8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NaCl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aq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115.5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116.7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Na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(r)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(k)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260.6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CH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186.3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Na(r)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51.5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808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808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808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808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808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229.5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99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K(r)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64.7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269.9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Cs(r)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85.2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310.0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33795" name="Text Box 49">
            <a:extLst>
              <a:ext uri="{FF2B5EF4-FFF2-40B4-BE49-F238E27FC236}">
                <a16:creationId xmlns:a16="http://schemas.microsoft.com/office/drawing/2014/main" xmlns="" id="{A18C8B6F-4FA8-41DB-946B-31512AA4F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81000"/>
            <a:ext cx="685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ENTROPY  TIÊU CHUẨN Ở 298K</a:t>
            </a:r>
          </a:p>
        </p:txBody>
      </p:sp>
      <p:sp>
        <p:nvSpPr>
          <p:cNvPr id="2" name="Right Brace 1"/>
          <p:cNvSpPr/>
          <p:nvPr/>
        </p:nvSpPr>
        <p:spPr>
          <a:xfrm>
            <a:off x="1880340" y="1786960"/>
            <a:ext cx="216024" cy="864096"/>
          </a:xfrm>
          <a:prstGeom prst="righ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ight Brace 4"/>
          <p:cNvSpPr/>
          <p:nvPr/>
        </p:nvSpPr>
        <p:spPr>
          <a:xfrm>
            <a:off x="1871700" y="4099912"/>
            <a:ext cx="216024" cy="1224136"/>
          </a:xfrm>
          <a:prstGeom prst="rightBrace">
            <a:avLst/>
          </a:prstGeom>
          <a:ln w="28575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/>
          <p:cNvSpPr/>
          <p:nvPr/>
        </p:nvSpPr>
        <p:spPr>
          <a:xfrm>
            <a:off x="1871700" y="2852936"/>
            <a:ext cx="216024" cy="864096"/>
          </a:xfrm>
          <a:prstGeom prst="rightBrace">
            <a:avLst>
              <a:gd name="adj1" fmla="val 8333"/>
              <a:gd name="adj2" fmla="val 51764"/>
            </a:avLst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/>
          <p:cNvSpPr/>
          <p:nvPr/>
        </p:nvSpPr>
        <p:spPr>
          <a:xfrm>
            <a:off x="6228184" y="1786960"/>
            <a:ext cx="216024" cy="864096"/>
          </a:xfrm>
          <a:prstGeom prst="rightBrace">
            <a:avLst>
              <a:gd name="adj1" fmla="val 8333"/>
              <a:gd name="adj2" fmla="val 51764"/>
            </a:avLst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Brace 7"/>
          <p:cNvSpPr/>
          <p:nvPr/>
        </p:nvSpPr>
        <p:spPr>
          <a:xfrm>
            <a:off x="6247732" y="3429000"/>
            <a:ext cx="216024" cy="1823040"/>
          </a:xfrm>
          <a:prstGeom prst="rightBrace">
            <a:avLst>
              <a:gd name="adj1" fmla="val 8333"/>
              <a:gd name="adj2" fmla="val 51764"/>
            </a:avLst>
          </a:prstGeom>
          <a:ln w="28575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xmlns="" id="{96204C9F-842A-4490-9561-2FFB5A1DD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5750" y="609600"/>
            <a:ext cx="8643938" cy="11430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entropy, </a:t>
            </a:r>
            <a:b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ngược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entropy</a:t>
            </a:r>
            <a:r>
              <a:rPr lang="vi-V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xmlns="" id="{456C95A9-38CA-44EA-90DC-7C9C22163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492375"/>
            <a:ext cx="8858250" cy="4114800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298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(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&lt;  S</a:t>
            </a:r>
            <a:r>
              <a:rPr lang="en-US" altLang="en-US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350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(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>
              <a:buFontTx/>
              <a:buNone/>
              <a:defRPr/>
            </a:pP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b="1" baseline="-250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400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="1" baseline="-250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(</a:t>
            </a:r>
            <a:r>
              <a:rPr lang="en-US" altLang="en-US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3 atm ) &lt; S</a:t>
            </a:r>
            <a:r>
              <a:rPr lang="en-US" altLang="en-US" b="1" baseline="-250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400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b="1" baseline="-25000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(</a:t>
            </a:r>
            <a:r>
              <a:rPr lang="en-US" altLang="en-US" b="1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1atm)</a:t>
            </a:r>
          </a:p>
          <a:p>
            <a:pPr eaLnBrk="1" hangingPunct="1">
              <a:defRPr/>
            </a:pPr>
            <a:endParaRPr lang="en-US" altLang="en-US" b="1" dirty="0"/>
          </a:p>
          <a:p>
            <a:pPr eaLnBrk="1" hangingPunct="1">
              <a:defRPr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CHA56012">
            <a:extLst>
              <a:ext uri="{FF2B5EF4-FFF2-40B4-BE49-F238E27FC236}">
                <a16:creationId xmlns:a16="http://schemas.microsoft.com/office/drawing/2014/main" xmlns="" id="{53B55091-ADEE-4140-8933-E7D9C11A0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8" y="418628"/>
            <a:ext cx="6959600" cy="3423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Rectangle 6">
            <a:extLst>
              <a:ext uri="{FF2B5EF4-FFF2-40B4-BE49-F238E27FC236}">
                <a16:creationId xmlns:a16="http://schemas.microsoft.com/office/drawing/2014/main" xmlns="" id="{AE6D13D1-A053-469D-A0D6-3E2C2235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600" y="48006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37892" name="Rectangle 7">
            <a:extLst>
              <a:ext uri="{FF2B5EF4-FFF2-40B4-BE49-F238E27FC236}">
                <a16:creationId xmlns:a16="http://schemas.microsoft.com/office/drawing/2014/main" xmlns="" id="{77B763C3-EE54-4DDB-9AE6-608FAD7FD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300" y="6324600"/>
            <a:ext cx="381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89449" name="Text Box 9">
            <a:extLst>
              <a:ext uri="{FF2B5EF4-FFF2-40B4-BE49-F238E27FC236}">
                <a16:creationId xmlns:a16="http://schemas.microsoft.com/office/drawing/2014/main" xmlns="" id="{7516B393-3F08-4312-B1A1-CA7A1B070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" y="4418013"/>
            <a:ext cx="8636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C(gr)  +   CO</a:t>
            </a:r>
            <a:r>
              <a:rPr lang="en-US" altLang="en-US" sz="2400" baseline="-25000" dirty="0">
                <a:solidFill>
                  <a:srgbClr val="0000FF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</a:rPr>
              <a:t>(k)  =  2CO (k</a:t>
            </a:r>
            <a:r>
              <a:rPr lang="en-US" altLang="en-US" sz="2400" dirty="0" smtClean="0">
                <a:solidFill>
                  <a:srgbClr val="0000FF"/>
                </a:solidFill>
                <a:latin typeface="Arial" panose="020B0604020202020204" pitchFamily="34" charset="0"/>
              </a:rPr>
              <a:t>);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2400" dirty="0" smtClean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 = 1</a:t>
            </a:r>
            <a:r>
              <a:rPr lang="vi-VN" altLang="en-US" sz="2400" dirty="0" smtClean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 0</a:t>
            </a:r>
            <a:r>
              <a:rPr lang="en-US" altLang="en-US" sz="2400" dirty="0" smtClean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→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V &gt;0 → </a:t>
            </a:r>
            <a:r>
              <a:rPr lang="en-US" altLang="en-US" sz="2400" dirty="0" err="1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 err="1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pư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 smtClean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 0</a:t>
            </a:r>
            <a:endParaRPr lang="en-US" altLang="en-US" sz="2400" b="1" dirty="0">
              <a:solidFill>
                <a:srgbClr val="0000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89451" name="Text Box 11">
            <a:extLst>
              <a:ext uri="{FF2B5EF4-FFF2-40B4-BE49-F238E27FC236}">
                <a16:creationId xmlns:a16="http://schemas.microsoft.com/office/drawing/2014/main" xmlns="" id="{A19FE689-5739-4605-AC80-6CF5DC3B8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3" y="5065713"/>
            <a:ext cx="883653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</a:rPr>
              <a:t>N</a:t>
            </a:r>
            <a:r>
              <a:rPr lang="en-US" altLang="en-U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</a:rPr>
              <a:t>(k)  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</a:rPr>
              <a:t>+    3H</a:t>
            </a:r>
            <a:r>
              <a:rPr lang="en-US" altLang="en-US" sz="2400" baseline="-25000" dirty="0" smtClean="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</a:rPr>
              <a:t>(k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</a:rPr>
              <a:t>)  =  2NH</a:t>
            </a:r>
            <a:r>
              <a:rPr lang="en-US" altLang="en-US" sz="24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3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</a:rPr>
              <a:t>(k); 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 = 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-2</a:t>
            </a:r>
            <a:r>
              <a:rPr lang="vi-VN" altLang="en-U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 smtClean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&lt; 0 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→ 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V</a:t>
            </a:r>
            <a:r>
              <a:rPr lang="en-US" altLang="en-US" sz="2400" dirty="0" smtClean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&lt; 0 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→ </a:t>
            </a:r>
            <a:r>
              <a:rPr lang="en-US" altLang="en-US" sz="2400" dirty="0" err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 err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pư</a:t>
            </a:r>
            <a:r>
              <a:rPr lang="en-US" altLang="en-U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 smtClean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&lt; 0</a:t>
            </a:r>
            <a:endParaRPr lang="en-US" altLang="en-US" sz="2400" b="1" dirty="0">
              <a:solidFill>
                <a:srgbClr val="008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189452" name="Text Box 12">
            <a:extLst>
              <a:ext uri="{FF2B5EF4-FFF2-40B4-BE49-F238E27FC236}">
                <a16:creationId xmlns:a16="http://schemas.microsoft.com/office/drawing/2014/main" xmlns="" id="{716C01D1-8232-4414-8FA3-86665203A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" y="3911600"/>
            <a:ext cx="8351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r>
              <a:rPr lang="vi-VN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HẢN ỨNG HÓA HỌC Ở ĐK ĐẲNG ÁP ĐẲNG NHIỆT</a:t>
            </a:r>
            <a:endParaRPr lang="en-US" altLang="en-US" sz="24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80D3449-1131-4E2A-9EC6-5E01081BD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342900"/>
            <a:ext cx="1785938" cy="585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b="1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vi-VN" altLang="en-US" b="1" baseline="-250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nc </a:t>
            </a:r>
            <a:r>
              <a:rPr lang="vi-VN" altLang="en-US" b="1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 0</a:t>
            </a:r>
            <a:endParaRPr lang="en-US" altLang="en-US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6DF36C7-2B7B-4706-AD62-77F17BE6F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588" y="2046288"/>
            <a:ext cx="1619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b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vi-VN" altLang="en-US" b="1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ht </a:t>
            </a:r>
            <a:r>
              <a:rPr lang="vi-VN" altLang="en-US" b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 0</a:t>
            </a:r>
            <a:endParaRPr lang="en-US" altLang="en-US" b="1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7CAED11-E6B9-4D47-BDA6-AF9EFDE08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1062038"/>
            <a:ext cx="1908175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vi-VN" altLang="en-US" b="1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bh </a:t>
            </a:r>
            <a:r>
              <a:rPr lang="vi-VN" altLang="en-US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 0</a:t>
            </a:r>
            <a:endParaRPr lang="en-US" altLang="en-US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AB55E5D-CA5D-46D4-A6FF-BBBF21E5A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2898775"/>
            <a:ext cx="1962150" cy="5857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vi-VN" altLang="en-US" b="1" dirty="0"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vi-VN" altLang="en-US" b="1" baseline="-25000" dirty="0">
                <a:latin typeface="Arial" panose="020B0604020202020204" pitchFamily="34" charset="0"/>
                <a:sym typeface="Symbol" panose="05050102010706020507" pitchFamily="18" charset="2"/>
              </a:rPr>
              <a:t>T </a:t>
            </a:r>
            <a:r>
              <a:rPr lang="vi-VN" altLang="en-US" b="1" dirty="0">
                <a:latin typeface="Arial" panose="020B0604020202020204" pitchFamily="34" charset="0"/>
                <a:sym typeface="Symbol" panose="05050102010706020507" pitchFamily="18" charset="2"/>
              </a:rPr>
              <a:t>&gt; 0</a:t>
            </a:r>
            <a:endParaRPr lang="en-US" altLang="en-US" b="1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32C3EA3-A17C-4E05-8F46-A037BD8F9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4475" y="1546940"/>
            <a:ext cx="1787525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BAY HƠI</a:t>
            </a:r>
            <a:endParaRPr lang="en-US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4AB297C-0087-4E5E-9E5A-AA0201808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768" y="635794"/>
            <a:ext cx="24685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800" dirty="0">
                <a:solidFill>
                  <a:srgbClr val="0000FF"/>
                </a:solidFill>
                <a:latin typeface="Arial" panose="020B0604020202020204" pitchFamily="34" charset="0"/>
              </a:rPr>
              <a:t>NÓNG CHẢY</a:t>
            </a:r>
            <a:endParaRPr lang="en-US" altLang="en-US" sz="28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B557B3C4-984E-483E-BB9C-C9611FAEA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4475" y="2479675"/>
            <a:ext cx="178752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800">
                <a:solidFill>
                  <a:srgbClr val="008000"/>
                </a:solidFill>
                <a:latin typeface="Arial" panose="020B0604020202020204" pitchFamily="34" charset="0"/>
              </a:rPr>
              <a:t>HÒA TAN</a:t>
            </a:r>
            <a:endParaRPr lang="en-US" altLang="en-US" sz="28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2017338F-CB2A-4E86-959D-BB9872D1B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6263" y="3343275"/>
            <a:ext cx="1123950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800">
                <a:latin typeface="Arial" panose="020B0604020202020204" pitchFamily="34" charset="0"/>
              </a:rPr>
              <a:t>  T </a:t>
            </a:r>
            <a:r>
              <a:rPr lang="vi-VN" altLang="en-US" sz="2800">
                <a:latin typeface="Arial" panose="020B0604020202020204" pitchFamily="34" charset="0"/>
                <a:sym typeface="Symbol" panose="05050102010706020507" pitchFamily="18" charset="2"/>
              </a:rPr>
              <a:t></a:t>
            </a:r>
            <a:endParaRPr lang="en-US" altLang="en-US" sz="280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D5296E1-424D-406F-9BCB-6F79DC8FC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683250"/>
            <a:ext cx="79168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    </a:t>
            </a:r>
            <a:r>
              <a:rPr lang="vi-VN" altLang="en-US" sz="2400" dirty="0" smtClean="0">
                <a:solidFill>
                  <a:srgbClr val="C00000"/>
                </a:solidFill>
                <a:latin typeface="Arial" panose="020B0604020202020204" pitchFamily="34" charset="0"/>
              </a:rPr>
              <a:t>2HI(</a:t>
            </a:r>
            <a:r>
              <a:rPr lang="en-US" altLang="en-US" sz="2400" dirty="0" smtClean="0">
                <a:solidFill>
                  <a:srgbClr val="C00000"/>
                </a:solidFill>
                <a:latin typeface="Arial" panose="020B0604020202020204" pitchFamily="34" charset="0"/>
              </a:rPr>
              <a:t>k</a:t>
            </a:r>
            <a:r>
              <a:rPr lang="vi-VN" altLang="en-US" sz="2400" dirty="0" smtClean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r>
              <a:rPr lang="vi-VN" altLang="en-US" sz="2400" dirty="0">
                <a:solidFill>
                  <a:srgbClr val="C00000"/>
                </a:solidFill>
                <a:latin typeface="Arial" panose="020B0604020202020204" pitchFamily="34" charset="0"/>
              </a:rPr>
              <a:t>= </a:t>
            </a:r>
            <a:r>
              <a:rPr lang="vi-VN" altLang="en-US" sz="2400" dirty="0" smtClean="0">
                <a:solidFill>
                  <a:srgbClr val="C00000"/>
                </a:solidFill>
                <a:latin typeface="Arial" panose="020B0604020202020204" pitchFamily="34" charset="0"/>
              </a:rPr>
              <a:t>H</a:t>
            </a:r>
            <a:r>
              <a:rPr lang="vi-VN" altLang="en-US" sz="2400" baseline="-25000" dirty="0" smtClean="0">
                <a:solidFill>
                  <a:srgbClr val="C00000"/>
                </a:solidFill>
                <a:latin typeface="Arial" panose="020B0604020202020204" pitchFamily="34" charset="0"/>
              </a:rPr>
              <a:t>2</a:t>
            </a:r>
            <a:r>
              <a:rPr lang="vi-VN" altLang="en-US" sz="2400" dirty="0" smtClean="0">
                <a:solidFill>
                  <a:srgbClr val="C00000"/>
                </a:solidFill>
                <a:latin typeface="Arial" panose="020B0604020202020204" pitchFamily="34" charset="0"/>
              </a:rPr>
              <a:t>(</a:t>
            </a:r>
            <a:r>
              <a:rPr lang="en-US" altLang="en-US" sz="2400" dirty="0" smtClean="0">
                <a:solidFill>
                  <a:srgbClr val="C00000"/>
                </a:solidFill>
                <a:latin typeface="Arial" panose="020B0604020202020204" pitchFamily="34" charset="0"/>
              </a:rPr>
              <a:t>k</a:t>
            </a:r>
            <a:r>
              <a:rPr lang="vi-VN" altLang="en-US" sz="2400" dirty="0" smtClean="0">
                <a:solidFill>
                  <a:srgbClr val="C00000"/>
                </a:solidFill>
                <a:latin typeface="Arial" panose="020B0604020202020204" pitchFamily="34" charset="0"/>
              </a:rPr>
              <a:t>)  </a:t>
            </a:r>
            <a:r>
              <a:rPr lang="vi-VN" altLang="en-US" sz="2400" dirty="0">
                <a:solidFill>
                  <a:srgbClr val="C00000"/>
                </a:solidFill>
                <a:latin typeface="Arial" panose="020B0604020202020204" pitchFamily="34" charset="0"/>
              </a:rPr>
              <a:t>+  </a:t>
            </a:r>
            <a:r>
              <a:rPr lang="vi-VN" altLang="en-US" sz="2400" dirty="0" smtClean="0">
                <a:solidFill>
                  <a:srgbClr val="C00000"/>
                </a:solidFill>
                <a:latin typeface="Arial" panose="020B0604020202020204" pitchFamily="34" charset="0"/>
              </a:rPr>
              <a:t>I</a:t>
            </a:r>
            <a:r>
              <a:rPr lang="vi-VN" altLang="en-US" sz="2400" baseline="-25000" dirty="0" smtClean="0">
                <a:solidFill>
                  <a:srgbClr val="C00000"/>
                </a:solidFill>
                <a:latin typeface="Arial" panose="020B0604020202020204" pitchFamily="34" charset="0"/>
              </a:rPr>
              <a:t>2</a:t>
            </a:r>
            <a:r>
              <a:rPr lang="vi-VN" altLang="en-US" sz="2400" dirty="0" smtClean="0">
                <a:solidFill>
                  <a:srgbClr val="C00000"/>
                </a:solidFill>
                <a:latin typeface="Arial" panose="020B0604020202020204" pitchFamily="34" charset="0"/>
              </a:rPr>
              <a:t>(</a:t>
            </a:r>
            <a:r>
              <a:rPr lang="en-US" altLang="en-US" sz="2400" dirty="0" smtClean="0">
                <a:solidFill>
                  <a:srgbClr val="C00000"/>
                </a:solidFill>
                <a:latin typeface="Arial" panose="020B0604020202020204" pitchFamily="34" charset="0"/>
              </a:rPr>
              <a:t>k</a:t>
            </a:r>
            <a:r>
              <a:rPr lang="vi-VN" altLang="en-US" sz="2400" dirty="0" smtClean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r>
              <a:rPr lang="vi-VN" altLang="en-US" sz="2400" dirty="0">
                <a:solidFill>
                  <a:srgbClr val="C00000"/>
                </a:solidFill>
                <a:latin typeface="Arial" panose="020B0604020202020204" pitchFamily="34" charset="0"/>
              </a:rPr>
              <a:t>; 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sz="2400" dirty="0" smtClean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 = 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  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→ </a:t>
            </a:r>
            <a:r>
              <a:rPr lang="en-US" altLang="en-US" sz="2400" dirty="0" err="1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400" baseline="-25000" dirty="0" err="1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pư</a:t>
            </a: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</a:t>
            </a:r>
            <a:r>
              <a:rPr lang="vi-VN" altLang="en-US" sz="2400" b="1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sz="2400" dirty="0">
                <a:latin typeface="Arial" panose="020B0604020202020204" pitchFamily="34" charset="0"/>
              </a:rPr>
              <a:t>  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xmlns="" id="{FE5749B5-753F-4834-AC37-680FA29B0688}"/>
              </a:ext>
            </a:extLst>
          </p:cNvPr>
          <p:cNvSpPr txBox="1">
            <a:spLocks noChangeArrowheads="1"/>
          </p:cNvSpPr>
          <p:nvPr/>
        </p:nvSpPr>
        <p:spPr>
          <a:xfrm>
            <a:off x="127953" y="7620"/>
            <a:ext cx="6120358" cy="41862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S(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rắn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&lt; S(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lỏng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&lt; S(</a:t>
            </a:r>
            <a:r>
              <a:rPr lang="en-US" alt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9" grpId="0"/>
      <p:bldP spid="189451" grpId="0"/>
      <p:bldP spid="189452" grpId="0"/>
      <p:bldP spid="2" grpId="0" animBg="1"/>
      <p:bldP spid="12" grpId="0"/>
      <p:bldP spid="13" grpId="0" animBg="1"/>
      <p:bldP spid="14" grpId="0" animBg="1"/>
      <p:bldP spid="3" grpId="0" animBg="1"/>
      <p:bldP spid="16" grpId="0" animBg="1"/>
      <p:bldP spid="17" grpId="0" animBg="1"/>
      <p:bldP spid="18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xmlns="" id="{EC41C4BF-1A85-4BBF-95A2-8D3B592D2D7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125412" y="1844824"/>
            <a:ext cx="8893175" cy="4114800"/>
          </a:xfrm>
          <a:blipFill>
            <a:blip r:embed="rId3"/>
            <a:stretch>
              <a:fillRect l="-1783" t="-593" b="-296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xmlns="" id="{4800D053-2FF6-4015-967C-344E59262A2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xfrm>
            <a:off x="1" y="165100"/>
            <a:ext cx="8893174" cy="733425"/>
          </a:xfrm>
          <a:blipFill>
            <a:blip r:embed="rId4"/>
            <a:stretch>
              <a:fillRect t="-5000" b="-26667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207876" name="Rectangle 4">
            <a:extLst>
              <a:ext uri="{FF2B5EF4-FFF2-40B4-BE49-F238E27FC236}">
                <a16:creationId xmlns:a16="http://schemas.microsoft.com/office/drawing/2014/main" xmlns="" id="{989A4476-53E6-4333-AD6E-D66B7ED3A23D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50825" y="1124744"/>
            <a:ext cx="8893175" cy="572401"/>
          </a:xfrm>
          <a:prstGeom prst="rect">
            <a:avLst/>
          </a:prstGeom>
          <a:blipFill>
            <a:blip r:embed="rId5"/>
            <a:stretch>
              <a:fillRect t="-8054"/>
            </a:stretch>
          </a:blipFill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5A9EB440-B5C6-422F-9D7B-6A6E8F7024F3}"/>
              </a:ext>
            </a:extLst>
          </p:cNvPr>
          <p:cNvCxnSpPr>
            <a:cxnSpLocks/>
          </p:cNvCxnSpPr>
          <p:nvPr/>
        </p:nvCxnSpPr>
        <p:spPr>
          <a:xfrm flipV="1">
            <a:off x="2268538" y="3260725"/>
            <a:ext cx="487362" cy="336550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BB267CA9-ED47-4867-98D0-3ED3B2D43575}"/>
              </a:ext>
            </a:extLst>
          </p:cNvPr>
          <p:cNvCxnSpPr>
            <a:cxnSpLocks/>
          </p:cNvCxnSpPr>
          <p:nvPr/>
        </p:nvCxnSpPr>
        <p:spPr>
          <a:xfrm flipV="1">
            <a:off x="4208463" y="3260725"/>
            <a:ext cx="488950" cy="336550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A4FC182B-A2B8-47C1-95CA-F3D1D30B0A46}"/>
              </a:ext>
            </a:extLst>
          </p:cNvPr>
          <p:cNvCxnSpPr>
            <a:cxnSpLocks/>
          </p:cNvCxnSpPr>
          <p:nvPr/>
        </p:nvCxnSpPr>
        <p:spPr>
          <a:xfrm flipV="1">
            <a:off x="6227763" y="3240088"/>
            <a:ext cx="488950" cy="334962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622847F9-86C0-40D4-82E7-878C4DD83771}"/>
              </a:ext>
            </a:extLst>
          </p:cNvPr>
          <p:cNvCxnSpPr>
            <a:cxnSpLocks/>
          </p:cNvCxnSpPr>
          <p:nvPr/>
        </p:nvCxnSpPr>
        <p:spPr>
          <a:xfrm flipV="1">
            <a:off x="900113" y="3733800"/>
            <a:ext cx="487362" cy="336550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D0BF3BCC-C344-4EA9-BD6A-10D2D0AD3CFA}"/>
              </a:ext>
            </a:extLst>
          </p:cNvPr>
          <p:cNvCxnSpPr>
            <a:cxnSpLocks/>
          </p:cNvCxnSpPr>
          <p:nvPr/>
        </p:nvCxnSpPr>
        <p:spPr>
          <a:xfrm flipV="1">
            <a:off x="2762250" y="3733800"/>
            <a:ext cx="487363" cy="336550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E2659ECA-3B02-4C52-80E3-DEF1C7F230BB}"/>
              </a:ext>
            </a:extLst>
          </p:cNvPr>
          <p:cNvCxnSpPr>
            <a:cxnSpLocks/>
          </p:cNvCxnSpPr>
          <p:nvPr/>
        </p:nvCxnSpPr>
        <p:spPr>
          <a:xfrm flipV="1">
            <a:off x="5076825" y="3733800"/>
            <a:ext cx="487363" cy="336550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4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2FAE11-362C-4392-874C-85A2F790C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0" y="260648"/>
            <a:ext cx="9036496" cy="1143000"/>
          </a:xfrm>
        </p:spPr>
        <p:txBody>
          <a:bodyPr/>
          <a:lstStyle/>
          <a:p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 HƯỞNG NHIỆT ĐỘ ĐẾN 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S PHẢN ỨNG </a:t>
            </a:r>
            <a:endParaRPr lang="en-US" sz="3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BB66AF2C-666A-4CC2-8B3F-791AE43C7F85}"/>
              </a:ext>
            </a:extLst>
          </p:cNvPr>
          <p:cNvSpPr/>
          <p:nvPr/>
        </p:nvSpPr>
        <p:spPr>
          <a:xfrm>
            <a:off x="1475656" y="1268760"/>
            <a:ext cx="55446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sym typeface="Symbol" panose="05050102010706020507" pitchFamily="18" charset="2"/>
              </a:rPr>
              <a:t></a:t>
            </a:r>
            <a:r>
              <a:rPr lang="en-US" sz="3200" dirty="0" err="1" smtClean="0">
                <a:solidFill>
                  <a:schemeClr val="tx1"/>
                </a:solidFill>
              </a:rPr>
              <a:t>S</a:t>
            </a:r>
            <a:r>
              <a:rPr lang="en-US" sz="3200" baseline="-25000" dirty="0" err="1" smtClean="0">
                <a:solidFill>
                  <a:schemeClr val="tx1"/>
                </a:solidFill>
              </a:rPr>
              <a:t>pư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= </a:t>
            </a:r>
            <a:r>
              <a:rPr lang="en-US" sz="3200" dirty="0" smtClean="0">
                <a:solidFill>
                  <a:schemeClr val="tx1"/>
                </a:solidFill>
                <a:sym typeface="Symbol"/>
              </a:rPr>
              <a:t></a:t>
            </a:r>
            <a:r>
              <a:rPr lang="en-US" sz="3200" dirty="0" err="1" smtClean="0">
                <a:solidFill>
                  <a:schemeClr val="tx1"/>
                </a:solidFill>
              </a:rPr>
              <a:t>S</a:t>
            </a:r>
            <a:r>
              <a:rPr lang="en-US" sz="3200" baseline="-25000" dirty="0" err="1" smtClean="0"/>
              <a:t>sản</a:t>
            </a:r>
            <a:r>
              <a:rPr lang="en-US" sz="3200" dirty="0" smtClean="0"/>
              <a:t> </a:t>
            </a:r>
            <a:r>
              <a:rPr lang="en-US" sz="3200" baseline="-25000" dirty="0" err="1" smtClean="0"/>
              <a:t>phẩm</a:t>
            </a:r>
            <a:r>
              <a:rPr lang="en-US" sz="3200" baseline="-25000" dirty="0" smtClean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– </a:t>
            </a:r>
            <a:r>
              <a:rPr lang="en-US" sz="3200" dirty="0" smtClean="0">
                <a:solidFill>
                  <a:schemeClr val="tx1"/>
                </a:solidFill>
                <a:sym typeface="Symbol"/>
              </a:rPr>
              <a:t></a:t>
            </a:r>
            <a:r>
              <a:rPr lang="en-US" sz="3200" dirty="0" err="1" smtClean="0">
                <a:solidFill>
                  <a:schemeClr val="tx1"/>
                </a:solidFill>
              </a:rPr>
              <a:t>S</a:t>
            </a:r>
            <a:r>
              <a:rPr lang="en-US" sz="3200" baseline="-25000" dirty="0" err="1" smtClean="0">
                <a:solidFill>
                  <a:schemeClr val="tx1"/>
                </a:solidFill>
              </a:rPr>
              <a:t>chấtđầu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1987744"/>
            <a:ext cx="905892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rgbClr val="006600"/>
                </a:solidFill>
              </a:rPr>
              <a:t>Khi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tăng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nhiệt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 smtClean="0">
                <a:solidFill>
                  <a:srgbClr val="006600"/>
                </a:solidFill>
              </a:rPr>
              <a:t>độ</a:t>
            </a:r>
            <a:r>
              <a:rPr lang="en-US" sz="2800" dirty="0" smtClean="0">
                <a:solidFill>
                  <a:srgbClr val="006600"/>
                </a:solidFill>
              </a:rPr>
              <a:t>, </a:t>
            </a:r>
            <a:r>
              <a:rPr lang="en-US" sz="2800" dirty="0" err="1">
                <a:solidFill>
                  <a:srgbClr val="006600"/>
                </a:solidFill>
              </a:rPr>
              <a:t>entropi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của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sản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phẩm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và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chất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đầu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đều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tăng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nên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>
                <a:solidFill>
                  <a:srgbClr val="006600"/>
                </a:solidFill>
                <a:sym typeface="Symbol" panose="05050102010706020507" pitchFamily="18" charset="2"/>
              </a:rPr>
              <a:t></a:t>
            </a:r>
            <a:r>
              <a:rPr lang="en-US" sz="2800" dirty="0" err="1">
                <a:solidFill>
                  <a:srgbClr val="006600"/>
                </a:solidFill>
              </a:rPr>
              <a:t>S</a:t>
            </a:r>
            <a:r>
              <a:rPr lang="en-US" sz="2800" baseline="-25000" dirty="0" err="1">
                <a:solidFill>
                  <a:srgbClr val="006600"/>
                </a:solidFill>
              </a:rPr>
              <a:t>pư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thay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đổi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theo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nhiệt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độ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không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 err="1">
                <a:solidFill>
                  <a:srgbClr val="006600"/>
                </a:solidFill>
              </a:rPr>
              <a:t>nhiều</a:t>
            </a:r>
            <a:r>
              <a:rPr lang="en-US" sz="2800" dirty="0">
                <a:solidFill>
                  <a:srgbClr val="006600"/>
                </a:solidFill>
              </a:rPr>
              <a:t>.</a:t>
            </a:r>
          </a:p>
          <a:p>
            <a:endParaRPr lang="en-US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148308" y="3573016"/>
            <a:ext cx="8424936" cy="195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rgbClr val="CC00FF"/>
                </a:solidFill>
              </a:rPr>
              <a:t>Trong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khoảng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nhiệt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độ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thay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đổi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không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nhiều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có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thể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xem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>
                <a:solidFill>
                  <a:srgbClr val="CC00FF"/>
                </a:solidFill>
                <a:sym typeface="Symbol" panose="05050102010706020507" pitchFamily="18" charset="2"/>
              </a:rPr>
              <a:t></a:t>
            </a:r>
            <a:r>
              <a:rPr lang="en-US" sz="2800" dirty="0" err="1">
                <a:solidFill>
                  <a:srgbClr val="CC00FF"/>
                </a:solidFill>
              </a:rPr>
              <a:t>S</a:t>
            </a:r>
            <a:r>
              <a:rPr lang="en-US" sz="2800" baseline="-25000" dirty="0" err="1">
                <a:solidFill>
                  <a:srgbClr val="CC00FF"/>
                </a:solidFill>
              </a:rPr>
              <a:t>pư</a:t>
            </a:r>
            <a:r>
              <a:rPr lang="en-US" sz="2800" dirty="0">
                <a:solidFill>
                  <a:srgbClr val="CC00FF"/>
                </a:solidFill>
              </a:rPr>
              <a:t>  </a:t>
            </a:r>
            <a:r>
              <a:rPr lang="en-US" sz="2800" dirty="0" err="1">
                <a:solidFill>
                  <a:srgbClr val="CC00FF"/>
                </a:solidFill>
              </a:rPr>
              <a:t>không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phụ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thuộc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nhiệt</a:t>
            </a:r>
            <a:r>
              <a:rPr lang="en-US" sz="2800" dirty="0">
                <a:solidFill>
                  <a:srgbClr val="CC00FF"/>
                </a:solidFill>
              </a:rPr>
              <a:t> </a:t>
            </a:r>
            <a:r>
              <a:rPr lang="en-US" sz="2800" dirty="0" err="1">
                <a:solidFill>
                  <a:srgbClr val="CC00FF"/>
                </a:solidFill>
              </a:rPr>
              <a:t>độ</a:t>
            </a:r>
            <a:r>
              <a:rPr lang="en-US" sz="2800" dirty="0">
                <a:solidFill>
                  <a:srgbClr val="CC00FF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51404" y="5000650"/>
                <a:ext cx="8136904" cy="1047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CC00FF"/>
                    </a:solidFill>
                  </a:rPr>
                  <a:t>Trong </a:t>
                </a:r>
                <a:r>
                  <a:rPr lang="en-US" sz="2800" dirty="0" err="1">
                    <a:solidFill>
                      <a:srgbClr val="CC00FF"/>
                    </a:solidFill>
                  </a:rPr>
                  <a:t>tính</a:t>
                </a:r>
                <a:r>
                  <a:rPr lang="en-US" sz="2800" dirty="0">
                    <a:solidFill>
                      <a:srgbClr val="CC00FF"/>
                    </a:solidFill>
                  </a:rPr>
                  <a:t> </a:t>
                </a:r>
                <a:r>
                  <a:rPr lang="en-US" sz="2800" dirty="0" err="1" smtClean="0">
                    <a:solidFill>
                      <a:srgbClr val="CC00FF"/>
                    </a:solidFill>
                  </a:rPr>
                  <a:t>toán</a:t>
                </a:r>
                <a:r>
                  <a:rPr lang="en-US" sz="2800" dirty="0" smtClean="0">
                    <a:solidFill>
                      <a:srgbClr val="CC00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CC00FF"/>
                    </a:solidFill>
                  </a:rPr>
                  <a:t>có</a:t>
                </a:r>
                <a:r>
                  <a:rPr lang="en-US" sz="2800" dirty="0">
                    <a:solidFill>
                      <a:srgbClr val="CC00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CC00FF"/>
                    </a:solidFill>
                  </a:rPr>
                  <a:t>thể</a:t>
                </a:r>
                <a:r>
                  <a:rPr lang="en-US" sz="2800" dirty="0">
                    <a:solidFill>
                      <a:srgbClr val="CC00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CC00FF"/>
                    </a:solidFill>
                  </a:rPr>
                  <a:t>xem</a:t>
                </a:r>
                <a:r>
                  <a:rPr lang="en-US" sz="2800" dirty="0">
                    <a:solidFill>
                      <a:srgbClr val="CC00FF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rgbClr val="CC00FF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𝑺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𝟐𝟗𝟖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b="1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 = 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rgbClr val="CC00FF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𝑺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𝑻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𝟎</m:t>
                        </m:r>
                      </m:sup>
                    </m:sSubSup>
                  </m:oMath>
                </a14:m>
                <a:endParaRPr lang="en-US" sz="2800" dirty="0">
                  <a:solidFill>
                    <a:srgbClr val="CC00FF"/>
                  </a:solidFill>
                </a:endParaRPr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04" y="5000650"/>
                <a:ext cx="8136904" cy="1047723"/>
              </a:xfrm>
              <a:prstGeom prst="rect">
                <a:avLst/>
              </a:prstGeom>
              <a:blipFill rotWithShape="1">
                <a:blip r:embed="rId2"/>
                <a:stretch>
                  <a:fillRect l="-1573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76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xmlns="" id="{4081716C-A1CB-4DE7-B487-BB2544430B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333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THẾ ĐẲNG ÁP VÀ CHIỀU DIỄN RA CỦA CÁC QUÁ TRÌNH HOÁ HỌC</a:t>
            </a:r>
          </a:p>
        </p:txBody>
      </p:sp>
      <p:sp>
        <p:nvSpPr>
          <p:cNvPr id="41987" name="Text Box 11">
            <a:extLst>
              <a:ext uri="{FF2B5EF4-FFF2-40B4-BE49-F238E27FC236}">
                <a16:creationId xmlns:a16="http://schemas.microsoft.com/office/drawing/2014/main" xmlns="" id="{0AC5277F-9B02-41B7-BDD8-467389E46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1800225"/>
            <a:ext cx="84963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en-US" b="1" dirty="0">
                <a:latin typeface="Arial" panose="020B0604020202020204" pitchFamily="34" charset="0"/>
              </a:rPr>
              <a:t>Q</a:t>
            </a:r>
            <a:r>
              <a:rPr lang="en-US" altLang="en-US" b="1" dirty="0" err="1">
                <a:latin typeface="Arial" panose="020B0604020202020204" pitchFamily="34" charset="0"/>
              </a:rPr>
              <a:t>uá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trình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đẳng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áp</a:t>
            </a:r>
            <a:r>
              <a:rPr lang="en-US" altLang="en-US" b="1" dirty="0">
                <a:latin typeface="Arial" panose="020B0604020202020204" pitchFamily="34" charset="0"/>
              </a:rPr>
              <a:t>, </a:t>
            </a:r>
            <a:r>
              <a:rPr lang="en-US" altLang="en-US" b="1" dirty="0" err="1">
                <a:latin typeface="Arial" panose="020B0604020202020204" pitchFamily="34" charset="0"/>
              </a:rPr>
              <a:t>đẳng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nhiệt</a:t>
            </a:r>
            <a:r>
              <a:rPr lang="vi-VN" altLang="en-US" b="1" dirty="0">
                <a:latin typeface="Arial" panose="020B0604020202020204" pitchFamily="34" charset="0"/>
              </a:rPr>
              <a:t>:</a:t>
            </a:r>
            <a:endParaRPr lang="en-US" altLang="en-US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</a:rPr>
              <a:t>ENTANPI H  &amp; ENTROPI S 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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chiều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hướng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của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quá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trình</a:t>
            </a: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</a:rPr>
              <a:t>đẳng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</a:rPr>
              <a:t>áp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</a:rPr>
              <a:t>,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</a:rPr>
              <a:t>đẳng</a:t>
            </a:r>
            <a:r>
              <a:rPr lang="en-US" altLang="en-US" b="1" dirty="0">
                <a:solidFill>
                  <a:srgbClr val="CC00FF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CC00FF"/>
                </a:solidFill>
                <a:latin typeface="Arial" panose="020B0604020202020204" pitchFamily="34" charset="0"/>
              </a:rPr>
              <a:t>nhiệt</a:t>
            </a:r>
            <a:r>
              <a:rPr lang="vi-VN" altLang="en-US" b="1" dirty="0">
                <a:solidFill>
                  <a:srgbClr val="CC00FF"/>
                </a:solidFill>
                <a:latin typeface="Arial" panose="020B0604020202020204" pitchFamily="34" charset="0"/>
              </a:rPr>
              <a:t>.</a:t>
            </a:r>
            <a:endParaRPr lang="en-US" altLang="en-US" b="1" dirty="0">
              <a:solidFill>
                <a:srgbClr val="CC00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1988" name="Text Box 12">
            <a:extLst>
              <a:ext uri="{FF2B5EF4-FFF2-40B4-BE49-F238E27FC236}">
                <a16:creationId xmlns:a16="http://schemas.microsoft.com/office/drawing/2014/main" xmlns="" id="{416050BD-B689-4DCD-A0FB-A2E9802B8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3941763"/>
            <a:ext cx="900112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G(H,S)</a:t>
            </a:r>
            <a:r>
              <a:rPr lang="vi-VN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: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008000"/>
                </a:solidFill>
                <a:latin typeface="Arial" panose="020B0604020202020204" pitchFamily="34" charset="0"/>
              </a:rPr>
              <a:t>thế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008000"/>
                </a:solidFill>
                <a:latin typeface="Arial" panose="020B0604020202020204" pitchFamily="34" charset="0"/>
              </a:rPr>
              <a:t>đẳng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008000"/>
                </a:solidFill>
                <a:latin typeface="Arial" panose="020B0604020202020204" pitchFamily="34" charset="0"/>
              </a:rPr>
              <a:t>nhiệt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008000"/>
                </a:solidFill>
                <a:latin typeface="Arial" panose="020B0604020202020204" pitchFamily="34" charset="0"/>
              </a:rPr>
              <a:t>đẳng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008000"/>
                </a:solidFill>
                <a:latin typeface="Arial" panose="020B0604020202020204" pitchFamily="34" charset="0"/>
              </a:rPr>
              <a:t>áp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 (</a:t>
            </a:r>
            <a:r>
              <a:rPr lang="en-US" altLang="en-US" b="1" dirty="0" err="1">
                <a:solidFill>
                  <a:srgbClr val="008000"/>
                </a:solidFill>
                <a:latin typeface="Arial" panose="020B0604020202020204" pitchFamily="34" charset="0"/>
              </a:rPr>
              <a:t>thế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008000"/>
                </a:solidFill>
                <a:latin typeface="Arial" panose="020B0604020202020204" pitchFamily="34" charset="0"/>
              </a:rPr>
              <a:t>đẳng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008000"/>
                </a:solidFill>
                <a:latin typeface="Arial" panose="020B0604020202020204" pitchFamily="34" charset="0"/>
              </a:rPr>
              <a:t>áp</a:t>
            </a:r>
            <a:r>
              <a:rPr lang="en-US" altLang="en-US" b="1" dirty="0" smtClean="0">
                <a:solidFill>
                  <a:srgbClr val="008000"/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smtClean="0">
                <a:solidFill>
                  <a:srgbClr val="008000"/>
                </a:solidFill>
                <a:latin typeface="Arial" panose="020B0604020202020204" pitchFamily="34" charset="0"/>
              </a:rPr>
              <a:t> hay </a:t>
            </a:r>
            <a:r>
              <a:rPr lang="en-US" altLang="en-US" b="1" dirty="0" err="1" smtClean="0">
                <a:solidFill>
                  <a:srgbClr val="008000"/>
                </a:solidFill>
                <a:latin typeface="Arial" panose="020B0604020202020204" pitchFamily="34" charset="0"/>
              </a:rPr>
              <a:t>entanpi</a:t>
            </a:r>
            <a:r>
              <a:rPr lang="en-US" altLang="en-US" b="1" dirty="0" smtClean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err="1" smtClean="0">
                <a:solidFill>
                  <a:srgbClr val="008000"/>
                </a:solidFill>
                <a:latin typeface="Arial" panose="020B0604020202020204" pitchFamily="34" charset="0"/>
              </a:rPr>
              <a:t>tự</a:t>
            </a:r>
            <a:r>
              <a:rPr lang="en-US" altLang="en-US" b="1" dirty="0" smtClean="0">
                <a:solidFill>
                  <a:srgbClr val="008000"/>
                </a:solidFill>
                <a:latin typeface="Arial" panose="020B0604020202020204" pitchFamily="34" charset="0"/>
              </a:rPr>
              <a:t> do. </a:t>
            </a:r>
            <a:endParaRPr lang="en-US" altLang="en-US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    </a:t>
            </a:r>
            <a:r>
              <a:rPr lang="vi-VN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         </a:t>
            </a:r>
            <a:endParaRPr lang="en-US" altLang="en-US" b="1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xmlns="" id="{63F9A839-D042-4D56-958D-97B37990151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xfrm>
            <a:off x="394141" y="4328779"/>
            <a:ext cx="7772400" cy="1143000"/>
          </a:xfrm>
          <a:blipFill>
            <a:blip r:embed="rId2"/>
            <a:stretch>
              <a:fillRect l="-1333" b="-14894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xmlns="" id="{48EF3C30-A019-4DDE-9F06-B7A613344C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98987" y="1001077"/>
            <a:ext cx="5545013" cy="7921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∆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b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cô</a:t>
            </a:r>
            <a:r>
              <a:rPr lang="en-US" altLang="en-US" b="1" baseline="-250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vi-VN" altLang="en-US" b="1" baseline="-250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r>
              <a:rPr lang="en-US" altLang="en-US" b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ập</a:t>
            </a:r>
            <a:r>
              <a:rPr lang="en-US" altLang="en-US" b="1" baseline="-250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= ∆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b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mtr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 + ∆</a:t>
            </a:r>
            <a:r>
              <a:rPr lang="en-US" altLang="en-US" b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b="1" baseline="-25000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pư</a:t>
            </a:r>
            <a:r>
              <a:rPr lang="en-US" altLang="en-US" b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≥0</a:t>
            </a:r>
            <a:endParaRPr lang="vi-VN" altLang="en-US" b="1" dirty="0">
              <a:solidFill>
                <a:srgbClr val="0000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en-US" b="1" dirty="0" smtClean="0">
                <a:solidFill>
                  <a:srgbClr val="CC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∆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baseline="-25000" dirty="0" err="1">
                <a:solidFill>
                  <a:srgbClr val="CC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cô</a:t>
            </a:r>
            <a:r>
              <a:rPr lang="en-US" altLang="en-US" baseline="-25000" dirty="0">
                <a:solidFill>
                  <a:srgbClr val="CC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vi-VN" altLang="en-US" baseline="-25000" dirty="0">
                <a:solidFill>
                  <a:srgbClr val="CC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r>
              <a:rPr lang="en-US" altLang="en-US" baseline="-25000" dirty="0" err="1" smtClean="0">
                <a:solidFill>
                  <a:srgbClr val="CC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ập</a:t>
            </a:r>
            <a:r>
              <a:rPr lang="vi-VN" altLang="en-US" dirty="0" smtClean="0">
                <a:solidFill>
                  <a:srgbClr val="CC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&gt; 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0 : qt tự phát (BTN)</a:t>
            </a:r>
          </a:p>
          <a:p>
            <a:pPr>
              <a:buFontTx/>
              <a:buNone/>
            </a:pPr>
            <a:r>
              <a:rPr lang="en-US" altLang="en-US" dirty="0" smtClean="0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∆</a:t>
            </a:r>
            <a:r>
              <a:rPr lang="en-US" altLang="en-US" dirty="0" err="1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baseline="-25000" dirty="0" err="1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cô</a:t>
            </a:r>
            <a:r>
              <a:rPr lang="en-US" altLang="en-US" baseline="-25000" dirty="0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vi-VN" altLang="en-US" baseline="-25000" dirty="0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r>
              <a:rPr lang="en-US" altLang="en-US" baseline="-25000" dirty="0" err="1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ập</a:t>
            </a:r>
            <a:r>
              <a:rPr lang="en-US" altLang="en-US" dirty="0" smtClean="0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vi-VN" altLang="en-US" dirty="0" smtClean="0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= </a:t>
            </a:r>
            <a:r>
              <a:rPr lang="vi-VN" altLang="en-US" dirty="0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0 : cân bằng (TN)</a:t>
            </a:r>
            <a:endParaRPr lang="en-US" altLang="en-US" dirty="0">
              <a:solidFill>
                <a:srgbClr val="C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xmlns="" id="{42E36732-0368-4FCA-94A2-5C1DB4297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549275"/>
            <a:ext cx="3455987" cy="29511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4037" name="Text Box 5">
            <a:extLst>
              <a:ext uri="{FF2B5EF4-FFF2-40B4-BE49-F238E27FC236}">
                <a16:creationId xmlns:a16="http://schemas.microsoft.com/office/drawing/2014/main" xmlns="" id="{36D2F008-91DD-4DDD-9789-1ABDAE0C0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647700"/>
            <a:ext cx="3025775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MÔI TRƯỜNG</a:t>
            </a:r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xmlns="" id="{F084A44F-1411-44AA-AF1B-BAEE06946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844675"/>
            <a:ext cx="3455987" cy="165576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PHẢN ỨNG</a:t>
            </a:r>
            <a:r>
              <a:rPr lang="vi-V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HÓA HỌC</a:t>
            </a:r>
            <a:endParaRPr lang="en-US" altLang="en-US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(</a:t>
            </a:r>
            <a:r>
              <a:rPr lang="vi-VN" altLang="en-US" sz="2400" b="1" dirty="0">
                <a:latin typeface="Arial" panose="020B0604020202020204" pitchFamily="34" charset="0"/>
              </a:rPr>
              <a:t>đ</a:t>
            </a:r>
            <a:r>
              <a:rPr lang="en-US" altLang="en-US" sz="2400" b="1" dirty="0" err="1">
                <a:latin typeface="Arial" panose="020B0604020202020204" pitchFamily="34" charset="0"/>
              </a:rPr>
              <a:t>ẳng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nhiệt</a:t>
            </a:r>
            <a:r>
              <a:rPr lang="en-US" altLang="en-US" sz="2400" b="1" dirty="0">
                <a:latin typeface="Arial" panose="020B0604020202020204" pitchFamily="34" charset="0"/>
              </a:rPr>
              <a:t>, </a:t>
            </a:r>
            <a:r>
              <a:rPr lang="en-US" altLang="en-US" sz="2400" b="1" dirty="0" err="1">
                <a:latin typeface="Arial" panose="020B0604020202020204" pitchFamily="34" charset="0"/>
              </a:rPr>
              <a:t>đẳng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áp</a:t>
            </a:r>
            <a:r>
              <a:rPr lang="en-US" altLang="en-US" sz="2400" b="1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44039" name="Line 7">
            <a:extLst>
              <a:ext uri="{FF2B5EF4-FFF2-40B4-BE49-F238E27FC236}">
                <a16:creationId xmlns:a16="http://schemas.microsoft.com/office/drawing/2014/main" xmlns="" id="{0E1F61F2-CDB8-45DD-8217-51BDA6B9FB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28738" y="1546225"/>
            <a:ext cx="0" cy="431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0" name="Text Box 8">
            <a:extLst>
              <a:ext uri="{FF2B5EF4-FFF2-40B4-BE49-F238E27FC236}">
                <a16:creationId xmlns:a16="http://schemas.microsoft.com/office/drawing/2014/main" xmlns="" id="{CEFF3F0E-882B-4029-888A-C53D092E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046" y="1963738"/>
            <a:ext cx="117316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latin typeface="Arial" panose="020B0604020202020204" pitchFamily="34" charset="0"/>
              </a:rPr>
              <a:t>Q</a:t>
            </a:r>
            <a:r>
              <a:rPr lang="en-US" altLang="en-US" sz="2800" b="1" baseline="-25000" dirty="0" err="1">
                <a:latin typeface="Arial" panose="020B0604020202020204" pitchFamily="34" charset="0"/>
              </a:rPr>
              <a:t>pư</a:t>
            </a:r>
            <a:endParaRPr lang="en-US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44041" name="Text Box 9">
            <a:extLst>
              <a:ext uri="{FF2B5EF4-FFF2-40B4-BE49-F238E27FC236}">
                <a16:creationId xmlns:a16="http://schemas.microsoft.com/office/drawing/2014/main" xmlns="" id="{A7F3621A-C0A6-435D-AE34-42FA6D6DB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046" y="1127125"/>
            <a:ext cx="22320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1" dirty="0">
                <a:latin typeface="Arial" panose="020B0604020202020204" pitchFamily="34" charset="0"/>
              </a:rPr>
              <a:t>Q</a:t>
            </a:r>
            <a:r>
              <a:rPr lang="vi-VN" altLang="en-US" sz="2800" b="1" baseline="-25000" dirty="0">
                <a:latin typeface="Arial" panose="020B0604020202020204" pitchFamily="34" charset="0"/>
              </a:rPr>
              <a:t>mtr</a:t>
            </a:r>
            <a:r>
              <a:rPr lang="vi-VN" altLang="en-US" sz="2800" b="1" dirty="0">
                <a:latin typeface="Arial" panose="020B0604020202020204" pitchFamily="34" charset="0"/>
              </a:rPr>
              <a:t> = - Q</a:t>
            </a:r>
            <a:r>
              <a:rPr lang="vi-VN" altLang="en-US" sz="2800" b="1" baseline="-25000" dirty="0">
                <a:latin typeface="Arial" panose="020B0604020202020204" pitchFamily="34" charset="0"/>
              </a:rPr>
              <a:t>pư</a:t>
            </a:r>
            <a:endParaRPr lang="en-US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44042" name="Text Box 10">
            <a:extLst>
              <a:ext uri="{FF2B5EF4-FFF2-40B4-BE49-F238E27FC236}">
                <a16:creationId xmlns:a16="http://schemas.microsoft.com/office/drawing/2014/main" xmlns="" id="{06B5E2D8-E463-45C4-BF26-9DE50EE34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191" y="579721"/>
            <a:ext cx="51133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H</a:t>
            </a:r>
            <a:r>
              <a:rPr lang="vi-V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Ệ CÔ LẬP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= </a:t>
            </a:r>
            <a:r>
              <a:rPr lang="vi-V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MÔI TRƯỜNG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+</a:t>
            </a:r>
            <a:r>
              <a:rPr lang="vi-V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PƯ </a:t>
            </a:r>
            <a:endParaRPr lang="en-US" altLang="en-U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400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               </a:t>
            </a:r>
            <a:endParaRPr lang="en-US" altLang="en-US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4043" name="Text Box 11">
            <a:extLst>
              <a:ext uri="{FF2B5EF4-FFF2-40B4-BE49-F238E27FC236}">
                <a16:creationId xmlns:a16="http://schemas.microsoft.com/office/drawing/2014/main" xmlns="" id="{A9645D16-D5AD-4C0E-BC2E-2DCCDFECC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756025"/>
            <a:ext cx="8642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 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</a:rPr>
              <a:t>Q</a:t>
            </a:r>
            <a:r>
              <a:rPr lang="en-US" altLang="en-US" baseline="-25000" dirty="0" err="1">
                <a:solidFill>
                  <a:srgbClr val="008000"/>
                </a:solidFill>
                <a:latin typeface="Arial" panose="020B0604020202020204" pitchFamily="34" charset="0"/>
              </a:rPr>
              <a:t>pư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</a:rPr>
              <a:t> = ∆U + P. ∆V + A’ = ∆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</a:rPr>
              <a:t>H</a:t>
            </a:r>
            <a:r>
              <a:rPr lang="en-US" altLang="en-US" baseline="-25000" dirty="0" err="1">
                <a:solidFill>
                  <a:srgbClr val="008000"/>
                </a:solidFill>
                <a:latin typeface="Arial" panose="020B0604020202020204" pitchFamily="34" charset="0"/>
              </a:rPr>
              <a:t>pư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</a:rPr>
              <a:t> + A’ </a:t>
            </a:r>
            <a:r>
              <a:rPr lang="vi-VN" altLang="en-US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vi-VN" altLang="en-US" dirty="0">
                <a:solidFill>
                  <a:srgbClr val="008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(A’ ≥ 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03F4356-DFF4-4152-AAEE-4FA67CF8ECF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86565" y="5471779"/>
            <a:ext cx="7056784" cy="1294329"/>
          </a:xfrm>
          <a:prstGeom prst="rect">
            <a:avLst/>
          </a:prstGeom>
          <a:blipFill>
            <a:blip r:embed="rId3"/>
            <a:stretch>
              <a:fillRect l="-224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xmlns="" id="{20E31FF0-CCFC-4DE3-841F-6B6C95E09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5248" y="2780928"/>
            <a:ext cx="4814281" cy="883280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3200" dirty="0" smtClean="0">
                <a:solidFill>
                  <a:srgbClr val="0000FF"/>
                </a:solidFill>
                <a:latin typeface="Arial" panose="020B0604020202020204" pitchFamily="34" charset="0"/>
                <a:sym typeface="Symbol"/>
              </a:rPr>
              <a:t></a:t>
            </a:r>
            <a:r>
              <a:rPr lang="vi-V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sym typeface="Symbol"/>
              </a:rPr>
              <a:t> </a:t>
            </a:r>
            <a:r>
              <a:rPr lang="en-US" altLang="en-US" sz="3200" dirty="0" smtClean="0">
                <a:solidFill>
                  <a:srgbClr val="0000FF"/>
                </a:solidFill>
                <a:latin typeface="Arial" panose="020B0604020202020204" pitchFamily="34" charset="0"/>
              </a:rPr>
              <a:t>∆</a:t>
            </a:r>
            <a:r>
              <a:rPr lang="en-US" altLang="en-US" sz="3200" dirty="0" err="1" smtClean="0">
                <a:solidFill>
                  <a:srgbClr val="0000FF"/>
                </a:solidFill>
                <a:latin typeface="Arial" panose="020B0604020202020204" pitchFamily="34" charset="0"/>
              </a:rPr>
              <a:t>H</a:t>
            </a:r>
            <a:r>
              <a:rPr lang="en-US" altLang="en-US" sz="3200" baseline="-25000" dirty="0" err="1" smtClean="0">
                <a:solidFill>
                  <a:srgbClr val="0000FF"/>
                </a:solidFill>
                <a:latin typeface="Arial" panose="020B0604020202020204" pitchFamily="34" charset="0"/>
              </a:rPr>
              <a:t>pư</a:t>
            </a:r>
            <a:r>
              <a:rPr lang="en-US" altLang="en-US" sz="3200" dirty="0" smtClean="0">
                <a:solidFill>
                  <a:srgbClr val="0000FF"/>
                </a:solidFill>
                <a:latin typeface="Arial" panose="020B0604020202020204" pitchFamily="34" charset="0"/>
              </a:rPr>
              <a:t> –T. </a:t>
            </a:r>
            <a:r>
              <a:rPr lang="en-US" altLang="en-US" sz="3200" dirty="0" smtClean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∆</a:t>
            </a:r>
            <a:r>
              <a:rPr lang="en-US" altLang="en-US" sz="3200" dirty="0" err="1" smtClean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sz="3200" baseline="-25000" dirty="0" err="1" smtClean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pư</a:t>
            </a:r>
            <a:r>
              <a:rPr lang="en-US" altLang="en-US" sz="3200" dirty="0" smtClean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≤ - A’</a:t>
            </a:r>
            <a:endParaRPr lang="en-US" altLang="en-US" sz="2400" dirty="0">
              <a:solidFill>
                <a:srgbClr val="0000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3" grpId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xmlns="" id="{20E31FF0-CCFC-4DE3-841F-6B6C95E09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47625" y="-131763"/>
            <a:ext cx="3892550" cy="1296988"/>
          </a:xfrm>
        </p:spPr>
        <p:txBody>
          <a:bodyPr/>
          <a:lstStyle/>
          <a:p>
            <a:r>
              <a:rPr lang="en-US" altLang="en-US" sz="3200" dirty="0">
                <a:solidFill>
                  <a:srgbClr val="008000"/>
                </a:solidFill>
                <a:latin typeface="Arial" panose="020B0604020202020204" pitchFamily="34" charset="0"/>
              </a:rPr>
              <a:t>∆</a:t>
            </a:r>
            <a:r>
              <a:rPr lang="en-US" altLang="en-US" sz="3200" dirty="0" err="1">
                <a:solidFill>
                  <a:srgbClr val="008000"/>
                </a:solidFill>
                <a:latin typeface="Arial" panose="020B0604020202020204" pitchFamily="34" charset="0"/>
              </a:rPr>
              <a:t>H</a:t>
            </a:r>
            <a:r>
              <a:rPr lang="en-US" altLang="en-US" sz="3200" baseline="-25000" dirty="0" err="1">
                <a:solidFill>
                  <a:srgbClr val="008000"/>
                </a:solidFill>
                <a:latin typeface="Arial" panose="020B0604020202020204" pitchFamily="34" charset="0"/>
              </a:rPr>
              <a:t>pư</a:t>
            </a:r>
            <a:r>
              <a:rPr lang="en-US" altLang="en-US" sz="3200" dirty="0">
                <a:solidFill>
                  <a:srgbClr val="008000"/>
                </a:solidFill>
                <a:latin typeface="Arial" panose="020B0604020202020204" pitchFamily="34" charset="0"/>
              </a:rPr>
              <a:t> –T. </a:t>
            </a:r>
            <a:r>
              <a:rPr lang="en-US" altLang="en-US" sz="3200" dirty="0">
                <a:solidFill>
                  <a:srgbClr val="008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∆</a:t>
            </a:r>
            <a:r>
              <a:rPr lang="en-US" altLang="en-US" sz="3200" dirty="0" err="1">
                <a:solidFill>
                  <a:srgbClr val="008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altLang="en-US" sz="3200" baseline="-25000" dirty="0" err="1">
                <a:solidFill>
                  <a:srgbClr val="008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pư</a:t>
            </a:r>
            <a:r>
              <a:rPr lang="en-US" altLang="en-US" sz="3200" dirty="0">
                <a:solidFill>
                  <a:srgbClr val="008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≤ - A’</a:t>
            </a:r>
            <a:endParaRPr lang="en-US" altLang="en-US" sz="2400" dirty="0">
              <a:solidFill>
                <a:srgbClr val="008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xmlns="" id="{BB7D5C5B-746C-4D5C-9152-7E06ADD1C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463" y="1006475"/>
            <a:ext cx="3313112" cy="6667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 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</a:rPr>
              <a:t>Đặt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</a:rPr>
              <a:t> G = H –TS  </a:t>
            </a:r>
          </a:p>
        </p:txBody>
      </p:sp>
      <p:sp>
        <p:nvSpPr>
          <p:cNvPr id="45061" name="Text Box 7">
            <a:extLst>
              <a:ext uri="{FF2B5EF4-FFF2-40B4-BE49-F238E27FC236}">
                <a16:creationId xmlns:a16="http://schemas.microsoft.com/office/drawing/2014/main" xmlns="" id="{2D4138E7-24B5-49E1-AB48-CAC7949E4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373688"/>
            <a:ext cx="6911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5062" name="Text Box 13">
            <a:extLst>
              <a:ext uri="{FF2B5EF4-FFF2-40B4-BE49-F238E27FC236}">
                <a16:creationId xmlns:a16="http://schemas.microsoft.com/office/drawing/2014/main" xmlns="" id="{40D1766F-B5D7-4BF7-A84B-F74C9016F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4868863"/>
            <a:ext cx="8855075" cy="1554162"/>
          </a:xfrm>
          <a:prstGeom prst="rect">
            <a:avLst/>
          </a:prstGeom>
          <a:noFill/>
          <a:ln w="317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P</a:t>
            </a:r>
            <a:r>
              <a:rPr lang="vi-VN" altLang="en-US" b="1" dirty="0">
                <a:solidFill>
                  <a:srgbClr val="008000"/>
                </a:solidFill>
                <a:latin typeface="Arial" panose="020B0604020202020204" pitchFamily="34" charset="0"/>
              </a:rPr>
              <a:t>HƯƠNG TRÌNH CƠ BẢN NHIỆT ĐỘNG HỌC</a:t>
            </a:r>
            <a:endParaRPr lang="en-US" altLang="en-US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         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vi-VN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=  H</a:t>
            </a:r>
            <a:r>
              <a:rPr lang="vi-VN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– T.S</a:t>
            </a:r>
            <a:r>
              <a:rPr lang="vi-VN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45063" name="TextBox 1">
            <a:extLst>
              <a:ext uri="{FF2B5EF4-FFF2-40B4-BE49-F238E27FC236}">
                <a16:creationId xmlns:a16="http://schemas.microsoft.com/office/drawing/2014/main" xmlns="" id="{824EE903-5A34-4B33-A40B-9F4C63F1F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8" y="212725"/>
            <a:ext cx="518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</a:rPr>
              <a:t>H</a:t>
            </a:r>
            <a:r>
              <a:rPr lang="vi-VN" altLang="en-US" baseline="-25000" dirty="0">
                <a:solidFill>
                  <a:srgbClr val="CC00FF"/>
                </a:solidFill>
                <a:latin typeface="Arial" panose="020B0604020202020204" pitchFamily="34" charset="0"/>
              </a:rPr>
              <a:t>c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</a:rPr>
              <a:t> –H</a:t>
            </a:r>
            <a:r>
              <a:rPr lang="vi-VN" altLang="en-US" baseline="-25000" dirty="0">
                <a:solidFill>
                  <a:srgbClr val="CC00FF"/>
                </a:solidFill>
                <a:latin typeface="Arial" panose="020B0604020202020204" pitchFamily="34" charset="0"/>
              </a:rPr>
              <a:t>đ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</a:rPr>
              <a:t> – T.(S</a:t>
            </a:r>
            <a:r>
              <a:rPr lang="vi-VN" altLang="en-US" baseline="-25000" dirty="0">
                <a:solidFill>
                  <a:srgbClr val="CC00FF"/>
                </a:solidFill>
                <a:latin typeface="Arial" panose="020B0604020202020204" pitchFamily="34" charset="0"/>
              </a:rPr>
              <a:t>c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</a:rPr>
              <a:t> –S</a:t>
            </a:r>
            <a:r>
              <a:rPr lang="vi-VN" altLang="en-US" baseline="-25000" dirty="0">
                <a:solidFill>
                  <a:srgbClr val="CC00FF"/>
                </a:solidFill>
                <a:latin typeface="Arial" panose="020B0604020202020204" pitchFamily="34" charset="0"/>
              </a:rPr>
              <a:t>đ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</a:rPr>
              <a:t>) 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≤ - A’</a:t>
            </a:r>
            <a:endParaRPr lang="en-US" altLang="en-US" dirty="0">
              <a:solidFill>
                <a:srgbClr val="CC00FF"/>
              </a:solidFill>
              <a:latin typeface="Arial" panose="020B0604020202020204" pitchFamily="34" charset="0"/>
            </a:endParaRPr>
          </a:p>
        </p:txBody>
      </p:sp>
      <p:sp>
        <p:nvSpPr>
          <p:cNvPr id="45064" name="TextBox 2">
            <a:extLst>
              <a:ext uri="{FF2B5EF4-FFF2-40B4-BE49-F238E27FC236}">
                <a16:creationId xmlns:a16="http://schemas.microsoft.com/office/drawing/2014/main" xmlns="" id="{1AE0F3ED-BF9C-4064-9FC4-076615B81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0" y="911225"/>
            <a:ext cx="5759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en-US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vi-VN" altLang="en-US" dirty="0">
                <a:latin typeface="Arial" panose="020B0604020202020204" pitchFamily="34" charset="0"/>
              </a:rPr>
              <a:t>(H</a:t>
            </a:r>
            <a:r>
              <a:rPr lang="vi-VN" altLang="en-US" baseline="-25000" dirty="0">
                <a:latin typeface="Arial" panose="020B0604020202020204" pitchFamily="34" charset="0"/>
              </a:rPr>
              <a:t>c</a:t>
            </a:r>
            <a:r>
              <a:rPr lang="vi-VN" altLang="en-US" dirty="0">
                <a:latin typeface="Arial" panose="020B0604020202020204" pitchFamily="34" charset="0"/>
              </a:rPr>
              <a:t>–T.S</a:t>
            </a:r>
            <a:r>
              <a:rPr lang="vi-VN" altLang="en-US" baseline="-25000" dirty="0">
                <a:latin typeface="Arial" panose="020B0604020202020204" pitchFamily="34" charset="0"/>
              </a:rPr>
              <a:t>c</a:t>
            </a:r>
            <a:r>
              <a:rPr lang="vi-VN" altLang="en-US" dirty="0">
                <a:latin typeface="Arial" panose="020B0604020202020204" pitchFamily="34" charset="0"/>
              </a:rPr>
              <a:t>) – (H</a:t>
            </a:r>
            <a:r>
              <a:rPr lang="vi-VN" altLang="en-US" baseline="-25000" dirty="0">
                <a:latin typeface="Arial" panose="020B0604020202020204" pitchFamily="34" charset="0"/>
              </a:rPr>
              <a:t>đ </a:t>
            </a:r>
            <a:r>
              <a:rPr lang="vi-VN" altLang="en-US" dirty="0">
                <a:latin typeface="Arial" panose="020B0604020202020204" pitchFamily="34" charset="0"/>
              </a:rPr>
              <a:t>-T.S</a:t>
            </a:r>
            <a:r>
              <a:rPr lang="vi-VN" altLang="en-US" baseline="-25000" dirty="0">
                <a:latin typeface="Arial" panose="020B0604020202020204" pitchFamily="34" charset="0"/>
              </a:rPr>
              <a:t>đ</a:t>
            </a:r>
            <a:r>
              <a:rPr lang="vi-VN" altLang="en-US" dirty="0">
                <a:latin typeface="Arial" panose="020B0604020202020204" pitchFamily="34" charset="0"/>
              </a:rPr>
              <a:t>) </a:t>
            </a:r>
            <a:r>
              <a:rPr lang="en-US" altLang="en-US" dirty="0">
                <a:latin typeface="Arial" panose="020B0604020202020204" pitchFamily="34" charset="0"/>
                <a:cs typeface="Times New Roman" panose="02020603050405020304" pitchFamily="18" charset="0"/>
              </a:rPr>
              <a:t>≤ - A’</a:t>
            </a:r>
            <a:r>
              <a:rPr lang="vi-VN" altLang="en-US" dirty="0">
                <a:latin typeface="Arial" panose="020B0604020202020204" pitchFamily="34" charset="0"/>
              </a:rPr>
              <a:t> 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57C88B3-3A64-45B0-ABBB-528550777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556792"/>
            <a:ext cx="475257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 dirty="0">
                <a:solidFill>
                  <a:srgbClr val="FF3300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3600" b="1" dirty="0">
                <a:solidFill>
                  <a:srgbClr val="FF3300"/>
                </a:solidFill>
              </a:rPr>
              <a:t>∆</a:t>
            </a:r>
            <a:r>
              <a:rPr lang="en-US" altLang="en-US" sz="3600" b="1" dirty="0" err="1">
                <a:solidFill>
                  <a:srgbClr val="FF3300"/>
                </a:solidFill>
              </a:rPr>
              <a:t>G</a:t>
            </a:r>
            <a:r>
              <a:rPr lang="en-US" altLang="en-US" sz="3600" b="1" baseline="-25000" dirty="0" err="1">
                <a:solidFill>
                  <a:srgbClr val="FF3300"/>
                </a:solidFill>
              </a:rPr>
              <a:t>pư</a:t>
            </a:r>
            <a:r>
              <a:rPr lang="en-US" altLang="en-US" sz="3600" b="1" dirty="0">
                <a:solidFill>
                  <a:srgbClr val="FF3300"/>
                </a:solidFill>
              </a:rPr>
              <a:t> ≤ </a:t>
            </a:r>
            <a:r>
              <a:rPr lang="vi-VN" altLang="en-US" sz="3600" b="1" dirty="0" smtClean="0">
                <a:solidFill>
                  <a:srgbClr val="FF3300"/>
                </a:solidFill>
              </a:rPr>
              <a:t>- A’ ( A’ ≥ 0)</a:t>
            </a:r>
            <a:endParaRPr lang="en-US" altLang="en-US" sz="3600" b="1" dirty="0">
              <a:solidFill>
                <a:srgbClr val="FF3300"/>
              </a:solidFill>
            </a:endParaRPr>
          </a:p>
          <a:p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B8A0DAB-92C5-464D-AAAB-6B5166415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1397000"/>
            <a:ext cx="37623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 err="1">
                <a:solidFill>
                  <a:srgbClr val="008000"/>
                </a:solidFill>
              </a:rPr>
              <a:t>Ái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lực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hóa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học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không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phải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đo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bằng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nhiệt</a:t>
            </a:r>
            <a:r>
              <a:rPr lang="en-US" altLang="en-US" dirty="0">
                <a:solidFill>
                  <a:srgbClr val="008000"/>
                </a:solidFill>
              </a:rPr>
              <a:t> p</a:t>
            </a:r>
            <a:r>
              <a:rPr lang="vi-VN" altLang="en-US" dirty="0">
                <a:solidFill>
                  <a:srgbClr val="008000"/>
                </a:solidFill>
              </a:rPr>
              <a:t>ư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mà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đo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bằng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công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có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ích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cực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đại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mà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hệ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có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thể</a:t>
            </a:r>
            <a:r>
              <a:rPr lang="en-US" altLang="en-US" dirty="0">
                <a:solidFill>
                  <a:srgbClr val="008000"/>
                </a:solidFill>
              </a:rPr>
              <a:t> </a:t>
            </a:r>
            <a:r>
              <a:rPr lang="en-US" altLang="en-US" dirty="0" err="1">
                <a:solidFill>
                  <a:srgbClr val="008000"/>
                </a:solidFill>
              </a:rPr>
              <a:t>sinh</a:t>
            </a:r>
            <a:r>
              <a:rPr lang="en-US" altLang="en-US" dirty="0">
                <a:solidFill>
                  <a:srgbClr val="008000"/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698" y="2420888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smtClean="0">
                <a:solidFill>
                  <a:srgbClr val="C00000"/>
                </a:solidFill>
              </a:rPr>
              <a:t>Quá trình thuận nghịch: </a:t>
            </a:r>
            <a:r>
              <a:rPr lang="en-US" altLang="en-US" b="1" dirty="0">
                <a:solidFill>
                  <a:srgbClr val="C00000"/>
                </a:solidFill>
              </a:rPr>
              <a:t>∆</a:t>
            </a:r>
            <a:r>
              <a:rPr lang="en-US" altLang="en-US" b="1" dirty="0" err="1">
                <a:solidFill>
                  <a:srgbClr val="C00000"/>
                </a:solidFill>
              </a:rPr>
              <a:t>G</a:t>
            </a:r>
            <a:r>
              <a:rPr lang="en-US" altLang="en-US" b="1" baseline="-25000" dirty="0" err="1">
                <a:solidFill>
                  <a:srgbClr val="C00000"/>
                </a:solidFill>
              </a:rPr>
              <a:t>pư</a:t>
            </a:r>
            <a:r>
              <a:rPr lang="en-US" altLang="en-US" b="1" dirty="0">
                <a:solidFill>
                  <a:srgbClr val="C00000"/>
                </a:solidFill>
              </a:rPr>
              <a:t> </a:t>
            </a:r>
            <a:r>
              <a:rPr lang="vi-VN" altLang="en-US" b="1" dirty="0" smtClean="0">
                <a:solidFill>
                  <a:srgbClr val="C00000"/>
                </a:solidFill>
              </a:rPr>
              <a:t>= -A’</a:t>
            </a:r>
            <a:r>
              <a:rPr lang="vi-VN" altLang="en-US" b="1" baseline="-25000" dirty="0" smtClean="0">
                <a:solidFill>
                  <a:srgbClr val="C00000"/>
                </a:solidFill>
              </a:rPr>
              <a:t>max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463" y="3140968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rgbClr val="0000FF"/>
                </a:solidFill>
              </a:rPr>
              <a:t>Q</a:t>
            </a:r>
            <a:r>
              <a:rPr lang="vi-VN" dirty="0" smtClean="0">
                <a:solidFill>
                  <a:srgbClr val="0000FF"/>
                </a:solidFill>
              </a:rPr>
              <a:t>uá </a:t>
            </a:r>
            <a:r>
              <a:rPr lang="vi-VN" dirty="0">
                <a:solidFill>
                  <a:srgbClr val="0000FF"/>
                </a:solidFill>
              </a:rPr>
              <a:t>trình </a:t>
            </a:r>
            <a:r>
              <a:rPr lang="vi-VN" dirty="0" smtClean="0">
                <a:solidFill>
                  <a:srgbClr val="0000FF"/>
                </a:solidFill>
              </a:rPr>
              <a:t>bất </a:t>
            </a:r>
            <a:r>
              <a:rPr lang="vi-VN" dirty="0">
                <a:solidFill>
                  <a:srgbClr val="0000FF"/>
                </a:solidFill>
              </a:rPr>
              <a:t>thuận nghịch thì thế đẳng áp của hệ giảm: </a:t>
            </a:r>
            <a:r>
              <a:rPr lang="en-US" dirty="0">
                <a:solidFill>
                  <a:srgbClr val="0000FF"/>
                </a:solidFill>
              </a:rPr>
              <a:t>∆</a:t>
            </a:r>
            <a:r>
              <a:rPr lang="en-US" dirty="0" err="1">
                <a:solidFill>
                  <a:srgbClr val="0000FF"/>
                </a:solidFill>
              </a:rPr>
              <a:t>G</a:t>
            </a:r>
            <a:r>
              <a:rPr lang="en-US" baseline="-25000" dirty="0" err="1">
                <a:solidFill>
                  <a:srgbClr val="0000FF"/>
                </a:solidFill>
              </a:rPr>
              <a:t>pư</a:t>
            </a:r>
            <a:r>
              <a:rPr lang="en-US" baseline="-25000" dirty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&lt; </a:t>
            </a:r>
            <a:r>
              <a:rPr lang="en-US" dirty="0">
                <a:solidFill>
                  <a:srgbClr val="0000FF"/>
                </a:solidFill>
              </a:rPr>
              <a:t>0    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1698" y="3763704"/>
            <a:ext cx="84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err="1">
                <a:solidFill>
                  <a:srgbClr val="0000FF"/>
                </a:solidFill>
              </a:rPr>
              <a:t>K</a:t>
            </a:r>
            <a:r>
              <a:rPr lang="en-US" dirty="0" smtClean="0">
                <a:solidFill>
                  <a:srgbClr val="0000FF"/>
                </a:solidFill>
              </a:rPr>
              <a:t>hi </a:t>
            </a:r>
            <a:r>
              <a:rPr lang="vi-VN" dirty="0">
                <a:solidFill>
                  <a:srgbClr val="0000FF"/>
                </a:solidFill>
              </a:rPr>
              <a:t>quá trình đạt cân </a:t>
            </a:r>
            <a:r>
              <a:rPr lang="vi-VN" dirty="0" smtClean="0">
                <a:solidFill>
                  <a:srgbClr val="0000FF"/>
                </a:solidFill>
              </a:rPr>
              <a:t>bằng: </a:t>
            </a:r>
            <a:r>
              <a:rPr lang="en-US" dirty="0" smtClean="0">
                <a:solidFill>
                  <a:srgbClr val="0000FF"/>
                </a:solidFill>
              </a:rPr>
              <a:t>∆</a:t>
            </a:r>
            <a:r>
              <a:rPr lang="en-US" dirty="0" err="1">
                <a:solidFill>
                  <a:srgbClr val="0000FF"/>
                </a:solidFill>
              </a:rPr>
              <a:t>G</a:t>
            </a:r>
            <a:r>
              <a:rPr lang="en-US" baseline="-25000" dirty="0" err="1">
                <a:solidFill>
                  <a:srgbClr val="0000FF"/>
                </a:solidFill>
              </a:rPr>
              <a:t>pư</a:t>
            </a:r>
            <a:r>
              <a:rPr lang="en-US" baseline="-25000" dirty="0">
                <a:solidFill>
                  <a:srgbClr val="0000FF"/>
                </a:solidFill>
              </a:rPr>
              <a:t> </a:t>
            </a:r>
            <a:r>
              <a:rPr lang="en-US" dirty="0" smtClean="0">
                <a:solidFill>
                  <a:srgbClr val="0000FF"/>
                </a:solidFill>
              </a:rPr>
              <a:t>= 0</a:t>
            </a:r>
            <a:r>
              <a:rPr lang="vi-VN" dirty="0" smtClean="0">
                <a:solidFill>
                  <a:srgbClr val="0000FF"/>
                </a:solidFill>
              </a:rPr>
              <a:t> ; G</a:t>
            </a:r>
            <a:r>
              <a:rPr lang="vi-VN" baseline="-25000" dirty="0" smtClean="0">
                <a:solidFill>
                  <a:srgbClr val="0000FF"/>
                </a:solidFill>
              </a:rPr>
              <a:t>min</a:t>
            </a:r>
            <a:r>
              <a:rPr lang="vi-VN" dirty="0" smtClean="0">
                <a:solidFill>
                  <a:srgbClr val="0000FF"/>
                </a:solidFill>
              </a:rPr>
              <a:t>.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2089" y="1397378"/>
            <a:ext cx="3596372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vi-VN" dirty="0" smtClean="0">
              <a:solidFill>
                <a:srgbClr val="CC00FF"/>
              </a:solidFill>
            </a:endParaRPr>
          </a:p>
          <a:p>
            <a:r>
              <a:rPr lang="en-US" dirty="0" smtClean="0">
                <a:solidFill>
                  <a:srgbClr val="CC00FF"/>
                </a:solidFill>
              </a:rPr>
              <a:t>G</a:t>
            </a:r>
            <a:r>
              <a:rPr lang="vi-VN" dirty="0" smtClean="0">
                <a:solidFill>
                  <a:srgbClr val="CC00FF"/>
                </a:solidFill>
              </a:rPr>
              <a:t>: </a:t>
            </a:r>
            <a:r>
              <a:rPr lang="en-US" dirty="0" err="1" smtClean="0">
                <a:solidFill>
                  <a:srgbClr val="CC00FF"/>
                </a:solidFill>
              </a:rPr>
              <a:t>năng</a:t>
            </a:r>
            <a:r>
              <a:rPr lang="en-US" dirty="0" smtClean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lượng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có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thể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tự</a:t>
            </a:r>
            <a:r>
              <a:rPr lang="en-US" dirty="0">
                <a:solidFill>
                  <a:srgbClr val="CC00FF"/>
                </a:solidFill>
              </a:rPr>
              <a:t> do </a:t>
            </a:r>
            <a:r>
              <a:rPr lang="en-US" dirty="0" err="1">
                <a:solidFill>
                  <a:srgbClr val="CC00FF"/>
                </a:solidFill>
              </a:rPr>
              <a:t>chuyển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đổi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thành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công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>
                <a:solidFill>
                  <a:srgbClr val="CC00FF"/>
                </a:solidFill>
              </a:rPr>
              <a:t>có</a:t>
            </a:r>
            <a:r>
              <a:rPr lang="en-US" dirty="0">
                <a:solidFill>
                  <a:srgbClr val="CC00FF"/>
                </a:solidFill>
              </a:rPr>
              <a:t> </a:t>
            </a:r>
            <a:r>
              <a:rPr lang="en-US" dirty="0" err="1" smtClean="0">
                <a:solidFill>
                  <a:srgbClr val="CC00FF"/>
                </a:solidFill>
              </a:rPr>
              <a:t>ích</a:t>
            </a:r>
            <a:r>
              <a:rPr lang="vi-VN" dirty="0" smtClean="0">
                <a:solidFill>
                  <a:srgbClr val="CC00FF"/>
                </a:solidFill>
              </a:rPr>
              <a:t>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9543" y="1771595"/>
            <a:ext cx="3851920" cy="1188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dirty="0" smtClean="0">
                <a:solidFill>
                  <a:srgbClr val="C00000"/>
                </a:solidFill>
              </a:rPr>
              <a:t>G: </a:t>
            </a:r>
            <a:r>
              <a:rPr lang="en-US" dirty="0" err="1">
                <a:solidFill>
                  <a:srgbClr val="C00000"/>
                </a:solidFill>
              </a:rPr>
              <a:t>năng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lượng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tự</a:t>
            </a:r>
            <a:r>
              <a:rPr lang="en-US" dirty="0">
                <a:solidFill>
                  <a:srgbClr val="C00000"/>
                </a:solidFill>
              </a:rPr>
              <a:t> do Gibbs</a:t>
            </a:r>
            <a:r>
              <a:rPr lang="vi-VN" dirty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  <p:bldP spid="45062" grpId="0" animBg="1"/>
      <p:bldP spid="45063" grpId="0"/>
      <p:bldP spid="45064" grpId="0"/>
      <p:bldP spid="2" grpId="0"/>
      <p:bldP spid="3" grpId="0"/>
      <p:bldP spid="4" grpId="0"/>
      <p:bldP spid="6" grpId="0"/>
      <p:bldP spid="7" grpId="0"/>
      <p:bldP spid="5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xmlns="" id="{2B000216-5093-4957-B64E-CB6128A2A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0481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 KIỆN TỰ PHÁT CHO QUÁ TRÌNH ĐẲNG NHIỆT ĐẲNG ÁP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xmlns="" id="{A103FAD9-8A4B-443E-8E34-4A1DE070A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313" y="1981200"/>
            <a:ext cx="8929687" cy="260032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&lt; 0 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quá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trình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có</a:t>
            </a:r>
            <a:r>
              <a:rPr lang="en-US" altLang="en-US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khả</a:t>
            </a:r>
            <a:r>
              <a:rPr lang="en-US" altLang="en-US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năng</a:t>
            </a:r>
            <a:r>
              <a:rPr lang="en-US" altLang="en-US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phát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altLang="en-US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&gt; 0 </a:t>
            </a:r>
            <a:r>
              <a:rPr lang="vi-VN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quá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trình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không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phát</a:t>
            </a:r>
            <a:endParaRPr lang="en-US" altLang="en-US" dirty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</a:t>
            </a:r>
            <a:r>
              <a:rPr lang="vi-VN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nhưng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quá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trình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ngược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lại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phát</a:t>
            </a:r>
            <a:r>
              <a:rPr lang="vi-VN" altLang="en-US" dirty="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altLang="en-US" dirty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 = 0 </a:t>
            </a:r>
            <a:r>
              <a:rPr lang="vi-V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hệ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ở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trạng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thái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cân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bằng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hóa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học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eaLnBrk="1" hangingPunct="1"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xmlns="" id="{158512EC-0EA9-48AF-8A74-0E1708865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864235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ẢNH HƯỞNG NHIỆT ĐỘ ĐẾN CHIỀU DIỄN RA CỦA CÁC QUÁ TRÌNH HOÁ HỌC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xmlns="" id="{3C6685FB-C44E-43DB-A649-F10D34110B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71513" y="2996952"/>
            <a:ext cx="7702550" cy="221138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Ở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|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&gt;&gt;|T .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S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endParaRPr lang="en-US" altLang="en-US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</a:t>
            </a:r>
            <a:r>
              <a:rPr lang="en-US" altLang="en-US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phụ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thuộc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vào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dấu</a:t>
            </a: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H.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Ở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|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&lt;&lt;|T .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S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</a:t>
            </a:r>
            <a:endParaRPr lang="en-US" altLang="en-US" dirty="0" smtClean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</a:t>
            </a:r>
            <a:r>
              <a:rPr lang="en-US" altLang="en-US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G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phụ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thuộc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vào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dấu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S.</a:t>
            </a:r>
          </a:p>
          <a:p>
            <a:pPr eaLnBrk="1" hangingPunct="1"/>
            <a:endParaRPr lang="en-US" altLang="en-US" sz="2400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xmlns="" id="{1A166118-5915-4EC7-AEE6-EF4237840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213100"/>
            <a:ext cx="7777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8133" name="Text Box 43">
            <a:extLst>
              <a:ext uri="{FF2B5EF4-FFF2-40B4-BE49-F238E27FC236}">
                <a16:creationId xmlns:a16="http://schemas.microsoft.com/office/drawing/2014/main" xmlns="" id="{19BA5190-DFAB-45EA-A472-810FD6C8C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1500188"/>
            <a:ext cx="82804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b="1" dirty="0" err="1">
                <a:latin typeface="Arial" panose="020B0604020202020204" pitchFamily="34" charset="0"/>
              </a:rPr>
              <a:t>Phương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trình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cơ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bản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của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nhiệt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động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học</a:t>
            </a:r>
            <a:endParaRPr lang="en-US" altLang="en-US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                    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vi-VN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=  H</a:t>
            </a:r>
            <a:r>
              <a:rPr lang="vi-VN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–T. S</a:t>
            </a:r>
            <a:r>
              <a:rPr lang="vi-VN" altLang="en-US" b="1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="1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7139" name="Group 51">
                <a:extLst>
                  <a:ext uri="{FF2B5EF4-FFF2-40B4-BE49-F238E27FC236}">
                    <a16:creationId xmlns:a16="http://schemas.microsoft.com/office/drawing/2014/main" xmlns="" id="{90DEFBBE-2532-465C-981D-03AAC6130DE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8701487"/>
                  </p:ext>
                </p:extLst>
              </p:nvPr>
            </p:nvGraphicFramePr>
            <p:xfrm>
              <a:off x="612294" y="978556"/>
              <a:ext cx="8280186" cy="4995520"/>
            </p:xfrm>
            <a:graphic>
              <a:graphicData uri="http://schemas.openxmlformats.org/drawingml/2006/table">
                <a:tbl>
                  <a:tblPr/>
                  <a:tblGrid>
                    <a:gridCol w="71934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8032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3888432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9350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99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  <a:sym typeface="Symbol" pitchFamily="18" charset="2"/>
                            </a:rPr>
                            <a:t>H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99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  <a:sym typeface="Symbol" pitchFamily="18" charset="2"/>
                            </a:rPr>
                            <a:t>S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  <a:sym typeface="Symbol" pitchFamily="18" charset="2"/>
                            </a:rPr>
                            <a:t>                     </a:t>
                          </a: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  <a:sym typeface="Symbol" pitchFamily="18" charset="2"/>
                            </a:rPr>
                            <a:t>G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99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Kết</a:t>
                          </a: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99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99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luận</a:t>
                          </a:r>
                          <a:endParaRPr kumimoji="0" lang="en-US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9900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953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4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4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                       </a:t>
                          </a:r>
                          <a:r>
                            <a:rPr kumimoji="0" lang="en-US" sz="40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  <a:endParaRPr kumimoji="0" lang="en-US" sz="4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CC00FF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ở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mọi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T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858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4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4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                       </a:t>
                          </a:r>
                          <a:r>
                            <a:rPr kumimoji="0" lang="en-US" sz="40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  <a:endParaRPr kumimoji="0" lang="en-US" sz="4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CC00FF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Không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ở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mọi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T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6633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03023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6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6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thấp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(T&lt;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US" sz="2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cs typeface="Arial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2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Arial" pitchFamily="34" charset="0"/>
                                    </a:rPr>
                                    <m:t>∆</m:t>
                                  </m:r>
                                  <m:r>
                                    <a:rPr kumimoji="0" lang="en-US" sz="2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Arial" pitchFamily="34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kumimoji="0" lang="en-US" sz="2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Arial" pitchFamily="34" charset="0"/>
                                    </a:rPr>
                                    <m:t>∆</m:t>
                                  </m:r>
                                  <m:r>
                                    <a:rPr kumimoji="0" lang="en-US" sz="2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Arial" pitchFamily="34" charset="0"/>
                                    </a:rPr>
                                    <m:t>𝑆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)   </a:t>
                          </a:r>
                          <a:r>
                            <a:rPr kumimoji="0" lang="en-US" sz="32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  <a:endParaRPr kumimoji="0" lang="en-US" sz="3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CC00FF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cao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             </a:t>
                          </a:r>
                          <a:r>
                            <a:rPr kumimoji="0" lang="en-US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  <a:endParaRPr kumimoji="0" lang="en-US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CC00FF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ở T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thấp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Không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ở T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cao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6633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107951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60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  <a:endParaRPr kumimoji="0" lang="en-US" sz="6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6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thấp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            </a:t>
                          </a:r>
                          <a:r>
                            <a:rPr kumimoji="0" lang="en-US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  <a:endParaRPr kumimoji="0" lang="en-US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CC00FF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cao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(T&gt;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US" sz="2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cs typeface="Arial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2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Arial" pitchFamily="34" charset="0"/>
                                    </a:rPr>
                                    <m:t>∆</m:t>
                                  </m:r>
                                  <m:r>
                                    <a:rPr kumimoji="0" lang="en-US" sz="2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Arial" pitchFamily="34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kumimoji="0" lang="en-US" sz="2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Arial" pitchFamily="34" charset="0"/>
                                    </a:rPr>
                                    <m:t>∆</m:t>
                                  </m:r>
                                  <m:r>
                                    <a:rPr kumimoji="0" lang="en-US" sz="28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Cambria Math"/>
                                      <a:cs typeface="Arial" pitchFamily="34" charset="0"/>
                                    </a:rPr>
                                    <m:t>𝑆</m:t>
                                  </m:r>
                                </m:den>
                              </m:f>
                            </m:oMath>
                          </a14:m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)    </a:t>
                          </a:r>
                          <a:r>
                            <a:rPr kumimoji="0" lang="en-US" sz="32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  <a:endParaRPr kumimoji="0" lang="en-US" sz="3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CC00FF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Không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ở T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thấp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6633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ở T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cao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7139" name="Group 5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0DEFBBE-2532-465C-981D-03AAC6130DE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8701487"/>
                  </p:ext>
                </p:extLst>
              </p:nvPr>
            </p:nvGraphicFramePr>
            <p:xfrm>
              <a:off x="612294" y="978556"/>
              <a:ext cx="8280186" cy="4995520"/>
            </p:xfrm>
            <a:graphic>
              <a:graphicData uri="http://schemas.openxmlformats.org/drawingml/2006/table">
                <a:tbl>
                  <a:tblPr/>
                  <a:tblGrid>
                    <a:gridCol w="719346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2880320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3888432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</a:tblGrid>
                  <a:tr h="9350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99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  <a:sym typeface="Symbol" pitchFamily="18" charset="2"/>
                            </a:rPr>
                            <a:t>H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99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  <a:sym typeface="Symbol" pitchFamily="18" charset="2"/>
                            </a:rPr>
                            <a:t>S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  <a:sym typeface="Symbol" pitchFamily="18" charset="2"/>
                            </a:rPr>
                            <a:t>                     </a:t>
                          </a: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  <a:sym typeface="Symbol" pitchFamily="18" charset="2"/>
                            </a:rPr>
                            <a:t>G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99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Kết</a:t>
                          </a:r>
                          <a:r>
                            <a:rPr kumimoji="0" lang="en-US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99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99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luận</a:t>
                          </a:r>
                          <a:endParaRPr kumimoji="0" lang="en-US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9900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79534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4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4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                       </a:t>
                          </a:r>
                          <a:r>
                            <a:rPr kumimoji="0" lang="en-US" sz="40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  <a:endParaRPr kumimoji="0" lang="en-US" sz="4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CC00FF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ở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mọi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T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7858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4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4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                       </a:t>
                          </a:r>
                          <a:r>
                            <a:rPr kumimoji="0" lang="en-US" sz="40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CC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  <a:endParaRPr kumimoji="0" lang="en-US" sz="4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CC00FF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Không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ở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mọi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T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6633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122059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6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6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-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63636" t="-211500" r="-138055" b="-116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ở T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thấp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Không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ở T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cao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6633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125869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60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  <a:endParaRPr kumimoji="0" lang="en-US" sz="6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6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+</a:t>
                          </a: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63636" t="-302427" r="-138055" b="-131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Không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ở T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6633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thấp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6633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8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Tự</a:t>
                          </a:r>
                          <a:r>
                            <a:rPr kumimoji="0" 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phát</a:t>
                          </a:r>
                          <a:r>
                            <a:rPr kumimoji="0" lang="en-US" sz="28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 ở T </a:t>
                          </a:r>
                          <a:r>
                            <a:rPr kumimoji="0" lang="en-US" sz="28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  <a:cs typeface="Arial" pitchFamily="34" charset="0"/>
                            </a:rPr>
                            <a:t>cao</a:t>
                          </a:r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  <a:cs typeface="Arial" pitchFamily="34" charset="0"/>
                          </a:endParaRPr>
                        </a:p>
                      </a:txBody>
                      <a:tcPr marT="45721" marB="45721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0210" name="Text Box 52">
            <a:extLst>
              <a:ext uri="{FF2B5EF4-FFF2-40B4-BE49-F238E27FC236}">
                <a16:creationId xmlns:a16="http://schemas.microsoft.com/office/drawing/2014/main" xmlns="" id="{5336D208-109C-4290-82A5-BDF696A7B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810" y="155596"/>
            <a:ext cx="3600450" cy="822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G  =  H –T.</a:t>
            </a:r>
            <a: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 </a:t>
            </a:r>
            <a:r>
              <a:rPr lang="en-US" altLang="en-US" b="1" dirty="0" smtClean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b="1" dirty="0">
              <a:latin typeface="Arial" panose="020B0604020202020204" pitchFamily="34" charset="0"/>
            </a:endParaRPr>
          </a:p>
        </p:txBody>
      </p:sp>
      <p:sp>
        <p:nvSpPr>
          <p:cNvPr id="4" name="Text Box 52">
            <a:extLst>
              <a:ext uri="{FF2B5EF4-FFF2-40B4-BE49-F238E27FC236}">
                <a16:creationId xmlns:a16="http://schemas.microsoft.com/office/drawing/2014/main" xmlns="" id="{5336D208-109C-4290-82A5-BDF696A7B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960" y="171188"/>
            <a:ext cx="4845114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n-US" altLang="en-US" b="1" dirty="0" smtClean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 &lt; 0 </a:t>
            </a:r>
            <a:r>
              <a:rPr lang="en-US" altLang="en-US" b="1" dirty="0" smtClean="0">
                <a:solidFill>
                  <a:srgbClr val="006600"/>
                </a:solidFill>
                <a:latin typeface="Arial" panose="020B0604020202020204" pitchFamily="34" charset="0"/>
                <a:sym typeface="Symbol"/>
              </a:rPr>
              <a:t></a:t>
            </a:r>
            <a:r>
              <a:rPr lang="en-US" altLang="en-US" b="1" dirty="0" smtClean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T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.</a:t>
            </a:r>
            <a:r>
              <a:rPr lang="en-US" altLang="en-US" b="1" dirty="0" smtClean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 </a:t>
            </a:r>
            <a:r>
              <a:rPr lang="en-US" altLang="en-US" b="1" dirty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 H </a:t>
            </a:r>
            <a:r>
              <a:rPr lang="en-US" altLang="en-US" b="1" dirty="0" smtClean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endParaRPr lang="en-US" altLang="en-US" b="1" dirty="0">
              <a:solidFill>
                <a:srgbClr val="0066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b="1" dirty="0"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0864" y="2708920"/>
            <a:ext cx="8321040" cy="8229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66594" y="4716820"/>
            <a:ext cx="8321040" cy="1371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0864" y="3528100"/>
            <a:ext cx="8321040" cy="1188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1.11111E-6 L 0.00729 0.507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07407E-6 L -0.00052 0.3611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18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7" grpId="1" animBg="1"/>
      <p:bldP spid="6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ác nhà khoa học MSE khám phá ra lớp vật liệu bán dẫn bền entropy mới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60" y="1193850"/>
            <a:ext cx="3217636" cy="20911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89547" y="3273993"/>
            <a:ext cx="3168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GeSnPb</a:t>
            </a:r>
            <a:r>
              <a:rPr lang="en-US" sz="3200" b="1" dirty="0" err="1">
                <a:solidFill>
                  <a:srgbClr val="FF0000"/>
                </a:solidFill>
              </a:rPr>
              <a:t>SSeTe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07903" y="996446"/>
            <a:ext cx="53529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/>
              <a:t>c</a:t>
            </a:r>
            <a:r>
              <a:rPr lang="en-US" dirty="0" err="1" smtClean="0"/>
              <a:t>ác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kim</a:t>
            </a:r>
            <a:r>
              <a:rPr lang="en-US" dirty="0" smtClean="0"/>
              <a:t> </a:t>
            </a:r>
            <a:r>
              <a:rPr lang="en-US" dirty="0" err="1" smtClean="0"/>
              <a:t>bán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thách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do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tách</a:t>
            </a:r>
            <a:r>
              <a:rPr lang="en-US" dirty="0" smtClean="0"/>
              <a:t> </a:t>
            </a:r>
            <a:r>
              <a:rPr lang="en-US" dirty="0" err="1" smtClean="0"/>
              <a:t>pha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kim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pha</a:t>
            </a:r>
            <a:r>
              <a:rPr lang="en-US" dirty="0" smtClean="0"/>
              <a:t> </a:t>
            </a:r>
            <a:r>
              <a:rPr lang="en-US" dirty="0" err="1" smtClean="0"/>
              <a:t>riêng</a:t>
            </a:r>
            <a:r>
              <a:rPr lang="en-US" dirty="0" smtClean="0"/>
              <a:t> </a:t>
            </a:r>
            <a:r>
              <a:rPr lang="en-US" dirty="0" err="1" smtClean="0"/>
              <a:t>biệt</a:t>
            </a:r>
            <a:r>
              <a:rPr lang="en-US" dirty="0" smtClean="0"/>
              <a:t> </a:t>
            </a:r>
            <a:r>
              <a:rPr lang="en-US" dirty="0" err="1" smtClean="0"/>
              <a:t>bền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nhiệt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err="1" smtClean="0">
                <a:sym typeface="Symbol"/>
              </a:rPr>
              <a:t>không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mong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>
                <a:sym typeface="Symbol"/>
              </a:rPr>
              <a:t>muốn</a:t>
            </a:r>
            <a:r>
              <a:rPr lang="en-US" dirty="0" smtClean="0">
                <a:sym typeface="Symbol"/>
              </a:rPr>
              <a:t>!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74832" y="116632"/>
            <a:ext cx="86691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SỬ DỤNG YẾU TỐ ENTROPI ĐỂ LÀM BỀN HỢP KIM BÁN DẪN ĐA THÀNH PHẦN.</a:t>
            </a:r>
            <a:endParaRPr 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7952" y="3973195"/>
            <a:ext cx="9096048" cy="2455912"/>
          </a:xfrm>
          <a:solidFill>
            <a:schemeClr val="bg1"/>
          </a:solidFill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Ở </a:t>
            </a:r>
            <a:r>
              <a:rPr lang="en-US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nhiệt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độ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cao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p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hản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pha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rắn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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S</a:t>
            </a:r>
            <a:r>
              <a:rPr lang="en-US" baseline="-250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pư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càng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dương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thì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càng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có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khả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năng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tự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phát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về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phương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diện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nhiệt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động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.</a:t>
            </a:r>
            <a:endParaRPr lang="en-US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496" y="4149079"/>
            <a:ext cx="9073008" cy="23774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3508" y="3789040"/>
            <a:ext cx="9024996" cy="24929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 err="1">
                <a:solidFill>
                  <a:srgbClr val="006600"/>
                </a:solidFill>
              </a:rPr>
              <a:t>Sự</a:t>
            </a:r>
            <a:r>
              <a:rPr lang="en-US" sz="2600" dirty="0">
                <a:solidFill>
                  <a:srgbClr val="006600"/>
                </a:solidFill>
              </a:rPr>
              <a:t> </a:t>
            </a:r>
            <a:r>
              <a:rPr lang="en-US" sz="2600" dirty="0" err="1">
                <a:solidFill>
                  <a:srgbClr val="006600"/>
                </a:solidFill>
              </a:rPr>
              <a:t>hiện</a:t>
            </a:r>
            <a:r>
              <a:rPr lang="en-US" sz="2600" dirty="0">
                <a:solidFill>
                  <a:srgbClr val="006600"/>
                </a:solidFill>
              </a:rPr>
              <a:t> </a:t>
            </a:r>
            <a:r>
              <a:rPr lang="en-US" sz="2600" dirty="0" err="1">
                <a:solidFill>
                  <a:srgbClr val="006600"/>
                </a:solidFill>
              </a:rPr>
              <a:t>diện</a:t>
            </a:r>
            <a:r>
              <a:rPr lang="en-US" sz="2600" dirty="0">
                <a:solidFill>
                  <a:srgbClr val="006600"/>
                </a:solidFill>
              </a:rPr>
              <a:t> </a:t>
            </a:r>
            <a:r>
              <a:rPr lang="en-US" sz="2600" dirty="0" err="1">
                <a:solidFill>
                  <a:srgbClr val="006600"/>
                </a:solidFill>
              </a:rPr>
              <a:t>của</a:t>
            </a:r>
            <a:r>
              <a:rPr lang="en-US" sz="2600" dirty="0">
                <a:solidFill>
                  <a:srgbClr val="006600"/>
                </a:solidFill>
              </a:rPr>
              <a:t> </a:t>
            </a:r>
            <a:r>
              <a:rPr lang="en-US" sz="2600" dirty="0" err="1">
                <a:solidFill>
                  <a:srgbClr val="006600"/>
                </a:solidFill>
              </a:rPr>
              <a:t>các</a:t>
            </a:r>
            <a:r>
              <a:rPr lang="en-US" sz="2600" dirty="0">
                <a:solidFill>
                  <a:srgbClr val="006600"/>
                </a:solidFill>
              </a:rPr>
              <a:t> </a:t>
            </a:r>
            <a:r>
              <a:rPr lang="en-US" sz="2600" dirty="0" err="1">
                <a:solidFill>
                  <a:srgbClr val="006600"/>
                </a:solidFill>
              </a:rPr>
              <a:t>chalcogen</a:t>
            </a:r>
            <a:r>
              <a:rPr lang="en-US" sz="2600" dirty="0">
                <a:solidFill>
                  <a:srgbClr val="006600"/>
                </a:solidFill>
              </a:rPr>
              <a:t> </a:t>
            </a:r>
            <a:r>
              <a:rPr lang="en-US" sz="2600" dirty="0" err="1">
                <a:solidFill>
                  <a:srgbClr val="006600"/>
                </a:solidFill>
              </a:rPr>
              <a:t>làm</a:t>
            </a:r>
            <a:r>
              <a:rPr lang="en-US" sz="2600" dirty="0">
                <a:solidFill>
                  <a:srgbClr val="006600"/>
                </a:solidFill>
              </a:rPr>
              <a:t> </a:t>
            </a:r>
            <a:r>
              <a:rPr lang="en-US" sz="2600" dirty="0" err="1">
                <a:solidFill>
                  <a:srgbClr val="006600"/>
                </a:solidFill>
              </a:rPr>
              <a:t>tăng</a:t>
            </a:r>
            <a:r>
              <a:rPr lang="en-US" sz="2600" dirty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entropi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của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mạng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tinh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thể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của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hợp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kim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smtClean="0">
                <a:solidFill>
                  <a:srgbClr val="006600"/>
                </a:solidFill>
                <a:sym typeface="Symbol"/>
              </a:rPr>
              <a:t> </a:t>
            </a:r>
            <a:r>
              <a:rPr lang="en-US" sz="2600" dirty="0" smtClean="0">
                <a:solidFill>
                  <a:srgbClr val="006600"/>
                </a:solidFill>
                <a:sym typeface="Symbol"/>
              </a:rPr>
              <a:t>G </a:t>
            </a:r>
            <a:r>
              <a:rPr lang="en-US" sz="2600" dirty="0" err="1" smtClean="0">
                <a:solidFill>
                  <a:srgbClr val="006600"/>
                </a:solidFill>
                <a:sym typeface="Symbol"/>
              </a:rPr>
              <a:t>càng</a:t>
            </a:r>
            <a:r>
              <a:rPr lang="en-US" sz="2600" dirty="0" smtClean="0">
                <a:solidFill>
                  <a:srgbClr val="006600"/>
                </a:solidFill>
                <a:sym typeface="Symbol"/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  <a:sym typeface="Symbol"/>
              </a:rPr>
              <a:t>âm</a:t>
            </a:r>
            <a:r>
              <a:rPr lang="en-US" sz="2600" dirty="0" smtClean="0">
                <a:solidFill>
                  <a:srgbClr val="006600"/>
                </a:solidFill>
                <a:sym typeface="Symbol"/>
              </a:rPr>
              <a:t> </a:t>
            </a:r>
            <a:r>
              <a:rPr lang="en-US" sz="2600" dirty="0">
                <a:solidFill>
                  <a:srgbClr val="006600"/>
                </a:solidFill>
                <a:sym typeface="Symbol"/>
              </a:rPr>
              <a:t> </a:t>
            </a:r>
            <a:r>
              <a:rPr lang="en-US" sz="2600" dirty="0" err="1" smtClean="0">
                <a:solidFill>
                  <a:srgbClr val="006600"/>
                </a:solidFill>
              </a:rPr>
              <a:t>có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thể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kích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hoạt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quá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trình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kết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tinh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hợp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kim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bán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dẫn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thành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cấu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trúc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đơn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tinh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thể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ổn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định</a:t>
            </a:r>
            <a:r>
              <a:rPr lang="en-US" sz="2600" dirty="0" smtClean="0">
                <a:solidFill>
                  <a:srgbClr val="006600"/>
                </a:solidFill>
              </a:rPr>
              <a:t>, </a:t>
            </a:r>
            <a:r>
              <a:rPr lang="en-US" sz="2600" dirty="0" err="1" smtClean="0">
                <a:solidFill>
                  <a:srgbClr val="006600"/>
                </a:solidFill>
              </a:rPr>
              <a:t>bền</a:t>
            </a:r>
            <a:r>
              <a:rPr lang="en-US" sz="2600" dirty="0">
                <a:solidFill>
                  <a:srgbClr val="006600"/>
                </a:solidFill>
              </a:rPr>
              <a:t> </a:t>
            </a:r>
            <a:r>
              <a:rPr lang="en-US" sz="2600" dirty="0" smtClean="0">
                <a:solidFill>
                  <a:srgbClr val="006600"/>
                </a:solidFill>
                <a:sym typeface="Symbol"/>
              </a:rPr>
              <a:t> </a:t>
            </a:r>
            <a:r>
              <a:rPr lang="en-US" sz="2600" dirty="0" err="1">
                <a:solidFill>
                  <a:srgbClr val="006600"/>
                </a:solidFill>
                <a:sym typeface="Symbol"/>
              </a:rPr>
              <a:t>V</a:t>
            </a:r>
            <a:r>
              <a:rPr lang="en-US" sz="2600" dirty="0" err="1" smtClean="0">
                <a:solidFill>
                  <a:srgbClr val="006600"/>
                </a:solidFill>
                <a:sym typeface="Symbol"/>
              </a:rPr>
              <a:t>ật</a:t>
            </a:r>
            <a:r>
              <a:rPr lang="en-US" sz="2600" dirty="0" smtClean="0">
                <a:solidFill>
                  <a:srgbClr val="006600"/>
                </a:solidFill>
                <a:sym typeface="Symbol"/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  <a:sym typeface="Symbol"/>
              </a:rPr>
              <a:t>liệu</a:t>
            </a:r>
            <a:r>
              <a:rPr lang="en-US" sz="2600" dirty="0" smtClean="0">
                <a:solidFill>
                  <a:srgbClr val="006600"/>
                </a:solidFill>
                <a:sym typeface="Symbol"/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  <a:sym typeface="Symbol"/>
              </a:rPr>
              <a:t>quang</a:t>
            </a:r>
            <a:r>
              <a:rPr lang="en-US" sz="2600" dirty="0" smtClean="0">
                <a:solidFill>
                  <a:srgbClr val="006600"/>
                </a:solidFill>
                <a:sym typeface="Symbol"/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điện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tử</a:t>
            </a:r>
            <a:r>
              <a:rPr lang="en-US" sz="2600" dirty="0" smtClean="0">
                <a:solidFill>
                  <a:srgbClr val="006600"/>
                </a:solidFill>
              </a:rPr>
              <a:t>, </a:t>
            </a:r>
            <a:r>
              <a:rPr lang="en-US" sz="2600" dirty="0" err="1" smtClean="0">
                <a:solidFill>
                  <a:srgbClr val="006600"/>
                </a:solidFill>
              </a:rPr>
              <a:t>quang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điện</a:t>
            </a:r>
            <a:r>
              <a:rPr lang="en-US" sz="2600" dirty="0" smtClean="0">
                <a:solidFill>
                  <a:srgbClr val="006600"/>
                </a:solidFill>
              </a:rPr>
              <a:t> </a:t>
            </a:r>
            <a:r>
              <a:rPr lang="en-US" sz="2600" dirty="0" err="1" smtClean="0">
                <a:solidFill>
                  <a:srgbClr val="006600"/>
                </a:solidFill>
              </a:rPr>
              <a:t>mới</a:t>
            </a:r>
            <a:r>
              <a:rPr lang="en-US" sz="2600" dirty="0" smtClean="0">
                <a:solidFill>
                  <a:srgbClr val="006600"/>
                </a:solidFill>
              </a:rPr>
              <a:t>.</a:t>
            </a:r>
            <a:endParaRPr lang="en-US" sz="26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27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2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xmlns="" id="{6926B932-0424-4AA7-9CEE-821FB695B8A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xfrm>
            <a:off x="251520" y="253623"/>
            <a:ext cx="8640960" cy="2651760"/>
          </a:xfrm>
          <a:blipFill>
            <a:blip r:embed="rId3"/>
            <a:stretch>
              <a:fillRect l="-1337" b="-5251"/>
            </a:stretch>
          </a:blipFill>
          <a:ln w="19050">
            <a:solidFill>
              <a:schemeClr val="tx1"/>
            </a:solidFill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40825291-6EB5-495A-8A2E-231D167920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3327400"/>
            <a:ext cx="7991475" cy="7921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altLang="en-US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(k)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+    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3H</a:t>
            </a:r>
            <a:r>
              <a:rPr lang="vi-VN" altLang="en-US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(k)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   =     2NH</a:t>
            </a:r>
            <a:r>
              <a:rPr lang="vi-VN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vi-VN" altLang="en-US" dirty="0">
                <a:latin typeface="Arial" panose="020B0604020202020204" pitchFamily="34" charset="0"/>
                <a:cs typeface="Arial" panose="020B0604020202020204" pitchFamily="34" charset="0"/>
              </a:rPr>
              <a:t>(k)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9A908DE-7A66-4F33-9C5F-CBAC07152E3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3951" y="4177603"/>
            <a:ext cx="8856095" cy="621452"/>
          </a:xfrm>
          <a:prstGeom prst="rect">
            <a:avLst/>
          </a:prstGeom>
          <a:blipFill>
            <a:blip r:embed="rId4"/>
            <a:stretch>
              <a:fillRect l="-826" t="-8824" b="-29412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81ABD65-AA32-47DA-822A-E0AF2DA62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4233863"/>
            <a:ext cx="2592387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3200" dirty="0">
                <a:solidFill>
                  <a:srgbClr val="CC00FF"/>
                </a:solidFill>
              </a:rPr>
              <a:t>0,1atm, 25</a:t>
            </a:r>
            <a:r>
              <a:rPr lang="vi-VN" altLang="en-US" sz="3200" baseline="30000" dirty="0">
                <a:solidFill>
                  <a:srgbClr val="CC00FF"/>
                </a:solidFill>
              </a:rPr>
              <a:t>0</a:t>
            </a:r>
            <a:r>
              <a:rPr lang="vi-VN" altLang="en-US" sz="3200" dirty="0">
                <a:solidFill>
                  <a:srgbClr val="CC00FF"/>
                </a:solidFill>
              </a:rPr>
              <a:t>C</a:t>
            </a:r>
            <a:endParaRPr lang="en-US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B1D576A-E601-4471-94E8-8EF8643AB23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00467" y="4111365"/>
            <a:ext cx="1440160" cy="650114"/>
          </a:xfrm>
          <a:prstGeom prst="rect">
            <a:avLst/>
          </a:prstGeom>
          <a:blipFill>
            <a:blip r:embed="rId5"/>
            <a:stretch>
              <a:fillRect l="-10593" t="-3738" b="-28037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A635E8A-D1A9-421C-B49A-5743E1205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033963"/>
            <a:ext cx="88566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3200" dirty="0">
                <a:solidFill>
                  <a:srgbClr val="FF0000"/>
                </a:solidFill>
              </a:rPr>
              <a:t>HCl(dd)   </a:t>
            </a:r>
            <a:r>
              <a:rPr lang="vi-VN" altLang="en-US" sz="3200" dirty="0"/>
              <a:t>+  </a:t>
            </a:r>
            <a:r>
              <a:rPr lang="vi-VN" altLang="en-US" sz="3200" dirty="0">
                <a:solidFill>
                  <a:srgbClr val="006600"/>
                </a:solidFill>
              </a:rPr>
              <a:t>NaOH(dd)   </a:t>
            </a:r>
            <a:r>
              <a:rPr lang="vi-VN" altLang="en-US" sz="3200" dirty="0"/>
              <a:t>=  </a:t>
            </a:r>
            <a:r>
              <a:rPr lang="vi-VN" altLang="en-US" sz="3200" dirty="0">
                <a:solidFill>
                  <a:srgbClr val="0000FF"/>
                </a:solidFill>
              </a:rPr>
              <a:t>NaCl(dd</a:t>
            </a:r>
            <a:r>
              <a:rPr lang="vi-VN" altLang="en-US" sz="3200" dirty="0"/>
              <a:t>)  + H</a:t>
            </a:r>
            <a:r>
              <a:rPr lang="vi-VN" altLang="en-US" sz="3200" baseline="-25000" dirty="0"/>
              <a:t>2</a:t>
            </a:r>
            <a:r>
              <a:rPr lang="vi-VN" altLang="en-US" sz="3200" dirty="0"/>
              <a:t>O</a:t>
            </a:r>
            <a:endParaRPr lang="en-US" alt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6F56BEA-D769-41C1-85A6-73E02210C2A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0505" y="5659139"/>
            <a:ext cx="8676518" cy="618952"/>
          </a:xfrm>
          <a:prstGeom prst="rect">
            <a:avLst/>
          </a:prstGeom>
          <a:blipFill>
            <a:blip r:embed="rId6"/>
            <a:stretch>
              <a:fillRect l="-1827" t="-8824" b="-29412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9DFAF8B-7987-434E-9469-C4E179EA4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5676900"/>
            <a:ext cx="2376487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3200">
                <a:solidFill>
                  <a:srgbClr val="006600"/>
                </a:solidFill>
              </a:rPr>
              <a:t>0,1M, 25</a:t>
            </a:r>
            <a:r>
              <a:rPr lang="vi-VN" altLang="en-US" sz="3200" baseline="30000">
                <a:solidFill>
                  <a:srgbClr val="006600"/>
                </a:solidFill>
              </a:rPr>
              <a:t>0</a:t>
            </a:r>
            <a:r>
              <a:rPr lang="vi-VN" altLang="en-US" sz="3200">
                <a:solidFill>
                  <a:srgbClr val="006600"/>
                </a:solidFill>
              </a:rPr>
              <a:t>C</a:t>
            </a:r>
            <a:endParaRPr lang="en-US" altLang="en-US" sz="3200">
              <a:solidFill>
                <a:srgbClr val="0066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CAF5358-5C1F-4E96-A479-8EA5BA651FA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089264" y="5642404"/>
            <a:ext cx="1728192" cy="650114"/>
          </a:xfrm>
          <a:prstGeom prst="rect">
            <a:avLst/>
          </a:prstGeom>
          <a:blipFill>
            <a:blip r:embed="rId7"/>
            <a:stretch>
              <a:fillRect l="-9187" t="-3774" b="-29245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6" grpId="0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>
            <a:extLst>
              <a:ext uri="{FF2B5EF4-FFF2-40B4-BE49-F238E27FC236}">
                <a16:creationId xmlns:a16="http://schemas.microsoft.com/office/drawing/2014/main" xmlns="" id="{3769FB8D-DF72-4A36-A626-50AE9A5A25D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54225" y="414918"/>
            <a:ext cx="9054875" cy="1943100"/>
          </a:xfrm>
          <a:blipFill>
            <a:blip r:embed="rId3"/>
            <a:stretch>
              <a:fillRect l="-1546" t="-2484"/>
            </a:stretch>
          </a:blipFill>
          <a:ln w="19050"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noFill/>
              </a:rPr>
              <a:t> </a:t>
            </a:r>
          </a:p>
        </p:txBody>
      </p:sp>
      <p:sp>
        <p:nvSpPr>
          <p:cNvPr id="54275" name="Text Box 4">
            <a:extLst>
              <a:ext uri="{FF2B5EF4-FFF2-40B4-BE49-F238E27FC236}">
                <a16:creationId xmlns:a16="http://schemas.microsoft.com/office/drawing/2014/main" xmlns="" id="{43AACF78-E269-4246-9026-BB3503640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50" y="3187837"/>
            <a:ext cx="882015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đẳng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u="sng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đơn</a:t>
            </a:r>
            <a:r>
              <a:rPr lang="en-US" altLang="en-US" u="sng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u="sng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en-US" u="sng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u="sng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bền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en-US" altLang="en-US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.aq 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qui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ước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vi-VN" altLang="en-US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88B20AB-E9A3-4F71-B490-682934F9873D}"/>
              </a:ext>
            </a:extLst>
          </p:cNvPr>
          <p:cNvSpPr txBox="1"/>
          <p:nvPr/>
        </p:nvSpPr>
        <p:spPr>
          <a:xfrm>
            <a:off x="54225" y="4398897"/>
            <a:ext cx="9414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thế</a:t>
            </a:r>
            <a:r>
              <a:rPr lang="en-US" sz="2800" dirty="0"/>
              <a:t> </a:t>
            </a:r>
            <a:r>
              <a:rPr lang="en-US" sz="2800" dirty="0" err="1"/>
              <a:t>đẳng</a:t>
            </a:r>
            <a:r>
              <a:rPr lang="en-US" sz="2800" dirty="0"/>
              <a:t> </a:t>
            </a:r>
            <a:r>
              <a:rPr lang="en-US" sz="2800" dirty="0" err="1"/>
              <a:t>áp</a:t>
            </a:r>
            <a:r>
              <a:rPr lang="en-US" sz="2800" dirty="0"/>
              <a:t> </a:t>
            </a:r>
            <a:r>
              <a:rPr lang="en-US" sz="2800" dirty="0" err="1"/>
              <a:t>tạo</a:t>
            </a:r>
            <a:r>
              <a:rPr lang="en-US" sz="2800" dirty="0"/>
              <a:t> </a:t>
            </a:r>
            <a:r>
              <a:rPr lang="en-US" sz="2800" dirty="0" err="1"/>
              <a:t>thành</a:t>
            </a:r>
            <a:r>
              <a:rPr lang="en-US" sz="2800" dirty="0"/>
              <a:t> </a:t>
            </a:r>
            <a:r>
              <a:rPr lang="en-US" sz="2800" dirty="0" err="1"/>
              <a:t>tiêu</a:t>
            </a:r>
            <a:r>
              <a:rPr lang="en-US" sz="2800" dirty="0"/>
              <a:t> </a:t>
            </a:r>
            <a:r>
              <a:rPr lang="en-US" sz="2800" dirty="0" err="1"/>
              <a:t>chuẩn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CH</a:t>
            </a:r>
            <a:r>
              <a:rPr lang="en-US" sz="2800" baseline="-25000" dirty="0"/>
              <a:t>4</a:t>
            </a:r>
            <a:r>
              <a:rPr lang="en-US" sz="2800" dirty="0"/>
              <a:t>(k) 25</a:t>
            </a:r>
            <a:r>
              <a:rPr lang="en-US" sz="2800" baseline="30000" dirty="0"/>
              <a:t>0</a:t>
            </a:r>
            <a:r>
              <a:rPr lang="en-US" sz="2800" dirty="0"/>
              <a:t>C.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A4701C89-1425-4434-8FBF-A15AEBD207B5}"/>
                  </a:ext>
                </a:extLst>
              </p:cNvPr>
              <p:cNvSpPr txBox="1"/>
              <p:nvPr/>
            </p:nvSpPr>
            <p:spPr>
              <a:xfrm>
                <a:off x="720518" y="4991360"/>
                <a:ext cx="7596844" cy="1434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                        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C(gr)  +   2H</a:t>
                </a:r>
                <a:r>
                  <a:rPr lang="en-US" sz="2800" b="1" baseline="-25000" dirty="0">
                    <a:solidFill>
                      <a:srgbClr val="C00000"/>
                    </a:solidFill>
                  </a:rPr>
                  <a:t>2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(k)  =   CH</a:t>
                </a:r>
                <a:r>
                  <a:rPr lang="en-US" sz="2800" b="1" baseline="-25000" dirty="0">
                    <a:solidFill>
                      <a:srgbClr val="C00000"/>
                    </a:solidFill>
                  </a:rPr>
                  <a:t>4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(k)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298 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                                           -74,81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/>
                  <a:t>[J/</a:t>
                </a:r>
                <a:r>
                  <a:rPr lang="en-US" dirty="0" err="1"/>
                  <a:t>mol.K</a:t>
                </a:r>
                <a:r>
                  <a:rPr lang="en-US" dirty="0"/>
                  <a:t>]     5,74           130,7           186,3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701C89-1425-4434-8FBF-A15AEBD20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18" y="4991360"/>
                <a:ext cx="7596844" cy="1434303"/>
              </a:xfrm>
              <a:prstGeom prst="rect">
                <a:avLst/>
              </a:prstGeom>
              <a:blipFill>
                <a:blip r:embed="rId4"/>
                <a:stretch>
                  <a:fillRect l="-161" t="-4681" b="-8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D42B675-0432-4EDE-AD4C-DC2FCC2459A0}"/>
                  </a:ext>
                </a:extLst>
              </p:cNvPr>
              <p:cNvSpPr txBox="1"/>
              <p:nvPr/>
            </p:nvSpPr>
            <p:spPr>
              <a:xfrm>
                <a:off x="531212" y="2439718"/>
                <a:ext cx="8100900" cy="699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3200" b="1" i="1" smtClean="0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𝟐𝟗𝟖</m:t>
                            </m:r>
                            <m:r>
                              <a:rPr lang="en-US" sz="32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𝒕𝒕</m:t>
                            </m:r>
                            <m:r>
                              <a:rPr lang="en-US" sz="32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sub/>
                        </m:sSub>
                      </m:sub>
                      <m:sup>
                        <m:r>
                          <a:rPr lang="en-US" sz="3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200" b="1" dirty="0">
                    <a:solidFill>
                      <a:srgbClr val="0000FF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3200" b="1" i="1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sSub>
                          <m:sSubPr>
                            <m:ctrlP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𝟐𝟗𝟖</m:t>
                            </m:r>
                            <m: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𝒕𝒕</m:t>
                            </m:r>
                            <m: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sub/>
                        </m:sSub>
                      </m:sub>
                      <m:sup>
                        <m:r>
                          <a:rPr lang="en-US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200" b="1" dirty="0">
                    <a:solidFill>
                      <a:srgbClr val="0000FF"/>
                    </a:solidFill>
                  </a:rPr>
                  <a:t> - 298.</a:t>
                </a:r>
                <a:r>
                  <a:rPr lang="en-US" sz="3200" b="1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3200" b="1" i="1">
                            <a:solidFill>
                              <a:srgbClr val="00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sSub>
                          <m:sSubPr>
                            <m:ctrlP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𝟐𝟗𝟖</m:t>
                            </m:r>
                            <m: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𝒕𝒕</m:t>
                            </m:r>
                            <m:r>
                              <a:rPr lang="en-US" sz="32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sub/>
                        </m:sSub>
                      </m:sub>
                      <m:sup>
                        <m:r>
                          <a:rPr lang="en-US" sz="32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42B675-0432-4EDE-AD4C-DC2FCC245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12" y="2439718"/>
                <a:ext cx="8100900" cy="699359"/>
              </a:xfrm>
              <a:prstGeom prst="rect">
                <a:avLst/>
              </a:prstGeom>
              <a:blipFill>
                <a:blip r:embed="rId5"/>
                <a:stretch>
                  <a:fillRect t="-7826" b="-1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96DA5CC4-7718-4EED-AC96-2DFE6ABF09E5}"/>
                  </a:ext>
                </a:extLst>
              </p:cNvPr>
              <p:cNvSpPr txBox="1"/>
              <p:nvPr/>
            </p:nvSpPr>
            <p:spPr>
              <a:xfrm>
                <a:off x="755576" y="5454476"/>
                <a:ext cx="7142571" cy="128016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𝟐𝟗𝟖</m:t>
                            </m:r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𝒕𝒕</m:t>
                            </m:r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𝑪𝑯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𝒌𝒉</m:t>
                            </m:r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í</m:t>
                            </m:r>
                          </m:sub>
                        </m:sSub>
                      </m:sub>
                      <m:sup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200" b="1" dirty="0">
                    <a:solidFill>
                      <a:srgbClr val="FF0000"/>
                    </a:solidFill>
                  </a:rPr>
                  <a:t> = - 50,72 [kJ/mol]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DA5CC4-7718-4EED-AC96-2DFE6ABF0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454476"/>
                <a:ext cx="7142571" cy="1280160"/>
              </a:xfrm>
              <a:prstGeom prst="rect">
                <a:avLst/>
              </a:prstGeom>
              <a:blipFill>
                <a:blip r:embed="rId6"/>
                <a:stretch>
                  <a:fillRect t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108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/>
      <p:bldP spid="2" grpId="0"/>
      <p:bldP spid="4" grpId="0"/>
      <p:bldP spid="5" grpId="0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784976" cy="1143000"/>
          </a:xfrm>
          <a:ln w="38100">
            <a:solidFill>
              <a:srgbClr val="0070C0"/>
            </a:solidFill>
          </a:ln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Ở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đk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25</a:t>
            </a:r>
            <a:r>
              <a:rPr lang="en-US" sz="2800" baseline="30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C,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chất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thế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đẳng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áp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tạo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thành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tiêu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âm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bền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động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học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72" y="1844824"/>
            <a:ext cx="8964488" cy="151216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So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sánh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bền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giữa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FeO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(r)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Fe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(r)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cho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chúng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thế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đẳng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áp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tạo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thành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tiêu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ở 25</a:t>
            </a:r>
            <a:r>
              <a:rPr lang="en-US" sz="2800" baseline="30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giá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trị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lần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lượt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- 244,3 kJ/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mol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-741,0 kJ/mol.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7504" y="3284984"/>
                <a:ext cx="9036496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solidFill>
                      <a:srgbClr val="C00000"/>
                    </a:solidFill>
                  </a:rPr>
                  <a:t>Tính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altLang="en-US" sz="2800" b="1" baseline="-25000" dirty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dirty="0" err="1" smtClean="0">
                    <a:solidFill>
                      <a:srgbClr val="C00000"/>
                    </a:solidFill>
                  </a:rPr>
                  <a:t>của</a:t>
                </a:r>
                <a:r>
                  <a:rPr lang="en-US" sz="2800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sz="2800" dirty="0" err="1" smtClean="0">
                    <a:solidFill>
                      <a:srgbClr val="C00000"/>
                    </a:solidFill>
                  </a:rPr>
                  <a:t>pư</a:t>
                </a:r>
                <a:r>
                  <a:rPr lang="en-US" sz="2800" dirty="0" smtClean="0">
                    <a:solidFill>
                      <a:srgbClr val="C00000"/>
                    </a:solidFill>
                  </a:rPr>
                  <a:t>:   2</a:t>
                </a:r>
                <a:r>
                  <a:rPr lang="en-US" sz="2800" dirty="0" smtClean="0">
                    <a:solidFill>
                      <a:srgbClr val="C00000"/>
                    </a:solidFill>
                    <a:cs typeface="Arial" pitchFamily="34" charset="0"/>
                  </a:rPr>
                  <a:t>FeO(r) 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C00000"/>
                            </a:solidFill>
                            <a:latin typeface="Cambria Math"/>
                            <a:cs typeface="Arial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/>
                            <a:cs typeface="Arial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/>
                            <a:cs typeface="Arial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 smtClean="0">
                    <a:solidFill>
                      <a:srgbClr val="C00000"/>
                    </a:solidFill>
                    <a:cs typeface="Arial" pitchFamily="34" charset="0"/>
                  </a:rPr>
                  <a:t>O</a:t>
                </a:r>
                <a:r>
                  <a:rPr lang="en-US" sz="2800" baseline="-25000" dirty="0" smtClean="0">
                    <a:solidFill>
                      <a:srgbClr val="C00000"/>
                    </a:solidFill>
                    <a:cs typeface="Arial" pitchFamily="34" charset="0"/>
                  </a:rPr>
                  <a:t>2</a:t>
                </a:r>
                <a:r>
                  <a:rPr lang="en-US" sz="2800" dirty="0" smtClean="0">
                    <a:solidFill>
                      <a:srgbClr val="C00000"/>
                    </a:solidFill>
                    <a:cs typeface="Arial" pitchFamily="34" charset="0"/>
                  </a:rPr>
                  <a:t>(k)  </a:t>
                </a:r>
                <a:r>
                  <a:rPr lang="en-US" sz="2800" dirty="0" smtClean="0">
                    <a:solidFill>
                      <a:srgbClr val="C00000"/>
                    </a:solidFill>
                    <a:cs typeface="Arial" pitchFamily="34" charset="0"/>
                    <a:sym typeface="Symbol"/>
                  </a:rPr>
                  <a:t>  Fe</a:t>
                </a:r>
                <a:r>
                  <a:rPr lang="en-US" sz="2800" baseline="-25000" dirty="0" smtClean="0">
                    <a:solidFill>
                      <a:srgbClr val="C00000"/>
                    </a:solidFill>
                    <a:cs typeface="Arial" pitchFamily="34" charset="0"/>
                    <a:sym typeface="Symbol"/>
                  </a:rPr>
                  <a:t>2</a:t>
                </a:r>
                <a:r>
                  <a:rPr lang="en-US" sz="2800" dirty="0" smtClean="0">
                    <a:solidFill>
                      <a:srgbClr val="C00000"/>
                    </a:solidFill>
                    <a:cs typeface="Arial" pitchFamily="34" charset="0"/>
                    <a:sym typeface="Symbol"/>
                  </a:rPr>
                  <a:t>O</a:t>
                </a:r>
                <a:r>
                  <a:rPr lang="en-US" sz="2800" baseline="-25000" dirty="0" smtClean="0">
                    <a:solidFill>
                      <a:srgbClr val="C00000"/>
                    </a:solidFill>
                    <a:cs typeface="Arial" pitchFamily="34" charset="0"/>
                    <a:sym typeface="Symbol"/>
                  </a:rPr>
                  <a:t>3</a:t>
                </a:r>
                <a:r>
                  <a:rPr lang="en-US" sz="2800" dirty="0" smtClean="0">
                    <a:solidFill>
                      <a:srgbClr val="C00000"/>
                    </a:solidFill>
                    <a:cs typeface="Arial" pitchFamily="34" charset="0"/>
                    <a:sym typeface="Symbol"/>
                  </a:rPr>
                  <a:t>(r)</a:t>
                </a:r>
                <a:r>
                  <a:rPr lang="en-US" sz="2800" dirty="0" smtClean="0">
                    <a:solidFill>
                      <a:srgbClr val="C00000"/>
                    </a:solidFill>
                  </a:rPr>
                  <a:t> </a:t>
                </a:r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284984"/>
                <a:ext cx="9036496" cy="700705"/>
              </a:xfrm>
              <a:prstGeom prst="rect">
                <a:avLst/>
              </a:prstGeom>
              <a:blipFill rotWithShape="1">
                <a:blip r:embed="rId2"/>
                <a:stretch>
                  <a:fillRect l="-1417" b="-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71600" y="3985689"/>
                <a:ext cx="7992888" cy="588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sz="2800" b="1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𝒕𝒕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 smtClean="0">
                    <a:solidFill>
                      <a:srgbClr val="006600"/>
                    </a:solidFill>
                  </a:rPr>
                  <a:t> [kJ/</a:t>
                </a:r>
                <a:r>
                  <a:rPr lang="en-US" sz="2800" dirty="0" err="1" smtClean="0">
                    <a:solidFill>
                      <a:srgbClr val="006600"/>
                    </a:solidFill>
                  </a:rPr>
                  <a:t>mol</a:t>
                </a:r>
                <a:r>
                  <a:rPr lang="en-US" sz="2800" dirty="0" smtClean="0">
                    <a:solidFill>
                      <a:srgbClr val="006600"/>
                    </a:solidFill>
                  </a:rPr>
                  <a:t>]   - 244,3                          - 741,0 </a:t>
                </a:r>
                <a:endParaRPr lang="en-US" sz="2800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985689"/>
                <a:ext cx="7992888" cy="588431"/>
              </a:xfrm>
              <a:prstGeom prst="rect">
                <a:avLst/>
              </a:prstGeom>
              <a:blipFill rotWithShape="1">
                <a:blip r:embed="rId3"/>
                <a:stretch>
                  <a:fillRect t="-6250" r="-915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37300" y="4735300"/>
                <a:ext cx="7848872" cy="608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 smtClean="0">
                    <a:solidFill>
                      <a:srgbClr val="CC00FF"/>
                    </a:solidFill>
                  </a:rPr>
                  <a:t> = -741,0 – [2.(-244,3)] = - 252,4 kJ &lt; 0</a:t>
                </a:r>
                <a:endParaRPr lang="en-US" sz="2800" dirty="0">
                  <a:solidFill>
                    <a:srgbClr val="CC00FF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300" y="4735300"/>
                <a:ext cx="7848872" cy="608115"/>
              </a:xfrm>
              <a:prstGeom prst="rect">
                <a:avLst/>
              </a:prstGeom>
              <a:blipFill rotWithShape="1">
                <a:blip r:embed="rId4"/>
                <a:stretch>
                  <a:fillRect t="-6000" b="-17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67544" y="5517232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cs typeface="Arial" pitchFamily="34" charset="0"/>
                <a:sym typeface="Symbol"/>
              </a:rPr>
              <a:t> </a:t>
            </a:r>
            <a:r>
              <a:rPr lang="en-US" sz="2800" dirty="0" smtClean="0">
                <a:solidFill>
                  <a:srgbClr val="FF0000"/>
                </a:solidFill>
                <a:cs typeface="Arial" pitchFamily="34" charset="0"/>
              </a:rPr>
              <a:t>Fe</a:t>
            </a:r>
            <a:r>
              <a:rPr lang="en-US" sz="2800" baseline="-25000" dirty="0" smtClean="0">
                <a:solidFill>
                  <a:srgbClr val="FF0000"/>
                </a:solidFill>
                <a:cs typeface="Arial" pitchFamily="34" charset="0"/>
              </a:rPr>
              <a:t>2</a:t>
            </a:r>
            <a:r>
              <a:rPr lang="en-US" sz="2800" dirty="0" smtClean="0">
                <a:solidFill>
                  <a:srgbClr val="FF0000"/>
                </a:solidFill>
                <a:cs typeface="Arial" pitchFamily="34" charset="0"/>
              </a:rPr>
              <a:t>O</a:t>
            </a:r>
            <a:r>
              <a:rPr lang="en-US" sz="2800" baseline="-25000" dirty="0" smtClean="0">
                <a:solidFill>
                  <a:srgbClr val="FF0000"/>
                </a:solidFill>
                <a:cs typeface="Arial" pitchFamily="34" charset="0"/>
              </a:rPr>
              <a:t>3</a:t>
            </a:r>
            <a:r>
              <a:rPr lang="en-US" sz="2800" dirty="0" smtClean="0">
                <a:solidFill>
                  <a:srgbClr val="FF0000"/>
                </a:solidFill>
                <a:cs typeface="Arial" pitchFamily="34" charset="0"/>
              </a:rPr>
              <a:t>(r) </a:t>
            </a:r>
            <a:r>
              <a:rPr lang="en-US" sz="2800" dirty="0" err="1" smtClean="0">
                <a:solidFill>
                  <a:srgbClr val="FF0000"/>
                </a:solidFill>
                <a:cs typeface="Arial" pitchFamily="34" charset="0"/>
              </a:rPr>
              <a:t>bền</a:t>
            </a:r>
            <a:r>
              <a:rPr lang="en-US" sz="2800" dirty="0" smtClean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cs typeface="Arial" pitchFamily="34" charset="0"/>
              </a:rPr>
              <a:t>hơn</a:t>
            </a:r>
            <a:r>
              <a:rPr lang="en-US" sz="2800" dirty="0" smtClean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cs typeface="Arial" pitchFamily="34" charset="0"/>
              </a:rPr>
              <a:t>FeO</a:t>
            </a:r>
            <a:r>
              <a:rPr lang="en-US" sz="2800" dirty="0" smtClean="0">
                <a:solidFill>
                  <a:srgbClr val="FF0000"/>
                </a:solidFill>
                <a:cs typeface="Arial" pitchFamily="34" charset="0"/>
              </a:rPr>
              <a:t>(r) </a:t>
            </a:r>
            <a:r>
              <a:rPr lang="en-US" sz="2800" dirty="0" err="1" smtClean="0">
                <a:solidFill>
                  <a:srgbClr val="FF0000"/>
                </a:solidFill>
                <a:cs typeface="Arial" pitchFamily="34" charset="0"/>
              </a:rPr>
              <a:t>theo</a:t>
            </a:r>
            <a:r>
              <a:rPr lang="en-US" sz="2800" dirty="0" smtClean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cs typeface="Arial" pitchFamily="34" charset="0"/>
              </a:rPr>
              <a:t>nhiệt</a:t>
            </a:r>
            <a:r>
              <a:rPr lang="en-US" sz="2800" dirty="0" smtClean="0">
                <a:solidFill>
                  <a:srgbClr val="FF0000"/>
                </a:solidFill>
                <a:cs typeface="Arial" pitchFamily="34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cs typeface="Arial" pitchFamily="34" charset="0"/>
              </a:rPr>
              <a:t>động</a:t>
            </a:r>
            <a:r>
              <a:rPr lang="en-US" sz="2800" dirty="0" smtClean="0">
                <a:solidFill>
                  <a:srgbClr val="FF0000"/>
                </a:solidFill>
                <a:cs typeface="Arial" pitchFamily="34" charset="0"/>
              </a:rPr>
              <a:t>  </a:t>
            </a:r>
            <a:r>
              <a:rPr lang="en-US" sz="2800" dirty="0" err="1" smtClean="0">
                <a:solidFill>
                  <a:srgbClr val="FF0000"/>
                </a:solidFill>
                <a:cs typeface="Arial" pitchFamily="34" charset="0"/>
              </a:rPr>
              <a:t>học</a:t>
            </a:r>
            <a:r>
              <a:rPr lang="en-US" sz="2800" dirty="0" smtClean="0">
                <a:solidFill>
                  <a:srgbClr val="FF0000"/>
                </a:solidFill>
                <a:cs typeface="Arial" pitchFamily="34" charset="0"/>
              </a:rPr>
              <a:t>.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29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4514" name="Rectangle 2">
                <a:extLst>
                  <a:ext uri="{FF2B5EF4-FFF2-40B4-BE49-F238E27FC236}">
                    <a16:creationId xmlns:a16="http://schemas.microsoft.com/office/drawing/2014/main" xmlns="" id="{9EABFCDC-6E19-4670-878F-315A1AD7E0DE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8002" y="116632"/>
                <a:ext cx="9115997" cy="11430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36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ĐÁNH GIÁ CHIỀU QUÁ TRÌNH TRONG THỰC TẾ TỪ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6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b="1" i="1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altLang="en-US" sz="36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endParaRPr lang="en-US" altLang="en-US" sz="3600" b="1" baseline="-25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64514" name="Rectangle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EABFCDC-6E19-4670-878F-315A1AD7E0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8002" y="116632"/>
                <a:ext cx="9115997" cy="1143000"/>
              </a:xfrm>
              <a:blipFill rotWithShape="1">
                <a:blip r:embed="rId3"/>
                <a:stretch>
                  <a:fillRect t="-15426" r="-201" b="-23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15" name="Rectangle 3">
                <a:extLst>
                  <a:ext uri="{FF2B5EF4-FFF2-40B4-BE49-F238E27FC236}">
                    <a16:creationId xmlns:a16="http://schemas.microsoft.com/office/drawing/2014/main" xmlns="" id="{4D1ED774-D89E-4E36-8C1A-B214522C465F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9387" y="1268760"/>
                <a:ext cx="8964613" cy="2376264"/>
              </a:xfrm>
            </p:spPr>
            <p:txBody>
              <a:bodyPr/>
              <a:lstStyle/>
              <a:p>
                <a:pPr eaLnBrk="1" hangingPunct="1">
                  <a:buFontTx/>
                  <a:buNone/>
                </a:pPr>
                <a:r>
                  <a:rPr lang="en-US" altLang="en-US" sz="2000" b="1" dirty="0"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+40kJ &lt;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altLang="en-US" sz="2800" b="1" baseline="-250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→ G</a:t>
                </a:r>
                <a:r>
                  <a:rPr lang="en-US" altLang="en-US" sz="2800" b="1" baseline="-250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298</a:t>
                </a:r>
                <a:r>
                  <a:rPr lang="en-US" altLang="en-US" sz="2800" b="1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&gt; 0 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: </a:t>
                </a:r>
                <a:r>
                  <a:rPr lang="en-US" altLang="en-US" sz="2800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trong</a:t>
                </a:r>
                <a:r>
                  <a:rPr lang="en-US" altLang="en-US" sz="2800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thực</a:t>
                </a:r>
                <a:r>
                  <a:rPr lang="en-US" altLang="en-US" sz="2800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tế</a:t>
                </a:r>
                <a:r>
                  <a:rPr lang="en-US" altLang="en-US" sz="2800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, </a:t>
                </a:r>
                <a:r>
                  <a:rPr lang="en-US" altLang="en-US" sz="2800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phản</a:t>
                </a:r>
                <a:r>
                  <a:rPr lang="en-US" altLang="en-US" sz="2800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ứng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không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tự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phát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ở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mọi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điều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kiện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,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chỉ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có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quá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trình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ng</a:t>
                </a:r>
                <a:r>
                  <a:rPr lang="vi-VN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ư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ợc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lại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mới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có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khả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năng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tự</a:t>
                </a:r>
                <a:r>
                  <a:rPr lang="en-US" altLang="en-US" sz="28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phát</a:t>
                </a:r>
                <a:r>
                  <a:rPr lang="en-US" altLang="en-US" sz="2800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.</a:t>
                </a:r>
              </a:p>
              <a:p>
                <a:pPr eaLnBrk="1" hangingPunct="1">
                  <a:buFontTx/>
                  <a:buNone/>
                </a:pPr>
                <a:endParaRPr lang="en-US" altLang="en-US" sz="10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eaLnBrk="1" hangingPunct="1">
                  <a:buFontTx/>
                  <a:buChar char="-"/>
                </a:pPr>
                <a:r>
                  <a:rPr lang="en-US" altLang="en-US" sz="2800" b="1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40kJ </a:t>
                </a:r>
                <a:r>
                  <a:rPr lang="en-US" altLang="en-US" sz="28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&gt;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altLang="en-US" sz="2800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→ G</a:t>
                </a:r>
                <a:r>
                  <a:rPr lang="en-US" altLang="en-US" sz="2800" b="1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298</a:t>
                </a:r>
                <a:r>
                  <a:rPr lang="en-US" altLang="en-US" sz="28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&lt; 0 : </a:t>
                </a:r>
                <a:r>
                  <a:rPr lang="en-US" altLang="en-US" sz="2800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trong</a:t>
                </a:r>
                <a:r>
                  <a:rPr lang="en-US" altLang="en-US" sz="28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thực</a:t>
                </a:r>
                <a:r>
                  <a:rPr lang="en-US" altLang="en-US" sz="28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tế</a:t>
                </a:r>
                <a:r>
                  <a:rPr lang="en-US" altLang="en-US" sz="2800" b="1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, </a:t>
                </a:r>
                <a:r>
                  <a:rPr lang="en-US" altLang="en-US" sz="2800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phản</a:t>
                </a:r>
                <a:r>
                  <a:rPr lang="en-US" altLang="en-US" sz="28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ứng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có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thể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vi-VN" altLang="en-US" sz="28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tự</a:t>
                </a:r>
                <a:r>
                  <a:rPr lang="en-US" altLang="en-US" sz="28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phát</a:t>
                </a:r>
                <a:r>
                  <a:rPr lang="en-US" altLang="en-US" sz="28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hoàn</a:t>
                </a:r>
                <a:r>
                  <a:rPr lang="en-US" altLang="en-US" sz="28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toàn</a:t>
                </a:r>
                <a:r>
                  <a:rPr lang="en-US" altLang="en-US" sz="28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(ở 25</a:t>
                </a:r>
                <a:r>
                  <a:rPr lang="en-US" altLang="en-US" sz="2800" baseline="300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altLang="en-US" sz="28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C,  K</a:t>
                </a:r>
                <a:r>
                  <a:rPr lang="en-US" altLang="en-US" sz="2800" baseline="-250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CB </a:t>
                </a:r>
                <a:r>
                  <a:rPr lang="en-US" altLang="en-US" sz="28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&gt;10</a:t>
                </a:r>
                <a:r>
                  <a:rPr lang="en-US" altLang="en-US" sz="2800" baseline="300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7</a:t>
                </a:r>
                <a:r>
                  <a:rPr lang="en-US" altLang="en-US" sz="28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)</a:t>
                </a:r>
              </a:p>
              <a:p>
                <a:pPr eaLnBrk="1" hangingPunct="1">
                  <a:buFontTx/>
                  <a:buChar char="-"/>
                </a:pPr>
                <a:endParaRPr lang="en-US" altLang="en-US" sz="1000" dirty="0" smtClean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eaLnBrk="1" hangingPunct="1">
                  <a:buFontTx/>
                  <a:buNone/>
                </a:pPr>
                <a:r>
                  <a:rPr lang="en-US" altLang="en-US" sz="2800" b="1" dirty="0" smtClean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- </a:t>
                </a:r>
                <a:r>
                  <a:rPr lang="en-US" altLang="en-US" sz="2800" b="1" dirty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40kJ &lt;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altLang="en-US" sz="2800" b="1" baseline="-25000" dirty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&lt; +40kJ : </a:t>
                </a:r>
                <a:r>
                  <a:rPr lang="en-US" altLang="en-US" sz="2800" dirty="0" err="1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phản</a:t>
                </a:r>
                <a:r>
                  <a:rPr lang="en-US" altLang="en-US" sz="2800" dirty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ứng</a:t>
                </a:r>
                <a:r>
                  <a:rPr lang="en-US" altLang="en-US" sz="2800" dirty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diễn</a:t>
                </a:r>
                <a:r>
                  <a:rPr lang="en-US" altLang="en-US" sz="2800" dirty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ra </a:t>
                </a:r>
                <a:r>
                  <a:rPr lang="en-US" altLang="en-US" sz="2800" dirty="0" err="1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thuận</a:t>
                </a:r>
                <a:r>
                  <a:rPr lang="en-US" altLang="en-US" sz="2800" dirty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nghịch</a:t>
                </a:r>
                <a:r>
                  <a:rPr lang="en-US" altLang="en-US" sz="2800" dirty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trong</a:t>
                </a:r>
                <a:r>
                  <a:rPr lang="en-US" altLang="en-US" sz="2800" dirty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thực</a:t>
                </a:r>
                <a:r>
                  <a:rPr lang="en-US" altLang="en-US" sz="2800" dirty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dirty="0" err="1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tế</a:t>
                </a:r>
                <a:r>
                  <a:rPr lang="en-US" altLang="en-US" sz="2800" dirty="0">
                    <a:solidFill>
                      <a:srgbClr val="008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.</a:t>
                </a:r>
                <a:endParaRPr lang="en-US" altLang="en-US" sz="2800" baseline="-25000" dirty="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0" indent="0" eaLnBrk="1" hangingPunct="1">
                  <a:buNone/>
                </a:pPr>
                <a:endParaRPr lang="en-US" altLang="en-US" sz="2800" b="1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64515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D1ED774-D89E-4E36-8C1A-B214522C46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9387" y="1268760"/>
                <a:ext cx="8964613" cy="2376264"/>
              </a:xfrm>
              <a:blipFill rotWithShape="1">
                <a:blip r:embed="rId4"/>
                <a:stretch>
                  <a:fillRect l="-1360" t="-1538" b="-7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39160" y="5229200"/>
                <a:ext cx="8892480" cy="1036951"/>
              </a:xfrm>
              <a:prstGeom prst="rect">
                <a:avLst/>
              </a:prstGeom>
              <a:noFill/>
              <a:ln w="317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altLang="en-US" sz="2800" b="1" baseline="-25000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&gt; 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0: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phản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ứng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không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tự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phát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tại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đk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chuẩn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,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nhưng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có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khả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năng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tự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phát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trong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thực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2800" b="1" dirty="0" err="1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tế</a:t>
                </a:r>
                <a:r>
                  <a:rPr lang="en-US" altLang="en-US" sz="2800" b="1" dirty="0" smtClean="0">
                    <a:solidFill>
                      <a:srgbClr val="C000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!</a:t>
                </a:r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60" y="5229200"/>
                <a:ext cx="8892480" cy="1036951"/>
              </a:xfrm>
              <a:prstGeom prst="rect">
                <a:avLst/>
              </a:prstGeom>
              <a:blipFill rotWithShape="1">
                <a:blip r:embed="rId5"/>
                <a:stretch>
                  <a:fillRect l="-1230" t="-2286" b="-13143"/>
                </a:stretch>
              </a:blipFill>
              <a:ln w="317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89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3DB6F3F-E222-4143-A575-C86EEBF37319}"/>
              </a:ext>
            </a:extLst>
          </p:cNvPr>
          <p:cNvSpPr txBox="1"/>
          <p:nvPr/>
        </p:nvSpPr>
        <p:spPr>
          <a:xfrm>
            <a:off x="469305" y="2320432"/>
            <a:ext cx="705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              </a:t>
            </a:r>
            <a:r>
              <a:rPr lang="en-US" sz="3600" b="1" dirty="0">
                <a:solidFill>
                  <a:srgbClr val="FF0000"/>
                </a:solidFill>
              </a:rPr>
              <a:t>3</a:t>
            </a:r>
            <a:r>
              <a:rPr lang="en-US" sz="3600" dirty="0">
                <a:solidFill>
                  <a:srgbClr val="0000FF"/>
                </a:solidFill>
              </a:rPr>
              <a:t>C</a:t>
            </a:r>
            <a:r>
              <a:rPr lang="en-US" sz="3600" baseline="-25000" dirty="0">
                <a:solidFill>
                  <a:srgbClr val="0000FF"/>
                </a:solidFill>
              </a:rPr>
              <a:t>2</a:t>
            </a:r>
            <a:r>
              <a:rPr lang="en-US" sz="3600" dirty="0">
                <a:solidFill>
                  <a:srgbClr val="0000FF"/>
                </a:solidFill>
              </a:rPr>
              <a:t>H</a:t>
            </a:r>
            <a:r>
              <a:rPr lang="en-US" sz="3600" baseline="-25000" dirty="0">
                <a:solidFill>
                  <a:srgbClr val="0000FF"/>
                </a:solidFill>
              </a:rPr>
              <a:t>2</a:t>
            </a:r>
            <a:r>
              <a:rPr lang="en-US" sz="3600" dirty="0">
                <a:solidFill>
                  <a:srgbClr val="0000FF"/>
                </a:solidFill>
              </a:rPr>
              <a:t>(k)             </a:t>
            </a:r>
            <a:r>
              <a:rPr lang="en-US" sz="3600" b="1" dirty="0">
                <a:solidFill>
                  <a:srgbClr val="FF0000"/>
                </a:solidFill>
              </a:rPr>
              <a:t>1</a:t>
            </a:r>
            <a:r>
              <a:rPr lang="en-US" sz="3600" dirty="0">
                <a:solidFill>
                  <a:srgbClr val="0000FF"/>
                </a:solidFill>
              </a:rPr>
              <a:t>C</a:t>
            </a:r>
            <a:r>
              <a:rPr lang="en-US" sz="3600" baseline="-25000" dirty="0">
                <a:solidFill>
                  <a:srgbClr val="0000FF"/>
                </a:solidFill>
              </a:rPr>
              <a:t>6</a:t>
            </a:r>
            <a:r>
              <a:rPr lang="en-US" sz="3600" dirty="0">
                <a:solidFill>
                  <a:srgbClr val="0000FF"/>
                </a:solidFill>
              </a:rPr>
              <a:t>H</a:t>
            </a:r>
            <a:r>
              <a:rPr lang="en-US" sz="3600" baseline="-25000" dirty="0">
                <a:solidFill>
                  <a:srgbClr val="0000FF"/>
                </a:solidFill>
              </a:rPr>
              <a:t>6</a:t>
            </a:r>
            <a:r>
              <a:rPr lang="en-US" sz="3600" dirty="0">
                <a:solidFill>
                  <a:srgbClr val="0000FF"/>
                </a:solidFill>
              </a:rPr>
              <a:t>(k)</a:t>
            </a:r>
            <a:r>
              <a:rPr lang="en-US" sz="3600" dirty="0"/>
              <a:t>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19E3910F-3FF6-4181-B577-DB0EC97BCB4F}"/>
              </a:ext>
            </a:extLst>
          </p:cNvPr>
          <p:cNvCxnSpPr>
            <a:cxnSpLocks/>
          </p:cNvCxnSpPr>
          <p:nvPr/>
        </p:nvCxnSpPr>
        <p:spPr>
          <a:xfrm>
            <a:off x="2771800" y="2990564"/>
            <a:ext cx="1080120" cy="71032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E1FFFB9C-8324-4413-848F-B40A0BBCCC36}"/>
              </a:ext>
            </a:extLst>
          </p:cNvPr>
          <p:cNvCxnSpPr>
            <a:cxnSpLocks/>
          </p:cNvCxnSpPr>
          <p:nvPr/>
        </p:nvCxnSpPr>
        <p:spPr>
          <a:xfrm flipV="1">
            <a:off x="4932040" y="2966764"/>
            <a:ext cx="1152128" cy="73412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20BC98C1-7310-4CC6-9059-B9F64349851F}"/>
              </a:ext>
            </a:extLst>
          </p:cNvPr>
          <p:cNvCxnSpPr>
            <a:cxnSpLocks/>
          </p:cNvCxnSpPr>
          <p:nvPr/>
        </p:nvCxnSpPr>
        <p:spPr>
          <a:xfrm>
            <a:off x="4075934" y="2708920"/>
            <a:ext cx="856106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5BB3953-4D05-423A-BA5E-89E131FF86D9}"/>
              </a:ext>
            </a:extLst>
          </p:cNvPr>
          <p:cNvSpPr txBox="1"/>
          <p:nvPr/>
        </p:nvSpPr>
        <p:spPr>
          <a:xfrm>
            <a:off x="2771800" y="3689713"/>
            <a:ext cx="5418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6C(gr)    +    3H</a:t>
            </a:r>
            <a:r>
              <a:rPr lang="en-US" sz="3200" baseline="-25000" dirty="0"/>
              <a:t>2</a:t>
            </a:r>
            <a:r>
              <a:rPr lang="en-US" sz="3200" dirty="0"/>
              <a:t>(k)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30F6C048-89D3-4246-8669-6652221E955D}"/>
                  </a:ext>
                </a:extLst>
              </p:cNvPr>
              <p:cNvSpPr txBox="1"/>
              <p:nvPr/>
            </p:nvSpPr>
            <p:spPr>
              <a:xfrm>
                <a:off x="210048" y="2990564"/>
                <a:ext cx="1726431" cy="658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298 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0F6C048-89D3-4246-8669-6652221E9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48" y="2990564"/>
                <a:ext cx="1726431" cy="658706"/>
              </a:xfrm>
              <a:prstGeom prst="rect">
                <a:avLst/>
              </a:prstGeom>
              <a:blipFill rotWithShape="1">
                <a:blip r:embed="rId3"/>
                <a:stretch>
                  <a:fillRect r="-63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738925FE-689B-471E-A31D-6FB8D7851ED8}"/>
                  </a:ext>
                </a:extLst>
              </p:cNvPr>
              <p:cNvSpPr txBox="1"/>
              <p:nvPr/>
            </p:nvSpPr>
            <p:spPr>
              <a:xfrm>
                <a:off x="5793854" y="3140368"/>
                <a:ext cx="1726431" cy="661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298 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sub>
                        <m:sup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38925FE-689B-471E-A31D-6FB8D7851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854" y="3140368"/>
                <a:ext cx="1726431" cy="661463"/>
              </a:xfrm>
              <a:prstGeom prst="rect">
                <a:avLst/>
              </a:prstGeom>
              <a:blipFill rotWithShape="1">
                <a:blip r:embed="rId4"/>
                <a:stretch>
                  <a:fillRect r="-45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4425AD4C-CC02-4E61-B2C8-DDEEF7858A82}"/>
                  </a:ext>
                </a:extLst>
              </p:cNvPr>
              <p:cNvSpPr txBox="1"/>
              <p:nvPr/>
            </p:nvSpPr>
            <p:spPr>
              <a:xfrm>
                <a:off x="748347" y="4423835"/>
                <a:ext cx="2376264" cy="65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00FF"/>
                    </a:solidFill>
                  </a:rPr>
                  <a:t> </a:t>
                </a:r>
                <a:r>
                  <a:rPr lang="en-US" sz="3200" dirty="0"/>
                  <a:t>=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425AD4C-CC02-4E61-B2C8-DDEEF7858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347" y="4423835"/>
                <a:ext cx="2376264" cy="651269"/>
              </a:xfrm>
              <a:prstGeom prst="rect">
                <a:avLst/>
              </a:prstGeom>
              <a:blipFill rotWithShape="1">
                <a:blip r:embed="rId5"/>
                <a:stretch>
                  <a:fillRect t="-11215" b="-20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D223EEC7-6932-4959-AEF7-2E9C350E1A3D}"/>
                  </a:ext>
                </a:extLst>
              </p:cNvPr>
              <p:cNvSpPr txBox="1"/>
              <p:nvPr/>
            </p:nvSpPr>
            <p:spPr>
              <a:xfrm>
                <a:off x="5481253" y="4507172"/>
                <a:ext cx="1726431" cy="658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298 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223EEC7-6932-4959-AEF7-2E9C350E1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253" y="4507172"/>
                <a:ext cx="1726431" cy="658706"/>
              </a:xfrm>
              <a:prstGeom prst="rect">
                <a:avLst/>
              </a:prstGeom>
              <a:blipFill rotWithShape="1">
                <a:blip r:embed="rId6"/>
                <a:stretch>
                  <a:fillRect r="-6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A2773FF9-C6EB-4815-9B60-1B8FF04227EA}"/>
                  </a:ext>
                </a:extLst>
              </p:cNvPr>
              <p:cNvSpPr txBox="1"/>
              <p:nvPr/>
            </p:nvSpPr>
            <p:spPr>
              <a:xfrm>
                <a:off x="2774696" y="4413641"/>
                <a:ext cx="1726431" cy="661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298 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sub>
                        <m:sup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2773FF9-C6EB-4815-9B60-1B8FF0422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696" y="4413641"/>
                <a:ext cx="1726431" cy="661463"/>
              </a:xfrm>
              <a:prstGeom prst="rect">
                <a:avLst/>
              </a:prstGeom>
              <a:blipFill rotWithShape="1">
                <a:blip r:embed="rId7"/>
                <a:stretch>
                  <a:fillRect r="-46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EBD67453-EF75-4CD1-9AF2-2147DDA5F429}"/>
                  </a:ext>
                </a:extLst>
              </p:cNvPr>
              <p:cNvSpPr txBox="1"/>
              <p:nvPr/>
            </p:nvSpPr>
            <p:spPr>
              <a:xfrm>
                <a:off x="251520" y="5316359"/>
                <a:ext cx="2376264" cy="65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6600"/>
                    </a:solidFill>
                  </a:rPr>
                  <a:t> =</a:t>
                </a:r>
                <a:endParaRPr lang="en-US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D67453-EF75-4CD1-9AF2-2147DDA5F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316359"/>
                <a:ext cx="2376264" cy="651269"/>
              </a:xfrm>
              <a:prstGeom prst="rect">
                <a:avLst/>
              </a:prstGeom>
              <a:blipFill>
                <a:blip r:embed="rId11"/>
                <a:stretch>
                  <a:fillRect t="-11215" b="-20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1EC95BFE-C273-4631-8AC2-000898E9826C}"/>
                  </a:ext>
                </a:extLst>
              </p:cNvPr>
              <p:cNvSpPr txBox="1"/>
              <p:nvPr/>
            </p:nvSpPr>
            <p:spPr>
              <a:xfrm>
                <a:off x="2082223" y="5305527"/>
                <a:ext cx="4157017" cy="597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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𝑡𝑡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6600"/>
                    </a:solidFill>
                  </a:rPr>
                  <a:t>)</a:t>
                </a:r>
                <a:r>
                  <a:rPr lang="en-US" sz="3200" baseline="-25000" dirty="0" err="1">
                    <a:solidFill>
                      <a:srgbClr val="006600"/>
                    </a:solidFill>
                  </a:rPr>
                  <a:t>sản</a:t>
                </a:r>
                <a:r>
                  <a:rPr lang="en-US" sz="3200" baseline="-25000" dirty="0">
                    <a:solidFill>
                      <a:srgbClr val="006600"/>
                    </a:solidFill>
                  </a:rPr>
                  <a:t> </a:t>
                </a:r>
                <a:r>
                  <a:rPr lang="en-US" sz="3200" baseline="-25000" dirty="0" err="1">
                    <a:solidFill>
                      <a:srgbClr val="006600"/>
                    </a:solidFill>
                  </a:rPr>
                  <a:t>phẩm</a:t>
                </a:r>
                <a:endParaRPr lang="en-US" sz="3200" baseline="-25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EC95BFE-C273-4631-8AC2-000898E98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223" y="5305527"/>
                <a:ext cx="4157017" cy="597921"/>
              </a:xfrm>
              <a:prstGeom prst="rect">
                <a:avLst/>
              </a:prstGeom>
              <a:blipFill>
                <a:blip r:embed="rId12"/>
                <a:stretch>
                  <a:fillRect t="-12245" b="-31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7E0B2FE0-E058-43B4-8FD8-F8E7AD4222D0}"/>
                  </a:ext>
                </a:extLst>
              </p:cNvPr>
              <p:cNvSpPr txBox="1"/>
              <p:nvPr/>
            </p:nvSpPr>
            <p:spPr>
              <a:xfrm>
                <a:off x="5220072" y="5422189"/>
                <a:ext cx="4157017" cy="597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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𝑡𝑡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6600"/>
                    </a:solidFill>
                  </a:rPr>
                  <a:t>)</a:t>
                </a:r>
                <a:r>
                  <a:rPr lang="en-US" sz="3200" baseline="-25000" dirty="0" err="1">
                    <a:solidFill>
                      <a:srgbClr val="006600"/>
                    </a:solidFill>
                  </a:rPr>
                  <a:t>chất</a:t>
                </a:r>
                <a:r>
                  <a:rPr lang="en-US" sz="3200" dirty="0">
                    <a:solidFill>
                      <a:srgbClr val="006600"/>
                    </a:solidFill>
                  </a:rPr>
                  <a:t> </a:t>
                </a:r>
                <a:r>
                  <a:rPr lang="en-US" sz="3200" baseline="-25000" dirty="0" err="1">
                    <a:solidFill>
                      <a:srgbClr val="006600"/>
                    </a:solidFill>
                  </a:rPr>
                  <a:t>đầu</a:t>
                </a:r>
                <a:endParaRPr lang="en-US" sz="3200" baseline="-25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0B2FE0-E058-43B4-8FD8-F8E7AD422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5422189"/>
                <a:ext cx="4157017" cy="597921"/>
              </a:xfrm>
              <a:prstGeom prst="rect">
                <a:avLst/>
              </a:prstGeom>
              <a:blipFill>
                <a:blip r:embed="rId13"/>
                <a:stretch>
                  <a:fillRect t="-12121" b="-3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xmlns="" id="{0CB842DA-BA79-4CFD-9360-A3395AEAF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347" y="832586"/>
            <a:ext cx="7772400" cy="72863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+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=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+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14ED3BC3-DD4A-48FD-8A82-1B721BFD488D}"/>
                  </a:ext>
                </a:extLst>
              </p:cNvPr>
              <p:cNvSpPr txBox="1"/>
              <p:nvPr/>
            </p:nvSpPr>
            <p:spPr>
              <a:xfrm>
                <a:off x="44808" y="1522962"/>
                <a:ext cx="9944060" cy="546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6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600" dirty="0">
                    <a:solidFill>
                      <a:srgbClr val="006600"/>
                    </a:solidFill>
                  </a:rPr>
                  <a:t>= [</a:t>
                </a:r>
                <a:r>
                  <a:rPr lang="en-US" sz="2600" dirty="0">
                    <a:solidFill>
                      <a:srgbClr val="FF0000"/>
                    </a:solidFill>
                  </a:rPr>
                  <a:t>c</a:t>
                </a:r>
                <a:r>
                  <a:rPr lang="en-US" sz="2600" dirty="0">
                    <a:solidFill>
                      <a:srgbClr val="006600"/>
                    </a:solidFill>
                  </a:rPr>
                  <a:t>.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6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𝑡𝑡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600" dirty="0"/>
                  <a:t>+</a:t>
                </a:r>
                <a:r>
                  <a:rPr lang="en-US" sz="2600" dirty="0">
                    <a:solidFill>
                      <a:srgbClr val="FF0000"/>
                    </a:solidFill>
                  </a:rPr>
                  <a:t>d</a:t>
                </a:r>
                <a:r>
                  <a:rPr lang="en-US" sz="2600" dirty="0"/>
                  <a:t>.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6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𝑡𝑡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600" dirty="0"/>
                  <a:t>] - [</a:t>
                </a:r>
                <a:r>
                  <a:rPr lang="en-US" sz="2600" dirty="0">
                    <a:solidFill>
                      <a:srgbClr val="FF0000"/>
                    </a:solidFill>
                  </a:rPr>
                  <a:t>a</a:t>
                </a:r>
                <a:r>
                  <a:rPr lang="en-US" sz="2600" dirty="0"/>
                  <a:t>.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6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𝑡𝑡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600" dirty="0"/>
                  <a:t>+ </a:t>
                </a:r>
                <a:r>
                  <a:rPr lang="en-US" sz="2600" dirty="0">
                    <a:solidFill>
                      <a:srgbClr val="FF0000"/>
                    </a:solidFill>
                  </a:rPr>
                  <a:t>b</a:t>
                </a:r>
                <a:r>
                  <a:rPr lang="en-US" sz="2600" dirty="0"/>
                  <a:t>.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6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𝑡𝑡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6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600" dirty="0"/>
                  <a:t>]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4ED3BC3-DD4A-48FD-8A82-1B721BFD4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8" y="1522962"/>
                <a:ext cx="9944060" cy="546496"/>
              </a:xfrm>
              <a:prstGeom prst="rect">
                <a:avLst/>
              </a:prstGeom>
              <a:blipFill>
                <a:blip r:embed="rId14"/>
                <a:stretch>
                  <a:fillRect t="-8989" b="-19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2A55CF23-ED53-4FAB-8E65-BB1925A79A44}"/>
                  </a:ext>
                </a:extLst>
              </p:cNvPr>
              <p:cNvSpPr txBox="1"/>
              <p:nvPr/>
            </p:nvSpPr>
            <p:spPr>
              <a:xfrm>
                <a:off x="3563888" y="2033850"/>
                <a:ext cx="2376264" cy="65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55CF23-ED53-4FAB-8E65-BB1925A79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2033850"/>
                <a:ext cx="2376264" cy="6512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0EC27071-25B4-48E0-9335-FB83D082A3F8}"/>
                  </a:ext>
                </a:extLst>
              </p:cNvPr>
              <p:cNvSpPr txBox="1"/>
              <p:nvPr/>
            </p:nvSpPr>
            <p:spPr>
              <a:xfrm>
                <a:off x="44808" y="239372"/>
                <a:ext cx="9332281" cy="581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CC00FF"/>
                    </a:solidFill>
                  </a:rPr>
                  <a:t>CÁCH TÍNH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800" i="1" smtClean="0">
                            <a:solidFill>
                              <a:srgbClr val="CC00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298 </m:t>
                        </m:r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CC00FF"/>
                    </a:solidFill>
                  </a:rPr>
                  <a:t>THEO THẾ ĐẲNG ÁP TẠO THÀNH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C27071-25B4-48E0-9335-FB83D082A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8" y="239372"/>
                <a:ext cx="9332281" cy="581313"/>
              </a:xfrm>
              <a:prstGeom prst="rect">
                <a:avLst/>
              </a:prstGeom>
              <a:blipFill>
                <a:blip r:embed="rId16"/>
                <a:stretch>
                  <a:fillRect l="-1306" t="-9375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7" grpId="0"/>
      <p:bldP spid="18" grpId="0"/>
      <p:bldP spid="20" grpId="0"/>
      <p:bldP spid="21" grpId="0"/>
      <p:bldP spid="23" grpId="0"/>
      <p:bldP spid="24" grpId="0"/>
      <p:bldP spid="25" grpId="0"/>
      <p:bldP spid="15" grpId="0" build="p"/>
      <p:bldP spid="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xmlns="" id="{8BF4D7D1-3D2F-4006-8346-25E58040CC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7504" y="190500"/>
                <a:ext cx="9108504" cy="1870348"/>
              </a:xfrm>
            </p:spPr>
            <p:txBody>
              <a:bodyPr/>
              <a:lstStyle/>
              <a:p>
                <a:pPr algn="l">
                  <a:lnSpc>
                    <a:spcPct val="150000"/>
                  </a:lnSpc>
                </a:pPr>
                <a: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ÁP DỤNG. </a:t>
                </a:r>
                <a:r>
                  <a:rPr lang="en-US" sz="32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Tính</a:t>
                </a:r>
                <a: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32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32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phản</a:t>
                </a:r>
                <a: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32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ứng</a:t>
                </a:r>
                <a: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ở 25</a:t>
                </a:r>
                <a:r>
                  <a:rPr lang="en-US" sz="3200" baseline="30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C:</a:t>
                </a:r>
                <a:br>
                  <a:rPr lang="en-US" sz="3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32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</a:t>
                </a:r>
                <a:r>
                  <a:rPr lang="en-US" sz="3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</a:t>
                </a:r>
                <a:r>
                  <a:rPr lang="en-US" sz="3200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r>
                  <a:rPr lang="en-US" sz="3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(k) + 2O</a:t>
                </a:r>
                <a:r>
                  <a:rPr lang="en-US" sz="3200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3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(k) = CO</a:t>
                </a:r>
                <a:r>
                  <a:rPr lang="en-US" sz="3200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3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(k) + 2H</a:t>
                </a:r>
                <a:r>
                  <a:rPr lang="en-US" sz="3200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3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O(k)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𝑡𝑡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0066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𝑘𝐽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] -50,72                -394,36      -237,13</a:t>
                </a:r>
                <a:endParaRPr lang="en-US" sz="3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F4D7D1-3D2F-4006-8346-25E58040CC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7504" y="190500"/>
                <a:ext cx="9108504" cy="1870348"/>
              </a:xfrm>
              <a:blipFill>
                <a:blip r:embed="rId3"/>
                <a:stretch>
                  <a:fillRect l="-1740" t="-12378" r="-602" b="-24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5059307F-5A56-46B0-9387-9CBEBA30B4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2708920"/>
                <a:ext cx="9206932" cy="108012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= (-394,36 -2</a:t>
                </a:r>
                <a:r>
                  <a:rPr lang="en-US" sz="3600" dirty="0">
                    <a:solidFill>
                      <a:srgbClr val="FF0000"/>
                    </a:solidFill>
                  </a:rPr>
                  <a:t>.</a:t>
                </a:r>
                <a:r>
                  <a:rPr lang="en-US" dirty="0">
                    <a:solidFill>
                      <a:srgbClr val="C00000"/>
                    </a:solidFill>
                  </a:rPr>
                  <a:t>237,13) – (-50,72)= </a:t>
                </a:r>
                <a:r>
                  <a:rPr lang="en-US" b="1" dirty="0">
                    <a:solidFill>
                      <a:srgbClr val="FF0000"/>
                    </a:solidFill>
                  </a:rPr>
                  <a:t>-817,9[kJ]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&lt; 0 : </a:t>
                </a:r>
                <a:r>
                  <a:rPr lang="en-US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phản</a:t>
                </a:r>
                <a:r>
                  <a:rPr lang="en-US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ứng</a:t>
                </a:r>
                <a:r>
                  <a:rPr lang="en-US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khả</a:t>
                </a:r>
                <a:r>
                  <a:rPr lang="en-US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năng</a:t>
                </a:r>
                <a:r>
                  <a:rPr lang="en-US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tự</a:t>
                </a:r>
                <a:r>
                  <a:rPr lang="en-US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phát</a:t>
                </a:r>
                <a:r>
                  <a:rPr lang="en-US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ở </a:t>
                </a:r>
                <a:r>
                  <a:rPr lang="en-US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đk</a:t>
                </a:r>
                <a:r>
                  <a:rPr lang="en-US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tiêu</a:t>
                </a:r>
                <a:r>
                  <a:rPr lang="en-US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chuẩn</a:t>
                </a:r>
                <a:r>
                  <a:rPr lang="en-US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và</a:t>
                </a:r>
                <a:r>
                  <a:rPr lang="en-US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</a:t>
                </a:r>
                <a:r>
                  <a:rPr lang="en-US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US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thực</a:t>
                </a:r>
                <a:r>
                  <a:rPr lang="en-US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&lt; - 40 kJ :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pư</a:t>
                </a:r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khả</a:t>
                </a:r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năng</a:t>
                </a:r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tự</a:t>
                </a:r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phát</a:t>
                </a:r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hoàn</a:t>
                </a:r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toàn</a:t>
                </a:r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trong</a:t>
                </a:r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thực</a:t>
                </a:r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tế</a:t>
                </a:r>
                <a:r>
                  <a:rPr lang="en-US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059307F-5A56-46B0-9387-9CBEBA30B4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708920"/>
                <a:ext cx="9206932" cy="1080120"/>
              </a:xfrm>
              <a:blipFill rotWithShape="1">
                <a:blip r:embed="rId4"/>
                <a:stretch>
                  <a:fillRect l="-1656" t="-11236" r="-132" b="-244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67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xmlns="" id="{D66224A1-EAA8-430A-AB03-A994BBBBA0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75556" y="411069"/>
                <a:ext cx="7772400" cy="1124372"/>
              </a:xfrm>
            </p:spPr>
            <p:txBody>
              <a:bodyPr/>
              <a:lstStyle/>
              <a:p>
                <a:pPr algn="l">
                  <a:lnSpc>
                    <a:spcPct val="150000"/>
                  </a:lnSpc>
                </a:pPr>
                <a:r>
                  <a:rPr lang="en-US" sz="3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TÍNH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THEO </a:t>
                </a:r>
                <a:r>
                  <a:rPr lang="en-US" sz="3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H</a:t>
                </a:r>
                <a:r>
                  <a:rPr lang="en-US" sz="3200" b="1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3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VÀ S</a:t>
                </a:r>
                <a:r>
                  <a:rPr lang="en-US" sz="3200" b="1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3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b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m:rPr>
                            <m:sty m:val="p"/>
                          </m:rP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m:rPr>
                            <m:sty m:val="p"/>
                          </m:rP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−298.</m:t>
                        </m:r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m:rPr>
                            <m:sty m:val="p"/>
                          </m:rP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66224A1-EAA8-430A-AB03-A994BBBBA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75556" y="411069"/>
                <a:ext cx="7772400" cy="1124372"/>
              </a:xfrm>
              <a:blipFill>
                <a:blip r:embed="rId2"/>
                <a:stretch>
                  <a:fillRect t="-16757" b="-4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36CF75A5-8479-4BC0-96E7-F16BBF1077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5576" y="1988840"/>
                <a:ext cx="7772400" cy="23762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                    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(k)  +  3H</a:t>
                </a:r>
                <a:r>
                  <a:rPr lang="en-US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(k)  = 2NH</a:t>
                </a:r>
                <a:r>
                  <a:rPr lang="en-US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(k)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𝑡𝑡</m:t>
                        </m:r>
                      </m:sub>
                      <m:sup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]                                 - 45,9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</m:sub>
                      <m:sup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𝑚𝑜𝑙</m:t>
                        </m:r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]   191,5        130,6       192,5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6CF75A5-8479-4BC0-96E7-F16BBF1077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576" y="1988840"/>
                <a:ext cx="7772400" cy="2376264"/>
              </a:xfrm>
              <a:blipFill rotWithShape="1">
                <a:blip r:embed="rId3"/>
                <a:stretch>
                  <a:fillRect t="-3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E7394ABF-79C4-494B-9F6B-8B268C0400CA}"/>
                  </a:ext>
                </a:extLst>
              </p:cNvPr>
              <p:cNvSpPr txBox="1"/>
              <p:nvPr/>
            </p:nvSpPr>
            <p:spPr>
              <a:xfrm>
                <a:off x="294164" y="3933056"/>
                <a:ext cx="8964488" cy="2564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32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6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sz="36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𝟐𝟗𝟖</m:t>
                        </m:r>
                        <m:r>
                          <a:rPr lang="en-US" sz="36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𝐩</m:t>
                        </m:r>
                        <m:r>
                          <a:rPr lang="en-US" sz="36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600" dirty="0">
                    <a:solidFill>
                      <a:srgbClr val="FF0000"/>
                    </a:solidFill>
                  </a:rPr>
                  <a:t> = - 32,7 [kJ] &lt; 0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dirty="0" err="1">
                    <a:solidFill>
                      <a:srgbClr val="CC00FF"/>
                    </a:solidFill>
                  </a:rPr>
                  <a:t>Phản</a:t>
                </a:r>
                <a:r>
                  <a:rPr lang="en-US" sz="3200" dirty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>
                    <a:solidFill>
                      <a:srgbClr val="CC00FF"/>
                    </a:solidFill>
                  </a:rPr>
                  <a:t>ứng</a:t>
                </a:r>
                <a:r>
                  <a:rPr lang="en-US" sz="3200" dirty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>
                    <a:solidFill>
                      <a:srgbClr val="CC00FF"/>
                    </a:solidFill>
                  </a:rPr>
                  <a:t>có</a:t>
                </a:r>
                <a:r>
                  <a:rPr lang="en-US" sz="3200" dirty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>
                    <a:solidFill>
                      <a:srgbClr val="CC00FF"/>
                    </a:solidFill>
                  </a:rPr>
                  <a:t>khả</a:t>
                </a:r>
                <a:r>
                  <a:rPr lang="en-US" sz="3200" dirty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>
                    <a:solidFill>
                      <a:srgbClr val="CC00FF"/>
                    </a:solidFill>
                  </a:rPr>
                  <a:t>năng</a:t>
                </a:r>
                <a:r>
                  <a:rPr lang="en-US" sz="3200" dirty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>
                    <a:solidFill>
                      <a:srgbClr val="CC00FF"/>
                    </a:solidFill>
                  </a:rPr>
                  <a:t>tự</a:t>
                </a:r>
                <a:r>
                  <a:rPr lang="en-US" sz="3200" dirty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>
                    <a:solidFill>
                      <a:srgbClr val="CC00FF"/>
                    </a:solidFill>
                  </a:rPr>
                  <a:t>phát</a:t>
                </a:r>
                <a:r>
                  <a:rPr lang="en-US" sz="3200" dirty="0">
                    <a:solidFill>
                      <a:srgbClr val="CC00FF"/>
                    </a:solidFill>
                  </a:rPr>
                  <a:t> ở </a:t>
                </a:r>
                <a:r>
                  <a:rPr lang="en-US" sz="3200" dirty="0" err="1">
                    <a:solidFill>
                      <a:srgbClr val="CC00FF"/>
                    </a:solidFill>
                  </a:rPr>
                  <a:t>đk</a:t>
                </a:r>
                <a:r>
                  <a:rPr lang="en-US" sz="3200" dirty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>
                    <a:solidFill>
                      <a:srgbClr val="CC00FF"/>
                    </a:solidFill>
                  </a:rPr>
                  <a:t>chuẩn</a:t>
                </a:r>
                <a:r>
                  <a:rPr lang="en-US" sz="3200" dirty="0">
                    <a:solidFill>
                      <a:srgbClr val="CC00FF"/>
                    </a:solidFill>
                  </a:rPr>
                  <a:t> 25</a:t>
                </a:r>
                <a:r>
                  <a:rPr lang="en-US" sz="3200" baseline="30000" dirty="0">
                    <a:solidFill>
                      <a:srgbClr val="CC00FF"/>
                    </a:solidFill>
                  </a:rPr>
                  <a:t>0</a:t>
                </a:r>
                <a:r>
                  <a:rPr lang="en-US" sz="3200" dirty="0">
                    <a:solidFill>
                      <a:srgbClr val="CC00FF"/>
                    </a:solidFill>
                  </a:rPr>
                  <a:t>C</a:t>
                </a:r>
                <a:r>
                  <a:rPr lang="en-US" sz="3200" dirty="0" smtClean="0">
                    <a:solidFill>
                      <a:srgbClr val="CC00FF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dirty="0" err="1" smtClean="0">
                    <a:solidFill>
                      <a:srgbClr val="CC00FF"/>
                    </a:solidFill>
                  </a:rPr>
                  <a:t>Phản</a:t>
                </a:r>
                <a:r>
                  <a:rPr lang="en-US" sz="3200" dirty="0" smtClean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 smtClean="0">
                    <a:solidFill>
                      <a:srgbClr val="CC00FF"/>
                    </a:solidFill>
                  </a:rPr>
                  <a:t>ứng</a:t>
                </a:r>
                <a:r>
                  <a:rPr lang="en-US" sz="3200" dirty="0" smtClean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 smtClean="0">
                    <a:solidFill>
                      <a:srgbClr val="CC00FF"/>
                    </a:solidFill>
                  </a:rPr>
                  <a:t>diễn</a:t>
                </a:r>
                <a:r>
                  <a:rPr lang="en-US" sz="3200" dirty="0" smtClean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 smtClean="0">
                    <a:solidFill>
                      <a:srgbClr val="CC00FF"/>
                    </a:solidFill>
                  </a:rPr>
                  <a:t>ra</a:t>
                </a:r>
                <a:r>
                  <a:rPr lang="en-US" sz="3200" dirty="0" smtClean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 smtClean="0">
                    <a:solidFill>
                      <a:srgbClr val="CC00FF"/>
                    </a:solidFill>
                  </a:rPr>
                  <a:t>thuận</a:t>
                </a:r>
                <a:r>
                  <a:rPr lang="en-US" sz="3200" dirty="0" smtClean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 smtClean="0">
                    <a:solidFill>
                      <a:srgbClr val="CC00FF"/>
                    </a:solidFill>
                  </a:rPr>
                  <a:t>nghịch</a:t>
                </a:r>
                <a:r>
                  <a:rPr lang="en-US" sz="3200" dirty="0" smtClean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 smtClean="0">
                    <a:solidFill>
                      <a:srgbClr val="CC00FF"/>
                    </a:solidFill>
                  </a:rPr>
                  <a:t>trong</a:t>
                </a:r>
                <a:r>
                  <a:rPr lang="en-US" sz="3200" dirty="0" smtClean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 smtClean="0">
                    <a:solidFill>
                      <a:srgbClr val="CC00FF"/>
                    </a:solidFill>
                  </a:rPr>
                  <a:t>thực</a:t>
                </a:r>
                <a:r>
                  <a:rPr lang="en-US" sz="3200" dirty="0" smtClean="0">
                    <a:solidFill>
                      <a:srgbClr val="CC00FF"/>
                    </a:solidFill>
                  </a:rPr>
                  <a:t> </a:t>
                </a:r>
                <a:r>
                  <a:rPr lang="en-US" sz="3200" dirty="0" err="1" smtClean="0">
                    <a:solidFill>
                      <a:srgbClr val="CC00FF"/>
                    </a:solidFill>
                  </a:rPr>
                  <a:t>tế</a:t>
                </a:r>
                <a:r>
                  <a:rPr lang="en-US" sz="3200" dirty="0" smtClean="0">
                    <a:solidFill>
                      <a:srgbClr val="CC00FF"/>
                    </a:solidFill>
                  </a:rPr>
                  <a:t>.</a:t>
                </a:r>
                <a:endParaRPr lang="en-US" sz="3200" dirty="0">
                  <a:solidFill>
                    <a:srgbClr val="CC00FF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7394ABF-79C4-494B-9F6B-8B268C040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64" y="3933056"/>
                <a:ext cx="8964488" cy="2564356"/>
              </a:xfrm>
              <a:prstGeom prst="rect">
                <a:avLst/>
              </a:prstGeom>
              <a:blipFill rotWithShape="1">
                <a:blip r:embed="rId4"/>
                <a:stretch>
                  <a:fillRect l="-1700" r="-1496" b="-3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C506BD1F-507F-4AF9-9817-80BECB240E9E}"/>
                  </a:ext>
                </a:extLst>
              </p:cNvPr>
              <p:cNvSpPr txBox="1"/>
              <p:nvPr/>
            </p:nvSpPr>
            <p:spPr>
              <a:xfrm>
                <a:off x="323528" y="1916832"/>
                <a:ext cx="2880320" cy="65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Tính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298</m:t>
                        </m:r>
                        <m:r>
                          <a:rPr lang="en-US" sz="32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2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  <m: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/>
                  <a:t>: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506BD1F-507F-4AF9-9817-80BECB240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916832"/>
                <a:ext cx="2880320" cy="651269"/>
              </a:xfrm>
              <a:prstGeom prst="rect">
                <a:avLst/>
              </a:prstGeom>
              <a:blipFill rotWithShape="1">
                <a:blip r:embed="rId5"/>
                <a:stretch>
                  <a:fillRect l="-5285" t="-11215" b="-20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44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xmlns="" id="{D66224A1-EAA8-430A-AB03-A994BBBBA0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39552" y="620688"/>
                <a:ext cx="7772400" cy="1584176"/>
              </a:xfrm>
            </p:spPr>
            <p:txBody>
              <a:bodyPr/>
              <a:lstStyle/>
              <a:p>
                <a:pPr algn="l">
                  <a:lnSpc>
                    <a:spcPct val="150000"/>
                  </a:lnSpc>
                </a:pPr>
                <a:r>
                  <a:rPr lang="en-US" sz="3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TÍNH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3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THEO </a:t>
                </a:r>
                <a:r>
                  <a:rPr lang="en-US" sz="3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H</a:t>
                </a:r>
                <a:r>
                  <a:rPr lang="en-US" sz="3600" b="1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3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VÀ S</a:t>
                </a:r>
                <a:r>
                  <a:rPr lang="en-US" sz="3600" b="1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3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b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36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36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en-US" sz="36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  <m:sup>
                            <m:r>
                              <a:rPr lang="en-US" sz="36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a:rPr 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.∆</m:t>
                        </m:r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a:rPr lang="en-US" sz="3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/>
                </a:r>
                <a:b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66224A1-EAA8-430A-AB03-A994BBBBA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39552" y="620688"/>
                <a:ext cx="7772400" cy="1584176"/>
              </a:xfrm>
              <a:blipFill rotWithShape="1">
                <a:blip r:embed="rId2"/>
                <a:stretch>
                  <a:fillRect l="-2431" t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3462F33-2623-443E-9CE1-CA160472A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87" y="2713059"/>
            <a:ext cx="9036496" cy="201892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en-US" sz="2800" dirty="0"/>
              <a:t>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Ở</a:t>
            </a:r>
            <a:r>
              <a:rPr lang="en-US" sz="2800" dirty="0"/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                 </a:t>
            </a:r>
            <a:r>
              <a:rPr lang="en-US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2Fe</a:t>
            </a:r>
            <a:r>
              <a:rPr lang="en-US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+ = 4Fe  +  3CO</a:t>
            </a:r>
            <a:r>
              <a:rPr lang="en-US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vi-VN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H</a:t>
            </a:r>
            <a:r>
              <a:rPr lang="en-US" sz="28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+</a:t>
            </a:r>
            <a:r>
              <a:rPr lang="en-US" sz="28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467,9 kJ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; S</a:t>
            </a:r>
            <a:r>
              <a:rPr lang="en-US" sz="28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2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n-US" sz="28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560,3 J/K </a:t>
            </a:r>
            <a:endParaRPr lang="en-US" sz="28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D3BFAFD-988C-43E6-85AD-99A590526740}"/>
              </a:ext>
            </a:extLst>
          </p:cNvPr>
          <p:cNvSpPr txBox="1"/>
          <p:nvPr/>
        </p:nvSpPr>
        <p:spPr>
          <a:xfrm>
            <a:off x="5868144" y="3573016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 &gt; 562</a:t>
            </a:r>
            <a:r>
              <a:rPr lang="en-US" sz="3200" b="1" baseline="30000" dirty="0">
                <a:solidFill>
                  <a:srgbClr val="FF0000"/>
                </a:solidFill>
              </a:rPr>
              <a:t>0</a:t>
            </a:r>
            <a:r>
              <a:rPr lang="en-US" sz="3200" b="1" dirty="0">
                <a:solidFill>
                  <a:srgbClr val="FF0000"/>
                </a:solidFill>
              </a:rPr>
              <a:t>C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492DE41C-A949-4014-AFCB-1AD434DD9B01}"/>
                  </a:ext>
                </a:extLst>
              </p:cNvPr>
              <p:cNvSpPr txBox="1"/>
              <p:nvPr/>
            </p:nvSpPr>
            <p:spPr>
              <a:xfrm>
                <a:off x="2458944" y="2100608"/>
                <a:ext cx="5904656" cy="604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b="1" dirty="0">
                    <a:solidFill>
                      <a:srgbClr val="0000FF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3200" b="1" dirty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</a:t>
                </a:r>
                <a:r>
                  <a:rPr lang="en-US" sz="3200" b="1" dirty="0" smtClean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a:rPr 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b="1" dirty="0"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 b="0" i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   </m:t>
                        </m:r>
                        <m:r>
                          <a:rPr lang="en-US" sz="32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32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32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3200" b="1" dirty="0">
                    <a:solidFill>
                      <a:srgbClr val="006600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3200" b="1" dirty="0">
                    <a:solidFill>
                      <a:srgbClr val="0066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</a:t>
                </a:r>
                <a:r>
                  <a:rPr lang="en-US" sz="3200" b="1" dirty="0" smtClean="0">
                    <a:solidFill>
                      <a:srgbClr val="006600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2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2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a:rPr lang="en-US" sz="320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92DE41C-A949-4014-AFCB-1AD434DD9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944" y="2100608"/>
                <a:ext cx="5904656" cy="604909"/>
              </a:xfrm>
              <a:prstGeom prst="rect">
                <a:avLst/>
              </a:prstGeom>
              <a:blipFill rotWithShape="1">
                <a:blip r:embed="rId3"/>
                <a:stretch>
                  <a:fillRect t="-11111" b="-31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BA8980BA-80AD-4150-B9F5-DCF19BB809AF}"/>
                  </a:ext>
                </a:extLst>
              </p:cNvPr>
              <p:cNvSpPr txBox="1"/>
              <p:nvPr/>
            </p:nvSpPr>
            <p:spPr>
              <a:xfrm>
                <a:off x="3059832" y="1196752"/>
                <a:ext cx="5076056" cy="7277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sz="3600" b="1" i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sz="36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36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3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m:rPr>
                                  <m:sty m:val="p"/>
                                </m:rPr>
                                <a:rPr lang="en-US" sz="3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298 </m:t>
                              </m:r>
                              <m:r>
                                <m:rPr>
                                  <m:sty m:val="p"/>
                                </m:rPr>
                                <a:rPr lang="en-US" sz="3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US" sz="3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ư</m:t>
                              </m:r>
                            </m:sub>
                            <m:sup>
                              <m:r>
                                <a:rPr lang="en-US" sz="3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sz="3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3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.∆</m:t>
                          </m:r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3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298 </m:t>
                          </m:r>
                          <m:r>
                            <m:rPr>
                              <m:sty m:val="p"/>
                            </m:rPr>
                            <a:rPr lang="en-US" sz="3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3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ư</m:t>
                          </m:r>
                        </m:sub>
                        <m:sup>
                          <m:r>
                            <a:rPr lang="en-US" sz="3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A8980BA-80AD-4150-B9F5-DCF19BB80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196752"/>
                <a:ext cx="5076056" cy="7277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71992" y="5661248"/>
                <a:ext cx="6207948" cy="778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8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b="1" dirty="0" smtClean="0">
                    <a:solidFill>
                      <a:srgbClr val="0000FF"/>
                    </a:solidFill>
                  </a:rPr>
                  <a:t> = </a:t>
                </a:r>
                <a:r>
                  <a:rPr lang="en-US" sz="2800" b="1" dirty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H</a:t>
                </a:r>
                <a:r>
                  <a:rPr lang="en-US" sz="2800" b="1" baseline="30000" dirty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2800" b="1" dirty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b="1" dirty="0" smtClean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-T.</a:t>
                </a:r>
                <a:r>
                  <a:rPr lang="en-US" sz="2800" b="1" dirty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S</a:t>
                </a:r>
                <a:r>
                  <a:rPr lang="en-US" sz="2800" b="1" baseline="30000" dirty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0</a:t>
                </a:r>
                <a:r>
                  <a:rPr lang="en-US" sz="2800" b="1" dirty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n-US" sz="2800" b="1" dirty="0" smtClean="0">
                    <a:solidFill>
                      <a:srgbClr val="0000FF"/>
                    </a:solidFill>
                    <a:cs typeface="Arial" panose="020B0604020202020204" pitchFamily="34" charset="0"/>
                    <a:sym typeface="Symbol" panose="05050102010706020507" pitchFamily="18" charset="2"/>
                  </a:rPr>
                  <a:t>&lt; 0 </a:t>
                </a:r>
                <a:r>
                  <a:rPr lang="en-US" sz="2800" b="1" dirty="0" smtClean="0">
                    <a:solidFill>
                      <a:srgbClr val="0000FF"/>
                    </a:solidFill>
                    <a:cs typeface="Arial" panose="020B0604020202020204" pitchFamily="34" charset="0"/>
                    <a:sym typeface="Symbol"/>
                  </a:rPr>
                  <a:t> T 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  <a:cs typeface="Arial" panose="020B0604020202020204" pitchFamily="34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  <a:sym typeface="Symbol"/>
                          </a:rPr>
                          <m:t>∆</m:t>
                        </m:r>
                        <m:sSup>
                          <m:sSupPr>
                            <m:ctrlP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  <m:t>𝑯</m:t>
                            </m:r>
                          </m:e>
                          <m:sup>
                            <m: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  <m:t>𝟎</m:t>
                            </m:r>
                          </m:sup>
                        </m:sSup>
                      </m:num>
                      <m:den>
                        <m:r>
                          <a:rPr lang="en-US" sz="2800" b="1" i="1" smtClean="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  <a:sym typeface="Symbol"/>
                          </a:rPr>
                          <m:t>∆</m:t>
                        </m:r>
                        <m:sSup>
                          <m:sSupPr>
                            <m:ctrlP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  <m:t>𝑺</m:t>
                            </m:r>
                          </m:e>
                          <m:sup>
                            <m:r>
                              <a:rPr lang="en-US" sz="2800" b="1" i="1" smtClean="0">
                                <a:solidFill>
                                  <a:srgbClr val="0000FF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  <a:sym typeface="Symbol"/>
                              </a:rPr>
                              <m:t>𝟎</m:t>
                            </m:r>
                          </m:sup>
                        </m:sSup>
                      </m:den>
                    </m:f>
                  </m:oMath>
                </a14:m>
                <a:endParaRPr lang="en-US" sz="28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992" y="5661248"/>
                <a:ext cx="6207948" cy="778996"/>
              </a:xfrm>
              <a:prstGeom prst="rect">
                <a:avLst/>
              </a:prstGeom>
              <a:blipFill rotWithShape="1">
                <a:blip r:embed="rId5"/>
                <a:stretch>
                  <a:fillRect b="-8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81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5" grpId="0"/>
      <p:bldP spid="4" grpId="0" animBg="1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260648"/>
                <a:ext cx="8892480" cy="309634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ÁP DỤNG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: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Tính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nhiệt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độ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sôi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của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nước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ở 1 atm. 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Cho 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biết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:                 H</a:t>
                </a:r>
                <a:r>
                  <a:rPr lang="en-US" sz="2800" baseline="-25000" dirty="0" smtClean="0"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O(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lỏng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)     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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  H</a:t>
                </a:r>
                <a:r>
                  <a:rPr lang="en-US" sz="2800" baseline="-25000" dirty="0" smtClean="0"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O(</a:t>
                </a:r>
                <a:r>
                  <a:rPr lang="en-US" sz="2800" dirty="0" err="1" smtClean="0">
                    <a:latin typeface="Arial" pitchFamily="34" charset="0"/>
                    <a:cs typeface="Arial" pitchFamily="34" charset="0"/>
                  </a:rPr>
                  <a:t>khí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/>
                          </a:rPr>
                          <m:t>𝐛𝐚𝐲𝐡</m:t>
                        </m:r>
                        <m:r>
                          <a:rPr lang="vi-VN" sz="2800" b="1" i="0">
                            <a:solidFill>
                              <a:srgbClr val="FF0000"/>
                            </a:solidFill>
                            <a:latin typeface="Cambria Math"/>
                          </a:rPr>
                          <m:t>ơ</m:t>
                        </m:r>
                        <m:r>
                          <a:rPr lang="vi-VN" sz="2800" b="1" i="0">
                            <a:solidFill>
                              <a:srgbClr val="FF0000"/>
                            </a:solidFill>
                            <a:latin typeface="Cambria Math"/>
                          </a:rPr>
                          <m:t>𝐢</m:t>
                        </m:r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dirty="0" smtClean="0">
                    <a:solidFill>
                      <a:srgbClr val="0000FF"/>
                    </a:solidFill>
                    <a:latin typeface="Cambria Math"/>
                  </a:rPr>
                  <a:t>= 0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P</m:t>
                        </m:r>
                      </m:e>
                      <m:sub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b="0" i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O</m:t>
                        </m:r>
                      </m:sub>
                    </m:sSub>
                  </m:oMath>
                </a14:m>
                <a:r>
                  <a:rPr lang="en-US" sz="2800" dirty="0" smtClean="0">
                    <a:solidFill>
                      <a:srgbClr val="0000FF"/>
                    </a:solidFill>
                    <a:latin typeface="Cambria Math"/>
                  </a:rPr>
                  <a:t> = 1atm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𝑡𝑡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]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           - 285,8               -241,8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CC00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]</a:t>
                </a:r>
                <a:r>
                  <a:rPr lang="en-US" sz="2800" dirty="0" smtClean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                  69,9                188,7</a:t>
                </a:r>
              </a:p>
              <a:p>
                <a:pPr marL="0" indent="0">
                  <a:buNone/>
                </a:pPr>
                <a:endParaRPr lang="en-US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60648"/>
                <a:ext cx="8892480" cy="3096344"/>
              </a:xfrm>
              <a:blipFill rotWithShape="1">
                <a:blip r:embed="rId2"/>
                <a:stretch>
                  <a:fillRect l="-1371" t="-1969" b="-2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842" y="3356992"/>
                <a:ext cx="9079821" cy="890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𝐛𝐚𝐲𝐡</m:t>
                        </m:r>
                        <m:r>
                          <a:rPr lang="vi-VN" sz="2800" b="1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ơ</m:t>
                        </m:r>
                        <m:r>
                          <a:rPr lang="vi-VN" sz="2800" b="1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𝐢</m:t>
                        </m:r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2800" b="1" dirty="0" smtClean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800" b="1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𝐛𝐡</m:t>
                        </m:r>
                      </m:sub>
                      <m:sup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sz="2800" b="1" i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vi-VN" sz="2800" b="1" dirty="0" smtClean="0">
                    <a:solidFill>
                      <a:srgbClr val="FF0000"/>
                    </a:solidFill>
                  </a:rPr>
                  <a:t> - T.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vi-VN" sz="2800" b="1" i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800" b="1" i="0">
                            <a:solidFill>
                              <a:srgbClr val="FF0000"/>
                            </a:solidFill>
                            <a:latin typeface="Cambria Math"/>
                          </a:rPr>
                          <m:t>𝐛𝐡</m:t>
                        </m:r>
                      </m:sub>
                      <m:sup>
                        <m:r>
                          <a:rPr lang="en-US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en-US" sz="2800" b="1" i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vi-VN" sz="2800" b="1" dirty="0" smtClean="0">
                    <a:solidFill>
                      <a:srgbClr val="FF0000"/>
                    </a:solidFill>
                  </a:rPr>
                  <a:t> = </a:t>
                </a:r>
                <a:r>
                  <a:rPr lang="en-US" sz="2800" b="1" dirty="0" smtClean="0">
                    <a:solidFill>
                      <a:srgbClr val="FF0000"/>
                    </a:solidFill>
                  </a:rPr>
                  <a:t>0 </a:t>
                </a:r>
                <a:r>
                  <a:rPr lang="en-US" sz="2800" b="1" dirty="0" smtClean="0">
                    <a:solidFill>
                      <a:srgbClr val="FF0000"/>
                    </a:solidFill>
                    <a:sym typeface="Symbol"/>
                  </a:rPr>
                  <a:t> </a:t>
                </a:r>
                <a:r>
                  <a:rPr lang="en-US" sz="2800" b="1" dirty="0" err="1" smtClean="0">
                    <a:solidFill>
                      <a:srgbClr val="FF0000"/>
                    </a:solidFill>
                    <a:sym typeface="Symbol"/>
                  </a:rPr>
                  <a:t>T</a:t>
                </a:r>
                <a:r>
                  <a:rPr lang="en-US" sz="2800" b="1" baseline="-25000" dirty="0" err="1" smtClean="0">
                    <a:solidFill>
                      <a:srgbClr val="FF0000"/>
                    </a:solidFill>
                    <a:sym typeface="Symbol"/>
                  </a:rPr>
                  <a:t>sôi</a:t>
                </a:r>
                <a:r>
                  <a:rPr lang="en-US" sz="2800" b="1" dirty="0" smtClean="0">
                    <a:solidFill>
                      <a:srgbClr val="FF0000"/>
                    </a:solidFill>
                    <a:sym typeface="Symbol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  <a:sym typeface="Symbol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800" b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𝐛𝐡</m:t>
                            </m:r>
                            <m:r>
                              <a:rPr lang="en-US" sz="2800" b="1" i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  </m:t>
                            </m:r>
                          </m:sub>
                          <m:sup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vi-VN" sz="2800" b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800" b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𝐛𝐡</m:t>
                            </m:r>
                          </m:sub>
                          <m:sup>
                            <m:r>
                              <a:rPr lang="en-US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800" b="1" dirty="0" smtClean="0">
                    <a:solidFill>
                      <a:srgbClr val="FF0000"/>
                    </a:solidFill>
                  </a:rPr>
                  <a:t> (ở 1 </a:t>
                </a:r>
                <a:r>
                  <a:rPr lang="en-US" sz="2800" b="1" dirty="0" err="1" smtClean="0">
                    <a:solidFill>
                      <a:srgbClr val="FF0000"/>
                    </a:solidFill>
                  </a:rPr>
                  <a:t>atm</a:t>
                </a:r>
                <a:r>
                  <a:rPr lang="en-US" sz="2800" b="1" dirty="0" smtClean="0">
                    <a:solidFill>
                      <a:srgbClr val="FF0000"/>
                    </a:solidFill>
                  </a:rPr>
                  <a:t>)</a:t>
                </a:r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2" y="3356992"/>
                <a:ext cx="9079821" cy="89024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4999" y="5229200"/>
                <a:ext cx="7848872" cy="94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3200" dirty="0" smtClean="0">
                    <a:solidFill>
                      <a:srgbClr val="C00000"/>
                    </a:solidFill>
                  </a:rPr>
                  <a:t>T </a:t>
                </a:r>
                <a:r>
                  <a:rPr lang="vi-VN" sz="3200" dirty="0" smtClean="0">
                    <a:solidFill>
                      <a:srgbClr val="C00000"/>
                    </a:solidFill>
                    <a:sym typeface="Symbol"/>
                  </a:rPr>
                  <a:t></a:t>
                </a:r>
                <a:r>
                  <a:rPr lang="vi-VN" sz="3200" dirty="0" smtClean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20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vi-VN" sz="32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vi-VN" sz="3200" b="0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−241,8 −</m:t>
                            </m:r>
                            <m:d>
                              <m:dPr>
                                <m:ctrlPr>
                                  <a:rPr lang="vi-VN" sz="32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vi-VN" sz="3200" b="0" i="1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−285,8</m:t>
                                </m:r>
                              </m:e>
                            </m:d>
                          </m:e>
                        </m:d>
                        <m:r>
                          <a:rPr lang="vi-VN" sz="32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.1000</m:t>
                        </m:r>
                      </m:num>
                      <m:den>
                        <m:r>
                          <a:rPr lang="vi-VN" sz="3200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(188,7−69,9)</m:t>
                        </m:r>
                      </m:den>
                    </m:f>
                  </m:oMath>
                </a14:m>
                <a:r>
                  <a:rPr lang="vi-VN" sz="3200" dirty="0" smtClean="0">
                    <a:solidFill>
                      <a:srgbClr val="C00000"/>
                    </a:solidFill>
                  </a:rPr>
                  <a:t>  </a:t>
                </a:r>
                <a:r>
                  <a:rPr lang="vi-VN" sz="3200" dirty="0" smtClean="0">
                    <a:solidFill>
                      <a:srgbClr val="C00000"/>
                    </a:solidFill>
                    <a:sym typeface="Symbol"/>
                  </a:rPr>
                  <a:t></a:t>
                </a:r>
                <a:r>
                  <a:rPr lang="vi-VN" sz="3200" dirty="0" smtClean="0">
                    <a:solidFill>
                      <a:srgbClr val="C00000"/>
                    </a:solidFill>
                  </a:rPr>
                  <a:t> 370 K </a:t>
                </a:r>
                <a:r>
                  <a:rPr lang="vi-VN" sz="3200" dirty="0" smtClean="0">
                    <a:solidFill>
                      <a:srgbClr val="C00000"/>
                    </a:solidFill>
                    <a:sym typeface="Symbol"/>
                  </a:rPr>
                  <a:t> 97</a:t>
                </a:r>
                <a:r>
                  <a:rPr lang="vi-VN" sz="3200" baseline="30000" dirty="0" smtClean="0">
                    <a:solidFill>
                      <a:srgbClr val="C00000"/>
                    </a:solidFill>
                    <a:sym typeface="Symbol"/>
                  </a:rPr>
                  <a:t>0</a:t>
                </a:r>
                <a:r>
                  <a:rPr lang="vi-VN" sz="3200" dirty="0" smtClean="0">
                    <a:solidFill>
                      <a:srgbClr val="C00000"/>
                    </a:solidFill>
                    <a:sym typeface="Symbol"/>
                  </a:rPr>
                  <a:t>C</a:t>
                </a:r>
                <a:r>
                  <a:rPr lang="vi-VN" sz="3200" dirty="0" smtClean="0">
                    <a:solidFill>
                      <a:srgbClr val="C00000"/>
                    </a:solidFill>
                  </a:rPr>
                  <a:t> </a:t>
                </a:r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99" y="5229200"/>
                <a:ext cx="7848872" cy="944169"/>
              </a:xfrm>
              <a:prstGeom prst="rect">
                <a:avLst/>
              </a:prstGeom>
              <a:blipFill rotWithShape="1">
                <a:blip r:embed="rId4"/>
                <a:stretch>
                  <a:fillRect l="-1941" b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544" y="4240917"/>
                <a:ext cx="8568952" cy="1097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800" dirty="0" smtClean="0">
                    <a:solidFill>
                      <a:srgbClr val="006600"/>
                    </a:solidFill>
                  </a:rPr>
                  <a:t>Xem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vi-VN" sz="2800" i="0">
                            <a:solidFill>
                              <a:srgbClr val="006600"/>
                            </a:solidFill>
                            <a:latin typeface="Cambria Math"/>
                          </a:rPr>
                          <m:t>bh</m:t>
                        </m:r>
                      </m:sub>
                      <m:sup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2800" i="0">
                        <a:solidFill>
                          <a:srgbClr val="0066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vi-VN" sz="2800" dirty="0">
                    <a:solidFill>
                      <a:srgbClr val="006600"/>
                    </a:solidFill>
                  </a:rPr>
                  <a:t> </a:t>
                </a:r>
                <a:r>
                  <a:rPr lang="vi-VN" sz="2800" dirty="0" smtClean="0">
                    <a:solidFill>
                      <a:srgbClr val="006600"/>
                    </a:solidFill>
                  </a:rPr>
                  <a:t>và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vi-VN" sz="2800" i="0">
                            <a:solidFill>
                              <a:srgbClr val="0066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vi-VN" sz="2800" i="0">
                            <a:solidFill>
                              <a:srgbClr val="006600"/>
                            </a:solidFill>
                            <a:latin typeface="Cambria Math"/>
                          </a:rPr>
                          <m:t>bh</m:t>
                        </m:r>
                      </m:sub>
                      <m:sup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vi-VN" sz="2800" dirty="0" smtClean="0">
                    <a:solidFill>
                      <a:srgbClr val="006600"/>
                    </a:solidFill>
                  </a:rPr>
                  <a:t> không phụ thuộc vào nhiệt độ: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2800" i="1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vi-VN" sz="2800" b="0" i="0" smtClean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                     </m:t>
                            </m:r>
                            <m:r>
                              <a:rPr lang="en-US" sz="2800" i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vi-VN" sz="2800" i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bh</m:t>
                            </m:r>
                          </m:sub>
                          <m:sup>
                            <m:r>
                              <a:rPr lang="en-US" sz="2800" i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006600"/>
                            </a:solidFill>
                            <a:sym typeface="Symbol"/>
                          </a:rPr>
                          <m:t></m:t>
                        </m:r>
                        <m:r>
                          <a:rPr lang="vi-VN" sz="2800" b="0" i="0" dirty="0" smtClean="0">
                            <a:solidFill>
                              <a:srgbClr val="006600"/>
                            </a:solidFill>
                            <a:latin typeface="Cambria Math"/>
                            <a:sym typeface="Symbol"/>
                          </a:rPr>
                          <m:t> </m:t>
                        </m:r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800" b="0" i="0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298,</m:t>
                        </m:r>
                        <m:r>
                          <m:rPr>
                            <m:sty m:val="p"/>
                          </m:rPr>
                          <a:rPr lang="vi-VN" sz="2800" i="0">
                            <a:solidFill>
                              <a:srgbClr val="006600"/>
                            </a:solidFill>
                            <a:latin typeface="Cambria Math"/>
                          </a:rPr>
                          <m:t>bh</m:t>
                        </m:r>
                      </m:sub>
                      <m:sup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vi-VN" sz="2800" dirty="0" smtClean="0">
                    <a:solidFill>
                      <a:srgbClr val="006600"/>
                    </a:solidFill>
                  </a:rPr>
                  <a:t>  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006600"/>
                            </a:solidFill>
                            <a:latin typeface="Cambria Math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2800" i="1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800" i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vi-VN" sz="2800" b="0" i="0" smtClean="0">
                                <a:solidFill>
                                  <a:srgbClr val="006600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800" i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vi-VN" sz="2800" i="0">
                                <a:solidFill>
                                  <a:srgbClr val="006600"/>
                                </a:solidFill>
                                <a:latin typeface="Cambria Math"/>
                              </a:rPr>
                              <m:t>bh</m:t>
                            </m:r>
                          </m:sub>
                          <m:sup>
                            <m:r>
                              <a:rPr lang="en-US" sz="2800" i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vi-VN" sz="2800" dirty="0">
                            <a:solidFill>
                              <a:srgbClr val="006600"/>
                            </a:solidFill>
                            <a:sym typeface="Symbol"/>
                          </a:rPr>
                          <m:t></m:t>
                        </m:r>
                        <m:r>
                          <a:rPr lang="vi-VN" sz="2800" i="0" dirty="0">
                            <a:solidFill>
                              <a:srgbClr val="006600"/>
                            </a:solidFill>
                            <a:latin typeface="Cambria Math"/>
                            <a:sym typeface="Symbol"/>
                          </a:rPr>
                          <m:t> </m:t>
                        </m:r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vi-VN" sz="2800" b="0" i="0" smtClean="0">
                            <a:solidFill>
                              <a:srgbClr val="0066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800" i="0">
                            <a:solidFill>
                              <a:srgbClr val="006600"/>
                            </a:solidFill>
                            <a:latin typeface="Cambria Math"/>
                          </a:rPr>
                          <m:t>298,</m:t>
                        </m:r>
                        <m:r>
                          <m:rPr>
                            <m:sty m:val="p"/>
                          </m:rPr>
                          <a:rPr lang="vi-VN" sz="2800" i="0">
                            <a:solidFill>
                              <a:srgbClr val="006600"/>
                            </a:solidFill>
                            <a:latin typeface="Cambria Math"/>
                          </a:rPr>
                          <m:t>bh</m:t>
                        </m:r>
                      </m:sub>
                      <m:sup>
                        <m:r>
                          <a:rPr lang="en-US" sz="2800" i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vi-VN" sz="2800" dirty="0" smtClean="0">
                    <a:solidFill>
                      <a:srgbClr val="006600"/>
                    </a:solidFill>
                  </a:rPr>
                  <a:t> </a:t>
                </a:r>
              </a:p>
              <a:p>
                <a:endParaRPr lang="vi-VN" dirty="0"/>
              </a:p>
              <a:p>
                <a:r>
                  <a:rPr lang="vi-VN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240917"/>
                <a:ext cx="8568952" cy="1097280"/>
              </a:xfrm>
              <a:prstGeom prst="rect">
                <a:avLst/>
              </a:prstGeom>
              <a:blipFill rotWithShape="1">
                <a:blip r:embed="rId5"/>
                <a:stretch>
                  <a:fillRect l="-1495" t="-3889" b="-6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85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AA2BA3-D561-407C-891F-0BBF97521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16" y="2726637"/>
            <a:ext cx="7772400" cy="921968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3600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sz="3600" baseline="-25000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      </a:t>
            </a:r>
            <a:r>
              <a:rPr lang="en-US" altLang="en-US" sz="3600" dirty="0"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en-US" sz="36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3600" dirty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sz="3600" baseline="-25000" dirty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   </a:t>
            </a:r>
            <a:r>
              <a:rPr lang="en-US" altLang="en-US" sz="3600" dirty="0">
                <a:latin typeface="Arial" panose="020B0604020202020204" pitchFamily="34" charset="0"/>
                <a:sym typeface="Symbol" panose="05050102010706020507" pitchFamily="18" charset="2"/>
              </a:rPr>
              <a:t>+  </a:t>
            </a:r>
            <a:r>
              <a:rPr lang="en-US" altLang="en-US" sz="36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sz="3600" baseline="-250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sz="3600" dirty="0">
              <a:solidFill>
                <a:srgbClr val="0000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1B36D500-FF47-47BB-A2B3-AA5E03A6D104}"/>
                  </a:ext>
                </a:extLst>
              </p:cNvPr>
              <p:cNvSpPr/>
              <p:nvPr/>
            </p:nvSpPr>
            <p:spPr>
              <a:xfrm>
                <a:off x="824849" y="-110370"/>
                <a:ext cx="7558608" cy="28763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36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TÍNH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6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600" dirty="0"/>
                  <a:t>    = -</a:t>
                </a:r>
                <a:r>
                  <a:rPr lang="en-US" sz="3600" dirty="0" err="1"/>
                  <a:t>R.T.lnK</a:t>
                </a:r>
                <a:r>
                  <a:rPr lang="en-US" sz="3600" baseline="-25000" dirty="0" err="1"/>
                  <a:t>cb</a:t>
                </a:r>
                <a:r>
                  <a:rPr lang="en-US" sz="36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600" dirty="0"/>
                  <a:t> = A’ = -n.E</a:t>
                </a:r>
                <a:r>
                  <a:rPr lang="en-US" sz="3600" baseline="30000" dirty="0"/>
                  <a:t>0</a:t>
                </a:r>
                <a:r>
                  <a:rPr lang="en-US" sz="3600" dirty="0"/>
                  <a:t>.F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B36D500-FF47-47BB-A2B3-AA5E03A6D1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49" y="-110370"/>
                <a:ext cx="7558608" cy="2876365"/>
              </a:xfrm>
              <a:prstGeom prst="rect">
                <a:avLst/>
              </a:prstGeom>
              <a:blipFill>
                <a:blip r:embed="rId2"/>
                <a:stretch>
                  <a:fillRect l="-2419" b="-4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4">
            <a:extLst>
              <a:ext uri="{FF2B5EF4-FFF2-40B4-BE49-F238E27FC236}">
                <a16:creationId xmlns:a16="http://schemas.microsoft.com/office/drawing/2014/main" xmlns="" id="{815D0146-7D1A-4BCD-9E85-EE7DEF019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1876425"/>
            <a:ext cx="40322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AutoNum type="arabicPlain"/>
            </a:pPr>
            <a:r>
              <a:rPr lang="en-US" altLang="en-US" sz="2400" dirty="0">
                <a:latin typeface="Arial" panose="020B0604020202020204" pitchFamily="34" charset="0"/>
              </a:rPr>
              <a:t>                         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                 3 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xmlns="" id="{91F6DAB6-0FB1-4F4E-ADA6-4F3AB582D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2053900"/>
            <a:ext cx="11525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baseline="-25000" dirty="0">
                <a:solidFill>
                  <a:srgbClr val="CC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altLang="en-US" dirty="0">
              <a:solidFill>
                <a:srgbClr val="CC00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xmlns="" id="{6F9E71DF-D4B5-4700-AC28-2C99F2C59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3756" y="2945776"/>
            <a:ext cx="11525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baseline="-25000" dirty="0">
                <a:solidFill>
                  <a:srgbClr val="0066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dirty="0">
              <a:solidFill>
                <a:srgbClr val="0066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xmlns="" id="{8B7B654B-689B-4353-BFEA-B1750AD88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142" y="3001473"/>
            <a:ext cx="11525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G</a:t>
            </a:r>
            <a:r>
              <a:rPr lang="en-US" altLang="en-US" baseline="-250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altLang="en-US" dirty="0">
              <a:solidFill>
                <a:srgbClr val="0000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466643D1-BADF-42D9-BEFC-DA0E390FDDC6}"/>
              </a:ext>
            </a:extLst>
          </p:cNvPr>
          <p:cNvCxnSpPr/>
          <p:nvPr/>
        </p:nvCxnSpPr>
        <p:spPr>
          <a:xfrm>
            <a:off x="5940152" y="2652712"/>
            <a:ext cx="216024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4DF49DB7-488B-4522-B49E-29CB2D980061}"/>
              </a:ext>
            </a:extLst>
          </p:cNvPr>
          <p:cNvCxnSpPr>
            <a:cxnSpLocks/>
          </p:cNvCxnSpPr>
          <p:nvPr/>
        </p:nvCxnSpPr>
        <p:spPr>
          <a:xfrm>
            <a:off x="5940152" y="2843548"/>
            <a:ext cx="936104" cy="33215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A0FF12BD-B712-48C1-9E14-6AAD4078C2C7}"/>
              </a:ext>
            </a:extLst>
          </p:cNvPr>
          <p:cNvCxnSpPr>
            <a:cxnSpLocks/>
          </p:cNvCxnSpPr>
          <p:nvPr/>
        </p:nvCxnSpPr>
        <p:spPr>
          <a:xfrm flipV="1">
            <a:off x="7236296" y="2821269"/>
            <a:ext cx="864096" cy="35443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5BA91DEA-E54A-4B5A-B2BE-793A83F85D81}"/>
                  </a:ext>
                </a:extLst>
              </p:cNvPr>
              <p:cNvSpPr txBox="1"/>
              <p:nvPr/>
            </p:nvSpPr>
            <p:spPr>
              <a:xfrm>
                <a:off x="158936" y="3675857"/>
                <a:ext cx="8890434" cy="16459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2800" dirty="0"/>
                  <a:t> </a:t>
                </a:r>
                <a:r>
                  <a:rPr lang="en-US" sz="3200" dirty="0" err="1">
                    <a:solidFill>
                      <a:srgbClr val="663300"/>
                    </a:solidFill>
                  </a:rPr>
                  <a:t>Tính</a:t>
                </a:r>
                <a:r>
                  <a:rPr lang="en-US" sz="3200" dirty="0">
                    <a:solidFill>
                      <a:srgbClr val="663300"/>
                    </a:solidFill>
                  </a:rPr>
                  <a:t> </a:t>
                </a:r>
                <a:r>
                  <a:rPr lang="en-US" altLang="en-US" sz="3200" dirty="0">
                    <a:solidFill>
                      <a:srgbClr val="663300"/>
                    </a:solidFill>
                    <a:sym typeface="Symbol" panose="05050102010706020507" pitchFamily="18" charset="2"/>
                  </a:rPr>
                  <a:t>G</a:t>
                </a:r>
                <a:r>
                  <a:rPr lang="en-US" altLang="en-US" sz="3200" baseline="-25000" dirty="0">
                    <a:solidFill>
                      <a:srgbClr val="663300"/>
                    </a:solidFill>
                    <a:sym typeface="Symbol" panose="05050102010706020507" pitchFamily="18" charset="2"/>
                  </a:rPr>
                  <a:t>1 </a:t>
                </a:r>
                <a:r>
                  <a:rPr lang="en-US" altLang="en-US" sz="3200" dirty="0">
                    <a:solidFill>
                      <a:srgbClr val="6633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en-US" sz="3200" dirty="0" err="1">
                    <a:solidFill>
                      <a:srgbClr val="663300"/>
                    </a:solidFill>
                    <a:sym typeface="Symbol" panose="05050102010706020507" pitchFamily="18" charset="2"/>
                  </a:rPr>
                  <a:t>của</a:t>
                </a:r>
                <a:r>
                  <a:rPr lang="en-US" altLang="en-US" sz="3200" dirty="0">
                    <a:solidFill>
                      <a:srgbClr val="663300"/>
                    </a:solidFill>
                    <a:sym typeface="Symbol" panose="05050102010706020507" pitchFamily="18" charset="2"/>
                  </a:rPr>
                  <a:t> p</a:t>
                </a:r>
                <a:r>
                  <a:rPr lang="vi-VN" altLang="en-US" sz="3200" dirty="0">
                    <a:solidFill>
                      <a:srgbClr val="663300"/>
                    </a:solidFill>
                    <a:sym typeface="Symbol" panose="05050102010706020507" pitchFamily="18" charset="2"/>
                  </a:rPr>
                  <a:t>ư</a:t>
                </a:r>
                <a:r>
                  <a:rPr lang="en-US" altLang="en-US" sz="3200" dirty="0">
                    <a:solidFill>
                      <a:srgbClr val="663300"/>
                    </a:solidFill>
                    <a:sym typeface="Symbol" panose="05050102010706020507" pitchFamily="18" charset="2"/>
                  </a:rPr>
                  <a:t>: </a:t>
                </a:r>
                <a:r>
                  <a:rPr lang="en-US" altLang="en-US" sz="32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CO  +  H</a:t>
                </a:r>
                <a:r>
                  <a:rPr lang="en-US" altLang="en-US" sz="3200" baseline="-25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O  = CO</a:t>
                </a:r>
                <a:r>
                  <a:rPr lang="en-US" altLang="en-US" sz="3200" baseline="-25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 + H</a:t>
                </a:r>
                <a:r>
                  <a:rPr lang="en-US" altLang="en-US" sz="3200" baseline="-25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en-US" sz="32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Cho </a:t>
                </a:r>
                <a:r>
                  <a:rPr lang="en-US" altLang="en-US" sz="3200" dirty="0" err="1">
                    <a:solidFill>
                      <a:srgbClr val="CC00FF"/>
                    </a:solidFill>
                    <a:sym typeface="Symbol" panose="05050102010706020507" pitchFamily="18" charset="2"/>
                  </a:rPr>
                  <a:t>biết</a:t>
                </a:r>
                <a:r>
                  <a:rPr lang="en-US" altLang="en-US" sz="32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:  </a:t>
                </a:r>
                <a:r>
                  <a:rPr lang="en-US" altLang="en-US" sz="32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CO</a:t>
                </a:r>
                <a:r>
                  <a:rPr lang="en-US" altLang="en-US" sz="32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200" i="1" smtClean="0">
                            <a:solidFill>
                              <a:srgbClr val="CC00FF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en-US" sz="32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altLang="en-US" sz="32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sz="32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O</a:t>
                </a:r>
                <a:r>
                  <a:rPr lang="en-US" altLang="en-US" sz="3200" baseline="-250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   =  </a:t>
                </a:r>
                <a:r>
                  <a:rPr lang="en-US" altLang="en-US" sz="32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CO</a:t>
                </a:r>
                <a:r>
                  <a:rPr lang="en-US" altLang="en-US" sz="3200" baseline="-25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 ; G</a:t>
                </a:r>
                <a:r>
                  <a:rPr lang="en-US" altLang="en-US" sz="3200" baseline="-250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 = - 257,3 kJ</a:t>
                </a:r>
              </a:p>
              <a:p>
                <a:r>
                  <a:rPr lang="en-US" altLang="en-US" dirty="0">
                    <a:solidFill>
                      <a:srgbClr val="CC00FF"/>
                    </a:solidFill>
                    <a:sym typeface="Symbol" panose="05050102010706020507" pitchFamily="18" charset="2"/>
                  </a:rPr>
                  <a:t>                      </a:t>
                </a:r>
                <a:r>
                  <a:rPr lang="en-US" altLang="en-US" sz="32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H</a:t>
                </a:r>
                <a:r>
                  <a:rPr lang="en-US" altLang="en-US" sz="3200" baseline="-25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O</a:t>
                </a:r>
                <a:r>
                  <a:rPr lang="en-US" altLang="en-US" sz="3200" baseline="-250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  = </a:t>
                </a:r>
                <a:r>
                  <a:rPr lang="en-US" altLang="en-US" sz="32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H</a:t>
                </a:r>
                <a:r>
                  <a:rPr lang="en-US" altLang="en-US" sz="3200" baseline="-25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O</a:t>
                </a:r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 ; G</a:t>
                </a:r>
                <a:r>
                  <a:rPr lang="en-US" altLang="en-US" sz="3200" baseline="-250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3  </a:t>
                </a:r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= - 228,6 kJ</a:t>
                </a:r>
                <a:endParaRPr lang="en-US" altLang="en-US" sz="3200" dirty="0">
                  <a:solidFill>
                    <a:srgbClr val="CC00FF"/>
                  </a:solidFill>
                  <a:sym typeface="Symbol" panose="05050102010706020507" pitchFamily="18" charset="2"/>
                </a:endParaRPr>
              </a:p>
              <a:p>
                <a:endParaRPr lang="en-US" altLang="en-US" dirty="0">
                  <a:solidFill>
                    <a:srgbClr val="CC00FF"/>
                  </a:solidFill>
                  <a:sym typeface="Symbol" panose="05050102010706020507" pitchFamily="18" charset="2"/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BA91DEA-E54A-4B5A-B2BE-793A83F85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36" y="3675857"/>
                <a:ext cx="8890434" cy="1645920"/>
              </a:xfrm>
              <a:prstGeom prst="rect">
                <a:avLst/>
              </a:prstGeom>
              <a:blipFill rotWithShape="1">
                <a:blip r:embed="rId3"/>
                <a:stretch>
                  <a:fillRect l="-1715" t="-4815" b="-2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0418C64D-E4D6-4716-AA2D-86E14E4F9762}"/>
              </a:ext>
            </a:extLst>
          </p:cNvPr>
          <p:cNvSpPr txBox="1"/>
          <p:nvPr/>
        </p:nvSpPr>
        <p:spPr>
          <a:xfrm>
            <a:off x="315692" y="5661248"/>
            <a:ext cx="8725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G</a:t>
            </a:r>
            <a:r>
              <a:rPr lang="en-US" altLang="en-US" sz="32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 = -28,7 </a:t>
            </a:r>
            <a:r>
              <a:rPr lang="en-US" altLang="en-US" sz="32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kJ &lt; 0 : </a:t>
            </a:r>
            <a:r>
              <a:rPr lang="en-US" altLang="en-US" sz="3200" b="1" dirty="0" err="1" smtClean="0">
                <a:solidFill>
                  <a:srgbClr val="FF0000"/>
                </a:solidFill>
                <a:sym typeface="Symbol" panose="05050102010706020507" pitchFamily="18" charset="2"/>
              </a:rPr>
              <a:t>pư</a:t>
            </a:r>
            <a:r>
              <a:rPr lang="en-US" altLang="en-US" sz="32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3200" b="1" dirty="0" err="1" smtClean="0">
                <a:solidFill>
                  <a:srgbClr val="FF0000"/>
                </a:solidFill>
                <a:sym typeface="Symbol" panose="05050102010706020507" pitchFamily="18" charset="2"/>
              </a:rPr>
              <a:t>có</a:t>
            </a:r>
            <a:r>
              <a:rPr lang="en-US" altLang="en-US" sz="32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3200" b="1" dirty="0" err="1" smtClean="0">
                <a:solidFill>
                  <a:srgbClr val="FF0000"/>
                </a:solidFill>
                <a:sym typeface="Symbol" panose="05050102010706020507" pitchFamily="18" charset="2"/>
              </a:rPr>
              <a:t>khả</a:t>
            </a:r>
            <a:r>
              <a:rPr lang="en-US" altLang="en-US" sz="32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3200" b="1" dirty="0" err="1" smtClean="0">
                <a:solidFill>
                  <a:srgbClr val="FF0000"/>
                </a:solidFill>
                <a:sym typeface="Symbol" panose="05050102010706020507" pitchFamily="18" charset="2"/>
              </a:rPr>
              <a:t>năng</a:t>
            </a:r>
            <a:r>
              <a:rPr lang="en-US" altLang="en-US" sz="32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3200" b="1" dirty="0" err="1" smtClean="0">
                <a:solidFill>
                  <a:srgbClr val="FF0000"/>
                </a:solidFill>
                <a:sym typeface="Symbol" panose="05050102010706020507" pitchFamily="18" charset="2"/>
              </a:rPr>
              <a:t>tự</a:t>
            </a:r>
            <a:r>
              <a:rPr lang="en-US" altLang="en-US" sz="32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3200" b="1" dirty="0" err="1" smtClean="0">
                <a:solidFill>
                  <a:srgbClr val="FF0000"/>
                </a:solidFill>
                <a:sym typeface="Symbol" panose="05050102010706020507" pitchFamily="18" charset="2"/>
              </a:rPr>
              <a:t>phát</a:t>
            </a:r>
            <a:endParaRPr 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78028" y="4910297"/>
                <a:ext cx="7272808" cy="82296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32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H</a:t>
                </a:r>
                <a:r>
                  <a:rPr lang="en-US" altLang="en-US" sz="3200" baseline="-250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006600"/>
                    </a:solidFill>
                    <a:sym typeface="Symbol" panose="05050102010706020507" pitchFamily="18" charset="2"/>
                  </a:rPr>
                  <a:t>O</a:t>
                </a:r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vi-VN" altLang="en-US" sz="3200" dirty="0" smtClean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= </a:t>
                </a:r>
                <a:r>
                  <a:rPr lang="en-US" altLang="en-US" sz="3200" dirty="0" smtClean="0">
                    <a:solidFill>
                      <a:srgbClr val="006600"/>
                    </a:solidFill>
                    <a:sym typeface="Symbol" panose="05050102010706020507" pitchFamily="18" charset="2"/>
                  </a:rPr>
                  <a:t>H</a:t>
                </a:r>
                <a:r>
                  <a:rPr lang="en-US" altLang="en-US" sz="3200" baseline="-25000" dirty="0" smtClean="0">
                    <a:solidFill>
                      <a:srgbClr val="0066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 smtClean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  </a:t>
                </a:r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alt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O</a:t>
                </a:r>
                <a:r>
                  <a:rPr lang="en-US" altLang="en-US" sz="3200" baseline="-250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en-US" sz="3200" dirty="0" smtClean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 </a:t>
                </a:r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; </a:t>
                </a:r>
                <a:r>
                  <a:rPr lang="en-US" altLang="en-US" sz="3200" dirty="0" smtClean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G</a:t>
                </a:r>
                <a:r>
                  <a:rPr lang="vi-VN" altLang="en-US" sz="3200" dirty="0" smtClean="0">
                    <a:solidFill>
                      <a:srgbClr val="C00000"/>
                    </a:solidFill>
                    <a:sym typeface="Symbol" panose="05050102010706020507" pitchFamily="18" charset="2"/>
                  </a:rPr>
                  <a:t>’</a:t>
                </a:r>
                <a:r>
                  <a:rPr lang="en-US" altLang="en-US" sz="3200" baseline="-25000" dirty="0" smtClean="0">
                    <a:solidFill>
                      <a:srgbClr val="C00000"/>
                    </a:solidFill>
                    <a:sym typeface="Symbol" panose="05050102010706020507" pitchFamily="18" charset="2"/>
                  </a:rPr>
                  <a:t>3  </a:t>
                </a:r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= </a:t>
                </a:r>
                <a:r>
                  <a:rPr lang="vi-VN" altLang="en-US" sz="3200" dirty="0" smtClean="0">
                    <a:solidFill>
                      <a:srgbClr val="C00000"/>
                    </a:solidFill>
                    <a:sym typeface="Symbol" panose="05050102010706020507" pitchFamily="18" charset="2"/>
                  </a:rPr>
                  <a:t>+</a:t>
                </a:r>
                <a:r>
                  <a:rPr lang="en-US" altLang="en-US" sz="3200" dirty="0" smtClean="0">
                    <a:solidFill>
                      <a:srgbClr val="C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en-US" sz="3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228,6 kJ</a:t>
                </a:r>
                <a:endParaRPr lang="en-US" altLang="en-US" sz="3200" dirty="0">
                  <a:solidFill>
                    <a:srgbClr val="CC00FF"/>
                  </a:solidFill>
                  <a:sym typeface="Symbol" panose="05050102010706020507" pitchFamily="18" charset="2"/>
                </a:endParaRPr>
              </a:p>
              <a:p>
                <a:endParaRPr lang="en-US" altLang="en-US" sz="3200" dirty="0">
                  <a:solidFill>
                    <a:srgbClr val="CC00FF"/>
                  </a:solidFill>
                  <a:sym typeface="Symbol" panose="05050102010706020507" pitchFamily="18" charset="2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028" y="4910297"/>
                <a:ext cx="7272808" cy="822960"/>
              </a:xfrm>
              <a:prstGeom prst="rect">
                <a:avLst/>
              </a:prstGeom>
              <a:blipFill rotWithShape="1">
                <a:blip r:embed="rId4"/>
                <a:stretch>
                  <a:fillRect l="-2096" b="-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35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9440</TotalTime>
  <Words>3303</Words>
  <Application>Microsoft Office PowerPoint</Application>
  <PresentationFormat>On-screen Show (4:3)</PresentationFormat>
  <Paragraphs>358</Paragraphs>
  <Slides>37</Slides>
  <Notes>27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Default Design</vt:lpstr>
      <vt:lpstr>Equation</vt:lpstr>
      <vt:lpstr>QuickTime Movie</vt:lpstr>
      <vt:lpstr>CHƯƠNG  5  THẾ ĐẲNG ÁP &amp; CHIỀU CỦA CÁC QUÁ TRÌNH HOÁ HỌC</vt:lpstr>
      <vt:lpstr>PowerPoint Presentation</vt:lpstr>
      <vt:lpstr>CÁC QUÁ TRÌNH CÓ THỂ XEM LÀ QUÁ TRÌNH THUẬN NGHỊCH </vt:lpstr>
      <vt:lpstr>XÁC SUẤT NHIỆT ĐỘNG W</vt:lpstr>
      <vt:lpstr>PowerPoint Presentation</vt:lpstr>
      <vt:lpstr>ENTROPY (S)</vt:lpstr>
      <vt:lpstr>PowerPoint Presentation</vt:lpstr>
      <vt:lpstr>ENTROPY LÀ TIÊU CHUẨN XÉT CHIỀU TRONG HỆ CÔ LẬP</vt:lpstr>
      <vt:lpstr>Quá trình nóng chảy và bay hơi có H &gt;0 đều tự phát theo chiều hướng tăng entropy. </vt:lpstr>
      <vt:lpstr>PowerPoint Presentation</vt:lpstr>
      <vt:lpstr>PowerPoint Presentation</vt:lpstr>
      <vt:lpstr>PowerPoint Presentation</vt:lpstr>
      <vt:lpstr> </vt:lpstr>
      <vt:lpstr>TÍNH CHẤT ENTROPY</vt:lpstr>
      <vt:lpstr>PowerPoint Presentation</vt:lpstr>
      <vt:lpstr>PowerPoint Presentation</vt:lpstr>
      <vt:lpstr>Nhiệt độ tăng làm tăng entropy,  ngược lại áp suất tăng làm giảm entropy.</vt:lpstr>
      <vt:lpstr>PowerPoint Presentation</vt:lpstr>
      <vt:lpstr> </vt:lpstr>
      <vt:lpstr>ẢNH HƯỞNG NHIỆT ĐỘ ĐẾN S PHẢN ỨNG </vt:lpstr>
      <vt:lpstr>THẾ ĐẲNG ÁP VÀ CHIỀU DIỄN RA CỦA CÁC QUÁ TRÌNH HOÁ HỌC</vt:lpstr>
      <vt:lpstr> </vt:lpstr>
      <vt:lpstr>∆Hpư –T. ∆Spư ≤ - A’</vt:lpstr>
      <vt:lpstr>ĐIỀU KIỆN TỰ PHÁT CHO QUÁ TRÌNH ĐẲNG NHIỆT ĐẲNG ÁP</vt:lpstr>
      <vt:lpstr>ẢNH HƯỞNG NHIỆT ĐỘ ĐẾN CHIỀU DIỄN RA CỦA CÁC QUÁ TRÌNH HOÁ HỌC</vt:lpstr>
      <vt:lpstr>PowerPoint Presentation</vt:lpstr>
      <vt:lpstr>PowerPoint Presentation</vt:lpstr>
      <vt:lpstr> </vt:lpstr>
      <vt:lpstr>PowerPoint Presentation</vt:lpstr>
      <vt:lpstr>Ở đk chuẩn 250C, chất có thế đẳng áp tạo thành tiêu chuẩn càng âm thì càng bền theo nhiệt động học.</vt:lpstr>
      <vt:lpstr>ĐÁNH GIÁ CHIỀU QUÁ TRÌNH TRONG THỰC TẾ TỪ 〖∆G〗_(298 pư)^0 </vt:lpstr>
      <vt:lpstr>PowerPoint Presentation</vt:lpstr>
      <vt:lpstr>ÁP DỤNG. Tính 〖∆G〗_(298 pư)^0 của phản ứng ở 250C:                     CH4(k) + 2O2(k) = CO2(k) + 2H2O(k) 〖∆G〗_(298 tt)^0[kJ/mol] -50,72                -394,36      -237,13</vt:lpstr>
      <vt:lpstr>     TÍNH 〖∆G〗_(298 pư)^0 THEO H0 VÀ S0  〖∆G〗_(298 pư)^0 = 〖∆H〗_(298 pư)^0 〖-298.∆S〗_(298 pư)^0  </vt:lpstr>
      <vt:lpstr>TÍNH 〖∆G〗_(T pư)^0 THEO H0 VÀ S0  〖           ∆G〗_(T pư)^0 = 〖〖∆H〗_T^0-T.∆S〗_T^0       </vt:lpstr>
      <vt:lpstr>PowerPoint Presentation</vt:lpstr>
      <vt:lpstr>PowerPoint Presentation</vt:lpstr>
    </vt:vector>
  </TitlesOfParts>
  <Company>University of Missouri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Entropy, Free Energy,  and Equilibrium</dc:title>
  <dc:creator>J. David Robertson</dc:creator>
  <cp:lastModifiedBy>USER</cp:lastModifiedBy>
  <cp:revision>317</cp:revision>
  <dcterms:created xsi:type="dcterms:W3CDTF">2001-08-08T19:44:43Z</dcterms:created>
  <dcterms:modified xsi:type="dcterms:W3CDTF">2020-12-30T11:51:47Z</dcterms:modified>
</cp:coreProperties>
</file>