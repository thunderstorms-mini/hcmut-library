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9"/>
  </p:notesMasterIdLst>
  <p:sldIdLst>
    <p:sldId id="470" r:id="rId2"/>
    <p:sldId id="387" r:id="rId3"/>
    <p:sldId id="439" r:id="rId4"/>
    <p:sldId id="389" r:id="rId5"/>
    <p:sldId id="449" r:id="rId6"/>
    <p:sldId id="418" r:id="rId7"/>
    <p:sldId id="457" r:id="rId8"/>
    <p:sldId id="448" r:id="rId9"/>
    <p:sldId id="458" r:id="rId10"/>
    <p:sldId id="469" r:id="rId11"/>
    <p:sldId id="406" r:id="rId12"/>
    <p:sldId id="471" r:id="rId13"/>
    <p:sldId id="487" r:id="rId14"/>
    <p:sldId id="484" r:id="rId15"/>
    <p:sldId id="485" r:id="rId16"/>
    <p:sldId id="486" r:id="rId17"/>
    <p:sldId id="459" r:id="rId1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 8 64Bit VS7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0000FF"/>
    <a:srgbClr val="339933"/>
    <a:srgbClr val="CC00FF"/>
    <a:srgbClr val="990000"/>
    <a:srgbClr val="FFFFCC"/>
    <a:srgbClr val="9933FF"/>
    <a:srgbClr val="FF0000"/>
    <a:srgbClr val="FF660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7" autoAdjust="0"/>
    <p:restoredTop sz="94600" autoAdjust="0"/>
  </p:normalViewPr>
  <p:slideViewPr>
    <p:cSldViewPr>
      <p:cViewPr>
        <p:scale>
          <a:sx n="118" d="100"/>
          <a:sy n="118" d="100"/>
        </p:scale>
        <p:origin x="-852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xmlns="" id="{8CD43FE5-8D96-4CC5-99E7-1242BC7E82E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xmlns="" id="{AC847758-2061-4513-9AD0-D25EA4E79D9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xmlns="" id="{93003046-5B5F-46A9-8A72-261E7CC6788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7109" name="Rectangle 5">
            <a:extLst>
              <a:ext uri="{FF2B5EF4-FFF2-40B4-BE49-F238E27FC236}">
                <a16:creationId xmlns:a16="http://schemas.microsoft.com/office/drawing/2014/main" xmlns="" id="{82EA8D93-F039-47E5-BBB0-380F6C9143F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47110" name="Rectangle 6">
            <a:extLst>
              <a:ext uri="{FF2B5EF4-FFF2-40B4-BE49-F238E27FC236}">
                <a16:creationId xmlns:a16="http://schemas.microsoft.com/office/drawing/2014/main" xmlns="" id="{DC990A7C-7E3E-4FAC-8D20-D3967041998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7111" name="Rectangle 7">
            <a:extLst>
              <a:ext uri="{FF2B5EF4-FFF2-40B4-BE49-F238E27FC236}">
                <a16:creationId xmlns:a16="http://schemas.microsoft.com/office/drawing/2014/main" xmlns="" id="{C013E0A5-6070-4AC8-B7B2-8627DB5337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B262F6E-3A0C-4032-B518-552BDBE8D15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303654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>
            <a:extLst>
              <a:ext uri="{FF2B5EF4-FFF2-40B4-BE49-F238E27FC236}">
                <a16:creationId xmlns:a16="http://schemas.microsoft.com/office/drawing/2014/main" xmlns="" id="{567C9BC0-B2EE-46D0-95BA-B755D4D35D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91B13B1-5937-423A-8C49-A3F989ADD269}" type="slidenum">
              <a:rPr lang="en-US" altLang="en-US" sz="1200" smtClean="0"/>
              <a:pPr/>
              <a:t>2</a:t>
            </a:fld>
            <a:endParaRPr lang="en-US" altLang="en-US" sz="1200"/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xmlns="" id="{5A90A99E-4687-46CE-9126-2F38AD1653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xmlns="" id="{5D62F90B-E307-41EA-8BEF-3B67708D68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xmlns="" id="{35C5A2FF-DCC8-48D9-8319-24DC9419E46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F893184-E928-4217-A7CF-AC9FF3E060CA}" type="slidenum">
              <a:rPr lang="en-US" altLang="en-US" sz="1200" smtClean="0"/>
              <a:pPr/>
              <a:t>3</a:t>
            </a:fld>
            <a:endParaRPr lang="en-US" altLang="en-US" sz="12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xmlns="" id="{64FEAB2D-3B05-40F9-B593-95FB2C7193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xmlns="" id="{83FEBDA3-EC88-4A73-B59E-D8A33D6E03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xmlns="" id="{F3CFF3E4-94A8-4513-BD54-17692F0A75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629E8C4-D419-4A51-B177-F327B85D7A69}" type="slidenum">
              <a:rPr lang="en-US" altLang="en-US" sz="1200" smtClean="0"/>
              <a:pPr/>
              <a:t>4</a:t>
            </a:fld>
            <a:endParaRPr lang="en-US" altLang="en-US" sz="1200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xmlns="" id="{402C59F9-5EE2-49BC-8257-A00F64D491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xmlns="" id="{7EEC84FF-CAB1-4093-9D7E-75DB209881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xmlns="" id="{DE7C71D6-FE8B-4660-B2A4-5A897CA3E7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86E4B97-3E03-4467-82A0-F43658DED09A}" type="slidenum">
              <a:rPr lang="en-US" altLang="en-US" sz="1200" smtClean="0"/>
              <a:pPr/>
              <a:t>5</a:t>
            </a:fld>
            <a:endParaRPr lang="en-US" altLang="en-US" sz="1200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xmlns="" id="{6716618C-8B3F-4CE3-9887-C6F8F4ED212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xmlns="" id="{B82280A8-B2A5-488B-BA00-1E0EC2EDA1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xmlns="" id="{61A78193-B3A8-4A5D-BF53-98177CAD730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CE837E7-879A-4C75-ADFD-EC633769A1B4}" type="slidenum">
              <a:rPr lang="en-US" altLang="en-US" sz="1200" smtClean="0"/>
              <a:pPr/>
              <a:t>6</a:t>
            </a:fld>
            <a:endParaRPr lang="en-US" altLang="en-US" sz="1200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xmlns="" id="{35C65B7B-D180-41D7-80B8-E23CA0A0EC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xmlns="" id="{998FFA31-A55F-4C6B-9E2F-342D3A10F0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xmlns="" id="{33F16A8B-3034-4B31-BA5F-5D61ED9CE4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1FDE973-EB7F-4594-B4B6-D207AA01C6E9}" type="slidenum">
              <a:rPr lang="en-US" altLang="en-US" sz="1200" smtClean="0"/>
              <a:pPr/>
              <a:t>8</a:t>
            </a:fld>
            <a:endParaRPr lang="en-US" altLang="en-US" sz="1200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xmlns="" id="{5FC36F8D-F91F-41F2-8D48-CE2E00D094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xmlns="" id="{543D4ADA-436C-4AA7-A757-01D232F828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xmlns="" id="{FE0F7C10-71E9-456E-BDEC-D095123FCC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FEA651F-A21F-4E19-93C6-016953C62581}" type="slidenum">
              <a:rPr lang="en-US" altLang="en-US" sz="1200" smtClean="0"/>
              <a:pPr/>
              <a:t>11</a:t>
            </a:fld>
            <a:endParaRPr lang="en-US" altLang="en-US" sz="1200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xmlns="" id="{5031562B-6918-4A54-A38F-55D7BE2792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xmlns="" id="{F7AB68EF-FEF2-41F9-8003-FF03BC139D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xmlns="" id="{FE0F7C10-71E9-456E-BDEC-D095123FCC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FEA651F-A21F-4E19-93C6-016953C62581}" type="slidenum">
              <a:rPr lang="en-US" altLang="en-US" sz="1200" smtClean="0"/>
              <a:pPr/>
              <a:t>12</a:t>
            </a:fld>
            <a:endParaRPr lang="en-US" altLang="en-US" sz="1200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xmlns="" id="{5031562B-6918-4A54-A38F-55D7BE2792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xmlns="" id="{F7AB68EF-FEF2-41F9-8003-FF03BC139D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45279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xmlns="" id="{2A3A7F08-C2EE-4C32-B6A8-49D104F54E1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D9FDB3A-B5D7-4038-B3B3-D100138AE8B9}" type="slidenum">
              <a:rPr lang="en-US" altLang="en-US" sz="1200" smtClean="0"/>
              <a:pPr/>
              <a:t>14</a:t>
            </a:fld>
            <a:endParaRPr lang="en-US" altLang="en-US" sz="1200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xmlns="" id="{12E617AF-8F3B-4A01-B304-4E4564ADFF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xmlns="" id="{6BE71141-64EB-4A09-BB6B-999B86B7E6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1859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xmlns="" id="{2DCFA6CF-A15C-4489-91FD-B4D52C1EC0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494EFB4-2D55-410C-A5FD-A57BD15C99E4}" type="slidenum">
              <a:rPr lang="en-US" altLang="en-US" sz="1200" smtClean="0"/>
              <a:pPr/>
              <a:t>16</a:t>
            </a:fld>
            <a:endParaRPr lang="en-US" altLang="en-US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xmlns="" id="{E98FA391-D25D-41DB-B715-85DA2EB3B5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xmlns="" id="{0141FB8E-3EFC-490E-939F-71911BA381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7492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0E3D5B4-735A-4815-B14F-6DA646D3CF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6DD739D9-6C75-4D61-A5BE-E01AA84294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3A0FD074-1298-4B03-9EE5-B14F238FE61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89F2DF3A-B96B-4025-B7B9-6BFF02EF6A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E34DC375-FE69-4668-B4BF-2552CFA7735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AF2BB3-C38E-4715-B7AB-099202088E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090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F98E047-BE7C-4E42-8AC5-B7B3DA95A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D468A50-9862-4D7C-AEA4-0D485930E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C0AC7F11-6F5E-47E4-915C-3CEEC051A1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30F8610E-378E-4BAF-B95F-49EFC976A37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D8AE0ADA-E7C3-43AA-AA89-96D1A5A8837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38B2EA-61C6-4D30-A9B0-ED11B6A9741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7378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59EDA9-C15B-4D43-8E46-98A6881C4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6FA7F4A-F4DE-4F79-B330-C4268BDEC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44473C10-BA02-46D0-8997-9099384918D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73020EBB-CAF9-4792-A3BE-29EF5758AAD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603BF29D-D58A-4EFE-BE33-716E84B0A7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635114-8794-4686-BEFE-5A21C6F6A86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1232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E5A1B36-C4BD-46C5-BDCE-C2E77361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FD1E29C-2D05-4E58-959B-19AA409C0A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3AE3CA7D-7162-4BAC-84B5-7DD20355B7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D0BFE9DD-3ABD-476C-8394-C02F950D4D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AB6010FA-9BCF-4E0E-9931-5C700D24107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6BAE996B-24CE-4DDA-8CA1-E878282B09C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60B57D-1273-46AC-9671-AF6EE5A2647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8263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A71259B-9E90-4158-A73C-29C316035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B82DD45-39EB-48E2-A0D6-D5CE08938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1D5A1FF9-EB57-4057-8226-DA08268ED4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3E80CE52-52F4-4898-B852-E69F535885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0EA7906-E0C5-406E-A561-4FD4CFE681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xmlns="" id="{BA483C89-1A4B-4614-BC6E-27441E30E9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xmlns="" id="{07668817-1246-4B22-AF27-99AEC828FBB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xmlns="" id="{886FD880-DE2A-4DCF-84BB-3D3595E59D3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FB53A6-C2CB-480A-983A-0ABC1A5E65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6526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6FE2C20-AB53-4271-B9DB-AA7BD210B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xmlns="" id="{D91CD1A4-A508-45C5-A267-AC859BA013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xmlns="" id="{5BAF285A-41DF-4898-899C-F9CB606BFF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xmlns="" id="{350EF499-5645-4124-813B-8DF64636E1F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D4F483-B17E-41C4-93BC-89BB2105F4D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7457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xmlns="" id="{FC53F7EC-DC3D-4084-B02E-1F99F05825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xmlns="" id="{A8178329-C647-4833-9F72-069EC1DF3F6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xmlns="" id="{9D72B12D-C99E-4A52-85C0-608926948E1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3560C9-1AFE-4271-AA22-F6B445E67A9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9161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44EF4D-0B27-4516-ADAF-8ECD426E4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6837DAB-3B3F-47DC-A895-874677288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5DC8D4AD-1B3A-426D-8AB4-26863E0401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E3E2FD4D-B00B-448C-9BF5-41D807537E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B1119A82-1B38-4D94-9816-17C7625034A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D51341AD-E556-412D-AD9C-495E1BA1F1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679B97-DCFF-4A65-B4D3-83BA9C80502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4872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0A7A781-80BF-4CD9-83FC-FD6C38AEC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73083F4C-C3A1-40AE-976A-8CDD0C9C4B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544F7A7D-C5E5-48C3-BC74-0A093659AD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7EF18C25-9389-4F79-B992-E219C5F5567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D4D6FFE-80C9-4D0B-AED3-61EEEE4B6BD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546CE609-2FF4-4EC0-A817-9C72B0A7A48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006517-D55F-4852-AD39-0B739F82BD5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4133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A3B88FC-DD22-42D6-81E6-11911103E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1748F32D-F4E4-4762-8ED6-7809BA7F90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D5782E27-BBB8-4818-AB30-891D28FAB9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83E9739A-3A9E-425F-B712-3DF2341F3A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966691D5-956C-4BBD-8213-D7E9CC6BBC0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E440CA-C8A0-4FEE-BA0D-9B78D24A4A3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0433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9539BF95-A455-4E14-A74E-5D84989DA9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EAB4B720-71A1-4B7F-8B8E-5CD5DA1A04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F115D8AF-B46A-439D-AC38-EB35D32F46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83558C35-5165-476A-BA5A-DF308199ED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1A4D7E2E-E7FD-45CD-9319-9B4F01F488E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D3ACC3-5C49-47CA-8E37-DA447BD06B3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77029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8B7E43F-C3E2-41B8-A360-8195AA4EFCE8}"/>
              </a:ext>
            </a:extLst>
          </p:cNvPr>
          <p:cNvSpPr>
            <a:spLocks noGrp="1"/>
          </p:cNvSpPr>
          <p:nvPr>
            <p:ph type="title" sz="quarter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3997006-1DA5-4C39-89E2-FA378EF203D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85800" y="19812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059291F5-8088-47F8-A13D-73E1357D44BB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CF18DF9E-4BDB-450C-B2A0-AAC67F63A9C2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685800" y="41148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B875054B-938E-4F09-8CA3-9FECE5D9A1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xmlns="" id="{6BADEC2E-001D-4D9D-B1A1-1C1BF12B0F4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xmlns="" id="{68640E16-743A-49C1-8522-73A92406011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xmlns="" id="{D37294E8-3C66-4C37-8BBF-E5AE3BFE737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2FE87D-9274-41B0-A3B5-571400D501E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28424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D51C1B9-E4B3-4B83-A410-754CC6055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F3AB158-B6C3-4246-9D83-C54344242D47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7EC1BEEC-5CE6-49A9-B81A-1370BD66CE43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781ABB35-721C-4456-965F-696F06E42FC4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xmlns="" id="{EB8DC508-996D-4E3F-A647-B78132BF8C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xmlns="" id="{DBC63E36-F9FA-4CF3-919A-9EA2DE26F93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xmlns="" id="{873A5DE0-4680-40E3-986E-9F5E3E39AD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A5FE3A-082D-40CE-9376-286E29A379D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750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xmlns="" id="{11B7F4C5-5FC7-41B4-B089-E36F1DDB07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xmlns="" id="{8BC3AED4-CB93-4E98-90FB-5A30D5A078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xmlns="" id="{5AD654AD-2EA5-4EBE-A1A4-52E39F42C27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xmlns="" id="{61368B3A-2A98-4524-968B-00E486D66E6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xmlns="" id="{243B0A3C-029E-442A-A6F8-F6E041DA24C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916E37A2-B592-4DF5-B16B-6CC0A7AB3C0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30.png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w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A5B9A69C-07E4-4816-A4A8-9B8FBF7F20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685800"/>
            <a:ext cx="6858000" cy="1655762"/>
          </a:xfrm>
        </p:spPr>
        <p:txBody>
          <a:bodyPr/>
          <a:lstStyle/>
          <a:p>
            <a:r>
              <a:rPr lang="vi-V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CHƯƠNG VII</a:t>
            </a:r>
          </a:p>
          <a:p>
            <a:r>
              <a:rPr lang="vi-VN" sz="6000" b="1" dirty="0">
                <a:solidFill>
                  <a:srgbClr val="CC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ĐỘNG HÓA HỌC</a:t>
            </a:r>
            <a:endParaRPr lang="en-US" sz="6000" b="1" dirty="0">
              <a:solidFill>
                <a:srgbClr val="CC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5406D5E-5875-471E-B4E5-1D481D72AA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2514600"/>
            <a:ext cx="5867400" cy="383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646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Slide Number Placeholder 5">
            <a:extLst>
              <a:ext uri="{FF2B5EF4-FFF2-40B4-BE49-F238E27FC236}">
                <a16:creationId xmlns:a16="http://schemas.microsoft.com/office/drawing/2014/main" xmlns="" id="{D5CED093-9F76-41D1-98E6-7F7D759CD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F6196C2-C69B-4B32-B2B9-DC037304EF10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xmlns="" id="{331D9A70-ED9E-4E72-9E02-B3BC8359FF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-304800" y="0"/>
            <a:ext cx="9753600" cy="3733800"/>
          </a:xfrm>
        </p:spPr>
        <p:txBody>
          <a:bodyPr/>
          <a:lstStyle/>
          <a:p>
            <a:pPr marL="398463" indent="0" eaLnBrk="1" hangingPunct="1">
              <a:lnSpc>
                <a:spcPct val="150000"/>
              </a:lnSpc>
              <a:buNone/>
            </a:pPr>
            <a:r>
              <a:rPr lang="vi-V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</a:t>
            </a: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vi-V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HIỆT ĐỘNG HÓA HỌC</a:t>
            </a:r>
            <a:endParaRPr lang="en-US" alt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9438" lvl="1" indent="0">
              <a:lnSpc>
                <a:spcPct val="150000"/>
              </a:lnSpc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Khảo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sát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trạng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thái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trạng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thái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cuối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579438" lvl="1" indent="0">
              <a:lnSpc>
                <a:spcPct val="150000"/>
              </a:lnSpc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Điều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kiện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pư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diễn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ra: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vi-VN" alt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H  -  T.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S  &lt;</a:t>
            </a:r>
            <a:r>
              <a:rPr lang="vi-V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0 </a:t>
            </a:r>
          </a:p>
          <a:p>
            <a:pPr marL="579438" lvl="1" indent="0">
              <a:lnSpc>
                <a:spcPct val="150000"/>
              </a:lnSpc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Mức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diễn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ra </a:t>
            </a: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quá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vi-VN" altLang="en-US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vi-VN" altLang="en-US" baseline="-25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vi-VN" altLang="en-US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n-US" altLang="en-US" baseline="30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en-US" baseline="-25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-</a:t>
            </a: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RTlnK</a:t>
            </a:r>
            <a:r>
              <a:rPr lang="en-US" altLang="en-US" baseline="-250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vi-VN" altLang="en-US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altLang="en-US" dirty="0">
              <a:solidFill>
                <a:srgbClr val="CC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76" name="Text Box 6">
            <a:extLst>
              <a:ext uri="{FF2B5EF4-FFF2-40B4-BE49-F238E27FC236}">
                <a16:creationId xmlns:a16="http://schemas.microsoft.com/office/drawing/2014/main" xmlns="" id="{62AEBE8E-A59A-4062-B400-6B6705F3F9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04800" y="3427520"/>
            <a:ext cx="9448800" cy="338554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 marL="233363" indent="-66675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15938" indent="-11747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398463" lvl="1" indent="0" eaLnBrk="1" hangingPunct="1">
              <a:spcBef>
                <a:spcPct val="0"/>
              </a:spcBef>
              <a:buNone/>
            </a:pPr>
            <a:r>
              <a:rPr lang="vi-VN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vi-VN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ỘNG HÓA HỌC</a:t>
            </a:r>
            <a:endParaRPr lang="en-US" altLang="en-US" sz="3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Nghiên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cứu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giai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đoạn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trung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gian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cơ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chế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vi-VN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en-US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en-US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lang="en-US" alt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alt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diễn</a:t>
            </a:r>
            <a:r>
              <a:rPr lang="en-US" alt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ra </a:t>
            </a:r>
            <a:r>
              <a:rPr lang="en-US" altLang="en-US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nhanh</a:t>
            </a:r>
            <a:r>
              <a:rPr lang="en-US" alt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hay </a:t>
            </a:r>
            <a:r>
              <a:rPr lang="en-US" altLang="en-US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chậm</a:t>
            </a:r>
            <a:r>
              <a:rPr lang="en-US" alt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tốc</a:t>
            </a:r>
            <a:r>
              <a:rPr lang="en-US" alt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lang="en-US" alt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vi-VN" alt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en-US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en-US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en-US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yếu</a:t>
            </a:r>
            <a:r>
              <a:rPr lang="en-US" altLang="en-US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</a:t>
            </a:r>
            <a:r>
              <a:rPr lang="en-US" altLang="en-US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r>
              <a:rPr lang="en-US" altLang="en-US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hưởng</a:t>
            </a:r>
            <a:r>
              <a:rPr lang="en-US" altLang="en-US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tới</a:t>
            </a:r>
            <a:r>
              <a:rPr lang="en-US" altLang="en-US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tốc</a:t>
            </a:r>
            <a:r>
              <a:rPr lang="en-US" altLang="en-US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en-US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lang="en-US" altLang="en-US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vi-VN" altLang="en-US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en-US" dirty="0">
              <a:solidFill>
                <a:srgbClr val="0066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build="p"/>
      <p:bldP spid="307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5">
            <a:extLst>
              <a:ext uri="{FF2B5EF4-FFF2-40B4-BE49-F238E27FC236}">
                <a16:creationId xmlns:a16="http://schemas.microsoft.com/office/drawing/2014/main" xmlns="" id="{2910E4A7-8D41-4449-9BEC-12FE8E745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1B5FE12-13B7-4B50-9476-45AFF83DF391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xmlns="" id="{C0B36098-BD84-4C77-AC75-DFEBECDC84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228230" y="990600"/>
            <a:ext cx="9144000" cy="2286000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 sz="3200" b="1" dirty="0">
                <a:solidFill>
                  <a:srgbClr val="FF0000"/>
                </a:solidFill>
              </a:rPr>
              <a:t/>
            </a:r>
            <a:br>
              <a:rPr lang="en-US" altLang="en-US" sz="3200" b="1" dirty="0">
                <a:solidFill>
                  <a:srgbClr val="FF0000"/>
                </a:solidFill>
              </a:rPr>
            </a:br>
            <a:r>
              <a:rPr lang="en-US" altLang="en-US" sz="3200" b="1" dirty="0">
                <a:solidFill>
                  <a:srgbClr val="FF0000"/>
                </a:solidFill>
              </a:rPr>
              <a:t/>
            </a:r>
            <a:br>
              <a:rPr lang="en-US" altLang="en-US" sz="3200" b="1" dirty="0">
                <a:solidFill>
                  <a:srgbClr val="FF0000"/>
                </a:solidFill>
              </a:rPr>
            </a:b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vi-VN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ỊNH LUẬT TÁC DỤNG KHỐI LƯỢNG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sz="24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M.Guldberg</a:t>
            </a:r>
            <a:r>
              <a:rPr lang="en-US" alt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P. </a:t>
            </a:r>
            <a:r>
              <a:rPr lang="en-US" altLang="en-US" sz="24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Waage</a:t>
            </a:r>
            <a:r>
              <a:rPr lang="en-US" alt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)</a:t>
            </a:r>
            <a:br>
              <a:rPr lang="en-US" alt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Ở </a:t>
            </a: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đổi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pư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đồng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3200" u="sng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đơn</a:t>
            </a:r>
            <a:r>
              <a:rPr lang="en-US" altLang="en-US" sz="3200" u="sng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u="sng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giản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 </a:t>
            </a:r>
            <a:r>
              <a:rPr lang="en-US" altLang="en-US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altLang="en-US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aA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+  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bB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=  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cC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+    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dD</a:t>
            </a:r>
            <a:r>
              <a:rPr lang="en-US" altLang="en-US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altLang="en-US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3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Tốc</a:t>
            </a:r>
            <a:r>
              <a:rPr lang="en-US" alt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lang="en-US" alt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alt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 v  = </a:t>
            </a:r>
            <a:r>
              <a:rPr lang="en-US" altLang="en-US" sz="3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k.C</a:t>
            </a:r>
            <a:r>
              <a:rPr lang="en-US" altLang="en-US" sz="3200" baseline="30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sz="3200" baseline="-25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sz="3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.C</a:t>
            </a:r>
            <a:r>
              <a:rPr lang="en-US" altLang="en-US" sz="3200" baseline="30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altLang="en-US" sz="3200" baseline="-25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alt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altLang="en-US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altLang="en-US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altLang="en-US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xmlns="" id="{715EDB6A-70B2-44C6-8018-EED00B2833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38" y="3886200"/>
            <a:ext cx="8671264" cy="1295400"/>
          </a:xfrm>
        </p:spPr>
        <p:txBody>
          <a:bodyPr/>
          <a:lstStyle/>
          <a:p>
            <a:pPr indent="6350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800" i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altLang="en-US" sz="2800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luật</a:t>
            </a:r>
            <a:r>
              <a:rPr lang="en-US" altLang="en-US" sz="2800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tác</a:t>
            </a:r>
            <a:r>
              <a:rPr lang="en-US" altLang="en-US" sz="2800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altLang="en-US" sz="2800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khối</a:t>
            </a:r>
            <a:r>
              <a:rPr lang="en-US" altLang="en-US" sz="2800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lượng</a:t>
            </a:r>
            <a:r>
              <a:rPr lang="en-US" altLang="en-US" sz="2800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en-US" sz="2800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Guldberg-</a:t>
            </a:r>
            <a:r>
              <a:rPr lang="en-US" altLang="en-US" sz="2800" i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waage</a:t>
            </a:r>
            <a:r>
              <a:rPr lang="en-US" altLang="en-US" sz="2800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nghiệm</a:t>
            </a:r>
            <a:r>
              <a:rPr lang="en-US" altLang="en-US" sz="2800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đúng</a:t>
            </a:r>
            <a:r>
              <a:rPr lang="en-US" altLang="en-US" sz="2800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altLang="en-US" sz="2800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en-US" sz="2800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pư</a:t>
            </a:r>
            <a:r>
              <a:rPr lang="en-US" altLang="en-US" sz="2800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đơn</a:t>
            </a:r>
            <a:r>
              <a:rPr lang="en-US" altLang="en-US" sz="2800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giản</a:t>
            </a:r>
            <a:r>
              <a:rPr lang="en-US" altLang="en-US" sz="2800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en-US" sz="2800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altLang="en-US" sz="2800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từng</a:t>
            </a:r>
            <a:r>
              <a:rPr lang="en-US" altLang="en-US" sz="2800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tác</a:t>
            </a:r>
            <a:r>
              <a:rPr lang="en-US" altLang="en-US" sz="2800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altLang="en-US" sz="2800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cơ</a:t>
            </a:r>
            <a:r>
              <a:rPr lang="en-US" altLang="en-US" sz="2800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bản</a:t>
            </a:r>
            <a:r>
              <a:rPr lang="en-US" altLang="en-US" sz="2800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en-US" sz="2800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pư</a:t>
            </a:r>
            <a:r>
              <a:rPr lang="en-US" altLang="en-US" sz="2800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phức</a:t>
            </a:r>
            <a:r>
              <a:rPr lang="en-US" altLang="en-US" sz="2800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tạp</a:t>
            </a:r>
            <a:r>
              <a:rPr lang="en-US" altLang="en-US" sz="2800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en-US" sz="28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6350" eaLnBrk="1" hangingPunct="1">
              <a:lnSpc>
                <a:spcPct val="90000"/>
              </a:lnSpc>
            </a:pPr>
            <a:endParaRPr lang="en-US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4">
            <a:extLst>
              <a:ext uri="{FF2B5EF4-FFF2-40B4-BE49-F238E27FC236}">
                <a16:creationId xmlns:a16="http://schemas.microsoft.com/office/drawing/2014/main" xmlns="" id="{6D2B61B7-ECA3-4E0F-BB10-5373A8327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63FAEC1-30E7-4A5D-8730-51A7496718AE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400"/>
          </a:p>
        </p:txBody>
      </p:sp>
      <p:sp>
        <p:nvSpPr>
          <p:cNvPr id="7172" name="Rectangle 6">
            <a:extLst>
              <a:ext uri="{FF2B5EF4-FFF2-40B4-BE49-F238E27FC236}">
                <a16:creationId xmlns:a16="http://schemas.microsoft.com/office/drawing/2014/main" xmlns="" id="{24DDBE07-25CC-4399-9AB0-54ADB349B7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-76200"/>
            <a:ext cx="9144000" cy="1371600"/>
          </a:xfrm>
          <a:ln>
            <a:noFill/>
          </a:ln>
        </p:spPr>
        <p:txBody>
          <a:bodyPr/>
          <a:lstStyle/>
          <a:p>
            <a:pPr algn="l" eaLnBrk="1" hangingPunct="1"/>
            <a:r>
              <a:rPr lang="vi-VN" altLang="en-US" sz="3200" b="1" dirty="0">
                <a:solidFill>
                  <a:srgbClr val="FF0000"/>
                </a:solidFill>
              </a:rPr>
              <a:t>    </a:t>
            </a:r>
            <a:r>
              <a:rPr lang="en-US" altLang="en-US" sz="3200" b="1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lang="en-US" altLang="en-US" sz="32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altLang="en-US" sz="32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đơn</a:t>
            </a:r>
            <a:r>
              <a:rPr lang="en-US" altLang="en-US" sz="32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giản</a:t>
            </a:r>
            <a:r>
              <a:rPr lang="vi-VN" altLang="en-US" sz="28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diễn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ra</a:t>
            </a:r>
            <a:r>
              <a:rPr lang="en-US" altLang="en-US" sz="28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 </a:t>
            </a:r>
            <a:r>
              <a:rPr lang="en-US" alt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giai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đoạn</a:t>
            </a:r>
            <a:r>
              <a:rPr lang="vi-VN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en-US" sz="2800" dirty="0">
              <a:solidFill>
                <a:srgbClr val="0066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8727" name="Text Box 7">
            <a:extLst>
              <a:ext uri="{FF2B5EF4-FFF2-40B4-BE49-F238E27FC236}">
                <a16:creationId xmlns:a16="http://schemas.microsoft.com/office/drawing/2014/main" xmlns="" id="{A31AD486-BA34-4FCB-9D59-0A1EB54277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52400" y="1600200"/>
            <a:ext cx="9144000" cy="1981200"/>
          </a:xfrm>
          <a:prstGeom prst="rect">
            <a:avLst/>
          </a:prstGeom>
          <a:solidFill>
            <a:schemeClr val="bg1"/>
          </a:solidFill>
          <a:ln w="38100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</a:rPr>
              <a:t>    </a:t>
            </a:r>
            <a:r>
              <a:rPr lang="en-US" altLang="en-US" sz="3200" b="1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lang="en-US" altLang="en-US" sz="3200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altLang="en-US" sz="3200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phức</a:t>
            </a:r>
            <a:r>
              <a:rPr lang="en-US" altLang="en-US" sz="3200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tạp</a:t>
            </a:r>
            <a:r>
              <a:rPr lang="vi-VN" altLang="en-US" sz="2800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diễn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ra qua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nhiều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giai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đoạn</a:t>
            </a:r>
            <a:r>
              <a:rPr lang="vi-VN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en-US" sz="2800" dirty="0">
              <a:solidFill>
                <a:srgbClr val="CC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US" alt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Mỗi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giai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đoạn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gọi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i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tác</a:t>
            </a:r>
            <a:r>
              <a:rPr lang="en-US" altLang="en-US" sz="28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i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altLang="en-US" sz="28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i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cơ</a:t>
            </a:r>
            <a:r>
              <a:rPr lang="en-US" altLang="en-US" sz="28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i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bản</a:t>
            </a:r>
            <a:r>
              <a:rPr lang="vi-VN" altLang="en-US" sz="28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altLang="en-US" sz="28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∑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giai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đoạn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(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tác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cơ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bản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): </a:t>
            </a:r>
            <a:r>
              <a:rPr lang="en-US" alt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cơ</a:t>
            </a:r>
            <a:r>
              <a:rPr lang="en-US" alt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chế</a:t>
            </a:r>
            <a:r>
              <a:rPr lang="en-US" alt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pư</a:t>
            </a:r>
            <a:r>
              <a:rPr lang="en-US" alt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  <a:defRPr/>
            </a:pPr>
            <a:r>
              <a:rPr lang="vi-VN" altLang="en-US" sz="2800" dirty="0">
                <a:latin typeface="+mn-lt"/>
              </a:rPr>
              <a:t> </a:t>
            </a:r>
            <a:endParaRPr lang="en-US" altLang="en-US" sz="2800" dirty="0">
              <a:latin typeface="+mn-lt"/>
            </a:endParaRPr>
          </a:p>
          <a:p>
            <a:pPr>
              <a:lnSpc>
                <a:spcPct val="150000"/>
              </a:lnSpc>
              <a:defRPr/>
            </a:pPr>
            <a:r>
              <a:rPr lang="vi-VN" altLang="en-US" sz="2800" dirty="0"/>
              <a:t>          </a:t>
            </a:r>
            <a:endParaRPr lang="en-US" altLang="en-US" sz="2800" dirty="0"/>
          </a:p>
        </p:txBody>
      </p:sp>
      <p:sp>
        <p:nvSpPr>
          <p:cNvPr id="7174" name="Text Box 8">
            <a:extLst>
              <a:ext uri="{FF2B5EF4-FFF2-40B4-BE49-F238E27FC236}">
                <a16:creationId xmlns:a16="http://schemas.microsoft.com/office/drawing/2014/main" xmlns="" id="{47DB3C77-89B9-4C5E-BC07-CC6957AA8B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927323"/>
            <a:ext cx="480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altLang="en-US" sz="2800" b="1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(k)  +  I</a:t>
            </a:r>
            <a:r>
              <a:rPr lang="en-US" altLang="en-US" sz="2800" b="1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(k)  =  2HI(k)</a:t>
            </a:r>
          </a:p>
        </p:txBody>
      </p:sp>
      <p:sp>
        <p:nvSpPr>
          <p:cNvPr id="7175" name="Rectangle 2">
            <a:extLst>
              <a:ext uri="{FF2B5EF4-FFF2-40B4-BE49-F238E27FC236}">
                <a16:creationId xmlns:a16="http://schemas.microsoft.com/office/drawing/2014/main" xmlns="" id="{A5D9227F-3E51-41B1-8919-9D57AB35B0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038600"/>
            <a:ext cx="9144000" cy="205422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gồm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nhiều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giai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đoạn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nối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tiếp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b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tốc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pư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quyết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bởi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tốc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giai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đọan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chậm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nhất</a:t>
            </a:r>
            <a:r>
              <a:rPr lang="vi-VN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en-US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2" grpId="0"/>
      <p:bldP spid="158727" grpId="0" animBg="1"/>
      <p:bldP spid="7174" grpId="0"/>
      <p:bldP spid="717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4">
            <a:extLst>
              <a:ext uri="{FF2B5EF4-FFF2-40B4-BE49-F238E27FC236}">
                <a16:creationId xmlns:a16="http://schemas.microsoft.com/office/drawing/2014/main" xmlns="" id="{784694AF-F956-45A9-AE3B-601631C27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39C47B0-A708-4C38-B4DA-7C909C6024AA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/>
          </a:p>
        </p:txBody>
      </p:sp>
      <p:sp>
        <p:nvSpPr>
          <p:cNvPr id="158722" name="Text Box 2">
            <a:extLst>
              <a:ext uri="{FF2B5EF4-FFF2-40B4-BE49-F238E27FC236}">
                <a16:creationId xmlns:a16="http://schemas.microsoft.com/office/drawing/2014/main" xmlns="" id="{F2B97DA0-73C8-4283-85D3-902FA2BD98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0250" y="446088"/>
            <a:ext cx="4876800" cy="584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en-US" sz="1800" dirty="0">
                <a:solidFill>
                  <a:schemeClr val="accent2"/>
                </a:solidFill>
                <a:latin typeface="Arial" panose="020B0604020202020204" pitchFamily="34" charset="0"/>
              </a:rPr>
              <a:t>	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2N</a:t>
            </a:r>
            <a:r>
              <a:rPr lang="en-US" altLang="en-US" sz="3200" b="1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altLang="en-US" sz="3200" b="1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4NO</a:t>
            </a:r>
            <a:r>
              <a:rPr lang="en-US" altLang="en-US" sz="3200" b="1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O</a:t>
            </a:r>
            <a:r>
              <a:rPr lang="en-US" altLang="en-US" sz="3200" b="1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58723" name="Text Box 3">
            <a:extLst>
              <a:ext uri="{FF2B5EF4-FFF2-40B4-BE49-F238E27FC236}">
                <a16:creationId xmlns:a16="http://schemas.microsoft.com/office/drawing/2014/main" xmlns="" id="{9FAEA435-3B8B-4F26-B187-C543A434AB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687512"/>
            <a:ext cx="88773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en-US" sz="1800" dirty="0">
                <a:latin typeface="Arial" panose="020B0604020202020204" pitchFamily="34" charset="0"/>
              </a:rPr>
              <a:t>       </a:t>
            </a: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en-US" sz="32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altLang="en-US" sz="32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N</a:t>
            </a:r>
            <a:r>
              <a:rPr lang="en-US" altLang="en-US" sz="32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altLang="en-US" sz="32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O</a:t>
            </a:r>
            <a:r>
              <a:rPr lang="en-US" altLang="en-US" sz="32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(1)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; 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chậm</a:t>
            </a:r>
            <a:endParaRPr lang="vi-VN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vi-V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→ </a:t>
            </a:r>
            <a:r>
              <a:rPr lang="vi-VN" altLang="en-US" sz="3200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vi-VN" altLang="en-US" sz="3200" baseline="-25000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vi-VN" altLang="en-US" sz="3200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vi-VN" altLang="en-US" sz="3200" baseline="-25000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en-US" sz="3200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</a:t>
            </a:r>
            <a:r>
              <a:rPr lang="vi-VN" altLang="en-US" sz="3200" baseline="-25000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en-US" sz="3200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.[N</a:t>
            </a:r>
            <a:r>
              <a:rPr lang="en-US" altLang="en-US" sz="3200" baseline="-25000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3200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altLang="en-US" sz="3200" baseline="-25000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altLang="en-US" sz="3200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 </a:t>
            </a:r>
          </a:p>
          <a:p>
            <a:pPr>
              <a:lnSpc>
                <a:spcPct val="150000"/>
              </a:lnSpc>
              <a:defRPr/>
            </a:pP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en-US" sz="32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altLang="en-US" sz="32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N</a:t>
            </a:r>
            <a:r>
              <a:rPr lang="en-US" altLang="en-US" sz="32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altLang="en-US" sz="32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4NO</a:t>
            </a:r>
            <a:r>
              <a:rPr lang="en-US" altLang="en-US" sz="32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(2)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  </a:t>
            </a:r>
            <a:r>
              <a:rPr lang="en-US" alt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nhanh</a:t>
            </a:r>
            <a:endParaRPr lang="vi-VN" altLang="en-US" sz="32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vi-V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vi-VN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 v</a:t>
            </a:r>
            <a:r>
              <a:rPr lang="vi-VN" altLang="en-US" sz="3200" baseline="-25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vi-VN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k</a:t>
            </a:r>
            <a:r>
              <a:rPr lang="vi-VN" altLang="en-US" sz="3200" baseline="-25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vi-VN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.[N</a:t>
            </a:r>
            <a:r>
              <a:rPr lang="vi-VN" altLang="en-US" sz="3200" baseline="-25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vi-VN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vi-VN" altLang="en-US" sz="3200" baseline="-25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vi-VN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].[N</a:t>
            </a:r>
            <a:r>
              <a:rPr lang="vi-VN" altLang="en-US" sz="3200" baseline="-25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vi-VN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vi-VN" altLang="en-US" sz="3200" baseline="-25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vi-VN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endParaRPr lang="en-US" altLang="en-US" sz="3200" dirty="0">
              <a:solidFill>
                <a:srgbClr val="0066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en-US" sz="3200" b="1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alt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Giai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đoạn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 </a:t>
            </a:r>
            <a:r>
              <a:rPr lang="en-US" alt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chậm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→</a:t>
            </a:r>
            <a:r>
              <a:rPr lang="vi-VN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altLang="en-US" sz="32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altLang="en-US" sz="3200" b="1" baseline="-250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vi-VN" altLang="en-US" sz="3200" b="1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altLang="en-US" sz="3200" b="1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altLang="en-US" sz="3200" b="1" baseline="-250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en-US" sz="3200" b="1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k</a:t>
            </a:r>
            <a:r>
              <a:rPr lang="vi-VN" altLang="en-US" sz="3200" b="1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.[N</a:t>
            </a:r>
            <a:r>
              <a:rPr lang="en-US" altLang="en-US" sz="3200" b="1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altLang="en-US" sz="3200" b="1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       </a:t>
            </a:r>
          </a:p>
          <a:p>
            <a:pPr>
              <a:lnSpc>
                <a:spcPct val="150000"/>
              </a:lnSpc>
              <a:defRPr/>
            </a:pPr>
            <a:r>
              <a:rPr lang="en-US" altLang="en-US" sz="3200" b="1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US" altLang="en-US" sz="3200" b="1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vi-VN" altLang="en-US" sz="3200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hản ứng bậc nhất</a:t>
            </a:r>
            <a:endParaRPr lang="en-US" altLang="en-US" sz="32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21" name="Text Box 9">
            <a:extLst>
              <a:ext uri="{FF2B5EF4-FFF2-40B4-BE49-F238E27FC236}">
                <a16:creationId xmlns:a16="http://schemas.microsoft.com/office/drawing/2014/main" xmlns="" id="{C7E1388B-288E-4A04-85C5-3C0C18F1FA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385763"/>
            <a:ext cx="2286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Ví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dụ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9222" name="Text Box 10">
            <a:extLst>
              <a:ext uri="{FF2B5EF4-FFF2-40B4-BE49-F238E27FC236}">
                <a16:creationId xmlns:a16="http://schemas.microsoft.com/office/drawing/2014/main" xmlns="" id="{88783AFF-1073-4976-BF99-F71967B584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074738"/>
            <a:ext cx="48768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dirty="0"/>
              <a:t> 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hai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giai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đoạn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n</a:t>
            </a:r>
            <a:r>
              <a:rPr lang="vi-VN" altLang="en-US" dirty="0">
                <a:latin typeface="Arial" panose="020B0604020202020204" pitchFamily="34" charset="0"/>
                <a:cs typeface="Arial" panose="020B0604020202020204" pitchFamily="34" charset="0"/>
              </a:rPr>
              <a:t>ối tiếp: 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4">
            <a:extLst>
              <a:ext uri="{FF2B5EF4-FFF2-40B4-BE49-F238E27FC236}">
                <a16:creationId xmlns:a16="http://schemas.microsoft.com/office/drawing/2014/main" xmlns="" id="{A7814F80-D29B-4A2B-8E21-C44C99AD7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58000" y="6400800"/>
            <a:ext cx="1905000" cy="457200"/>
          </a:xfr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9E896FA-2A6E-4090-BFF9-4A9CE712D15A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400" dirty="0"/>
          </a:p>
        </p:txBody>
      </p:sp>
      <p:sp>
        <p:nvSpPr>
          <p:cNvPr id="11268" name="Text Box 3">
            <a:extLst>
              <a:ext uri="{FF2B5EF4-FFF2-40B4-BE49-F238E27FC236}">
                <a16:creationId xmlns:a16="http://schemas.microsoft.com/office/drawing/2014/main" xmlns="" id="{9CC2FBC5-C488-49D2-8906-7674696605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228600"/>
            <a:ext cx="8915400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vi-VN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vi-VN" alt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 TỬ SỐ: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tiểu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, ion)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pư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tương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tác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gây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nên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biến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đổi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hoá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1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tác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cơ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bản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1,2,3)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dirty="0"/>
          </a:p>
        </p:txBody>
      </p:sp>
      <p:pic>
        <p:nvPicPr>
          <p:cNvPr id="11269" name="Picture 5" descr="FG13_15-01UN">
            <a:extLst>
              <a:ext uri="{FF2B5EF4-FFF2-40B4-BE49-F238E27FC236}">
                <a16:creationId xmlns:a16="http://schemas.microsoft.com/office/drawing/2014/main" xmlns="" id="{1A414D79-638D-4C7B-AA45-ADB91ACB4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475"/>
          <a:stretch>
            <a:fillRect/>
          </a:stretch>
        </p:blipFill>
        <p:spPr bwMode="auto">
          <a:xfrm>
            <a:off x="609600" y="2209800"/>
            <a:ext cx="7848600" cy="1754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0" name="Text Box 7">
            <a:extLst>
              <a:ext uri="{FF2B5EF4-FFF2-40B4-BE49-F238E27FC236}">
                <a16:creationId xmlns:a16="http://schemas.microsoft.com/office/drawing/2014/main" xmlns="" id="{860EFD75-BDE3-450B-A5C4-5B251226E3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020" y="2637914"/>
            <a:ext cx="2285999" cy="5232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Đơn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endParaRPr lang="en-US" altLang="en-US" sz="2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71" name="Text Box 8">
            <a:extLst>
              <a:ext uri="{FF2B5EF4-FFF2-40B4-BE49-F238E27FC236}">
                <a16:creationId xmlns:a16="http://schemas.microsoft.com/office/drawing/2014/main" xmlns="" id="{F83E80C7-715B-4E1F-AD84-7A08526C6B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0109" y="2616190"/>
            <a:ext cx="2667000" cy="5232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Lưỡng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endParaRPr lang="en-US" altLang="en-US" sz="2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72" name="Text Box 9">
            <a:extLst>
              <a:ext uri="{FF2B5EF4-FFF2-40B4-BE49-F238E27FC236}">
                <a16:creationId xmlns:a16="http://schemas.microsoft.com/office/drawing/2014/main" xmlns="" id="{D6931DEC-C8BB-4B5A-A8E8-B198E3949E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5028" y="2092970"/>
            <a:ext cx="2438400" cy="5232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Tam </a:t>
            </a:r>
            <a:r>
              <a:rPr lang="en-US" alt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endParaRPr lang="en-US" altLang="en-US" sz="2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73" name="Text Box 10">
            <a:extLst>
              <a:ext uri="{FF2B5EF4-FFF2-40B4-BE49-F238E27FC236}">
                <a16:creationId xmlns:a16="http://schemas.microsoft.com/office/drawing/2014/main" xmlns="" id="{394D9DF9-FE93-4AE8-9DA9-23541D2683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59" y="3886199"/>
            <a:ext cx="9525000" cy="2597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vi-VN" altLang="en-US" sz="2800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PHẢN ỨNG ĐƠN GIẢN CÓ</a:t>
            </a:r>
            <a:r>
              <a:rPr lang="en-US" altLang="en-US" sz="2800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=1→pư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đơn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I</a:t>
            </a:r>
            <a:r>
              <a:rPr lang="en-US" altLang="en-US" sz="28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(k) =  2I(k)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=2→pư </a:t>
            </a:r>
            <a:r>
              <a:rPr lang="en-US" alt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lưỡng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</a:t>
            </a:r>
            <a:r>
              <a:rPr lang="en-US" altLang="en-US" sz="2800" baseline="-25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(k)+I</a:t>
            </a:r>
            <a:r>
              <a:rPr lang="en-US" altLang="en-US" sz="2800" baseline="-25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(k) = 2HI (k)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=3→pư tam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2NO(k)+O</a:t>
            </a:r>
            <a:r>
              <a:rPr lang="en-US" alt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(k)=2NO</a:t>
            </a:r>
            <a:r>
              <a:rPr lang="en-US" alt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(k)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8" grpId="0"/>
      <p:bldP spid="11270" grpId="0" animBg="1"/>
      <p:bldP spid="11271" grpId="0" animBg="1"/>
      <p:bldP spid="1127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F7288AD-11CA-4ABA-80DD-09BFA8E3B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4670" y="-156977"/>
            <a:ext cx="9525000" cy="1143000"/>
          </a:xfrm>
          <a:ln>
            <a:noFill/>
          </a:ln>
        </p:spPr>
        <p:txBody>
          <a:bodyPr/>
          <a:lstStyle/>
          <a:p>
            <a:r>
              <a:rPr lang="vi-VN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TỐC ĐỘ PHẢN ỨNG [mol.lit</a:t>
            </a:r>
            <a:r>
              <a:rPr lang="vi-VN" sz="3600" b="1" baseline="300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  <a:r>
              <a:rPr lang="vi-VN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.thời gian</a:t>
            </a:r>
            <a:r>
              <a:rPr lang="vi-VN" sz="3600" b="1" baseline="300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  <a:r>
              <a:rPr lang="vi-VN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endParaRPr lang="en-US" sz="36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9E7F758A-1895-42D2-8193-3D51BF0F2276}"/>
              </a:ext>
            </a:extLst>
          </p:cNvPr>
          <p:cNvSpPr txBox="1"/>
          <p:nvPr/>
        </p:nvSpPr>
        <p:spPr>
          <a:xfrm>
            <a:off x="113930" y="782370"/>
            <a:ext cx="9067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Xét phản ứng đồng thể ở nhiệt độ không đổi: </a:t>
            </a:r>
          </a:p>
          <a:p>
            <a:r>
              <a:rPr lang="vi-VN" sz="2800" dirty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vi-VN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aA</a:t>
            </a:r>
            <a:r>
              <a:rPr lang="vi-VN" sz="2800" dirty="0">
                <a:latin typeface="Arial" panose="020B0604020202020204" pitchFamily="34" charset="0"/>
                <a:cs typeface="Arial" panose="020B0604020202020204" pitchFamily="34" charset="0"/>
              </a:rPr>
              <a:t>  + </a:t>
            </a:r>
            <a:r>
              <a:rPr lang="vi-VN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bB</a:t>
            </a:r>
            <a:r>
              <a:rPr lang="vi-VN" sz="2800" dirty="0">
                <a:latin typeface="Arial" panose="020B0604020202020204" pitchFamily="34" charset="0"/>
                <a:cs typeface="Arial" panose="020B0604020202020204" pitchFamily="34" charset="0"/>
              </a:rPr>
              <a:t>  =  </a:t>
            </a:r>
            <a:r>
              <a:rPr lang="vi-VN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cC</a:t>
            </a:r>
            <a:r>
              <a:rPr lang="vi-VN" sz="28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vi-VN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dD</a:t>
            </a:r>
            <a:r>
              <a:rPr lang="vi-VN" sz="2800" dirty="0">
                <a:latin typeface="Arial" panose="020B0604020202020204" pitchFamily="34" charset="0"/>
                <a:cs typeface="Arial" panose="020B0604020202020204" pitchFamily="34" charset="0"/>
              </a:rPr>
              <a:t>; (xem thể tích không đổi) 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5F4EA44B-86F9-4162-936D-38F4475F5AAB}"/>
                  </a:ext>
                </a:extLst>
              </p:cNvPr>
              <p:cNvSpPr txBox="1"/>
              <p:nvPr/>
            </p:nvSpPr>
            <p:spPr>
              <a:xfrm>
                <a:off x="266330" y="1835299"/>
                <a:ext cx="8763000" cy="17694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vi-VN" dirty="0">
                    <a:latin typeface="Arial" panose="020B0604020202020204" pitchFamily="34" charset="0"/>
                    <a:cs typeface="Arial" panose="020B0604020202020204" pitchFamily="34" charset="0"/>
                  </a:rPr>
                  <a:t>Tốc độ mất đi chất  A : </a:t>
                </a:r>
              </a:p>
              <a:p>
                <a:r>
                  <a:rPr lang="vi-VN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Thời gian  = </a:t>
                </a:r>
                <a:r>
                  <a:rPr lang="vi-VN" baseline="-250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2</a:t>
                </a:r>
                <a:r>
                  <a:rPr lang="vi-VN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- </a:t>
                </a:r>
                <a:r>
                  <a:rPr lang="vi-VN" baseline="-250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1</a:t>
                </a:r>
                <a:r>
                  <a:rPr lang="vi-VN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 Tốc độ trung bình của A:</a:t>
                </a:r>
                <a:r>
                  <a:rPr lang="vi-VN" sz="28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vi-VN" sz="2800" i="1" smtClean="0">
                            <a:solidFill>
                              <a:srgbClr val="FF0000"/>
                            </a:solidFill>
                            <a:latin typeface="Cambria Math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vi-VN" sz="280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Arial" panose="020B0604020202020204" pitchFamily="34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vi-VN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Symbol" panose="05050102010706020507" pitchFamily="18" charset="2"/>
                              </a:rPr>
                              <m:t>𝑉</m:t>
                            </m:r>
                          </m:e>
                          <m:sub>
                            <m:r>
                              <a:rPr lang="vi-VN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Symbol" panose="05050102010706020507" pitchFamily="18" charset="2"/>
                              </a:rPr>
                              <m:t>𝐴</m:t>
                            </m:r>
                          </m:sub>
                        </m:sSub>
                      </m:e>
                    </m:acc>
                  </m:oMath>
                </a14:m>
                <a:r>
                  <a:rPr lang="vi-VN" sz="28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= 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sz="2800" i="1" dirty="0" smtClean="0">
                            <a:solidFill>
                              <a:srgbClr val="FF0000"/>
                            </a:solidFill>
                            <a:latin typeface="Cambria Math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vi-VN" sz="280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Arial" panose="020B0604020202020204" pitchFamily="34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vi-VN" sz="280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Symbol" panose="05050102010706020507" pitchFamily="18" charset="2"/>
                              </a:rPr>
                              <m:t>∆</m:t>
                            </m:r>
                            <m:r>
                              <a:rPr lang="vi-VN" sz="28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Symbol" panose="05050102010706020507" pitchFamily="18" charset="2"/>
                              </a:rPr>
                              <m:t>𝐶</m:t>
                            </m:r>
                          </m:e>
                          <m:sub>
                            <m:r>
                              <a:rPr lang="vi-VN" sz="28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Symbol" panose="05050102010706020507" pitchFamily="18" charset="2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r>
                          <a:rPr lang="vi-VN" sz="28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∆</m:t>
                        </m:r>
                        <m:r>
                          <a:rPr lang="vi-VN" sz="28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𝜏</m:t>
                        </m:r>
                      </m:den>
                    </m:f>
                  </m:oMath>
                </a14:m>
                <a:r>
                  <a:rPr lang="vi-VN" sz="28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;</a:t>
                </a:r>
              </a:p>
              <a:p>
                <a:r>
                  <a:rPr lang="vi-VN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Thời gian d                Tốc độ tức thời của A:     </a:t>
                </a:r>
                <a:r>
                  <a:rPr lang="vi-VN" sz="28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V</a:t>
                </a:r>
                <a:r>
                  <a:rPr lang="vi-VN" sz="2800" baseline="-250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A</a:t>
                </a:r>
                <a:r>
                  <a:rPr lang="vi-VN" sz="28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= 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sz="2800" i="1" smtClean="0">
                            <a:solidFill>
                              <a:srgbClr val="FF0000"/>
                            </a:solidFill>
                            <a:latin typeface="Cambria Math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vi-VN" sz="280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Arial" panose="020B0604020202020204" pitchFamily="34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vi-VN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Symbol" panose="05050102010706020507" pitchFamily="18" charset="2"/>
                              </a:rPr>
                              <m:t>𝑑𝐶</m:t>
                            </m:r>
                          </m:e>
                          <m:sub>
                            <m:r>
                              <a:rPr lang="vi-VN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Symbol" panose="05050102010706020507" pitchFamily="18" charset="2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𝑑</m:t>
                        </m:r>
                        <m: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</m:t>
                        </m:r>
                      </m:den>
                    </m:f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F4EA44B-86F9-4162-936D-38F4475F5A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330" y="1835299"/>
                <a:ext cx="8763000" cy="1769459"/>
              </a:xfrm>
              <a:prstGeom prst="rect">
                <a:avLst/>
              </a:prstGeom>
              <a:blipFill>
                <a:blip r:embed="rId2"/>
                <a:stretch>
                  <a:fillRect l="-1113" t="-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xmlns="" id="{CFF306D4-A1EE-40B5-BCD7-6571BE24F094}"/>
                  </a:ext>
                </a:extLst>
              </p:cNvPr>
              <p:cNvSpPr txBox="1"/>
              <p:nvPr/>
            </p:nvSpPr>
            <p:spPr>
              <a:xfrm>
                <a:off x="914400" y="3563760"/>
                <a:ext cx="1905000" cy="7660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−∆</m:t>
                            </m:r>
                            <m:r>
                              <a:rPr lang="vi-V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vi-VN" sz="2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80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−∆</m:t>
                            </m:r>
                            <m:r>
                              <a:rPr lang="vi-V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vi-VN" sz="28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den>
                    </m:f>
                  </m:oMath>
                </a14:m>
                <a:r>
                  <a:rPr lang="vi-VN" sz="28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sz="2800" i="1" smtClean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vi-VN" sz="2800" dirty="0">
                            <a:solidFill>
                              <a:srgbClr val="FF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a</m:t>
                        </m:r>
                      </m:num>
                      <m:den>
                        <m:r>
                          <m:rPr>
                            <m:nor/>
                          </m:rPr>
                          <a:rPr lang="vi-VN" sz="2800" dirty="0">
                            <a:solidFill>
                              <a:srgbClr val="0066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b</m:t>
                        </m:r>
                      </m:den>
                    </m:f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FF306D4-A1EE-40B5-BCD7-6571BE24F0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3563760"/>
                <a:ext cx="1905000" cy="766044"/>
              </a:xfrm>
              <a:prstGeom prst="rect">
                <a:avLst/>
              </a:prstGeom>
              <a:blipFill>
                <a:blip r:embed="rId3"/>
                <a:stretch>
                  <a:fillRect b="-32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91C92D7C-8C21-43E0-92A9-46E7984BC1B7}"/>
                  </a:ext>
                </a:extLst>
              </p:cNvPr>
              <p:cNvSpPr txBox="1"/>
              <p:nvPr/>
            </p:nvSpPr>
            <p:spPr>
              <a:xfrm>
                <a:off x="3048000" y="3551068"/>
                <a:ext cx="2743200" cy="7688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−∆</m:t>
                            </m:r>
                            <m:r>
                              <a:rPr lang="vi-V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vi-VN" sz="2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80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vi-V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vi-V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den>
                    </m:f>
                  </m:oMath>
                </a14:m>
                <a:r>
                  <a:rPr lang="vi-VN" sz="28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sz="2800" i="1" smtClean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vi-VN" sz="2800" dirty="0">
                            <a:solidFill>
                              <a:srgbClr val="FF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a</m:t>
                        </m:r>
                      </m:num>
                      <m:den>
                        <m:r>
                          <m:rPr>
                            <m:nor/>
                          </m:rPr>
                          <a:rPr lang="vi-VN" sz="2800" dirty="0">
                            <a:solidFill>
                              <a:srgbClr val="CC00FF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c</m:t>
                        </m:r>
                      </m:den>
                    </m:f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1C92D7C-8C21-43E0-92A9-46E7984BC1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3551068"/>
                <a:ext cx="2743200" cy="768800"/>
              </a:xfrm>
              <a:prstGeom prst="rect">
                <a:avLst/>
              </a:prstGeom>
              <a:blipFill>
                <a:blip r:embed="rId4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728D358E-390F-4416-B71F-66CC1CC0D1C9}"/>
                  </a:ext>
                </a:extLst>
              </p:cNvPr>
              <p:cNvSpPr txBox="1"/>
              <p:nvPr/>
            </p:nvSpPr>
            <p:spPr>
              <a:xfrm>
                <a:off x="5638800" y="3563760"/>
                <a:ext cx="1524000" cy="7660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−∆</m:t>
                            </m:r>
                            <m:r>
                              <a:rPr lang="vi-V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vi-VN" sz="2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80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vi-V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vi-V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den>
                    </m:f>
                  </m:oMath>
                </a14:m>
                <a:r>
                  <a:rPr lang="vi-VN" sz="28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sz="2800" i="1" smtClean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vi-VN" sz="2800" dirty="0">
                            <a:solidFill>
                              <a:srgbClr val="FF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a</m:t>
                        </m:r>
                      </m:num>
                      <m:den>
                        <m:r>
                          <m:rPr>
                            <m:nor/>
                          </m:rPr>
                          <a:rPr lang="vi-VN" sz="2800" dirty="0">
                            <a:solidFill>
                              <a:srgbClr val="0000FF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d</m:t>
                        </m:r>
                      </m:den>
                    </m:f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28D358E-390F-4416-B71F-66CC1CC0D1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3563760"/>
                <a:ext cx="1524000" cy="766044"/>
              </a:xfrm>
              <a:prstGeom prst="rect">
                <a:avLst/>
              </a:prstGeom>
              <a:blipFill>
                <a:blip r:embed="rId5"/>
                <a:stretch>
                  <a:fillRect b="-32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="" id="{2BA574A2-67EC-4759-B630-04FCF01FA82C}"/>
                  </a:ext>
                </a:extLst>
              </p:cNvPr>
              <p:cNvSpPr txBox="1"/>
              <p:nvPr/>
            </p:nvSpPr>
            <p:spPr>
              <a:xfrm>
                <a:off x="714283" y="4715359"/>
                <a:ext cx="7024086" cy="7137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ym typeface="Symbol" panose="05050102010706020507" pitchFamily="18" charset="2"/>
                  </a:rPr>
                  <a:t></a:t>
                </a:r>
                <a:r>
                  <a:rPr lang="vi-VN" sz="2800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vi-V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vi-VN" sz="2800" dirty="0" smtClean="0">
                            <a:solidFill>
                              <a:srgbClr val="FF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a</m:t>
                        </m:r>
                      </m:den>
                    </m:f>
                  </m:oMath>
                </a14:m>
                <a:r>
                  <a:rPr lang="en-US" sz="2800" dirty="0"/>
                  <a:t> </a:t>
                </a:r>
                <a:r>
                  <a:rPr lang="en-US" sz="2800" dirty="0">
                    <a:sym typeface="Symbol" panose="05050102010706020507" pitchFamily="18" charset="2"/>
                  </a:rPr>
                  <a:t></a:t>
                </a:r>
                <a:r>
                  <a:rPr lang="vi-VN" sz="28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vi-V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vi-VN" sz="2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num>
                      <m:den/>
                    </m:f>
                  </m:oMath>
                </a14:m>
                <a:r>
                  <a:rPr lang="vi-VN" sz="2800" dirty="0"/>
                  <a:t> = </a:t>
                </a:r>
                <a:r>
                  <a:rPr lang="en-US" sz="2800" dirty="0">
                    <a:sym typeface="Symbol" panose="05050102010706020507" pitchFamily="18" charset="2"/>
                  </a:rPr>
                  <a:t></a:t>
                </a:r>
                <a:r>
                  <a:rPr lang="vi-VN" sz="2800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vi-V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vi-VN" sz="2800" dirty="0" smtClean="0">
                            <a:solidFill>
                              <a:srgbClr val="0066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b</m:t>
                        </m:r>
                      </m:den>
                    </m:f>
                  </m:oMath>
                </a14:m>
                <a:r>
                  <a:rPr lang="en-US" sz="2800" dirty="0"/>
                  <a:t> </a:t>
                </a:r>
                <a:r>
                  <a:rPr lang="en-US" sz="2800" dirty="0">
                    <a:sym typeface="Symbol" panose="05050102010706020507" pitchFamily="18" charset="2"/>
                  </a:rPr>
                  <a:t></a:t>
                </a:r>
                <a:r>
                  <a:rPr lang="vi-VN" sz="28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vi-V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vi-V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/>
                    </m:f>
                  </m:oMath>
                </a14:m>
                <a:r>
                  <a:rPr lang="vi-VN" sz="2800" dirty="0"/>
                  <a:t> = </a:t>
                </a:r>
                <a:r>
                  <a:rPr lang="vi-VN" sz="2800" dirty="0">
                    <a:sym typeface="Symbol" panose="05050102010706020507" pitchFamily="18" charset="2"/>
                  </a:rPr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vi-V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vi-VN" sz="2800" dirty="0">
                            <a:solidFill>
                              <a:srgbClr val="CC00FF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c</m:t>
                        </m:r>
                      </m:den>
                    </m:f>
                  </m:oMath>
                </a14:m>
                <a:r>
                  <a:rPr lang="en-US" sz="2800" dirty="0"/>
                  <a:t> </a:t>
                </a:r>
                <a:r>
                  <a:rPr lang="en-US" sz="2800" dirty="0">
                    <a:sym typeface="Symbol" panose="05050102010706020507" pitchFamily="18" charset="2"/>
                  </a:rPr>
                  <a:t></a:t>
                </a:r>
                <a:r>
                  <a:rPr lang="vi-VN" sz="28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vi-V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vi-V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num>
                      <m:den/>
                    </m:f>
                  </m:oMath>
                </a14:m>
                <a:r>
                  <a:rPr lang="vi-VN" sz="2800" dirty="0"/>
                  <a:t> = </a:t>
                </a:r>
                <a:r>
                  <a:rPr lang="vi-VN" sz="2800" dirty="0">
                    <a:sym typeface="Symbol" panose="05050102010706020507" pitchFamily="18" charset="2"/>
                  </a:rPr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vi-V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vi-VN" sz="2800" dirty="0" smtClean="0">
                            <a:solidFill>
                              <a:srgbClr val="0000FF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d</m:t>
                        </m:r>
                      </m:den>
                    </m:f>
                  </m:oMath>
                </a14:m>
                <a:r>
                  <a:rPr lang="en-US" sz="2800" dirty="0"/>
                  <a:t> </a:t>
                </a:r>
                <a:r>
                  <a:rPr lang="en-US" sz="2800" dirty="0">
                    <a:sym typeface="Symbol" panose="05050102010706020507" pitchFamily="18" charset="2"/>
                  </a:rPr>
                  <a:t></a:t>
                </a:r>
                <a:r>
                  <a:rPr lang="vi-VN" sz="28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vi-V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vi-V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num>
                      <m:den/>
                    </m:f>
                  </m:oMath>
                </a14:m>
                <a:r>
                  <a:rPr lang="vi-VN" sz="2800" dirty="0"/>
                  <a:t> </a:t>
                </a:r>
                <a:endParaRPr lang="en-US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BA574A2-67EC-4759-B630-04FCF01FA8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283" y="4715359"/>
                <a:ext cx="7024086" cy="713785"/>
              </a:xfrm>
              <a:prstGeom prst="rect">
                <a:avLst/>
              </a:prstGeom>
              <a:blipFill>
                <a:blip r:embed="rId6"/>
                <a:stretch>
                  <a:fillRect l="-1736" b="-8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5D2B7F14-C828-4185-BC61-AEBBAA187D86}"/>
                  </a:ext>
                </a:extLst>
              </p:cNvPr>
              <p:cNvSpPr txBox="1"/>
              <p:nvPr/>
            </p:nvSpPr>
            <p:spPr>
              <a:xfrm>
                <a:off x="425343" y="3533852"/>
                <a:ext cx="7988514" cy="119013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vi-VN" sz="2800" b="1" dirty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TỐC ĐỘ TRUNG BÌNH CỦA PHẢN ỨNG:</a:t>
                </a:r>
              </a:p>
              <a:p>
                <a:r>
                  <a:rPr lang="vi-VN" sz="2800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i="1" smtClean="0">
                            <a:latin typeface="Cambria Math"/>
                            <a:sym typeface="Symbol" panose="05050102010706020507" pitchFamily="18" charset="2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800" i="1" smtClean="0">
                                <a:latin typeface="Cambria Math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vi-VN" sz="2800" b="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𝑉</m:t>
                            </m:r>
                          </m:e>
                          <m:sub>
                            <m:r>
                              <a:rPr lang="vi-VN" sz="2800" b="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𝑝</m:t>
                            </m:r>
                            <m:r>
                              <a:rPr lang="vi-VN" sz="2800" b="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ư</m:t>
                            </m:r>
                          </m:sub>
                        </m:sSub>
                      </m:e>
                    </m:acc>
                  </m:oMath>
                </a14:m>
                <a:r>
                  <a:rPr lang="vi-VN" sz="2800" dirty="0">
                    <a:sym typeface="Symbol" panose="05050102010706020507" pitchFamily="18" charset="2"/>
                  </a:rPr>
                  <a:t>  = </a:t>
                </a:r>
                <a:r>
                  <a:rPr lang="en-US" sz="2800" dirty="0">
                    <a:sym typeface="Symbol" panose="05050102010706020507" pitchFamily="18" charset="2"/>
                  </a:rPr>
                  <a:t></a:t>
                </a:r>
                <a:r>
                  <a:rPr lang="vi-VN" sz="2800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vi-V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vi-VN" sz="2800" dirty="0" smtClean="0">
                            <a:solidFill>
                              <a:srgbClr val="FF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a</m:t>
                        </m:r>
                      </m:den>
                    </m:f>
                  </m:oMath>
                </a14:m>
                <a:r>
                  <a:rPr lang="en-US" sz="2800" dirty="0"/>
                  <a:t> </a:t>
                </a:r>
                <a:r>
                  <a:rPr lang="en-US" sz="2800" dirty="0">
                    <a:sym typeface="Symbol" panose="05050102010706020507" pitchFamily="18" charset="2"/>
                  </a:rPr>
                  <a:t></a:t>
                </a:r>
                <a:r>
                  <a:rPr lang="vi-VN" sz="28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vi-V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vi-VN" sz="2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r>
                          <a:rPr lang="vi-VN" sz="28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</m:t>
                        </m:r>
                      </m:den>
                    </m:f>
                  </m:oMath>
                </a14:m>
                <a:r>
                  <a:rPr lang="vi-VN" sz="2800" dirty="0"/>
                  <a:t> = </a:t>
                </a:r>
                <a:r>
                  <a:rPr lang="en-US" sz="2800" dirty="0">
                    <a:sym typeface="Symbol" panose="05050102010706020507" pitchFamily="18" charset="2"/>
                  </a:rPr>
                  <a:t></a:t>
                </a:r>
                <a:r>
                  <a:rPr lang="vi-VN" sz="2800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vi-V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vi-VN" sz="2800" dirty="0" smtClean="0">
                            <a:solidFill>
                              <a:srgbClr val="0066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b</m:t>
                        </m:r>
                      </m:den>
                    </m:f>
                  </m:oMath>
                </a14:m>
                <a:r>
                  <a:rPr lang="en-US" sz="2800" dirty="0"/>
                  <a:t> </a:t>
                </a:r>
                <a:r>
                  <a:rPr lang="en-US" sz="2800" dirty="0">
                    <a:sym typeface="Symbol" panose="05050102010706020507" pitchFamily="18" charset="2"/>
                  </a:rPr>
                  <a:t></a:t>
                </a:r>
                <a:r>
                  <a:rPr lang="vi-VN" sz="28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vi-V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vi-V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r>
                          <a:rPr lang="vi-VN" sz="28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</m:t>
                        </m:r>
                      </m:den>
                    </m:f>
                  </m:oMath>
                </a14:m>
                <a:r>
                  <a:rPr lang="vi-VN" sz="2800" dirty="0"/>
                  <a:t> = </a:t>
                </a:r>
                <a:r>
                  <a:rPr lang="vi-VN" sz="2800" dirty="0">
                    <a:sym typeface="Symbol" panose="05050102010706020507" pitchFamily="18" charset="2"/>
                  </a:rPr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vi-V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vi-VN" sz="2800" dirty="0">
                            <a:solidFill>
                              <a:srgbClr val="CC00FF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c</m:t>
                        </m:r>
                      </m:den>
                    </m:f>
                  </m:oMath>
                </a14:m>
                <a:r>
                  <a:rPr lang="en-US" sz="2800" dirty="0"/>
                  <a:t> </a:t>
                </a:r>
                <a:r>
                  <a:rPr lang="en-US" sz="2800" dirty="0">
                    <a:sym typeface="Symbol" panose="05050102010706020507" pitchFamily="18" charset="2"/>
                  </a:rPr>
                  <a:t></a:t>
                </a:r>
                <a:r>
                  <a:rPr lang="vi-VN" sz="28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vi-V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vi-V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num>
                      <m:den>
                        <m:r>
                          <a:rPr lang="vi-VN" sz="28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</m:t>
                        </m:r>
                      </m:den>
                    </m:f>
                  </m:oMath>
                </a14:m>
                <a:r>
                  <a:rPr lang="vi-VN" sz="2800" dirty="0"/>
                  <a:t> = </a:t>
                </a:r>
                <a:r>
                  <a:rPr lang="vi-VN" sz="2800" dirty="0">
                    <a:sym typeface="Symbol" panose="05050102010706020507" pitchFamily="18" charset="2"/>
                  </a:rPr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vi-V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vi-VN" sz="2800" dirty="0" smtClean="0">
                            <a:solidFill>
                              <a:srgbClr val="0000FF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d</m:t>
                        </m:r>
                      </m:den>
                    </m:f>
                  </m:oMath>
                </a14:m>
                <a:r>
                  <a:rPr lang="en-US" sz="2800" dirty="0"/>
                  <a:t> </a:t>
                </a:r>
                <a:r>
                  <a:rPr lang="en-US" sz="2800" dirty="0">
                    <a:sym typeface="Symbol" panose="05050102010706020507" pitchFamily="18" charset="2"/>
                  </a:rPr>
                  <a:t></a:t>
                </a:r>
                <a:r>
                  <a:rPr lang="vi-VN" sz="28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vi-V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vi-V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num>
                      <m:den>
                        <m:r>
                          <a:rPr lang="vi-V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</m:t>
                        </m:r>
                      </m:den>
                    </m:f>
                  </m:oMath>
                </a14:m>
                <a:r>
                  <a:rPr lang="vi-VN" sz="2800" dirty="0"/>
                  <a:t> </a:t>
                </a:r>
                <a:endParaRPr lang="en-US" sz="2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D2B7F14-C828-4185-BC61-AEBBAA187D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343" y="3533852"/>
                <a:ext cx="7988514" cy="1190134"/>
              </a:xfrm>
              <a:prstGeom prst="rect">
                <a:avLst/>
              </a:prstGeom>
              <a:blipFill>
                <a:blip r:embed="rId7"/>
                <a:stretch>
                  <a:fillRect l="-1603" t="-5641" b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5D97E189-5E24-44A6-8D2D-DA02C27ABFD8}"/>
              </a:ext>
            </a:extLst>
          </p:cNvPr>
          <p:cNvSpPr txBox="1"/>
          <p:nvPr/>
        </p:nvSpPr>
        <p:spPr>
          <a:xfrm>
            <a:off x="266330" y="1806858"/>
            <a:ext cx="6820270" cy="165500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id="{4671EC15-E7C0-49D1-8967-C0D3ACCB11E8}"/>
                  </a:ext>
                </a:extLst>
              </p:cNvPr>
              <p:cNvSpPr txBox="1"/>
              <p:nvPr/>
            </p:nvSpPr>
            <p:spPr>
              <a:xfrm>
                <a:off x="4775446" y="2149214"/>
                <a:ext cx="2218678" cy="13385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vi-VN" sz="2800" i="1" smtClean="0">
                            <a:solidFill>
                              <a:srgbClr val="006600"/>
                            </a:solidFill>
                            <a:latin typeface="Cambria Math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vi-VN" sz="2800" i="1">
                                <a:solidFill>
                                  <a:srgbClr val="006600"/>
                                </a:solidFill>
                                <a:latin typeface="Cambria Math"/>
                                <a:cs typeface="Arial" panose="020B0604020202020204" pitchFamily="34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vi-VN" sz="2800" i="1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Symbol" panose="05050102010706020507" pitchFamily="18" charset="2"/>
                              </a:rPr>
                              <m:t>𝑉</m:t>
                            </m:r>
                          </m:e>
                          <m:sub>
                            <m:r>
                              <a:rPr lang="vi-VN" sz="2800" b="0" i="1" smtClean="0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Symbol" panose="05050102010706020507" pitchFamily="18" charset="2"/>
                              </a:rPr>
                              <m:t>𝐵</m:t>
                            </m:r>
                          </m:sub>
                        </m:sSub>
                      </m:e>
                    </m:acc>
                  </m:oMath>
                </a14:m>
                <a:r>
                  <a:rPr lang="vi-VN" sz="2800" dirty="0">
                    <a:solidFill>
                      <a:srgbClr val="0066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= 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sz="2800" i="1" dirty="0">
                            <a:solidFill>
                              <a:srgbClr val="006600"/>
                            </a:solidFill>
                            <a:latin typeface="Cambria Math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vi-VN" sz="2800" i="1" dirty="0">
                                <a:solidFill>
                                  <a:srgbClr val="006600"/>
                                </a:solidFill>
                                <a:latin typeface="Cambria Math"/>
                                <a:cs typeface="Arial" panose="020B0604020202020204" pitchFamily="34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vi-VN" sz="2800" i="1" dirty="0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Symbol" panose="05050102010706020507" pitchFamily="18" charset="2"/>
                              </a:rPr>
                              <m:t>∆</m:t>
                            </m:r>
                            <m:r>
                              <a:rPr lang="vi-VN" sz="2800" i="1" dirty="0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Symbol" panose="05050102010706020507" pitchFamily="18" charset="2"/>
                              </a:rPr>
                              <m:t>𝐶</m:t>
                            </m:r>
                          </m:e>
                          <m:sub>
                            <m:r>
                              <a:rPr lang="vi-VN" sz="2800" b="0" i="1" dirty="0" smtClean="0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Symbol" panose="05050102010706020507" pitchFamily="18" charset="2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r>
                          <a:rPr lang="vi-VN" sz="2800" i="1" dirty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∆</m:t>
                        </m:r>
                        <m:r>
                          <a:rPr lang="vi-VN" sz="2800" i="1" dirty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𝜏</m:t>
                        </m:r>
                      </m:den>
                    </m:f>
                  </m:oMath>
                </a14:m>
                <a:r>
                  <a:rPr lang="vi-VN" sz="2800" dirty="0">
                    <a:solidFill>
                      <a:srgbClr val="006600"/>
                    </a:solidFill>
                  </a:rPr>
                  <a:t>;</a:t>
                </a:r>
              </a:p>
              <a:p>
                <a:r>
                  <a:rPr lang="vi-VN" sz="2800" dirty="0">
                    <a:solidFill>
                      <a:srgbClr val="0066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V</a:t>
                </a:r>
                <a:r>
                  <a:rPr lang="vi-VN" sz="2800" baseline="-25000" dirty="0">
                    <a:solidFill>
                      <a:srgbClr val="0066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B</a:t>
                </a:r>
                <a:r>
                  <a:rPr lang="vi-VN" sz="2800" dirty="0">
                    <a:solidFill>
                      <a:srgbClr val="0066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= 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sz="2800" i="1">
                            <a:solidFill>
                              <a:srgbClr val="006600"/>
                            </a:solidFill>
                            <a:latin typeface="Cambria Math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vi-VN" sz="2800" i="1">
                                <a:solidFill>
                                  <a:srgbClr val="006600"/>
                                </a:solidFill>
                                <a:latin typeface="Cambria Math"/>
                                <a:cs typeface="Arial" panose="020B0604020202020204" pitchFamily="34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vi-VN" sz="2800" i="1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Symbol" panose="05050102010706020507" pitchFamily="18" charset="2"/>
                              </a:rPr>
                              <m:t>𝑑𝐶</m:t>
                            </m:r>
                          </m:e>
                          <m:sub>
                            <m:r>
                              <a:rPr lang="vi-VN" sz="2800" b="0" i="1" smtClean="0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Symbol" panose="05050102010706020507" pitchFamily="18" charset="2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r>
                          <a:rPr lang="vi-VN" sz="28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𝑑</m:t>
                        </m:r>
                        <m:r>
                          <a:rPr lang="vi-VN" sz="28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</m:t>
                        </m:r>
                      </m:den>
                    </m:f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671EC15-E7C0-49D1-8967-C0D3ACCB11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5446" y="2149214"/>
                <a:ext cx="2218678" cy="1338572"/>
              </a:xfrm>
              <a:prstGeom prst="rect">
                <a:avLst/>
              </a:prstGeom>
              <a:blipFill>
                <a:blip r:embed="rId8"/>
                <a:stretch>
                  <a:fillRect l="-5495" b="-41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="" id="{5FFEAAA7-EE77-44A2-B17F-2F185BD1824B}"/>
                  </a:ext>
                </a:extLst>
              </p:cNvPr>
              <p:cNvSpPr txBox="1"/>
              <p:nvPr/>
            </p:nvSpPr>
            <p:spPr>
              <a:xfrm>
                <a:off x="177554" y="2102036"/>
                <a:ext cx="2055920" cy="13385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vi-VN" sz="2800" i="1" smtClean="0">
                            <a:solidFill>
                              <a:srgbClr val="CC00FF"/>
                            </a:solidFill>
                            <a:latin typeface="Cambria Math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vi-VN" sz="2800" i="1">
                                <a:solidFill>
                                  <a:srgbClr val="CC00FF"/>
                                </a:solidFill>
                                <a:latin typeface="Cambria Math"/>
                                <a:cs typeface="Arial" panose="020B0604020202020204" pitchFamily="34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vi-VN" sz="2800" i="1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Symbol" panose="05050102010706020507" pitchFamily="18" charset="2"/>
                              </a:rPr>
                              <m:t>𝑉</m:t>
                            </m:r>
                          </m:e>
                          <m:sub>
                            <m:r>
                              <a:rPr lang="vi-VN" sz="2800" b="0" i="1" smtClean="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Symbol" panose="05050102010706020507" pitchFamily="18" charset="2"/>
                              </a:rPr>
                              <m:t>𝐶</m:t>
                            </m:r>
                          </m:sub>
                        </m:sSub>
                        <m:r>
                          <a:rPr lang="vi-VN" sz="2800" b="0" i="1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  </m:t>
                        </m:r>
                      </m:e>
                    </m:acc>
                  </m:oMath>
                </a14:m>
                <a:r>
                  <a:rPr lang="vi-VN" sz="2800" dirty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=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sz="2800" i="1" dirty="0">
                            <a:solidFill>
                              <a:srgbClr val="CC00FF"/>
                            </a:solidFill>
                            <a:latin typeface="Cambria Math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vi-VN" sz="2800" i="1" dirty="0">
                                <a:solidFill>
                                  <a:srgbClr val="CC00FF"/>
                                </a:solidFill>
                                <a:latin typeface="Cambria Math"/>
                                <a:cs typeface="Arial" panose="020B0604020202020204" pitchFamily="34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vi-VN" sz="2800" i="1" dirty="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Symbol" panose="05050102010706020507" pitchFamily="18" charset="2"/>
                              </a:rPr>
                              <m:t>∆</m:t>
                            </m:r>
                            <m:r>
                              <a:rPr lang="vi-VN" sz="2800" i="1" dirty="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Symbol" panose="05050102010706020507" pitchFamily="18" charset="2"/>
                              </a:rPr>
                              <m:t>𝐶</m:t>
                            </m:r>
                          </m:e>
                          <m:sub>
                            <m:r>
                              <a:rPr lang="vi-VN" sz="2800" b="0" i="1" dirty="0" smtClean="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Symbol" panose="05050102010706020507" pitchFamily="18" charset="2"/>
                              </a:rPr>
                              <m:t>𝐶</m:t>
                            </m:r>
                          </m:sub>
                        </m:sSub>
                      </m:num>
                      <m:den>
                        <m:r>
                          <a:rPr lang="vi-VN" sz="2800" i="1" dirty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∆</m:t>
                        </m:r>
                        <m:r>
                          <a:rPr lang="vi-VN" sz="2800" i="1" dirty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𝜏</m:t>
                        </m:r>
                      </m:den>
                    </m:f>
                  </m:oMath>
                </a14:m>
                <a:r>
                  <a:rPr lang="vi-VN" sz="2800" dirty="0">
                    <a:solidFill>
                      <a:srgbClr val="CC00FF"/>
                    </a:solidFill>
                  </a:rPr>
                  <a:t>;</a:t>
                </a:r>
              </a:p>
              <a:p>
                <a:r>
                  <a:rPr lang="vi-VN" sz="2800" dirty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V</a:t>
                </a:r>
                <a:r>
                  <a:rPr lang="vi-VN" sz="2800" baseline="-25000" dirty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C</a:t>
                </a:r>
                <a:r>
                  <a:rPr lang="vi-VN" sz="2800" dirty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=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sz="2800" i="1">
                            <a:solidFill>
                              <a:srgbClr val="CC00FF"/>
                            </a:solidFill>
                            <a:latin typeface="Cambria Math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vi-VN" sz="2800" i="1">
                                <a:solidFill>
                                  <a:srgbClr val="CC00FF"/>
                                </a:solidFill>
                                <a:latin typeface="Cambria Math"/>
                                <a:cs typeface="Arial" panose="020B0604020202020204" pitchFamily="34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vi-VN" sz="2800" i="1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Symbol" panose="05050102010706020507" pitchFamily="18" charset="2"/>
                              </a:rPr>
                              <m:t>𝑑𝐶</m:t>
                            </m:r>
                          </m:e>
                          <m:sub>
                            <m:r>
                              <a:rPr lang="vi-VN" sz="2800" b="0" i="1" smtClean="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Symbol" panose="05050102010706020507" pitchFamily="18" charset="2"/>
                              </a:rPr>
                              <m:t>𝐶</m:t>
                            </m:r>
                          </m:sub>
                        </m:sSub>
                      </m:num>
                      <m:den>
                        <m:r>
                          <a:rPr lang="vi-VN" sz="2800" i="1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𝑑</m:t>
                        </m:r>
                        <m:r>
                          <a:rPr lang="vi-VN" sz="2800" i="1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</m:t>
                        </m:r>
                      </m:den>
                    </m:f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FFEAAA7-EE77-44A2-B17F-2F185BD182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554" y="2102036"/>
                <a:ext cx="2055920" cy="1338572"/>
              </a:xfrm>
              <a:prstGeom prst="rect">
                <a:avLst/>
              </a:prstGeom>
              <a:blipFill>
                <a:blip r:embed="rId9"/>
                <a:stretch>
                  <a:fillRect l="-5935" b="-41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="" id="{A97C76F9-A638-4628-957D-6CCFD63191A0}"/>
                  </a:ext>
                </a:extLst>
              </p:cNvPr>
              <p:cNvSpPr txBox="1"/>
              <p:nvPr/>
            </p:nvSpPr>
            <p:spPr>
              <a:xfrm>
                <a:off x="2459486" y="2149214"/>
                <a:ext cx="2055920" cy="13385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vi-VN" sz="2800" i="1" smtClean="0">
                            <a:solidFill>
                              <a:srgbClr val="0000FF"/>
                            </a:solidFill>
                            <a:latin typeface="Cambria Math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vi-VN" sz="2800" i="1">
                                <a:solidFill>
                                  <a:srgbClr val="0000FF"/>
                                </a:solidFill>
                                <a:latin typeface="Cambria Math"/>
                                <a:cs typeface="Arial" panose="020B0604020202020204" pitchFamily="34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vi-VN" sz="28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Symbol" panose="05050102010706020507" pitchFamily="18" charset="2"/>
                              </a:rPr>
                              <m:t>𝑉</m:t>
                            </m:r>
                          </m:e>
                          <m:sub>
                            <m:r>
                              <a:rPr lang="vi-VN" sz="28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Symbol" panose="05050102010706020507" pitchFamily="18" charset="2"/>
                              </a:rPr>
                              <m:t>𝐷</m:t>
                            </m:r>
                          </m:sub>
                        </m:sSub>
                        <m:r>
                          <a:rPr lang="vi-VN" sz="28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  </m:t>
                        </m:r>
                      </m:e>
                    </m:acc>
                  </m:oMath>
                </a14:m>
                <a:r>
                  <a:rPr lang="vi-VN" sz="28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=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sz="2800" i="1" dirty="0">
                            <a:solidFill>
                              <a:srgbClr val="0000FF"/>
                            </a:solidFill>
                            <a:latin typeface="Cambria Math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vi-VN" sz="2800" i="1" dirty="0">
                                <a:solidFill>
                                  <a:srgbClr val="0000FF"/>
                                </a:solidFill>
                                <a:latin typeface="Cambria Math"/>
                                <a:cs typeface="Arial" panose="020B0604020202020204" pitchFamily="34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vi-VN" sz="2800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Symbol" panose="05050102010706020507" pitchFamily="18" charset="2"/>
                              </a:rPr>
                              <m:t>∆</m:t>
                            </m:r>
                            <m:r>
                              <a:rPr lang="vi-VN" sz="2800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Symbol" panose="05050102010706020507" pitchFamily="18" charset="2"/>
                              </a:rPr>
                              <m:t>𝐶</m:t>
                            </m:r>
                          </m:e>
                          <m:sub>
                            <m:r>
                              <a:rPr lang="vi-VN" sz="2800" b="0" i="1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Symbol" panose="05050102010706020507" pitchFamily="18" charset="2"/>
                              </a:rPr>
                              <m:t>𝐷</m:t>
                            </m:r>
                          </m:sub>
                        </m:sSub>
                      </m:num>
                      <m:den>
                        <m:r>
                          <a:rPr lang="vi-VN" sz="28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∆</m:t>
                        </m:r>
                        <m:r>
                          <a:rPr lang="vi-VN" sz="28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𝜏</m:t>
                        </m:r>
                      </m:den>
                    </m:f>
                  </m:oMath>
                </a14:m>
                <a:r>
                  <a:rPr lang="vi-VN" sz="2800" dirty="0">
                    <a:solidFill>
                      <a:srgbClr val="0000FF"/>
                    </a:solidFill>
                  </a:rPr>
                  <a:t>;</a:t>
                </a:r>
              </a:p>
              <a:p>
                <a:r>
                  <a:rPr lang="vi-VN" sz="28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V</a:t>
                </a:r>
                <a:r>
                  <a:rPr lang="vi-VN" sz="2800" baseline="-250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D</a:t>
                </a:r>
                <a:r>
                  <a:rPr lang="vi-VN" sz="28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=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sz="2800" i="1">
                            <a:solidFill>
                              <a:srgbClr val="0000FF"/>
                            </a:solidFill>
                            <a:latin typeface="Cambria Math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vi-VN" sz="2800" i="1">
                                <a:solidFill>
                                  <a:srgbClr val="0000FF"/>
                                </a:solidFill>
                                <a:latin typeface="Cambria Math"/>
                                <a:cs typeface="Arial" panose="020B0604020202020204" pitchFamily="34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vi-VN" sz="28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Symbol" panose="05050102010706020507" pitchFamily="18" charset="2"/>
                              </a:rPr>
                              <m:t>𝑑𝐶</m:t>
                            </m:r>
                          </m:e>
                          <m:sub>
                            <m:r>
                              <a:rPr lang="vi-VN" sz="28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Symbol" panose="05050102010706020507" pitchFamily="18" charset="2"/>
                              </a:rPr>
                              <m:t>𝐷</m:t>
                            </m:r>
                          </m:sub>
                        </m:sSub>
                      </m:num>
                      <m:den>
                        <m:r>
                          <a:rPr lang="vi-VN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𝑑</m:t>
                        </m:r>
                        <m:r>
                          <a:rPr lang="vi-VN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</m:t>
                        </m:r>
                      </m:den>
                    </m:f>
                  </m:oMath>
                </a14:m>
                <a:endParaRPr lang="en-US" sz="2800" dirty="0">
                  <a:solidFill>
                    <a:srgbClr val="CC00FF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97C76F9-A638-4628-957D-6CCFD63191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9486" y="2149214"/>
                <a:ext cx="2055920" cy="1338572"/>
              </a:xfrm>
              <a:prstGeom prst="rect">
                <a:avLst/>
              </a:prstGeom>
              <a:blipFill>
                <a:blip r:embed="rId10"/>
                <a:stretch>
                  <a:fillRect l="-5917" b="-41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xmlns="" id="{44244E78-E48B-4AC1-840D-0B571734021D}"/>
                  </a:ext>
                </a:extLst>
              </p:cNvPr>
              <p:cNvSpPr txBox="1"/>
              <p:nvPr/>
            </p:nvSpPr>
            <p:spPr>
              <a:xfrm>
                <a:off x="1447800" y="5914481"/>
                <a:ext cx="4648200" cy="80599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vi-VN" sz="2800" dirty="0">
                    <a:sym typeface="Symbol" panose="05050102010706020507" pitchFamily="18" charset="2"/>
                  </a:rPr>
                  <a:t>V</a:t>
                </a:r>
                <a:r>
                  <a:rPr lang="vi-VN" sz="2800" baseline="-25000" dirty="0">
                    <a:sym typeface="Symbol" panose="05050102010706020507" pitchFamily="18" charset="2"/>
                  </a:rPr>
                  <a:t>pư</a:t>
                </a:r>
                <a:r>
                  <a:rPr lang="vi-VN" sz="2800" dirty="0">
                    <a:sym typeface="Symbol" panose="05050102010706020507" pitchFamily="18" charset="2"/>
                  </a:rPr>
                  <a:t>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vi-VN" sz="2800" dirty="0" smtClean="0">
                            <a:solidFill>
                              <a:srgbClr val="FF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V</m:t>
                        </m:r>
                        <m:r>
                          <m:rPr>
                            <m:nor/>
                          </m:rPr>
                          <a:rPr lang="vi-VN" sz="2800" baseline="-25000" dirty="0" smtClean="0">
                            <a:solidFill>
                              <a:srgbClr val="FF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A</m:t>
                        </m:r>
                      </m:num>
                      <m:den>
                        <m:r>
                          <m:rPr>
                            <m:nor/>
                          </m:rPr>
                          <a:rPr lang="vi-VN" sz="2800" dirty="0" smtClean="0">
                            <a:solidFill>
                              <a:srgbClr val="FF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a</m:t>
                        </m:r>
                      </m:den>
                    </m:f>
                  </m:oMath>
                </a14:m>
                <a:r>
                  <a:rPr lang="en-US" sz="2800" dirty="0"/>
                  <a:t> </a:t>
                </a:r>
                <a:r>
                  <a:rPr lang="vi-VN" sz="28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vi-VN" sz="2800" dirty="0" smtClean="0">
                            <a:solidFill>
                              <a:srgbClr val="0066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V</m:t>
                        </m:r>
                        <m:r>
                          <m:rPr>
                            <m:nor/>
                          </m:rPr>
                          <a:rPr lang="vi-VN" sz="2800" baseline="-25000" dirty="0" smtClean="0">
                            <a:solidFill>
                              <a:srgbClr val="0066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B</m:t>
                        </m:r>
                      </m:num>
                      <m:den>
                        <m:r>
                          <m:rPr>
                            <m:nor/>
                          </m:rPr>
                          <a:rPr lang="vi-VN" sz="2800" dirty="0" smtClean="0">
                            <a:solidFill>
                              <a:srgbClr val="0066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b</m:t>
                        </m:r>
                      </m:den>
                    </m:f>
                  </m:oMath>
                </a14:m>
                <a:r>
                  <a:rPr lang="en-US" sz="2800" dirty="0"/>
                  <a:t> </a:t>
                </a:r>
                <a:r>
                  <a:rPr lang="vi-VN" sz="2800" dirty="0"/>
                  <a:t> = </a:t>
                </a:r>
                <a:r>
                  <a:rPr lang="vi-VN" sz="2800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vi-VN" sz="2800" dirty="0" smtClean="0">
                            <a:solidFill>
                              <a:srgbClr val="CC00FF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V</m:t>
                        </m:r>
                        <m:r>
                          <m:rPr>
                            <m:nor/>
                          </m:rPr>
                          <a:rPr lang="vi-VN" sz="2800" baseline="-25000" dirty="0" smtClean="0">
                            <a:solidFill>
                              <a:srgbClr val="CC00FF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C</m:t>
                        </m:r>
                      </m:num>
                      <m:den>
                        <m:r>
                          <m:rPr>
                            <m:nor/>
                          </m:rPr>
                          <a:rPr lang="vi-VN" sz="2800" dirty="0">
                            <a:solidFill>
                              <a:srgbClr val="CC00FF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c</m:t>
                        </m:r>
                      </m:den>
                    </m:f>
                  </m:oMath>
                </a14:m>
                <a:r>
                  <a:rPr lang="en-US" sz="2800" dirty="0"/>
                  <a:t> </a:t>
                </a:r>
                <a:r>
                  <a:rPr lang="vi-VN" sz="2800" dirty="0"/>
                  <a:t> = </a:t>
                </a:r>
                <a:r>
                  <a:rPr lang="vi-VN" sz="2800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vi-VN" sz="2800" dirty="0" smtClean="0">
                            <a:solidFill>
                              <a:srgbClr val="0000FF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V</m:t>
                        </m:r>
                        <m:r>
                          <m:rPr>
                            <m:nor/>
                          </m:rPr>
                          <a:rPr lang="vi-VN" sz="2800" baseline="-25000" dirty="0" smtClean="0">
                            <a:solidFill>
                              <a:srgbClr val="0000FF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D</m:t>
                        </m:r>
                      </m:num>
                      <m:den>
                        <m:r>
                          <m:rPr>
                            <m:nor/>
                          </m:rPr>
                          <a:rPr lang="vi-VN" sz="2800" dirty="0" smtClean="0">
                            <a:solidFill>
                              <a:srgbClr val="0000FF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d</m:t>
                        </m:r>
                      </m:den>
                    </m:f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4244E78-E48B-4AC1-840D-0B57173402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800" y="5914481"/>
                <a:ext cx="4648200" cy="805990"/>
              </a:xfrm>
              <a:prstGeom prst="rect">
                <a:avLst/>
              </a:prstGeom>
              <a:blipFill>
                <a:blip r:embed="rId11"/>
                <a:stretch>
                  <a:fillRect l="-2756" b="-6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4E06DC8E-3771-477B-A074-357399BEA539}"/>
              </a:ext>
            </a:extLst>
          </p:cNvPr>
          <p:cNvSpPr txBox="1"/>
          <p:nvPr/>
        </p:nvSpPr>
        <p:spPr>
          <a:xfrm>
            <a:off x="177554" y="4674619"/>
            <a:ext cx="8315047" cy="119013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xmlns="" id="{7E7937C5-5EA9-46BD-8144-21F84280A666}"/>
                  </a:ext>
                </a:extLst>
              </p:cNvPr>
              <p:cNvSpPr txBox="1"/>
              <p:nvPr/>
            </p:nvSpPr>
            <p:spPr>
              <a:xfrm>
                <a:off x="425343" y="4767629"/>
                <a:ext cx="7492937" cy="114685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vi-VN" sz="28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TỐC ĐỘ TỨC THỜI CỦA PHẢN ỨNG:</a:t>
                </a:r>
              </a:p>
              <a:p>
                <a:r>
                  <a:rPr lang="vi-VN" sz="2800" dirty="0">
                    <a:sym typeface="Symbol" panose="05050102010706020507" pitchFamily="18" charset="2"/>
                  </a:rPr>
                  <a:t>V</a:t>
                </a:r>
                <a:r>
                  <a:rPr lang="vi-VN" sz="2800" baseline="-25000" dirty="0">
                    <a:sym typeface="Symbol" panose="05050102010706020507" pitchFamily="18" charset="2"/>
                  </a:rPr>
                  <a:t>pư</a:t>
                </a:r>
                <a:r>
                  <a:rPr lang="vi-VN" sz="2800" dirty="0">
                    <a:sym typeface="Symbol" panose="05050102010706020507" pitchFamily="18" charset="2"/>
                  </a:rPr>
                  <a:t> = </a:t>
                </a:r>
                <a:r>
                  <a:rPr lang="en-US" sz="2800" dirty="0">
                    <a:sym typeface="Symbol" panose="05050102010706020507" pitchFamily="18" charset="2"/>
                  </a:rPr>
                  <a:t></a:t>
                </a:r>
                <a:r>
                  <a:rPr lang="vi-VN" sz="2800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vi-V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vi-VN" sz="2800" dirty="0" smtClean="0">
                            <a:solidFill>
                              <a:srgbClr val="FF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a</m:t>
                        </m:r>
                      </m:den>
                    </m:f>
                  </m:oMath>
                </a14:m>
                <a:r>
                  <a:rPr lang="en-US" sz="2800" dirty="0"/>
                  <a:t> </a:t>
                </a:r>
                <a:r>
                  <a:rPr lang="en-US" sz="2800" dirty="0">
                    <a:sym typeface="Symbol" panose="05050102010706020507" pitchFamily="18" charset="2"/>
                  </a:rPr>
                  <a:t></a:t>
                </a:r>
                <a:r>
                  <a:rPr lang="vi-VN" sz="28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vi-VN" sz="28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vi-V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vi-VN" sz="2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r>
                          <a:rPr lang="vi-VN" sz="2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vi-VN" sz="28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</m:t>
                        </m:r>
                      </m:den>
                    </m:f>
                  </m:oMath>
                </a14:m>
                <a:r>
                  <a:rPr lang="vi-VN" sz="2800" dirty="0"/>
                  <a:t> = </a:t>
                </a:r>
                <a:r>
                  <a:rPr lang="en-US" sz="2800" dirty="0">
                    <a:sym typeface="Symbol" panose="05050102010706020507" pitchFamily="18" charset="2"/>
                  </a:rPr>
                  <a:t></a:t>
                </a:r>
                <a:r>
                  <a:rPr lang="vi-VN" sz="2800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vi-V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vi-VN" sz="2800" dirty="0" smtClean="0">
                            <a:solidFill>
                              <a:srgbClr val="0066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b</m:t>
                        </m:r>
                      </m:den>
                    </m:f>
                  </m:oMath>
                </a14:m>
                <a:r>
                  <a:rPr lang="en-US" sz="2800" dirty="0"/>
                  <a:t> </a:t>
                </a:r>
                <a:r>
                  <a:rPr lang="en-US" sz="2800" dirty="0">
                    <a:sym typeface="Symbol" panose="05050102010706020507" pitchFamily="18" charset="2"/>
                  </a:rPr>
                  <a:t></a:t>
                </a:r>
                <a:r>
                  <a:rPr lang="vi-VN" sz="28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vi-VN" sz="28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vi-V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vi-V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r>
                          <a:rPr lang="vi-VN" sz="2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vi-VN" sz="28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</m:t>
                        </m:r>
                      </m:den>
                    </m:f>
                  </m:oMath>
                </a14:m>
                <a:r>
                  <a:rPr lang="vi-VN" sz="2800" dirty="0"/>
                  <a:t> = </a:t>
                </a:r>
                <a:r>
                  <a:rPr lang="vi-VN" sz="2800" dirty="0">
                    <a:sym typeface="Symbol" panose="05050102010706020507" pitchFamily="18" charset="2"/>
                  </a:rPr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vi-V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vi-VN" sz="2800" dirty="0">
                            <a:solidFill>
                              <a:srgbClr val="CC00FF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c</m:t>
                        </m:r>
                      </m:den>
                    </m:f>
                  </m:oMath>
                </a14:m>
                <a:r>
                  <a:rPr lang="en-US" sz="2800" dirty="0"/>
                  <a:t> </a:t>
                </a:r>
                <a:r>
                  <a:rPr lang="en-US" sz="2800" dirty="0">
                    <a:sym typeface="Symbol" panose="05050102010706020507" pitchFamily="18" charset="2"/>
                  </a:rPr>
                  <a:t></a:t>
                </a:r>
                <a:r>
                  <a:rPr lang="vi-VN" sz="28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vi-VN" sz="28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vi-V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vi-V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num>
                      <m:den>
                        <m:r>
                          <a:rPr lang="vi-VN" sz="2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vi-VN" sz="28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</m:t>
                        </m:r>
                      </m:den>
                    </m:f>
                  </m:oMath>
                </a14:m>
                <a:r>
                  <a:rPr lang="vi-VN" sz="2800" dirty="0"/>
                  <a:t> = </a:t>
                </a:r>
                <a:r>
                  <a:rPr lang="vi-VN" sz="2800" dirty="0">
                    <a:sym typeface="Symbol" panose="05050102010706020507" pitchFamily="18" charset="2"/>
                  </a:rPr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vi-V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vi-VN" sz="2800" dirty="0" smtClean="0">
                            <a:solidFill>
                              <a:srgbClr val="0000FF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d</m:t>
                        </m:r>
                      </m:den>
                    </m:f>
                  </m:oMath>
                </a14:m>
                <a:r>
                  <a:rPr lang="en-US" sz="2800" dirty="0"/>
                  <a:t> </a:t>
                </a:r>
                <a:r>
                  <a:rPr lang="en-US" sz="2800" dirty="0">
                    <a:sym typeface="Symbol" panose="05050102010706020507" pitchFamily="18" charset="2"/>
                  </a:rPr>
                  <a:t></a:t>
                </a:r>
                <a:r>
                  <a:rPr lang="vi-VN" sz="28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vi-VN" sz="28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vi-V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vi-V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num>
                      <m:den>
                        <m:r>
                          <a:rPr lang="vi-V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vi-V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</m:t>
                        </m:r>
                      </m:den>
                    </m:f>
                  </m:oMath>
                </a14:m>
                <a:r>
                  <a:rPr lang="vi-VN" sz="2800" dirty="0"/>
                  <a:t> </a:t>
                </a:r>
                <a:endParaRPr lang="en-US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E7937C5-5EA9-46BD-8144-21F84280A6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343" y="4767629"/>
                <a:ext cx="7492937" cy="1146852"/>
              </a:xfrm>
              <a:prstGeom prst="rect">
                <a:avLst/>
              </a:prstGeom>
              <a:blipFill>
                <a:blip r:embed="rId12"/>
                <a:stretch>
                  <a:fillRect l="-1709" t="-5319" b="-4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6783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0" grpId="0"/>
      <p:bldP spid="12" grpId="0"/>
      <p:bldP spid="13" grpId="0"/>
      <p:bldP spid="14" grpId="0" animBg="1"/>
      <p:bldP spid="15" grpId="0" animBg="1"/>
      <p:bldP spid="6" grpId="0"/>
      <p:bldP spid="8" grpId="0"/>
      <p:bldP spid="7" grpId="0"/>
      <p:bldP spid="18" grpId="0" animBg="1"/>
      <p:bldP spid="19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3">
            <a:extLst>
              <a:ext uri="{FF2B5EF4-FFF2-40B4-BE49-F238E27FC236}">
                <a16:creationId xmlns:a16="http://schemas.microsoft.com/office/drawing/2014/main" xmlns="" id="{908C8B6D-AE87-4F98-AE0E-68FD635DC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94D5C57-DE15-4735-9466-1D1BA70F5442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400"/>
          </a:p>
        </p:txBody>
      </p:sp>
      <p:pic>
        <p:nvPicPr>
          <p:cNvPr id="15363" name="Picture 2" descr="Fg14_04">
            <a:extLst>
              <a:ext uri="{FF2B5EF4-FFF2-40B4-BE49-F238E27FC236}">
                <a16:creationId xmlns:a16="http://schemas.microsoft.com/office/drawing/2014/main" xmlns="" id="{3E59ACD4-D9C6-4A35-8123-FC230D2D4F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21328"/>
            <a:ext cx="66865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sp>
        <p:nvSpPr>
          <p:cNvPr id="15364" name="Text Box 3">
            <a:extLst>
              <a:ext uri="{FF2B5EF4-FFF2-40B4-BE49-F238E27FC236}">
                <a16:creationId xmlns:a16="http://schemas.microsoft.com/office/drawing/2014/main" xmlns="" id="{D1350293-CDD0-43D7-A0D4-575903072F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993" y="2820193"/>
            <a:ext cx="3746007" cy="134547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Tốc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tức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thời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tại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vi-VN" altLang="en-US" sz="28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</a:t>
            </a:r>
            <a:r>
              <a:rPr lang="vi-VN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600s</a:t>
            </a:r>
            <a:r>
              <a:rPr lang="vi-VN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 </a:t>
            </a:r>
            <a:r>
              <a:rPr lang="vi-VN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vi-VN" altLang="en-US" sz="28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600</a:t>
            </a:r>
            <a:r>
              <a:rPr lang="vi-VN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tg</a:t>
            </a:r>
            <a:r>
              <a:rPr lang="vi-VN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</a:t>
            </a:r>
            <a:r>
              <a:rPr lang="vi-VN" altLang="en-US" sz="28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endParaRPr lang="en-US" altLang="en-US" sz="28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65" name="Text Box 4">
            <a:extLst>
              <a:ext uri="{FF2B5EF4-FFF2-40B4-BE49-F238E27FC236}">
                <a16:creationId xmlns:a16="http://schemas.microsoft.com/office/drawing/2014/main" xmlns="" id="{65D873AA-39B7-4E3B-B36D-73BBDD0505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2060" y="335230"/>
            <a:ext cx="5562600" cy="116955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Tốc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tức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thời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tại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 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vi-VN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tốc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ban </a:t>
            </a:r>
            <a:r>
              <a:rPr lang="en-US" alt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)</a:t>
            </a:r>
            <a:r>
              <a:rPr lang="vi-VN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vi-VN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 </a:t>
            </a:r>
            <a:r>
              <a:rPr lang="vi-VN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vi-VN" altLang="en-US" sz="2800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vi-VN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tg</a:t>
            </a:r>
            <a:r>
              <a:rPr lang="vi-VN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</a:t>
            </a:r>
            <a:r>
              <a:rPr lang="vi-VN" altLang="en-US" sz="2800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endParaRPr lang="en-US" altLang="en-US" sz="2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66" name="Text Box 5">
            <a:extLst>
              <a:ext uri="{FF2B5EF4-FFF2-40B4-BE49-F238E27FC236}">
                <a16:creationId xmlns:a16="http://schemas.microsoft.com/office/drawing/2014/main" xmlns="" id="{00E26C0A-853F-4D52-B96D-1022BF1A71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8780" y="1600590"/>
            <a:ext cx="4515220" cy="112368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buFontTx/>
              <a:buNone/>
            </a:pP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altLang="en-US" sz="2800" baseline="-25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altLang="en-US" sz="2800" baseline="-25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Cl(</a:t>
            </a:r>
            <a:r>
              <a:rPr lang="en-US" altLang="en-US" sz="2800" i="1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aq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+ H</a:t>
            </a:r>
            <a:r>
              <a:rPr lang="en-US" altLang="en-US" sz="2800" baseline="-25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O(</a:t>
            </a:r>
            <a:r>
              <a:rPr lang="en-US" altLang="en-US" sz="2800" i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</a:t>
            </a:r>
            <a:r>
              <a:rPr lang="en-US" altLang="en-US" sz="2800" baseline="-25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altLang="en-US" sz="2800" baseline="-25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OH(</a:t>
            </a:r>
            <a:r>
              <a:rPr lang="en-US" altLang="en-US" sz="2800" i="1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aq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+ HCl(</a:t>
            </a:r>
            <a:r>
              <a:rPr lang="en-US" altLang="en-US" sz="2800" i="1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aq</a:t>
            </a:r>
            <a:r>
              <a:rPr lang="en-US" altLang="en-US" sz="2800" dirty="0">
                <a:solidFill>
                  <a:srgbClr val="003399"/>
                </a:solidFill>
              </a:rPr>
              <a:t>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2400" dirty="0"/>
          </a:p>
        </p:txBody>
      </p:sp>
      <p:sp>
        <p:nvSpPr>
          <p:cNvPr id="15367" name="Rectangle 1">
            <a:extLst>
              <a:ext uri="{FF2B5EF4-FFF2-40B4-BE49-F238E27FC236}">
                <a16:creationId xmlns:a16="http://schemas.microsoft.com/office/drawing/2014/main" xmlns="" id="{1CCB66D2-4683-49A2-9CDC-939FCFCF4A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1360" y="5252005"/>
            <a:ext cx="838200" cy="4619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</a:t>
            </a:r>
            <a:endParaRPr lang="en-US" altLang="en-US" sz="2400" dirty="0"/>
          </a:p>
        </p:txBody>
      </p:sp>
      <p:sp>
        <p:nvSpPr>
          <p:cNvPr id="2" name="Arc 1">
            <a:extLst>
              <a:ext uri="{FF2B5EF4-FFF2-40B4-BE49-F238E27FC236}">
                <a16:creationId xmlns:a16="http://schemas.microsoft.com/office/drawing/2014/main" xmlns="" id="{0F439172-AEF3-485A-8C64-44665CEA4428}"/>
              </a:ext>
            </a:extLst>
          </p:cNvPr>
          <p:cNvSpPr/>
          <p:nvPr/>
        </p:nvSpPr>
        <p:spPr>
          <a:xfrm flipH="1">
            <a:off x="3207150" y="2387894"/>
            <a:ext cx="228600" cy="609600"/>
          </a:xfrm>
          <a:prstGeom prst="arc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AACDB48B-934B-4760-8915-FA453DE184EA}"/>
              </a:ext>
            </a:extLst>
          </p:cNvPr>
          <p:cNvSpPr txBox="1"/>
          <p:nvPr/>
        </p:nvSpPr>
        <p:spPr>
          <a:xfrm>
            <a:off x="5693360" y="4633199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 </a:t>
            </a:r>
            <a:r>
              <a:rPr lang="vi-VN" sz="3200" b="1" dirty="0">
                <a:solidFill>
                  <a:srgbClr val="FF0000"/>
                </a:solidFill>
                <a:sym typeface="Symbol" panose="05050102010706020507" pitchFamily="18" charset="2"/>
              </a:rPr>
              <a:t></a:t>
            </a:r>
            <a:r>
              <a:rPr lang="vi-VN" sz="3200" b="1" baseline="-25000" dirty="0">
                <a:solidFill>
                  <a:srgbClr val="FF0000"/>
                </a:solidFill>
                <a:sym typeface="Symbol" panose="05050102010706020507" pitchFamily="18" charset="2"/>
              </a:rPr>
              <a:t>2</a:t>
            </a:r>
            <a:r>
              <a:rPr lang="vi-VN" sz="3200" dirty="0"/>
              <a:t> </a:t>
            </a:r>
            <a:endParaRPr lang="en-US" sz="3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0652491C-F3F5-45B6-A4EA-A7E4BEA5DB15}"/>
              </a:ext>
            </a:extLst>
          </p:cNvPr>
          <p:cNvSpPr txBox="1"/>
          <p:nvPr/>
        </p:nvSpPr>
        <p:spPr>
          <a:xfrm>
            <a:off x="2714301" y="2070189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b="1" dirty="0">
                <a:solidFill>
                  <a:srgbClr val="FF0000"/>
                </a:solidFill>
                <a:sym typeface="Symbol" panose="05050102010706020507" pitchFamily="18" charset="2"/>
              </a:rPr>
              <a:t></a:t>
            </a:r>
            <a:r>
              <a:rPr lang="vi-VN" sz="3200" b="1" baseline="-25000" dirty="0">
                <a:solidFill>
                  <a:srgbClr val="FF0000"/>
                </a:solidFill>
                <a:sym typeface="Symbol" panose="05050102010706020507" pitchFamily="18" charset="2"/>
              </a:rPr>
              <a:t>1</a:t>
            </a:r>
            <a:r>
              <a:rPr lang="vi-VN" dirty="0"/>
              <a:t> </a:t>
            </a:r>
            <a:endParaRPr lang="en-US" dirty="0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xmlns="" id="{FD6B1A67-EFAF-4400-947E-F50F20B719EA}"/>
              </a:ext>
            </a:extLst>
          </p:cNvPr>
          <p:cNvSpPr/>
          <p:nvPr/>
        </p:nvSpPr>
        <p:spPr>
          <a:xfrm flipH="1">
            <a:off x="6333385" y="4913174"/>
            <a:ext cx="228600" cy="609600"/>
          </a:xfrm>
          <a:prstGeom prst="arc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25AED272-6023-4169-97DD-79D1C32DE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3560C9-1AFE-4271-AA22-F6B445E67A9B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312BC091-812D-40EC-ACEB-263814809734}"/>
              </a:ext>
            </a:extLst>
          </p:cNvPr>
          <p:cNvSpPr txBox="1"/>
          <p:nvPr/>
        </p:nvSpPr>
        <p:spPr>
          <a:xfrm>
            <a:off x="762000" y="304800"/>
            <a:ext cx="7772400" cy="1480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sz="3200" dirty="0">
                <a:latin typeface="Arial" panose="020B0604020202020204" pitchFamily="34" charset="0"/>
                <a:cs typeface="Arial" panose="020B0604020202020204" pitchFamily="34" charset="0"/>
              </a:rPr>
              <a:t>Phản ứng:      </a:t>
            </a:r>
            <a:r>
              <a:rPr lang="vi-VN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3A</a:t>
            </a:r>
            <a:r>
              <a:rPr lang="vi-VN" sz="3200" dirty="0">
                <a:latin typeface="Arial" panose="020B0604020202020204" pitchFamily="34" charset="0"/>
                <a:cs typeface="Arial" panose="020B0604020202020204" pitchFamily="34" charset="0"/>
              </a:rPr>
              <a:t>    +    </a:t>
            </a:r>
            <a:r>
              <a:rPr lang="vi-VN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vi-VN" sz="3200" dirty="0">
                <a:latin typeface="Arial" panose="020B0604020202020204" pitchFamily="34" charset="0"/>
                <a:cs typeface="Arial" panose="020B0604020202020204" pitchFamily="34" charset="0"/>
              </a:rPr>
              <a:t>    =      </a:t>
            </a:r>
            <a:r>
              <a:rPr lang="vi-VN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2C</a:t>
            </a:r>
          </a:p>
          <a:p>
            <a:pPr>
              <a:lnSpc>
                <a:spcPct val="150000"/>
              </a:lnSpc>
            </a:pPr>
            <a:r>
              <a:rPr lang="vi-VN" sz="3200" dirty="0">
                <a:latin typeface="Arial" panose="020B0604020202020204" pitchFamily="34" charset="0"/>
                <a:cs typeface="Arial" panose="020B0604020202020204" pitchFamily="34" charset="0"/>
              </a:rPr>
              <a:t>Khi tốc độ tạo thành C là 0,2 mol/ lit.s thì:</a:t>
            </a:r>
            <a:endParaRPr 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12792848-3C88-4AD4-9549-25801133F8E6}"/>
              </a:ext>
            </a:extLst>
          </p:cNvPr>
          <p:cNvSpPr txBox="1"/>
          <p:nvPr/>
        </p:nvSpPr>
        <p:spPr>
          <a:xfrm>
            <a:off x="730928" y="2894091"/>
            <a:ext cx="7467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Tốc độ mất đi của A: 0,3 mol/ lit.s </a:t>
            </a: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AB6DF4DD-0CA4-458C-BF9C-761768049800}"/>
              </a:ext>
            </a:extLst>
          </p:cNvPr>
          <p:cNvSpPr txBox="1"/>
          <p:nvPr/>
        </p:nvSpPr>
        <p:spPr>
          <a:xfrm>
            <a:off x="762000" y="3800215"/>
            <a:ext cx="7467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Tốc độ mất đi của B: 0,1 mol/ lit.s 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78BEB3F7-9641-4CE2-9812-BEB57381CFD6}"/>
              </a:ext>
            </a:extLst>
          </p:cNvPr>
          <p:cNvSpPr txBox="1"/>
          <p:nvPr/>
        </p:nvSpPr>
        <p:spPr>
          <a:xfrm>
            <a:off x="762000" y="4878114"/>
            <a:ext cx="7467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Tốc độ phản ứng: 0,1 mol/ lit.s </a:t>
            </a:r>
            <a:endParaRPr lang="en-US" sz="3200" dirty="0">
              <a:solidFill>
                <a:srgbClr val="CC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="" id="{862A742C-58E7-48C1-856E-BD084DFC4C0D}"/>
                  </a:ext>
                </a:extLst>
              </p:cNvPr>
              <p:cNvSpPr txBox="1"/>
              <p:nvPr/>
            </p:nvSpPr>
            <p:spPr>
              <a:xfrm>
                <a:off x="1676400" y="1764983"/>
                <a:ext cx="4648200" cy="8962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vi-VN" sz="3200" b="1" dirty="0">
                    <a:sym typeface="Symbol" panose="05050102010706020507" pitchFamily="18" charset="2"/>
                  </a:rPr>
                  <a:t>V</a:t>
                </a:r>
                <a:r>
                  <a:rPr lang="vi-VN" sz="3200" b="1" baseline="-25000" dirty="0">
                    <a:sym typeface="Symbol" panose="05050102010706020507" pitchFamily="18" charset="2"/>
                  </a:rPr>
                  <a:t>pư</a:t>
                </a:r>
                <a:r>
                  <a:rPr lang="vi-VN" sz="3200" dirty="0">
                    <a:sym typeface="Symbol" panose="05050102010706020507" pitchFamily="18" charset="2"/>
                  </a:rPr>
                  <a:t>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 smtClean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vi-VN" sz="3200" dirty="0" smtClean="0">
                            <a:solidFill>
                              <a:srgbClr val="FF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V</m:t>
                        </m:r>
                        <m:r>
                          <m:rPr>
                            <m:nor/>
                          </m:rPr>
                          <a:rPr lang="vi-VN" sz="3200" baseline="-25000" dirty="0" smtClean="0">
                            <a:solidFill>
                              <a:srgbClr val="FF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A</m:t>
                        </m:r>
                      </m:num>
                      <m:den>
                        <m:r>
                          <m:rPr>
                            <m:nor/>
                          </m:rPr>
                          <a:rPr lang="vi-VN" sz="32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3200" dirty="0"/>
                  <a:t> </a:t>
                </a:r>
                <a:r>
                  <a:rPr lang="vi-VN" sz="3200" dirty="0"/>
                  <a:t> 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 smtClean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vi-VN" sz="3200" dirty="0" smtClean="0">
                            <a:solidFill>
                              <a:srgbClr val="0066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V</m:t>
                        </m:r>
                        <m:r>
                          <m:rPr>
                            <m:nor/>
                          </m:rPr>
                          <a:rPr lang="vi-VN" sz="3200" baseline="-25000" dirty="0" smtClean="0">
                            <a:solidFill>
                              <a:srgbClr val="0066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B</m:t>
                        </m:r>
                      </m:num>
                      <m:den>
                        <m:r>
                          <m:rPr>
                            <m:nor/>
                          </m:rPr>
                          <a:rPr lang="vi-VN" sz="3200" b="0" i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lang="en-US" sz="3200" dirty="0"/>
                  <a:t> </a:t>
                </a:r>
                <a:r>
                  <a:rPr lang="vi-VN" sz="3200" dirty="0"/>
                  <a:t>  = </a:t>
                </a:r>
                <a:r>
                  <a:rPr lang="vi-VN" sz="3200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 smtClean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vi-VN" sz="3200" dirty="0" smtClean="0">
                            <a:solidFill>
                              <a:srgbClr val="CC00FF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V</m:t>
                        </m:r>
                        <m:r>
                          <m:rPr>
                            <m:nor/>
                          </m:rPr>
                          <a:rPr lang="vi-VN" sz="3200" baseline="-25000" dirty="0" smtClean="0">
                            <a:solidFill>
                              <a:srgbClr val="CC00FF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C</m:t>
                        </m:r>
                      </m:num>
                      <m:den>
                        <m:r>
                          <m:rPr>
                            <m:nor/>
                          </m:rPr>
                          <a:rPr lang="vi-VN" sz="3200" b="0" i="0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3200" dirty="0"/>
                  <a:t> </a:t>
                </a:r>
                <a:r>
                  <a:rPr lang="vi-VN" sz="3200" dirty="0"/>
                  <a:t> </a:t>
                </a:r>
                <a:endParaRPr lang="en-US" sz="3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62A742C-58E7-48C1-856E-BD084DFC4C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400" y="1764983"/>
                <a:ext cx="4648200" cy="896271"/>
              </a:xfrm>
              <a:prstGeom prst="rect">
                <a:avLst/>
              </a:prstGeom>
              <a:blipFill>
                <a:blip r:embed="rId2"/>
                <a:stretch>
                  <a:fillRect l="-3277" b="-8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0076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B79BF554-C0A5-4E8C-A5B1-836748831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3560C9-1AFE-4271-AA22-F6B445E67A9B}" type="slidenum">
              <a:rPr lang="en-US" altLang="en-US" smtClean="0"/>
              <a:pPr>
                <a:defRPr/>
              </a:pPr>
              <a:t>10</a:t>
            </a:fld>
            <a:endParaRPr lang="en-US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F177317-3821-4B7F-92C6-DA9A90AFD81A}"/>
              </a:ext>
            </a:extLst>
          </p:cNvPr>
          <p:cNvSpPr txBox="1"/>
          <p:nvPr/>
        </p:nvSpPr>
        <p:spPr>
          <a:xfrm>
            <a:off x="190500" y="228600"/>
            <a:ext cx="8763000" cy="2216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XÁC ĐỊNH TỐC ĐỘ P</a:t>
            </a:r>
            <a:r>
              <a:rPr lang="vi-VN" sz="3200" b="1" dirty="0">
                <a:solidFill>
                  <a:srgbClr val="0000FF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Ư</a:t>
            </a:r>
            <a:r>
              <a:rPr 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 BẰNG PP HÓA HỌC:</a:t>
            </a:r>
          </a:p>
          <a:p>
            <a:pPr>
              <a:lnSpc>
                <a:spcPct val="150000"/>
              </a:lnSpc>
            </a:pP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Sử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dụng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 pp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chuẩn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độ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: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lấy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mẫu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 t</a:t>
            </a:r>
            <a:r>
              <a:rPr lang="vi-VN" sz="3200" dirty="0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ư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ơng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đối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lớn</a:t>
            </a:r>
            <a:endParaRPr lang="en-US" sz="3200" dirty="0">
              <a:solidFill>
                <a:srgbClr val="006600"/>
              </a:solidFill>
              <a:latin typeface="Arial" panose="020B0604020202020204" pitchFamily="34" charset="0"/>
              <a:ea typeface="Aachen" panose="02020500000000000000" pitchFamily="18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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làm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lạnh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 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chuẩn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độ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FB0F6954-8CA9-4D96-AC23-7317752ADA11}"/>
              </a:ext>
            </a:extLst>
          </p:cNvPr>
          <p:cNvSpPr txBox="1"/>
          <p:nvPr/>
        </p:nvSpPr>
        <p:spPr>
          <a:xfrm>
            <a:off x="76200" y="2667000"/>
            <a:ext cx="9067800" cy="29557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XÁC ĐỊNH TỐC ĐỘ P</a:t>
            </a:r>
            <a:r>
              <a:rPr lang="vi-VN" sz="3200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3200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BẰNG PP VẬT LÝ:</a:t>
            </a:r>
          </a:p>
          <a:p>
            <a:pPr>
              <a:lnSpc>
                <a:spcPct val="150000"/>
              </a:lnSpc>
            </a:pP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ph</a:t>
            </a:r>
            <a:r>
              <a:rPr lang="vi-VN" sz="3200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ơng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pháp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quang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phổ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đo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pH,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đo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áp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suất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đo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dẫn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đo</a:t>
            </a: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đục</a:t>
            </a:r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 </a:t>
            </a:r>
            <a:r>
              <a:rPr lang="en-US" sz="3200" dirty="0" err="1"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th</a:t>
            </a:r>
            <a:r>
              <a:rPr lang="vi-VN" sz="3200" dirty="0"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ư</a:t>
            </a:r>
            <a:r>
              <a:rPr lang="en-US" sz="3200" dirty="0" err="1"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ờng</a:t>
            </a:r>
            <a:r>
              <a:rPr lang="en-US" sz="3200" dirty="0"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sử</a:t>
            </a:r>
            <a:r>
              <a:rPr lang="en-US" sz="3200" dirty="0"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dụng</a:t>
            </a:r>
            <a:r>
              <a:rPr lang="en-US" sz="3200" dirty="0"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H</a:t>
            </a:r>
            <a:r>
              <a:rPr lang="en-US" sz="3200" baseline="-25000" dirty="0">
                <a:solidFill>
                  <a:srgbClr val="C000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SO</a:t>
            </a:r>
            <a:r>
              <a:rPr lang="en-US" sz="3200" baseline="-25000" dirty="0">
                <a:solidFill>
                  <a:srgbClr val="C000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4</a:t>
            </a:r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 + Na</a:t>
            </a:r>
            <a:r>
              <a:rPr lang="en-US" sz="3200" baseline="-25000" dirty="0">
                <a:solidFill>
                  <a:srgbClr val="C000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S</a:t>
            </a:r>
            <a:r>
              <a:rPr lang="en-US" sz="3200" baseline="-25000" dirty="0">
                <a:solidFill>
                  <a:srgbClr val="C000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O</a:t>
            </a:r>
            <a:r>
              <a:rPr lang="en-US" sz="3200" baseline="-25000" dirty="0">
                <a:solidFill>
                  <a:srgbClr val="C000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 = H</a:t>
            </a:r>
            <a:r>
              <a:rPr lang="en-US" sz="3200" baseline="-25000" dirty="0">
                <a:solidFill>
                  <a:srgbClr val="C000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O + Na</a:t>
            </a:r>
            <a:r>
              <a:rPr lang="en-US" sz="3200" baseline="-25000" dirty="0">
                <a:solidFill>
                  <a:srgbClr val="C000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SO</a:t>
            </a:r>
            <a:r>
              <a:rPr lang="en-US" sz="3200" baseline="-25000" dirty="0">
                <a:solidFill>
                  <a:srgbClr val="C000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4</a:t>
            </a:r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 + </a:t>
            </a: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S</a:t>
            </a:r>
            <a:r>
              <a:rPr lang="en-US" sz="3200" dirty="0"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+ SO</a:t>
            </a:r>
            <a:r>
              <a:rPr lang="en-US" sz="3200" baseline="-25000" dirty="0">
                <a:solidFill>
                  <a:srgbClr val="C000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</a:t>
            </a:r>
            <a:endParaRPr lang="en-US" sz="3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8021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>
            <a:extLst>
              <a:ext uri="{FF2B5EF4-FFF2-40B4-BE49-F238E27FC236}">
                <a16:creationId xmlns:a16="http://schemas.microsoft.com/office/drawing/2014/main" xmlns="" id="{D7A27D0A-FE8B-44FB-86FE-23BAF55DE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C15B21A-2CBF-4435-B1E4-9EE3F84AE88A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400" dirty="0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xmlns="" id="{9E2BBC3A-A81F-432C-8F5A-51B7015EBB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95417" y="-38100"/>
            <a:ext cx="7772400" cy="1143000"/>
          </a:xfrm>
          <a:ln>
            <a:noFill/>
          </a:ln>
        </p:spPr>
        <p:txBody>
          <a:bodyPr/>
          <a:lstStyle/>
          <a:p>
            <a:pPr eaLnBrk="1" hangingPunct="1"/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ĐỊNH LUẬT ĐỘNG HỌC</a:t>
            </a:r>
          </a:p>
        </p:txBody>
      </p:sp>
      <p:sp>
        <p:nvSpPr>
          <p:cNvPr id="182275" name="Rectangle 3">
            <a:extLst>
              <a:ext uri="{FF2B5EF4-FFF2-40B4-BE49-F238E27FC236}">
                <a16:creationId xmlns:a16="http://schemas.microsoft.com/office/drawing/2014/main" xmlns="" id="{69A49E51-E200-4660-94FB-B1FDBCB7AD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725" y="841304"/>
            <a:ext cx="8755062" cy="712787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dirty="0"/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đồng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aA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 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bB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= 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cC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+ 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dD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</a:p>
        </p:txBody>
      </p:sp>
      <p:sp>
        <p:nvSpPr>
          <p:cNvPr id="182276" name="Text Box 4">
            <a:extLst>
              <a:ext uri="{FF2B5EF4-FFF2-40B4-BE49-F238E27FC236}">
                <a16:creationId xmlns:a16="http://schemas.microsoft.com/office/drawing/2014/main" xmlns="" id="{19E788B3-512A-41F3-847E-5A6C291FFF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8987" y="1531233"/>
            <a:ext cx="75438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Tốc</a:t>
            </a:r>
            <a:r>
              <a:rPr lang="en-US" altLang="en-US" sz="3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en-US" sz="3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tức</a:t>
            </a:r>
            <a:r>
              <a:rPr lang="en-US" altLang="en-US" sz="3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thời</a:t>
            </a:r>
            <a:r>
              <a:rPr lang="en-US" altLang="en-US" sz="3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vi-VN" altLang="en-US" sz="3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 = k</a:t>
            </a:r>
            <a:r>
              <a:rPr lang="vi-VN" altLang="en-US" sz="3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altLang="en-US" sz="3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altLang="en-US" sz="3000" b="1" baseline="-25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sz="3000" b="1" baseline="30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en-US" sz="30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altLang="en-US" sz="3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altLang="en-US" sz="3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altLang="en-US" sz="3000" b="1" baseline="-25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altLang="en-US" sz="3000" b="1" baseline="30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endParaRPr lang="en-US" altLang="en-US" sz="3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2289" name="Text Box 17">
            <a:extLst>
              <a:ext uri="{FF2B5EF4-FFF2-40B4-BE49-F238E27FC236}">
                <a16:creationId xmlns:a16="http://schemas.microsoft.com/office/drawing/2014/main" xmlns="" id="{D95E5F4B-AE5C-4977-90BE-C785EE35B6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190" y="2800599"/>
            <a:ext cx="8883875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m+n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vi-VN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bậc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vi-VN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 thể là số âm, số nguyên, phân số hoặc số không</a:t>
            </a:r>
            <a:r>
              <a:rPr 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m </a:t>
            </a:r>
            <a:r>
              <a:rPr 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 </a:t>
            </a:r>
            <a:r>
              <a:rPr lang="vi-VN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xác định bằng thực nghiệm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82290" name="Text Box 18">
            <a:extLst>
              <a:ext uri="{FF2B5EF4-FFF2-40B4-BE49-F238E27FC236}">
                <a16:creationId xmlns:a16="http://schemas.microsoft.com/office/drawing/2014/main" xmlns="" id="{3E3E3EDB-A433-4A2B-882A-560C9F7C0B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724" y="5181600"/>
            <a:ext cx="9148892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vi-VN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hằng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tốc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pư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phụ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thuộc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</a:t>
            </a:r>
            <a:r>
              <a:rPr lang="vi-VN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ản </a:t>
            </a:r>
            <a:r>
              <a:rPr lang="en-US" alt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</a:t>
            </a:r>
            <a:r>
              <a:rPr lang="vi-VN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ất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pư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T, </a:t>
            </a:r>
            <a:r>
              <a:rPr lang="en-US" alt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xúc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tác</a:t>
            </a:r>
            <a:r>
              <a:rPr lang="vi-VN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vi-VN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[k] =  [mol/l] </a:t>
            </a:r>
            <a:r>
              <a:rPr lang="vi-VN" altLang="en-US" sz="2800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(1-bpư) </a:t>
            </a:r>
            <a:r>
              <a:rPr lang="vi-VN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.[thời gian]</a:t>
            </a:r>
            <a:r>
              <a:rPr lang="vi-VN" altLang="en-US" sz="2800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  <a:endParaRPr lang="en-US" altLang="en-US" sz="28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391F36E-0184-4245-BA34-0E9CAF249407}"/>
              </a:ext>
            </a:extLst>
          </p:cNvPr>
          <p:cNvSpPr txBox="1"/>
          <p:nvPr/>
        </p:nvSpPr>
        <p:spPr>
          <a:xfrm>
            <a:off x="107724" y="3770022"/>
            <a:ext cx="90362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vi-VN" sz="2800" dirty="0">
                <a:solidFill>
                  <a:srgbClr val="99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bậc</a:t>
            </a:r>
            <a:r>
              <a:rPr 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 </a:t>
            </a:r>
            <a:r>
              <a:rPr 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bậc</a:t>
            </a:r>
            <a:r>
              <a:rPr 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 hay </a:t>
            </a:r>
            <a:r>
              <a:rPr 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gặp</a:t>
            </a:r>
            <a:r>
              <a:rPr 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vi-VN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bậc không hay bậc 3 ít gặp.</a:t>
            </a:r>
            <a:r>
              <a:rPr 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Bậc </a:t>
            </a:r>
            <a:r>
              <a:rPr 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vi-VN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lớn hơn 3 hầu như không xảy ra.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7AAFBC9-4E60-4BC8-B9FD-C7CEA3FE53C7}"/>
              </a:ext>
            </a:extLst>
          </p:cNvPr>
          <p:cNvSpPr txBox="1"/>
          <p:nvPr/>
        </p:nvSpPr>
        <p:spPr>
          <a:xfrm>
            <a:off x="178190" y="2217407"/>
            <a:ext cx="86141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n:</a:t>
            </a:r>
            <a:r>
              <a:rPr lang="vi-VN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bậc</a:t>
            </a:r>
            <a:r>
              <a:rPr 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riêng</a:t>
            </a:r>
            <a:r>
              <a:rPr 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phần</a:t>
            </a:r>
            <a:r>
              <a:rPr 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A, </a:t>
            </a:r>
            <a:r>
              <a:rPr lang="vi-VN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 </a:t>
            </a:r>
            <a:r>
              <a:rPr 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bậc</a:t>
            </a:r>
            <a:r>
              <a:rPr 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riêng</a:t>
            </a:r>
            <a:r>
              <a:rPr 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phần</a:t>
            </a:r>
            <a:r>
              <a:rPr 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B.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89" grpId="0"/>
      <p:bldP spid="182290" grpId="0"/>
      <p:bldP spid="3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>
            <a:extLst>
              <a:ext uri="{FF2B5EF4-FFF2-40B4-BE49-F238E27FC236}">
                <a16:creationId xmlns:a16="http://schemas.microsoft.com/office/drawing/2014/main" xmlns="" id="{D7A27D0A-FE8B-44FB-86FE-23BAF55DE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C15B21A-2CBF-4435-B1E4-9EE3F84AE88A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400" dirty="0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xmlns="" id="{9E2BBC3A-A81F-432C-8F5A-51B7015EBB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2608" y="74889"/>
            <a:ext cx="7772400" cy="1143000"/>
          </a:xfrm>
          <a:ln>
            <a:noFill/>
          </a:ln>
        </p:spPr>
        <p:txBody>
          <a:bodyPr/>
          <a:lstStyle/>
          <a:p>
            <a:pPr eaLnBrk="1" hangingPunct="1"/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ĐỊNH LUẬT ĐỘNG HỌC</a:t>
            </a:r>
          </a:p>
        </p:txBody>
      </p:sp>
      <p:sp>
        <p:nvSpPr>
          <p:cNvPr id="182275" name="Rectangle 3">
            <a:extLst>
              <a:ext uri="{FF2B5EF4-FFF2-40B4-BE49-F238E27FC236}">
                <a16:creationId xmlns:a16="http://schemas.microsoft.com/office/drawing/2014/main" xmlns="" id="{69A49E51-E200-4660-94FB-B1FDBCB7AD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1277" y="1195333"/>
            <a:ext cx="8755062" cy="712787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dirty="0"/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đồng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aA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 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bB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= 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cC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+ 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dD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</a:p>
        </p:txBody>
      </p:sp>
      <p:sp>
        <p:nvSpPr>
          <p:cNvPr id="182276" name="Text Box 4">
            <a:extLst>
              <a:ext uri="{FF2B5EF4-FFF2-40B4-BE49-F238E27FC236}">
                <a16:creationId xmlns:a16="http://schemas.microsoft.com/office/drawing/2014/main" xmlns="" id="{19E788B3-512A-41F3-847E-5A6C291FFF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5877" y="2098800"/>
            <a:ext cx="75438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Tốc</a:t>
            </a:r>
            <a:r>
              <a:rPr lang="en-US" altLang="en-US" sz="3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en-US" sz="3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tức</a:t>
            </a:r>
            <a:r>
              <a:rPr lang="en-US" altLang="en-US" sz="3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thời</a:t>
            </a:r>
            <a:r>
              <a:rPr lang="en-US" altLang="en-US" sz="3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vi-VN" altLang="en-US" sz="3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 = k</a:t>
            </a:r>
            <a:r>
              <a:rPr lang="vi-VN" altLang="en-US" sz="3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altLang="en-US" sz="3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altLang="en-US" sz="3000" b="1" baseline="-25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sz="3000" b="1" baseline="30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en-US" sz="30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altLang="en-US" sz="3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altLang="en-US" sz="3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altLang="en-US" sz="3000" b="1" baseline="-25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altLang="en-US" sz="3000" b="1" baseline="30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endParaRPr lang="en-US" altLang="en-US" sz="3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2277" name="Text Box 5">
            <a:extLst>
              <a:ext uri="{FF2B5EF4-FFF2-40B4-BE49-F238E27FC236}">
                <a16:creationId xmlns:a16="http://schemas.microsoft.com/office/drawing/2014/main" xmlns="" id="{C6EAE680-AEF0-499F-9708-87BC5DCA58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998" y="3113749"/>
            <a:ext cx="875506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dirty="0" err="1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lang="en-US" altLang="en-US" sz="2800" dirty="0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altLang="en-US" sz="2800" dirty="0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đơn</a:t>
            </a:r>
            <a:r>
              <a:rPr lang="en-US" altLang="en-US" sz="2800" dirty="0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giản</a:t>
            </a:r>
            <a:r>
              <a:rPr lang="en-US" altLang="en-US" sz="2800" dirty="0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</a:t>
            </a:r>
            <a:r>
              <a:rPr lang="vi-VN" altLang="en-US" sz="2800" dirty="0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en-US" altLang="en-US" sz="2800" dirty="0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vi-VN" altLang="en-US" sz="2800" dirty="0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 = a </a:t>
            </a:r>
            <a:r>
              <a:rPr lang="vi-VN" altLang="en-US" sz="2800" dirty="0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m  =  b</a:t>
            </a:r>
          </a:p>
        </p:txBody>
      </p:sp>
      <p:sp>
        <p:nvSpPr>
          <p:cNvPr id="182278" name="Text Box 6">
            <a:extLst>
              <a:ext uri="{FF2B5EF4-FFF2-40B4-BE49-F238E27FC236}">
                <a16:creationId xmlns:a16="http://schemas.microsoft.com/office/drawing/2014/main" xmlns="" id="{57D26910-A7DC-4476-B530-7DF8D8E46B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976" y="3961659"/>
            <a:ext cx="8457660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None/>
            </a:pPr>
            <a:r>
              <a:rPr lang="vi-VN" altLang="en-US" sz="2800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lang="en-US" altLang="en-US" sz="2800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altLang="en-US" sz="2800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phức</a:t>
            </a:r>
            <a:r>
              <a:rPr lang="en-US" altLang="en-US" sz="2800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tạp</a:t>
            </a:r>
            <a:r>
              <a:rPr lang="en-US" altLang="en-US" sz="2800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vi-VN" altLang="en-US" sz="2800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en-US" altLang="en-US" sz="2800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vi-VN" altLang="en-US" sz="2800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 a</a:t>
            </a:r>
            <a:r>
              <a:rPr lang="vi-VN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hoặc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n = a  </a:t>
            </a:r>
          </a:p>
          <a:p>
            <a:pPr eaLnBrk="1" hangingPunct="1">
              <a:spcBef>
                <a:spcPct val="50000"/>
              </a:spcBef>
              <a:buNone/>
            </a:pP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</a:t>
            </a:r>
            <a:r>
              <a:rPr lang="vi-V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m  b</a:t>
            </a:r>
            <a:r>
              <a:rPr lang="vi-VN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hoặc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m = b</a:t>
            </a:r>
          </a:p>
        </p:txBody>
      </p:sp>
      <p:sp>
        <p:nvSpPr>
          <p:cNvPr id="182279" name="Line 7">
            <a:extLst>
              <a:ext uri="{FF2B5EF4-FFF2-40B4-BE49-F238E27FC236}">
                <a16:creationId xmlns:a16="http://schemas.microsoft.com/office/drawing/2014/main" xmlns="" id="{D409F153-3EE8-4D10-9311-73DAF1C9661A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3452757"/>
            <a:ext cx="1447800" cy="0"/>
          </a:xfrm>
          <a:prstGeom prst="line">
            <a:avLst/>
          </a:prstGeom>
          <a:noFill/>
          <a:ln w="31750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2282" name="Line 10">
            <a:extLst>
              <a:ext uri="{FF2B5EF4-FFF2-40B4-BE49-F238E27FC236}">
                <a16:creationId xmlns:a16="http://schemas.microsoft.com/office/drawing/2014/main" xmlns="" id="{47AF2BD8-4F5E-4BAF-9F6A-162A5E042F88}"/>
              </a:ext>
            </a:extLst>
          </p:cNvPr>
          <p:cNvSpPr>
            <a:spLocks noChangeShapeType="1"/>
          </p:cNvSpPr>
          <p:nvPr/>
        </p:nvSpPr>
        <p:spPr bwMode="auto">
          <a:xfrm>
            <a:off x="3949864" y="4267200"/>
            <a:ext cx="1447800" cy="0"/>
          </a:xfrm>
          <a:prstGeom prst="line">
            <a:avLst/>
          </a:prstGeom>
          <a:noFill/>
          <a:ln w="31750">
            <a:solidFill>
              <a:srgbClr val="99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0CFC4C2-0CF0-4E5C-9994-5B7D089D3C71}"/>
              </a:ext>
            </a:extLst>
          </p:cNvPr>
          <p:cNvSpPr txBox="1"/>
          <p:nvPr/>
        </p:nvSpPr>
        <p:spPr>
          <a:xfrm>
            <a:off x="5662416" y="3978659"/>
            <a:ext cx="2957261" cy="14384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4C1C5BCC-F7DE-4F37-8DA6-31C730379F76}"/>
              </a:ext>
            </a:extLst>
          </p:cNvPr>
          <p:cNvSpPr txBox="1"/>
          <p:nvPr/>
        </p:nvSpPr>
        <p:spPr>
          <a:xfrm>
            <a:off x="5542239" y="3930620"/>
            <a:ext cx="3227745" cy="12664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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vi-VN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hay  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 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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b</a:t>
            </a:r>
            <a:endParaRPr lang="vi-VN" altLang="en-US" sz="2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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vi-VN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và   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 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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b</a:t>
            </a:r>
            <a:endParaRPr lang="en-US" sz="2800" dirty="0">
              <a:solidFill>
                <a:srgbClr val="C00000"/>
              </a:solidFill>
            </a:endParaRPr>
          </a:p>
          <a:p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451AFBF9-9A61-4DD1-B9D5-F4FABDB245AB}"/>
              </a:ext>
            </a:extLst>
          </p:cNvPr>
          <p:cNvSpPr txBox="1"/>
          <p:nvPr/>
        </p:nvSpPr>
        <p:spPr>
          <a:xfrm>
            <a:off x="3904816" y="3259443"/>
            <a:ext cx="1736948" cy="14384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82288" name="Line 16">
            <a:extLst>
              <a:ext uri="{FF2B5EF4-FFF2-40B4-BE49-F238E27FC236}">
                <a16:creationId xmlns:a16="http://schemas.microsoft.com/office/drawing/2014/main" xmlns="" id="{973B9CC4-1F57-49E7-828C-C62581D8274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30331" y="3374968"/>
            <a:ext cx="1885919" cy="4889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2285" name="Line 13">
            <a:extLst>
              <a:ext uri="{FF2B5EF4-FFF2-40B4-BE49-F238E27FC236}">
                <a16:creationId xmlns:a16="http://schemas.microsoft.com/office/drawing/2014/main" xmlns="" id="{A2008919-2088-4A5E-A9EA-D3BC9175A7C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42194" y="3477853"/>
            <a:ext cx="2425205" cy="688024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xmlns="" id="{63FCFBD3-EF2B-41A0-AF21-C8967688E05F}"/>
              </a:ext>
            </a:extLst>
          </p:cNvPr>
          <p:cNvCxnSpPr/>
          <p:nvPr/>
        </p:nvCxnSpPr>
        <p:spPr>
          <a:xfrm flipH="1">
            <a:off x="3609617" y="4242105"/>
            <a:ext cx="1981200" cy="0"/>
          </a:xfrm>
          <a:prstGeom prst="straightConnector1">
            <a:avLst/>
          </a:prstGeom>
          <a:ln w="28575">
            <a:solidFill>
              <a:srgbClr val="99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809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77" grpId="0"/>
      <p:bldP spid="182278" grpId="0"/>
      <p:bldP spid="182279" grpId="0" animBg="1"/>
      <p:bldP spid="182282" grpId="0" animBg="1"/>
      <p:bldP spid="2" grpId="0" animBg="1"/>
      <p:bldP spid="21" grpId="0" animBg="1"/>
      <p:bldP spid="24" grpId="0" animBg="1"/>
      <p:bldP spid="182288" grpId="0" animBg="1"/>
      <p:bldP spid="18228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2400"/>
            <a:ext cx="9144000" cy="175260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Xác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định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biểu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thức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tốc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độ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pư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: A + 2B = 2C . Cho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biết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Khi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[A]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tăng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2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lần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, [B]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không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đổi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thì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tốc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độ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pư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tăng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2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lần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Khi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[B]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tăng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2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lần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,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[A]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không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đổi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thì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tốc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độ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pư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: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938B2EA-61C6-4D30-A9B0-ED11B6A9741A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  <p:sp>
        <p:nvSpPr>
          <p:cNvPr id="5" name="TextBox 4"/>
          <p:cNvSpPr txBox="1"/>
          <p:nvPr/>
        </p:nvSpPr>
        <p:spPr>
          <a:xfrm>
            <a:off x="2865087" y="2390117"/>
            <a:ext cx="5562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 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V = k. [A] :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pư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phức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tạp</a:t>
            </a:r>
            <a:endParaRPr lang="en-US" sz="2800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5045" y="2390117"/>
            <a:ext cx="283271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A.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hông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đổi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65045" y="3276600"/>
            <a:ext cx="26041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B. </a:t>
            </a:r>
            <a:r>
              <a:rPr lang="en-US" sz="2800" dirty="0" err="1" smtClean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Tăng</a:t>
            </a:r>
            <a:r>
              <a:rPr lang="en-US" sz="2800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2 </a:t>
            </a:r>
            <a:r>
              <a:rPr lang="en-US" sz="2800" dirty="0" err="1" smtClean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lần</a:t>
            </a:r>
            <a:endParaRPr lang="en-US" sz="2800" dirty="0">
              <a:solidFill>
                <a:srgbClr val="0066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67141" y="3276600"/>
            <a:ext cx="49267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  <a:sym typeface="Symbol"/>
              </a:rPr>
              <a:t> </a:t>
            </a:r>
            <a:r>
              <a:rPr lang="en-US" sz="2800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V = k. [A].[B] : </a:t>
            </a:r>
            <a:r>
              <a:rPr lang="en-US" sz="2800" dirty="0" err="1" smtClean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pư</a:t>
            </a:r>
            <a:r>
              <a:rPr lang="en-US" sz="2800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phức</a:t>
            </a:r>
            <a:r>
              <a:rPr lang="en-US" sz="2800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tạp</a:t>
            </a:r>
            <a:endParaRPr lang="en-US" sz="2800" dirty="0">
              <a:solidFill>
                <a:srgbClr val="0066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5045" y="4724400"/>
            <a:ext cx="822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 </a:t>
            </a:r>
            <a:r>
              <a:rPr lang="en-US" sz="2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V = k. [A].[B]</a:t>
            </a:r>
            <a:r>
              <a:rPr lang="en-US" sz="2800" baseline="300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: </a:t>
            </a:r>
            <a:r>
              <a:rPr lang="en-US" sz="2800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pư</a:t>
            </a:r>
            <a:r>
              <a:rPr lang="en-US" sz="2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có</a:t>
            </a:r>
            <a:r>
              <a:rPr lang="en-US" sz="2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thể</a:t>
            </a:r>
            <a:r>
              <a:rPr lang="en-US" sz="2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đơn</a:t>
            </a:r>
            <a:r>
              <a:rPr lang="en-US" sz="2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giản</a:t>
            </a:r>
            <a:r>
              <a:rPr lang="en-US" sz="2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hay </a:t>
            </a:r>
            <a:r>
              <a:rPr lang="en-US" sz="2800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phức</a:t>
            </a:r>
            <a:r>
              <a:rPr lang="en-US" sz="2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tạp</a:t>
            </a:r>
            <a:endParaRPr lang="en-US" sz="2800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0325" y="4047366"/>
            <a:ext cx="26041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</a:t>
            </a:r>
            <a:r>
              <a:rPr lang="en-US" sz="2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en-US" sz="2800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Tăng</a:t>
            </a:r>
            <a:r>
              <a:rPr lang="en-US" sz="2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4 </a:t>
            </a:r>
            <a:r>
              <a:rPr lang="en-US" sz="2800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lần</a:t>
            </a:r>
            <a:endParaRPr lang="en-US" sz="2800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2515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94216A6-AC51-46EA-9A60-27B847C330FE}"/>
              </a:ext>
            </a:extLst>
          </p:cNvPr>
          <p:cNvSpPr txBox="1"/>
          <p:nvPr/>
        </p:nvSpPr>
        <p:spPr>
          <a:xfrm>
            <a:off x="80956" y="5196213"/>
            <a:ext cx="898208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A: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Hằng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thường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gọi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thừa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tần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cùng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đơn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vị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k.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A: </a:t>
            </a:r>
            <a:r>
              <a:rPr 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trị</a:t>
            </a:r>
            <a:r>
              <a:rPr 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riêng</a:t>
            </a:r>
            <a:r>
              <a:rPr 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mỗi</a:t>
            </a:r>
            <a:r>
              <a:rPr 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pư</a:t>
            </a:r>
            <a:r>
              <a:rPr 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thường</a:t>
            </a:r>
            <a:r>
              <a:rPr 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xem</a:t>
            </a:r>
            <a:r>
              <a:rPr 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phụ</a:t>
            </a:r>
            <a:r>
              <a:rPr 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thuộc</a:t>
            </a:r>
            <a:r>
              <a:rPr 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T.</a:t>
            </a:r>
          </a:p>
          <a:p>
            <a:endParaRPr lang="en-US" dirty="0"/>
          </a:p>
        </p:txBody>
      </p:sp>
      <p:sp>
        <p:nvSpPr>
          <p:cNvPr id="163842" name="Text Box 2">
            <a:extLst>
              <a:ext uri="{FF2B5EF4-FFF2-40B4-BE49-F238E27FC236}">
                <a16:creationId xmlns:a16="http://schemas.microsoft.com/office/drawing/2014/main" xmlns="" id="{8F83AB9A-238D-410D-A851-9583A866C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91944" y="976551"/>
            <a:ext cx="4673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1">
              <a:spcBef>
                <a:spcPct val="5000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en-US" sz="2800" b="1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Ý </a:t>
            </a:r>
            <a:r>
              <a:rPr lang="en-US" altLang="en-US" sz="2800" b="1" i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nghĩa</a:t>
            </a:r>
            <a:r>
              <a:rPr lang="en-US" altLang="en-US" sz="2800" b="1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i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vật</a:t>
            </a:r>
            <a:r>
              <a:rPr lang="en-US" altLang="en-US" sz="2800" b="1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i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altLang="en-US" sz="2800" b="1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altLang="en-US" sz="28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843" name="Text Box 3">
            <a:extLst>
              <a:ext uri="{FF2B5EF4-FFF2-40B4-BE49-F238E27FC236}">
                <a16:creationId xmlns:a16="http://schemas.microsoft.com/office/drawing/2014/main" xmlns="" id="{831AE444-D547-4974-BF73-5333608503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26333" y="2224811"/>
            <a:ext cx="796434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lvl="1">
              <a:spcBef>
                <a:spcPct val="50000"/>
              </a:spcBef>
              <a:buFont typeface="Wingdings" panose="05000000000000000000" pitchFamily="2" charset="2"/>
              <a:buChar char="Ø"/>
              <a:defRPr/>
            </a:pPr>
            <a:r>
              <a:rPr lang="vi-VN" altLang="en-US" sz="2800" b="1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Phương trình </a:t>
            </a:r>
            <a:r>
              <a:rPr lang="en-US" altLang="en-US" sz="2800" b="1" i="1" dirty="0">
                <a:solidFill>
                  <a:srgbClr val="0000FF"/>
                </a:solidFill>
                <a:latin typeface="Arial" panose="020B0604020202020204" pitchFamily="34" charset="0"/>
              </a:rPr>
              <a:t>Arrhenius</a:t>
            </a:r>
            <a:r>
              <a:rPr lang="vi-VN" altLang="en-US" sz="2800" b="1" i="1" dirty="0">
                <a:solidFill>
                  <a:srgbClr val="0000FF"/>
                </a:solidFill>
                <a:latin typeface="Arial" panose="020B0604020202020204" pitchFamily="34" charset="0"/>
              </a:rPr>
              <a:t> (thực nghiệm)</a:t>
            </a:r>
            <a:r>
              <a:rPr lang="en-US" altLang="en-US" sz="2800" b="1" i="1" dirty="0">
                <a:solidFill>
                  <a:srgbClr val="0000FF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800" b="1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graphicFrame>
        <p:nvGraphicFramePr>
          <p:cNvPr id="32772" name="Object 4">
            <a:extLst>
              <a:ext uri="{FF2B5EF4-FFF2-40B4-BE49-F238E27FC236}">
                <a16:creationId xmlns:a16="http://schemas.microsoft.com/office/drawing/2014/main" xmlns="" id="{B2A84C4C-7391-48F6-8C6C-11D19E58EE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7325061"/>
              </p:ext>
            </p:extLst>
          </p:nvPr>
        </p:nvGraphicFramePr>
        <p:xfrm>
          <a:off x="5686606" y="2157826"/>
          <a:ext cx="27432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93" name="Equation" r:id="rId4" imgW="685800" imgH="330200" progId="Equation.3">
                  <p:embed/>
                </p:oleObj>
              </mc:Choice>
              <mc:Fallback>
                <p:oleObj name="Equation" r:id="rId4" imgW="685800" imgH="330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6606" y="2157826"/>
                        <a:ext cx="2743200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2773" name="Object 7">
                <a:extLst>
                  <a:ext uri="{FF2B5EF4-FFF2-40B4-BE49-F238E27FC236}">
                    <a16:creationId xmlns:a16="http://schemas.microsoft.com/office/drawing/2014/main" xmlns="" id="{8350ADA2-122F-4B85-9413-300D33202F54}"/>
                  </a:ext>
                </a:extLst>
              </p:cNvPr>
              <p:cNvSpPr txBox="1"/>
              <p:nvPr/>
            </p:nvSpPr>
            <p:spPr bwMode="auto">
              <a:xfrm>
                <a:off x="3186113" y="819150"/>
                <a:ext cx="3357562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4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4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sSubSup>
                        <m:sSubSupPr>
                          <m:ctrlPr>
                            <a:rPr lang="en-US" sz="4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>
                          <m:r>
                            <a:rPr lang="en-US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sSubSup>
                        <m:sSubSupPr>
                          <m:ctrlPr>
                            <a:rPr lang="en-US" sz="40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  <m:sup>
                          <m:r>
                            <a:rPr lang="en-US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</m:oMath>
                  </m:oMathPara>
                </a14:m>
                <a:endParaRPr lang="en-US" sz="4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2773" name="Object 7">
                <a:extLst>
                  <a:ext uri="{FF2B5EF4-FFF2-40B4-BE49-F238E27FC236}">
                    <a16:creationId xmlns:a16="http://schemas.microsoft.com/office/drawing/2014/main" id="{8350ADA2-122F-4B85-9413-300D33202F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86113" y="819150"/>
                <a:ext cx="3357562" cy="762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3848" name="Text Box 8">
            <a:extLst>
              <a:ext uri="{FF2B5EF4-FFF2-40B4-BE49-F238E27FC236}">
                <a16:creationId xmlns:a16="http://schemas.microsoft.com/office/drawing/2014/main" xmlns="" id="{838E2F2D-7FDD-4482-B72B-5B290DEC36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161" y="1585884"/>
            <a:ext cx="4267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</a:t>
            </a:r>
            <a:r>
              <a:rPr lang="en-US" altLang="en-US" sz="2800" baseline="-25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C</a:t>
            </a:r>
            <a:r>
              <a:rPr lang="en-US" altLang="en-US" sz="2800" baseline="-25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1mol/l</a:t>
            </a:r>
          </a:p>
        </p:txBody>
      </p:sp>
      <p:sp>
        <p:nvSpPr>
          <p:cNvPr id="163849" name="Text Box 9">
            <a:extLst>
              <a:ext uri="{FF2B5EF4-FFF2-40B4-BE49-F238E27FC236}">
                <a16:creationId xmlns:a16="http://schemas.microsoft.com/office/drawing/2014/main" xmlns="" id="{9502882D-A164-4D21-9A7E-B0C00838D4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5839" y="1573110"/>
            <a:ext cx="53340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en-US" sz="2800" dirty="0">
                <a:solidFill>
                  <a:schemeClr val="accent2"/>
                </a:solidFill>
                <a:latin typeface="Arial" panose="020B0604020202020204" pitchFamily="34" charset="0"/>
              </a:rPr>
              <a:t> </a:t>
            </a:r>
            <a:r>
              <a:rPr lang="en-US" alt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 = k → </a:t>
            </a:r>
            <a:r>
              <a:rPr lang="en-US" altLang="en-US" sz="3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tốc</a:t>
            </a:r>
            <a:r>
              <a:rPr lang="en-US" alt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riêng</a:t>
            </a:r>
            <a:r>
              <a:rPr lang="en-US" alt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pư</a:t>
            </a:r>
            <a:endParaRPr lang="en-US" altLang="en-US" sz="3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776" name="Rectangle 11">
            <a:extLst>
              <a:ext uri="{FF2B5EF4-FFF2-40B4-BE49-F238E27FC236}">
                <a16:creationId xmlns:a16="http://schemas.microsoft.com/office/drawing/2014/main" xmlns="" id="{948AB85D-FE35-47AD-B155-8BDCF4F31E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00277"/>
            <a:ext cx="7772400" cy="76200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en-US" sz="32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vi-VN" altLang="en-US" sz="3200" b="1" dirty="0">
                <a:solidFill>
                  <a:srgbClr val="FF0000"/>
                </a:solidFill>
                <a:latin typeface="Arial" panose="020B0604020202020204" pitchFamily="34" charset="0"/>
              </a:rPr>
              <a:t>HẰNG SỐ TỐC ĐỘ PHẢN ỨNG k </a:t>
            </a:r>
            <a:endParaRPr lang="en-US" altLang="en-US" sz="32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AC10B1E4-F37D-45C8-8D2E-624A0878115B}"/>
              </a:ext>
            </a:extLst>
          </p:cNvPr>
          <p:cNvSpPr txBox="1"/>
          <p:nvPr/>
        </p:nvSpPr>
        <p:spPr>
          <a:xfrm>
            <a:off x="6543759" y="827226"/>
            <a:ext cx="30620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/>
              <a:t>(</a:t>
            </a:r>
            <a:r>
              <a:rPr lang="vi-VN" sz="3200" dirty="0"/>
              <a:t>pư đồng thể)</a:t>
            </a:r>
            <a:endParaRPr lang="en-US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868F9201-811C-47A0-8954-27E747A829E6}"/>
              </a:ext>
            </a:extLst>
          </p:cNvPr>
          <p:cNvSpPr txBox="1"/>
          <p:nvPr/>
        </p:nvSpPr>
        <p:spPr>
          <a:xfrm>
            <a:off x="1750085" y="3609223"/>
            <a:ext cx="40891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62498" name="Picture 34" descr="Kết quả hình ảnh cho Catalytic activation energy">
            <a:extLst>
              <a:ext uri="{FF2B5EF4-FFF2-40B4-BE49-F238E27FC236}">
                <a16:creationId xmlns:a16="http://schemas.microsoft.com/office/drawing/2014/main" xmlns="" id="{4C3B39F5-2C4A-41B4-82FB-B69F8365FB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18" y="2786645"/>
            <a:ext cx="3162695" cy="2493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8E2633A3-340D-41B5-85E2-F5143EE427DE}"/>
              </a:ext>
            </a:extLst>
          </p:cNvPr>
          <p:cNvSpPr txBox="1"/>
          <p:nvPr/>
        </p:nvSpPr>
        <p:spPr>
          <a:xfrm>
            <a:off x="3501208" y="3343067"/>
            <a:ext cx="5423882" cy="19514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vi-VN" sz="2800" baseline="30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lang="vi-VN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Năng lượng hoạt hóa của pư.</a:t>
            </a:r>
            <a:endParaRPr lang="en-US" sz="2800" dirty="0">
              <a:solidFill>
                <a:srgbClr val="0066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vi-VN" sz="2800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vi-VN" sz="2800" baseline="30000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lang="vi-VN" sz="2800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800" dirty="0" err="1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2800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sz="2800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rào</a:t>
            </a:r>
            <a:r>
              <a:rPr lang="en-US" sz="2800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sz="2800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lượng</a:t>
            </a:r>
            <a:r>
              <a:rPr lang="en-US" sz="2800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mà</a:t>
            </a:r>
            <a:r>
              <a:rPr lang="en-US" sz="2800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en-US" sz="2800" dirty="0" err="1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pư</a:t>
            </a:r>
            <a:r>
              <a:rPr lang="en-US" sz="2800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phải</a:t>
            </a:r>
            <a:r>
              <a:rPr lang="en-US" sz="2800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vượt</a:t>
            </a:r>
            <a:r>
              <a:rPr lang="en-US" sz="2800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qua </a:t>
            </a:r>
            <a:r>
              <a:rPr lang="en-US" sz="2800" dirty="0" err="1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sz="2800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sz="2800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sp.</a:t>
            </a:r>
            <a:r>
              <a:rPr lang="vi-VN" sz="2800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800" dirty="0">
              <a:solidFill>
                <a:srgbClr val="99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5995908F-614D-4D8E-A78D-CC4C9F6ECEE2}"/>
              </a:ext>
            </a:extLst>
          </p:cNvPr>
          <p:cNvSpPr txBox="1"/>
          <p:nvPr/>
        </p:nvSpPr>
        <p:spPr>
          <a:xfrm>
            <a:off x="1992272" y="2969491"/>
            <a:ext cx="103292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vi-V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vi-VN" sz="2800" b="1" baseline="30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endParaRPr lang="en-US" sz="2800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A03C3716-66C3-4A54-8A66-C981B17F9979}"/>
              </a:ext>
            </a:extLst>
          </p:cNvPr>
          <p:cNvSpPr txBox="1"/>
          <p:nvPr/>
        </p:nvSpPr>
        <p:spPr>
          <a:xfrm>
            <a:off x="2144856" y="3531548"/>
            <a:ext cx="1381249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vi-VN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vi-VN" sz="2800" b="1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lang="en-US" sz="2800" b="1" baseline="-25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xúc</a:t>
            </a: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baseline="-25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tác</a:t>
            </a:r>
            <a:endParaRPr lang="en-US" sz="2800" b="1" baseline="-25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ED87987-CF23-499F-AEA4-E56DCB933493}"/>
              </a:ext>
            </a:extLst>
          </p:cNvPr>
          <p:cNvSpPr txBox="1"/>
          <p:nvPr/>
        </p:nvSpPr>
        <p:spPr>
          <a:xfrm>
            <a:off x="587205" y="3364601"/>
            <a:ext cx="683241" cy="7386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C000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 CHẤTP</a:t>
            </a:r>
            <a:r>
              <a:rPr lang="vi-VN" sz="1400" b="1" dirty="0">
                <a:solidFill>
                  <a:srgbClr val="C000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Ư</a:t>
            </a:r>
            <a:endParaRPr lang="en-US" sz="1400" b="1" dirty="0">
              <a:solidFill>
                <a:srgbClr val="C00000"/>
              </a:solidFill>
              <a:latin typeface="Arial" panose="020B0604020202020204" pitchFamily="34" charset="0"/>
              <a:ea typeface="Aachen" panose="02020500000000000000" pitchFamily="18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935022B6-E000-4856-8E85-5FE681F347E6}"/>
              </a:ext>
            </a:extLst>
          </p:cNvPr>
          <p:cNvSpPr txBox="1"/>
          <p:nvPr/>
        </p:nvSpPr>
        <p:spPr>
          <a:xfrm>
            <a:off x="1873198" y="4271682"/>
            <a:ext cx="131291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SẢN PHẨM</a:t>
            </a:r>
          </a:p>
        </p:txBody>
      </p:sp>
      <p:sp>
        <p:nvSpPr>
          <p:cNvPr id="32778" name="Text Box 15">
            <a:extLst>
              <a:ext uri="{FF2B5EF4-FFF2-40B4-BE49-F238E27FC236}">
                <a16:creationId xmlns:a16="http://schemas.microsoft.com/office/drawing/2014/main" xmlns="" id="{7D427367-6801-491B-802C-087F848784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400" y="3343067"/>
            <a:ext cx="5348823" cy="330623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b="1" dirty="0">
                <a:solidFill>
                  <a:srgbClr val="E400E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T ↑ </a:t>
            </a:r>
            <a:r>
              <a:rPr lang="en-US" altLang="en-US" sz="2800" b="1" dirty="0" err="1">
                <a:solidFill>
                  <a:srgbClr val="E400E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thì</a:t>
            </a:r>
            <a:r>
              <a:rPr lang="en-US" altLang="en-US" sz="2800" b="1" dirty="0">
                <a:solidFill>
                  <a:srgbClr val="E400E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 ↑</a:t>
            </a:r>
          </a:p>
        </p:txBody>
      </p:sp>
      <p:sp>
        <p:nvSpPr>
          <p:cNvPr id="32777" name="Text Box 14">
            <a:extLst>
              <a:ext uri="{FF2B5EF4-FFF2-40B4-BE49-F238E27FC236}">
                <a16:creationId xmlns:a16="http://schemas.microsoft.com/office/drawing/2014/main" xmlns="" id="{B3D4FA9D-0B68-413D-B5E9-ED1000C022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1422" y="3993812"/>
            <a:ext cx="3462833" cy="5232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b="1" dirty="0" err="1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Xúc</a:t>
            </a:r>
            <a:r>
              <a:rPr lang="en-US" altLang="en-US" sz="2800" b="1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dirty="0" err="1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tác</a:t>
            </a:r>
            <a:r>
              <a:rPr lang="en-US" altLang="en-US" sz="2800" b="1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E</a:t>
            </a:r>
            <a:r>
              <a:rPr lang="en-US" altLang="en-US" sz="2800" b="1" baseline="30000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lang="en-US" altLang="en-US" sz="2800" b="1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↓ </a:t>
            </a:r>
            <a:r>
              <a:rPr lang="en-US" altLang="en-US" sz="2800" b="1" dirty="0" err="1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thì</a:t>
            </a:r>
            <a:r>
              <a:rPr lang="en-US" altLang="en-US" sz="2800" b="1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 ↑</a:t>
            </a:r>
          </a:p>
        </p:txBody>
      </p:sp>
      <p:sp>
        <p:nvSpPr>
          <p:cNvPr id="163859" name="Text Box 19">
            <a:extLst>
              <a:ext uri="{FF2B5EF4-FFF2-40B4-BE49-F238E27FC236}">
                <a16:creationId xmlns:a16="http://schemas.microsoft.com/office/drawing/2014/main" xmlns="" id="{BD720556-A6F1-4190-8B8C-3460B8E4B2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706" y="4653188"/>
            <a:ext cx="8860133" cy="173736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noAutofit/>
          </a:bodyPr>
          <a:lstStyle/>
          <a:p>
            <a:pPr eaLnBrk="1" hangingPunct="1">
              <a:lnSpc>
                <a:spcPct val="150000"/>
              </a:lnSpc>
              <a:spcBef>
                <a:spcPct val="50000"/>
              </a:spcBef>
              <a:defRPr/>
            </a:pPr>
            <a:r>
              <a:rPr lang="en-US" altLang="en-US" sz="3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Pư</a:t>
            </a:r>
            <a:r>
              <a:rPr lang="en-US" altLang="en-US" sz="3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có</a:t>
            </a:r>
            <a:r>
              <a:rPr lang="en-US" altLang="en-US" sz="3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G &lt; 0 →</a:t>
            </a:r>
            <a:r>
              <a:rPr lang="vi-VN" altLang="en-US" sz="3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thực</a:t>
            </a:r>
            <a:r>
              <a:rPr lang="en-US" altLang="en-US" sz="3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tế</a:t>
            </a:r>
            <a:r>
              <a:rPr lang="en-US" altLang="en-US" sz="3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không</a:t>
            </a:r>
            <a:r>
              <a:rPr lang="en-US" altLang="en-US" sz="3000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xảy</a:t>
            </a:r>
            <a:r>
              <a:rPr lang="en-US" altLang="en-US" sz="3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ra →</a:t>
            </a:r>
            <a:r>
              <a:rPr lang="vi-VN" altLang="en-US" sz="3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để pư xảy ra </a:t>
            </a:r>
            <a:r>
              <a:rPr lang="en-US" altLang="en-US" sz="3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thường</a:t>
            </a:r>
            <a:r>
              <a:rPr lang="en-US" altLang="en-US" sz="3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tăng</a:t>
            </a:r>
            <a:r>
              <a:rPr lang="en-US" altLang="en-US" sz="3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k </a:t>
            </a:r>
            <a:r>
              <a:rPr lang="en-US" altLang="en-US" sz="3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bằng</a:t>
            </a:r>
            <a:r>
              <a:rPr lang="en-US" altLang="en-US" sz="3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cách</a:t>
            </a:r>
            <a:r>
              <a:rPr lang="vi-VN" altLang="en-US" sz="3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:</a:t>
            </a:r>
            <a:r>
              <a:rPr lang="en-US" altLang="en-US" sz="3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 ↑</a:t>
            </a:r>
            <a:r>
              <a:rPr lang="en-US" altLang="en-US" sz="3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3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xúc</a:t>
            </a:r>
            <a:r>
              <a:rPr lang="en-US" altLang="en-US" sz="3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tác</a:t>
            </a:r>
            <a:r>
              <a:rPr lang="en-US" altLang="en-US" sz="3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altLang="en-US" sz="3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sz="3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E* ↓</a:t>
            </a:r>
            <a:r>
              <a:rPr lang="vi-VN" altLang="en-US" sz="3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altLang="en-US" sz="3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5EF56A78-45A2-4828-88EA-03BA32B31F28}"/>
              </a:ext>
            </a:extLst>
          </p:cNvPr>
          <p:cNvSpPr/>
          <p:nvPr/>
        </p:nvSpPr>
        <p:spPr>
          <a:xfrm>
            <a:off x="1100831" y="3915052"/>
            <a:ext cx="220947" cy="182106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xmlns="" id="{FA9549C6-0EFF-4D9C-B648-3A90ADBC54CB}"/>
                  </a:ext>
                </a:extLst>
              </p:cNvPr>
              <p:cNvSpPr txBox="1"/>
              <p:nvPr/>
            </p:nvSpPr>
            <p:spPr>
              <a:xfrm>
                <a:off x="107681" y="3734040"/>
                <a:ext cx="54747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32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sz="32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𝐄</m:t>
                          </m:r>
                        </m:e>
                      </m:acc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A9549C6-0EFF-4D9C-B648-3A90ADBC54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681" y="3734040"/>
                <a:ext cx="547474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7626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path" presetSubtype="0" repeatCount="indefinite" accel="50000" decel="50000" fill="hold" grpId="1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4.72222E-6 2.22222E-6 L 0.01875 -0.12222 " pathEditMode="relative" rAng="0" ptsTypes="AA">
                                      <p:cBhvr>
                                        <p:cTn id="3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38" y="-6111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63843" grpId="0"/>
      <p:bldP spid="163848" grpId="0"/>
      <p:bldP spid="163849" grpId="0"/>
      <p:bldP spid="2" grpId="0" animBg="1"/>
      <p:bldP spid="19" grpId="0" animBg="1"/>
      <p:bldP spid="20" grpId="0" animBg="1"/>
      <p:bldP spid="3" grpId="0" animBg="1"/>
      <p:bldP spid="4" grpId="0" animBg="1"/>
      <p:bldP spid="32778" grpId="0" animBg="1"/>
      <p:bldP spid="32777" grpId="0" animBg="1"/>
      <p:bldP spid="163859" grpId="0" animBg="1"/>
      <p:bldP spid="8" grpId="0" animBg="1"/>
      <p:bldP spid="8" grpId="1" animBg="1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DC9E46A-B6FC-47DE-9C5C-5151E42FF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1143000"/>
          </a:xfrm>
          <a:ln>
            <a:noFill/>
          </a:ln>
        </p:spPr>
        <p:txBody>
          <a:bodyPr/>
          <a:lstStyle/>
          <a:p>
            <a:r>
              <a:rPr lang="vi-VN" altLang="en-US" sz="40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HẰNG SỐ TỐC ĐỘ PHẢN ỨNG</a:t>
            </a:r>
            <a:endParaRPr 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BA12DA5-6C18-463C-9801-02A488D9E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22" y="1066800"/>
            <a:ext cx="9258300" cy="3429971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vi-VN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vi-VN" dirty="0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Phụ thuộc</a:t>
            </a:r>
            <a:r>
              <a:rPr lang="en-US" dirty="0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dirty="0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vào bản chất của p</a:t>
            </a:r>
            <a:r>
              <a:rPr lang="en-US" dirty="0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 </a:t>
            </a:r>
            <a:r>
              <a:rPr lang="en-US" dirty="0" err="1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dirty="0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 độ.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vi-VN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Phụ </a:t>
            </a:r>
            <a:r>
              <a:rPr lang="vi-V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thuộc vào năng lượng hoạt hóa của pư.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Phụ thuộc vào xúc tác</a:t>
            </a:r>
            <a:r>
              <a:rPr lang="vi-VN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vi-VN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 phụ thuộc vào </a:t>
            </a:r>
            <a:r>
              <a:rPr lang="vi-VN" u="sng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nồng </a:t>
            </a:r>
            <a:r>
              <a:rPr lang="vi-VN" u="sng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u="sng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u="sng" dirty="0" err="1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u="sng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u="sng" dirty="0" err="1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lang="en-US" u="sng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u="sng" dirty="0" err="1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vi-VN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dirty="0" smtClean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 err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2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tốc</a:t>
            </a:r>
            <a:r>
              <a:rPr lang="en-US" sz="2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sz="2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riêng</a:t>
            </a:r>
            <a:r>
              <a:rPr lang="en-US" sz="2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2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pư</a:t>
            </a:r>
            <a:r>
              <a:rPr lang="en-US" sz="2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lang="en-US" sz="2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nồng</a:t>
            </a:r>
            <a:r>
              <a:rPr lang="en-US" sz="2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sz="2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sz="2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pư</a:t>
            </a:r>
            <a:r>
              <a:rPr lang="en-US" sz="2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lang="en-US" sz="2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1M.</a:t>
            </a:r>
            <a:endParaRPr lang="vi-VN" sz="2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vi-VN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6F07575-5837-44B2-ABC7-88582CD30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938B2EA-61C6-4D30-A9B0-ED11B6A9741A}" type="slidenum">
              <a:rPr lang="en-US" altLang="en-US" smtClean="0"/>
              <a:pPr>
                <a:defRPr/>
              </a:pPr>
              <a:t>15</a:t>
            </a:fld>
            <a:endParaRPr lang="en-US" altLang="en-US" dirty="0"/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6598404"/>
              </p:ext>
            </p:extLst>
          </p:nvPr>
        </p:nvGraphicFramePr>
        <p:xfrm>
          <a:off x="2743200" y="914400"/>
          <a:ext cx="27432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17" name="Equation" r:id="rId3" imgW="685800" imgH="330200" progId="Equation.3">
                  <p:embed/>
                </p:oleObj>
              </mc:Choice>
              <mc:Fallback>
                <p:oleObj name="Equation" r:id="rId3" imgW="685800" imgH="330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914400"/>
                        <a:ext cx="2743200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50511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>
            <a:extLst>
              <a:ext uri="{FF2B5EF4-FFF2-40B4-BE49-F238E27FC236}">
                <a16:creationId xmlns:a16="http://schemas.microsoft.com/office/drawing/2014/main" xmlns="" id="{97BC592E-6910-4387-9889-ECDEA671B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1F199E1-88B8-48A3-B800-ABCF4551013B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400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xmlns="" id="{11EFF4C3-AF9C-4C14-9678-44A731C935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715" y="-25153"/>
            <a:ext cx="9144000" cy="1143000"/>
          </a:xfrm>
          <a:ln>
            <a:noFill/>
          </a:ln>
        </p:spPr>
        <p:txBody>
          <a:bodyPr/>
          <a:lstStyle/>
          <a:p>
            <a:pPr eaLnBrk="1" hangingPunct="1"/>
            <a:r>
              <a:rPr lang="vi-VN" alt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 YẾU TỐ ẢNH HƯỞNG ĐẾN TỐC ĐỘ PHẢN ỨNG</a:t>
            </a:r>
            <a:endParaRPr lang="en-US" altLang="en-US" sz="28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xmlns="" id="{91EFF27B-0081-41A4-8CB3-4899D2D7A1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" y="762000"/>
            <a:ext cx="9067800" cy="41148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Bản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Nồng</a:t>
            </a:r>
            <a:r>
              <a:rPr lang="en-US" altLang="en-US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en-US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altLang="en-US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áp</a:t>
            </a:r>
            <a:r>
              <a:rPr lang="en-US" altLang="en-US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suất</a:t>
            </a:r>
            <a:r>
              <a:rPr lang="en-US" altLang="en-US" dirty="0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altLang="en-US" dirty="0" err="1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en-US" dirty="0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en-US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pư</a:t>
            </a:r>
            <a:r>
              <a:rPr lang="en-US" altLang="en-US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 </a:t>
            </a:r>
            <a:r>
              <a:rPr lang="en-US" altLang="en-US" dirty="0" err="1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V</a:t>
            </a:r>
            <a:r>
              <a:rPr lang="en-US" altLang="en-US" baseline="-25000" dirty="0" err="1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pư</a:t>
            </a:r>
            <a:r>
              <a:rPr lang="en-US" altLang="en-US" dirty="0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</a:t>
            </a:r>
            <a:endParaRPr lang="en-US" altLang="en-US" dirty="0">
              <a:solidFill>
                <a:srgbClr val="0066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en-US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</a:t>
            </a:r>
            <a:endParaRPr lang="en-US" altLang="en-US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dirty="0" err="1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Xúc</a:t>
            </a:r>
            <a:r>
              <a:rPr lang="en-US" altLang="en-US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tác</a:t>
            </a:r>
            <a:r>
              <a:rPr lang="en-US" altLang="en-US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Diện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tích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bề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mặt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tiếp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xúc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pư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altLang="en-US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):S</a:t>
            </a:r>
            <a:r>
              <a:rPr lang="en-US" altLang="en-US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 </a:t>
            </a:r>
            <a:r>
              <a:rPr lang="en-US" altLang="en-US" dirty="0" err="1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V</a:t>
            </a:r>
            <a:r>
              <a:rPr lang="en-US" altLang="en-US" baseline="-25000" dirty="0" err="1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pư</a:t>
            </a:r>
            <a:r>
              <a:rPr lang="en-US" altLang="en-US" baseline="-250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</a:t>
            </a:r>
            <a:endParaRPr lang="en-US" alt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Dung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môi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pư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dirty="0" err="1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Sự</a:t>
            </a:r>
            <a:r>
              <a:rPr lang="en-US" altLang="en-US" dirty="0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khuấy</a:t>
            </a:r>
            <a:r>
              <a:rPr lang="en-US" altLang="en-US" dirty="0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trộn</a:t>
            </a:r>
            <a:r>
              <a:rPr lang="en-US" altLang="en-US" dirty="0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…..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dirty="0"/>
          </a:p>
        </p:txBody>
      </p:sp>
      <p:sp>
        <p:nvSpPr>
          <p:cNvPr id="2" name="Right Brace 1">
            <a:extLst>
              <a:ext uri="{FF2B5EF4-FFF2-40B4-BE49-F238E27FC236}">
                <a16:creationId xmlns:a16="http://schemas.microsoft.com/office/drawing/2014/main" xmlns="" id="{A4254D2A-FA04-4184-AFE6-BF739844ECDD}"/>
              </a:ext>
            </a:extLst>
          </p:cNvPr>
          <p:cNvSpPr/>
          <p:nvPr/>
        </p:nvSpPr>
        <p:spPr>
          <a:xfrm rot="10800000" flipH="1">
            <a:off x="2660256" y="2800906"/>
            <a:ext cx="152400" cy="1143000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7214B95B-889A-4544-B0A0-B0674562F249}"/>
              </a:ext>
            </a:extLst>
          </p:cNvPr>
          <p:cNvSpPr txBox="1"/>
          <p:nvPr/>
        </p:nvSpPr>
        <p:spPr>
          <a:xfrm>
            <a:off x="3651682" y="3049239"/>
            <a:ext cx="45017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k </a:t>
            </a:r>
            <a:r>
              <a:rPr lang="en-US" sz="3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tăng</a:t>
            </a:r>
            <a:r>
              <a:rPr lang="en-US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smtClean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 </a:t>
            </a:r>
            <a:r>
              <a:rPr lang="en-US" sz="3600" dirty="0" err="1" smtClean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V</a:t>
            </a:r>
            <a:r>
              <a:rPr lang="en-US" sz="3600" baseline="-25000" dirty="0" err="1" smtClean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pư</a:t>
            </a:r>
            <a:r>
              <a:rPr lang="en-US" sz="3600" dirty="0" smtClean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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xmlns="" id="{F70E4F04-086E-4843-9435-37159336952F}"/>
              </a:ext>
            </a:extLst>
          </p:cNvPr>
          <p:cNvSpPr/>
          <p:nvPr/>
        </p:nvSpPr>
        <p:spPr>
          <a:xfrm>
            <a:off x="3157304" y="3220005"/>
            <a:ext cx="296662" cy="304800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818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6C4E6D4-BC20-43C8-94E9-1E8B7302B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28276"/>
            <a:ext cx="8991600" cy="137160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vi-VN" sz="3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Ví dụ. Xét phản ứng phức tạp có 2 gđ nối tiếp: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vi-VN" sz="3000" dirty="0"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vi-VN" sz="3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2NO(k)  +  Br</a:t>
            </a:r>
            <a:r>
              <a:rPr lang="vi-VN" sz="30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vi-VN" sz="3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(k) = 2NOBr(k)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5900B47-7386-4C40-8209-58D752FB9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938B2EA-61C6-4D30-A9B0-ED11B6A9741A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151F9B24-8BEF-41AC-8C23-A44A0DF6BD9D}"/>
                  </a:ext>
                </a:extLst>
              </p:cNvPr>
              <p:cNvSpPr txBox="1"/>
              <p:nvPr/>
            </p:nvSpPr>
            <p:spPr>
              <a:xfrm>
                <a:off x="381000" y="1640313"/>
                <a:ext cx="9144000" cy="19116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vi-VN" sz="3200" dirty="0">
                    <a:solidFill>
                      <a:srgbClr val="0066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Gđ 1:  NO(k)  +  Br</a:t>
                </a:r>
                <a:r>
                  <a:rPr lang="vi-VN" sz="3200" baseline="-25000" dirty="0">
                    <a:solidFill>
                      <a:srgbClr val="0066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vi-VN" sz="3200" dirty="0">
                    <a:solidFill>
                      <a:srgbClr val="0066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=   NOBr</a:t>
                </a:r>
                <a:r>
                  <a:rPr lang="vi-VN" sz="3200" baseline="-25000" dirty="0">
                    <a:solidFill>
                      <a:srgbClr val="0066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vi-VN" sz="3200" dirty="0">
                    <a:solidFill>
                      <a:srgbClr val="0066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(k) ;  nhanh, K</a:t>
                </a:r>
                <a:r>
                  <a:rPr lang="vi-VN" sz="3200" baseline="-25000" dirty="0">
                    <a:solidFill>
                      <a:srgbClr val="0066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cb</a:t>
                </a:r>
                <a:r>
                  <a:rPr lang="vi-VN" sz="3200" dirty="0">
                    <a:solidFill>
                      <a:srgbClr val="0066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vi-VN" sz="3200" dirty="0">
                    <a:cs typeface="Arial" panose="020B0604020202020204" pitchFamily="34" charset="0"/>
                  </a:rPr>
                  <a:t>   </a:t>
                </a:r>
                <a:r>
                  <a:rPr lang="vi-VN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K</a:t>
                </a:r>
                <a:r>
                  <a:rPr lang="vi-VN" sz="3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cb</a:t>
                </a:r>
                <a:r>
                  <a:rPr lang="vi-VN" sz="3200" dirty="0">
                    <a:cs typeface="Arial" panose="020B0604020202020204" pitchFamily="34" charset="0"/>
                  </a:rPr>
                  <a:t>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 smtClean="0">
                            <a:latin typeface="Cambria Math"/>
                            <a:cs typeface="Arial" panose="020B060402020202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3200" i="1" smtClean="0">
                                <a:latin typeface="Cambria Math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vi-VN" sz="3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[</m:t>
                            </m:r>
                            <m:r>
                              <a:rPr lang="vi-VN" sz="3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𝑁𝑂𝐵𝑟</m:t>
                            </m:r>
                          </m:e>
                          <m:sub>
                            <m:r>
                              <a:rPr lang="vi-VN" sz="3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</m:sSub>
                        <m:r>
                          <a:rPr lang="vi-VN" sz="3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]</m:t>
                        </m:r>
                      </m:num>
                      <m:den>
                        <m:d>
                          <m:dPr>
                            <m:begChr m:val="["/>
                            <m:endChr m:val="]"/>
                            <m:ctrlPr>
                              <a:rPr lang="vi-VN" sz="3200" b="0" i="1" smtClean="0">
                                <a:latin typeface="Cambria Math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vi-VN" sz="3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𝑁𝑂</m:t>
                            </m:r>
                          </m:e>
                        </m:d>
                        <m:r>
                          <a:rPr lang="vi-VN" sz="3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.[</m:t>
                        </m:r>
                        <m:sSub>
                          <m:sSubPr>
                            <m:ctrlPr>
                              <a:rPr lang="vi-VN" sz="3200" b="0" i="1" smtClean="0">
                                <a:latin typeface="Cambria Math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vi-VN" sz="3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𝐵𝑟</m:t>
                            </m:r>
                          </m:e>
                          <m:sub>
                            <m:r>
                              <a:rPr lang="vi-VN" sz="3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</m:sSub>
                        <m:r>
                          <a:rPr lang="vi-VN" sz="3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]</m:t>
                        </m:r>
                      </m:den>
                    </m:f>
                  </m:oMath>
                </a14:m>
                <a:r>
                  <a:rPr lang="vi-VN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vi-VN" sz="32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 [NOBr</a:t>
                </a:r>
                <a:r>
                  <a:rPr lang="vi-VN" sz="3200" baseline="-250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2</a:t>
                </a:r>
                <a:r>
                  <a:rPr lang="vi-VN" sz="32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] = K</a:t>
                </a:r>
                <a:r>
                  <a:rPr lang="vi-VN" sz="3200" baseline="-250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cb</a:t>
                </a:r>
                <a:r>
                  <a:rPr lang="vi-VN" sz="32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.[NO].[Br</a:t>
                </a:r>
                <a:r>
                  <a:rPr lang="vi-VN" sz="3200" baseline="-250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2</a:t>
                </a:r>
                <a:r>
                  <a:rPr lang="vi-VN" sz="32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]</a:t>
                </a:r>
                <a:endParaRPr lang="en-US" sz="3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51F9B24-8BEF-41AC-8C23-A44A0DF6BD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640313"/>
                <a:ext cx="9144000" cy="1911677"/>
              </a:xfrm>
              <a:prstGeom prst="rect">
                <a:avLst/>
              </a:prstGeom>
              <a:blipFill>
                <a:blip r:embed="rId2"/>
                <a:stretch>
                  <a:fillRect l="-17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643239BF-2226-4270-90A8-E84F3C5A1A8E}"/>
              </a:ext>
            </a:extLst>
          </p:cNvPr>
          <p:cNvSpPr txBox="1"/>
          <p:nvPr/>
        </p:nvSpPr>
        <p:spPr>
          <a:xfrm>
            <a:off x="304800" y="3692427"/>
            <a:ext cx="86868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sz="3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Gđ 2:   NO(k)  +  NOBr</a:t>
            </a:r>
            <a:r>
              <a:rPr lang="vi-VN" sz="3000" baseline="-25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vi-VN" sz="3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(k)  =  2NOBr(k);  chậm</a:t>
            </a:r>
          </a:p>
          <a:p>
            <a:pPr>
              <a:lnSpc>
                <a:spcPct val="150000"/>
              </a:lnSpc>
            </a:pPr>
            <a:r>
              <a:rPr lang="vi-VN" sz="3000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vi-VN" sz="3000" baseline="-25000" dirty="0">
                <a:latin typeface="Arial" panose="020B0604020202020204" pitchFamily="34" charset="0"/>
                <a:cs typeface="Arial" panose="020B0604020202020204" pitchFamily="34" charset="0"/>
              </a:rPr>
              <a:t>pư</a:t>
            </a:r>
            <a:r>
              <a:rPr lang="vi-VN" sz="3000" dirty="0">
                <a:latin typeface="Arial" panose="020B0604020202020204" pitchFamily="34" charset="0"/>
                <a:cs typeface="Arial" panose="020B0604020202020204" pitchFamily="34" charset="0"/>
              </a:rPr>
              <a:t> = V</a:t>
            </a:r>
            <a:r>
              <a:rPr lang="vi-VN" sz="30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vi-VN" sz="3000" dirty="0">
                <a:latin typeface="Arial" panose="020B0604020202020204" pitchFamily="34" charset="0"/>
                <a:cs typeface="Arial" panose="020B0604020202020204" pitchFamily="34" charset="0"/>
              </a:rPr>
              <a:t> = k</a:t>
            </a:r>
            <a:r>
              <a:rPr lang="vi-VN" sz="30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vi-VN" sz="3000" dirty="0">
                <a:latin typeface="Arial" panose="020B0604020202020204" pitchFamily="34" charset="0"/>
                <a:cs typeface="Arial" panose="020B0604020202020204" pitchFamily="34" charset="0"/>
              </a:rPr>
              <a:t>.[NO].[NOBr</a:t>
            </a:r>
            <a:r>
              <a:rPr lang="vi-VN" sz="30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vi-VN" sz="3000" dirty="0">
                <a:latin typeface="Arial" panose="020B0604020202020204" pitchFamily="34" charset="0"/>
                <a:cs typeface="Arial" panose="020B0604020202020204" pitchFamily="34" charset="0"/>
              </a:rPr>
              <a:t>] = k</a:t>
            </a:r>
            <a:r>
              <a:rPr lang="vi-VN" sz="30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vi-VN" sz="3000" dirty="0">
                <a:latin typeface="Arial" panose="020B0604020202020204" pitchFamily="34" charset="0"/>
                <a:cs typeface="Arial" panose="020B0604020202020204" pitchFamily="34" charset="0"/>
              </a:rPr>
              <a:t>.K</a:t>
            </a:r>
            <a:r>
              <a:rPr lang="vi-VN" sz="3000" baseline="-25000" dirty="0">
                <a:latin typeface="Arial" panose="020B0604020202020204" pitchFamily="34" charset="0"/>
                <a:cs typeface="Arial" panose="020B0604020202020204" pitchFamily="34" charset="0"/>
              </a:rPr>
              <a:t>cb</a:t>
            </a:r>
            <a:r>
              <a:rPr lang="vi-VN" sz="3000" dirty="0">
                <a:latin typeface="Arial" panose="020B0604020202020204" pitchFamily="34" charset="0"/>
                <a:cs typeface="Arial" panose="020B0604020202020204" pitchFamily="34" charset="0"/>
              </a:rPr>
              <a:t>.[NO]</a:t>
            </a:r>
            <a:r>
              <a:rPr lang="vi-VN" sz="30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vi-VN" sz="3000" dirty="0">
                <a:latin typeface="Arial" panose="020B0604020202020204" pitchFamily="34" charset="0"/>
                <a:cs typeface="Arial" panose="020B0604020202020204" pitchFamily="34" charset="0"/>
              </a:rPr>
              <a:t>.[Br</a:t>
            </a:r>
            <a:r>
              <a:rPr lang="vi-VN" sz="30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vi-VN" sz="3000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            </a:t>
            </a:r>
            <a:r>
              <a:rPr lang="vi-VN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vi-VN" sz="36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pư</a:t>
            </a:r>
            <a:r>
              <a:rPr lang="vi-VN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k.[NO]</a:t>
            </a:r>
            <a:r>
              <a:rPr lang="vi-VN" sz="3600" b="1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vi-VN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.[Br</a:t>
            </a:r>
            <a:r>
              <a:rPr lang="vi-VN" sz="36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vi-VN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   </a:t>
            </a:r>
            <a:r>
              <a:rPr lang="vi-VN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(k = k</a:t>
            </a:r>
            <a:r>
              <a:rPr lang="vi-VN" sz="36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vi-VN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.K</a:t>
            </a:r>
            <a:r>
              <a:rPr lang="vi-VN" sz="36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cb</a:t>
            </a:r>
            <a:r>
              <a:rPr lang="vi-VN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DE8EB4E-F2B0-4A85-B301-E51346EC3BCF}"/>
              </a:ext>
            </a:extLst>
          </p:cNvPr>
          <p:cNvSpPr txBox="1"/>
          <p:nvPr/>
        </p:nvSpPr>
        <p:spPr>
          <a:xfrm>
            <a:off x="332173" y="1738455"/>
            <a:ext cx="8839200" cy="338109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 marL="457200" indent="-457200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vi-VN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Phản ứng phức tạp </a:t>
            </a:r>
            <a:r>
              <a:rPr lang="en-US" sz="3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bậc </a:t>
            </a:r>
            <a:r>
              <a:rPr lang="en-US" sz="3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vi-VN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rong đó bậc 2 theo NO và bậc 1 theo Br</a:t>
            </a:r>
            <a:r>
              <a:rPr lang="vi-VN" sz="3200" baseline="-25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vi-VN" sz="3200" baseline="-25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3200" dirty="0">
              <a:solidFill>
                <a:srgbClr val="CC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Bậc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phản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ứng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của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chất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phản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ứng</a:t>
            </a:r>
            <a:r>
              <a:rPr lang="vi-VN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bằng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các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vi-VN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hệ số tỉ lượng.</a:t>
            </a:r>
            <a:endParaRPr lang="en-US" sz="3200" dirty="0">
              <a:solidFill>
                <a:srgbClr val="0066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3013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</p:bld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7398</TotalTime>
  <Words>1868</Words>
  <Application>Microsoft Office PowerPoint</Application>
  <PresentationFormat>On-screen Show (4:3)</PresentationFormat>
  <Paragraphs>175</Paragraphs>
  <Slides>17</Slides>
  <Notes>10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Default Design</vt:lpstr>
      <vt:lpstr>Equation</vt:lpstr>
      <vt:lpstr>PowerPoint Presentation</vt:lpstr>
      <vt:lpstr>PowerPoint Presentation</vt:lpstr>
      <vt:lpstr>  ĐỊNH LUẬT TÁC DỤNG KHỐI LƯỢNG (M.Guldberg và P. Waage ) Ở nhiệt độ không đổi, pư đồng thể, đơn giản:              aA   +   bB   =   cC   +     dD Tốc độ phản ứng:  v  = k.CaA.CbB   </vt:lpstr>
      <vt:lpstr>    Phản ứng đơn giản: diễn ra có 1 giai đoạn.</vt:lpstr>
      <vt:lpstr>PowerPoint Presentation</vt:lpstr>
      <vt:lpstr>PowerPoint Presentation</vt:lpstr>
      <vt:lpstr>TỐC ĐỘ PHẢN ỨNG [mol.lit-1.thời gian-1]</vt:lpstr>
      <vt:lpstr>PowerPoint Presentation</vt:lpstr>
      <vt:lpstr>PowerPoint Presentation</vt:lpstr>
      <vt:lpstr>PowerPoint Presentation</vt:lpstr>
      <vt:lpstr>ĐỊNH LUẬT ĐỘNG HỌC</vt:lpstr>
      <vt:lpstr>ĐỊNH LUẬT ĐỘNG HỌC</vt:lpstr>
      <vt:lpstr>PowerPoint Presentation</vt:lpstr>
      <vt:lpstr> HẰNG SỐ TỐC ĐỘ PHẢN ỨNG k </vt:lpstr>
      <vt:lpstr>HẰNG SỐ TỐC ĐỘ PHẢN ỨNG</vt:lpstr>
      <vt:lpstr>CÁC YẾU TỐ ẢNH HƯỞNG ĐẾN TỐC ĐỘ PHẢN ỨNG</vt:lpstr>
      <vt:lpstr>PowerPoint Presentation</vt:lpstr>
    </vt:vector>
  </TitlesOfParts>
  <Company>SUNY College at Brockport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General Chemistry:  An Integrated Approach</dc:title>
  <dc:creator>Mark P. Heitz</dc:creator>
  <cp:lastModifiedBy>USER</cp:lastModifiedBy>
  <cp:revision>434</cp:revision>
  <dcterms:created xsi:type="dcterms:W3CDTF">2003-10-23T12:10:06Z</dcterms:created>
  <dcterms:modified xsi:type="dcterms:W3CDTF">2020-12-25T09:27:07Z</dcterms:modified>
</cp:coreProperties>
</file>