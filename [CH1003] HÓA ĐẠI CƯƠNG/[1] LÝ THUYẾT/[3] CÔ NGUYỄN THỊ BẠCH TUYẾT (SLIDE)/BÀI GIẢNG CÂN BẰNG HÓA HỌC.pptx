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331" r:id="rId2"/>
    <p:sldId id="257" r:id="rId3"/>
    <p:sldId id="274" r:id="rId4"/>
    <p:sldId id="275" r:id="rId5"/>
    <p:sldId id="258" r:id="rId6"/>
    <p:sldId id="259" r:id="rId7"/>
    <p:sldId id="332" r:id="rId8"/>
    <p:sldId id="261" r:id="rId9"/>
    <p:sldId id="333" r:id="rId10"/>
    <p:sldId id="270" r:id="rId11"/>
    <p:sldId id="256" r:id="rId12"/>
    <p:sldId id="269" r:id="rId13"/>
    <p:sldId id="335" r:id="rId14"/>
    <p:sldId id="563" r:id="rId15"/>
    <p:sldId id="339" r:id="rId16"/>
    <p:sldId id="555" r:id="rId17"/>
    <p:sldId id="271" r:id="rId18"/>
    <p:sldId id="341" r:id="rId19"/>
    <p:sldId id="345" r:id="rId20"/>
    <p:sldId id="556" r:id="rId21"/>
    <p:sldId id="486" r:id="rId22"/>
    <p:sldId id="558" r:id="rId23"/>
    <p:sldId id="560" r:id="rId24"/>
    <p:sldId id="459" r:id="rId25"/>
    <p:sldId id="557" r:id="rId26"/>
    <p:sldId id="562" r:id="rId27"/>
    <p:sldId id="565" r:id="rId28"/>
    <p:sldId id="561" r:id="rId29"/>
    <p:sldId id="262" r:id="rId30"/>
    <p:sldId id="334" r:id="rId31"/>
    <p:sldId id="485" r:id="rId32"/>
    <p:sldId id="263" r:id="rId33"/>
    <p:sldId id="264" r:id="rId34"/>
    <p:sldId id="265" r:id="rId35"/>
    <p:sldId id="266" r:id="rId36"/>
    <p:sldId id="267" r:id="rId37"/>
    <p:sldId id="346" r:id="rId3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0000FF"/>
    <a:srgbClr val="9933FF"/>
    <a:srgbClr val="CC00FF"/>
    <a:srgbClr val="CC6600"/>
    <a:srgbClr val="FF00FF"/>
    <a:srgbClr val="009999"/>
    <a:srgbClr val="FFCC00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660"/>
  </p:normalViewPr>
  <p:slideViewPr>
    <p:cSldViewPr>
      <p:cViewPr>
        <p:scale>
          <a:sx n="96" d="100"/>
          <a:sy n="96" d="100"/>
        </p:scale>
        <p:origin x="-1404" y="-5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4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4" Type="http://schemas.openxmlformats.org/officeDocument/2006/relationships/image" Target="../media/image15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Relationship Id="rId6" Type="http://schemas.openxmlformats.org/officeDocument/2006/relationships/image" Target="../media/image38.wmf"/><Relationship Id="rId5" Type="http://schemas.openxmlformats.org/officeDocument/2006/relationships/image" Target="../media/image9.wmf"/><Relationship Id="rId4" Type="http://schemas.openxmlformats.org/officeDocument/2006/relationships/image" Target="../media/image37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image" Target="../media/image40.wmf"/><Relationship Id="rId1" Type="http://schemas.openxmlformats.org/officeDocument/2006/relationships/image" Target="../media/image39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xmlns="" id="{08D849CD-C7FE-41A6-80F7-7153E6ADC56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xmlns="" id="{31713973-E1AE-47DC-9BA5-273A19C46F9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xmlns="" id="{7475B9ED-663C-4B9C-AB9E-F231C61F69E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5" name="Rectangle 5">
            <a:extLst>
              <a:ext uri="{FF2B5EF4-FFF2-40B4-BE49-F238E27FC236}">
                <a16:creationId xmlns:a16="http://schemas.microsoft.com/office/drawing/2014/main" xmlns="" id="{8F4C404D-1953-4AFB-9C47-C77112FB84B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26" name="Rectangle 6">
            <a:extLst>
              <a:ext uri="{FF2B5EF4-FFF2-40B4-BE49-F238E27FC236}">
                <a16:creationId xmlns:a16="http://schemas.microsoft.com/office/drawing/2014/main" xmlns="" id="{71B1AEBE-9690-4AEE-8C8B-E6BF613405C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27" name="Rectangle 7">
            <a:extLst>
              <a:ext uri="{FF2B5EF4-FFF2-40B4-BE49-F238E27FC236}">
                <a16:creationId xmlns:a16="http://schemas.microsoft.com/office/drawing/2014/main" xmlns="" id="{D66CC661-7BC2-4626-8F52-4488C792A2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F22D91B8-E479-42C5-B627-CEE24EFFFCF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68427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>
            <a:extLst>
              <a:ext uri="{FF2B5EF4-FFF2-40B4-BE49-F238E27FC236}">
                <a16:creationId xmlns:a16="http://schemas.microsoft.com/office/drawing/2014/main" xmlns="" id="{6969758D-FDAF-4763-946C-BD524BBB39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02877BF-7A30-4B86-AB5D-968D8FF38905}" type="slidenum">
              <a:rPr lang="en-US" altLang="en-US" smtClean="0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xmlns="" id="{FA8485A2-F75E-4ED2-B338-AD7B7F64DC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1" hangingPunct="1"/>
            <a:endParaRPr lang="en-US" altLang="en-US"/>
          </a:p>
        </p:txBody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xmlns="" id="{E67976A0-0A7B-4C39-BD8D-6B7607D010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w="12700" cap="flat">
            <a:solidFill>
              <a:schemeClr val="tx1"/>
            </a:solidFill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xmlns="" id="{72147665-0BDF-4CF9-B425-7F472A7F70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xmlns="" id="{2BDE6142-2C0A-4471-B8F5-523B248543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xmlns="" id="{F11ABECC-6CA1-4228-8A6F-2FA623B6B3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A9FDB70-11FD-4A54-8936-F738631394D2}" type="slidenum">
              <a:rPr lang="en-US" altLang="en-US" smtClean="0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xmlns="" id="{000541F2-574B-49CA-AD50-87BD3BB20B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xmlns="" id="{11514C4A-009A-457E-A4A1-2DF8A27E1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xmlns="" id="{BB3B01C4-B665-4EF6-B852-F8FE23BFD4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0C773B1-625E-4887-8FEF-8A520BEC31AD}" type="slidenum">
              <a:rPr lang="en-US" altLang="en-US" smtClean="0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xmlns="" id="{A8F395DE-6088-4F2A-9281-C2E1277C0B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xmlns="" id="{0C3C82CA-B415-4D36-B877-C0C92287A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xmlns="" id="{0EA346D5-0C8B-4E97-AA8B-E953A25283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2B5DFE1-8CF1-4B53-9182-D6D139CD3EC0}" type="slidenum">
              <a:rPr lang="en-US" altLang="en-US" smtClean="0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xmlns="" id="{5A11869E-98B0-4124-AD15-DDF34BCC27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xmlns="" id="{6FC71234-B211-455A-A61E-0704467830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12292" name="Slide Number Placeholder 3">
            <a:extLst>
              <a:ext uri="{FF2B5EF4-FFF2-40B4-BE49-F238E27FC236}">
                <a16:creationId xmlns:a16="http://schemas.microsoft.com/office/drawing/2014/main" xmlns="" id="{425A6EF1-70B3-47B5-B9E0-8078D61430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7BB214D-1C2C-488A-816F-55B85930912D}" type="slidenum">
              <a:rPr lang="en-US" altLang="en-US" smtClean="0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>
            <a:extLst>
              <a:ext uri="{FF2B5EF4-FFF2-40B4-BE49-F238E27FC236}">
                <a16:creationId xmlns:a16="http://schemas.microsoft.com/office/drawing/2014/main" xmlns="" id="{CFBD1420-9187-48D2-B151-E8F4353C92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>
            <a:extLst>
              <a:ext uri="{FF2B5EF4-FFF2-40B4-BE49-F238E27FC236}">
                <a16:creationId xmlns:a16="http://schemas.microsoft.com/office/drawing/2014/main" xmlns="" id="{8BC27E47-C4A4-4637-BEF7-C16BED6071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xmlns="" id="{BBA2D4A3-5112-4D7A-97FD-8EB1B42CA1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2D6CDF6-B0E7-4955-954E-F01871F7C1DE}" type="slidenum">
              <a:rPr lang="en-US" altLang="en-US" smtClean="0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xmlns="" id="{4ED1E14A-2597-47E1-9032-F7DC4BB6C3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A212085-B81A-4255-B09A-8B860B221350}" type="slidenum">
              <a:rPr lang="en-US" altLang="en-US" smtClean="0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xmlns="" id="{2FF3BFB0-DFCB-4A72-906E-24833CE52D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xmlns="" id="{58F8A7A4-EA6E-4D62-BD45-C442A35BFE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xmlns="" id="{DA281484-0BBF-4059-83AB-2FB786F6A5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xmlns="" id="{59EB090F-EF63-4FA4-BBB3-4F1DA0D49B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xmlns="" id="{7D6AE4B9-D84D-40E0-92FC-A335860530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B937047-84C2-4134-A59C-717C5EC8810B}" type="slidenum">
              <a:rPr lang="en-US" altLang="en-US" smtClean="0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xmlns="" id="{81572D90-E3FD-46B3-89D6-4B0AB854BA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F567EF4-2FD9-46A0-9086-5CC2DD9BAF0B}" type="slidenum">
              <a:rPr lang="en-US" altLang="en-US" smtClean="0"/>
              <a:pPr>
                <a:spcBef>
                  <a:spcPct val="0"/>
                </a:spcBef>
              </a:pPr>
              <a:t>9</a:t>
            </a:fld>
            <a:endParaRPr lang="en-US" altLang="en-US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xmlns="" id="{CE738047-2F7F-4C9C-BF62-AF6C550136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xmlns="" id="{5F48FD0F-AB78-4AA9-B41D-AC2EADC852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>
            <a:extLst>
              <a:ext uri="{FF2B5EF4-FFF2-40B4-BE49-F238E27FC236}">
                <a16:creationId xmlns:a16="http://schemas.microsoft.com/office/drawing/2014/main" xmlns="" id="{CF88082A-C69A-485E-80B8-ABEEC24059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2">
            <a:extLst>
              <a:ext uri="{FF2B5EF4-FFF2-40B4-BE49-F238E27FC236}">
                <a16:creationId xmlns:a16="http://schemas.microsoft.com/office/drawing/2014/main" xmlns="" id="{28171EA4-7F61-40D7-A600-64F011196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xmlns="" id="{9080CDE2-F292-4C9F-93A7-153760E635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9D74225-89F1-4C64-B0E2-1BAC76D2BF4C}" type="slidenum">
              <a:rPr lang="en-US" altLang="en-US" smtClean="0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>
            <a:extLst>
              <a:ext uri="{FF2B5EF4-FFF2-40B4-BE49-F238E27FC236}">
                <a16:creationId xmlns:a16="http://schemas.microsoft.com/office/drawing/2014/main" xmlns="" id="{D2E1EC83-0673-4987-819C-EE2F70D300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Notes Placeholder 2">
            <a:extLst>
              <a:ext uri="{FF2B5EF4-FFF2-40B4-BE49-F238E27FC236}">
                <a16:creationId xmlns:a16="http://schemas.microsoft.com/office/drawing/2014/main" xmlns="" id="{1997FAAB-FA83-4953-8282-53BD85C550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xmlns="" id="{3E9E5197-9E47-4A51-9EC2-73C8326243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479F22F-DACE-4413-8D2B-B258357F0890}" type="slidenum">
              <a:rPr lang="en-US" altLang="en-US" smtClean="0"/>
              <a:pPr>
                <a:spcBef>
                  <a:spcPct val="0"/>
                </a:spcBef>
              </a:pPr>
              <a:t>12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xmlns="" id="{91C99328-13AC-4677-93E8-3DFA087F32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85CEBBE-4C71-4C87-A6CA-C76E83EE66F8}" type="slidenum">
              <a:rPr lang="en-US" altLang="en-US" smtClean="0"/>
              <a:pPr>
                <a:spcBef>
                  <a:spcPct val="0"/>
                </a:spcBef>
              </a:pPr>
              <a:t>13</a:t>
            </a:fld>
            <a:endParaRPr lang="en-US" altLang="en-US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xmlns="" id="{B37DEB13-8A2B-40A0-AA1E-F156490FF7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xmlns="" id="{D01B86DC-C03A-469F-A010-044CB8CB59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xmlns="" id="{15DE7C6C-7963-4808-9044-33F37EDE78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4ABC4FA-75F2-4FF5-896C-9594BE85B08A}" type="slidenum">
              <a:rPr lang="en-US" altLang="en-US" smtClean="0"/>
              <a:pPr>
                <a:spcBef>
                  <a:spcPct val="0"/>
                </a:spcBef>
              </a:pPr>
              <a:t>15</a:t>
            </a:fld>
            <a:endParaRPr lang="en-US" altLang="en-US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xmlns="" id="{E25605AC-E726-4D12-A1D8-9585CA2E25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xmlns="" id="{4959779C-180B-4246-A128-E20796DE1C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>
            <a:extLst>
              <a:ext uri="{FF2B5EF4-FFF2-40B4-BE49-F238E27FC236}">
                <a16:creationId xmlns:a16="http://schemas.microsoft.com/office/drawing/2014/main" xmlns="" id="{B4AC6D5C-A30C-4EAD-BE5E-8082E9DD77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>
            <a:extLst>
              <a:ext uri="{FF2B5EF4-FFF2-40B4-BE49-F238E27FC236}">
                <a16:creationId xmlns:a16="http://schemas.microsoft.com/office/drawing/2014/main" xmlns="" id="{D911951B-BBE4-4F84-BBED-363E2875D1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31748" name="Slide Number Placeholder 3">
            <a:extLst>
              <a:ext uri="{FF2B5EF4-FFF2-40B4-BE49-F238E27FC236}">
                <a16:creationId xmlns:a16="http://schemas.microsoft.com/office/drawing/2014/main" xmlns="" id="{092BEB83-02AE-4064-A78A-4E35476A47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D06B9B4-0FC9-4A8E-B451-F7B3FB619451}" type="slidenum">
              <a:rPr lang="en-US" altLang="en-US" smtClean="0"/>
              <a:pPr>
                <a:spcBef>
                  <a:spcPct val="0"/>
                </a:spcBef>
              </a:pPr>
              <a:t>17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xmlns="" id="{7C3AE19F-6F06-4B68-9474-64D1D17535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90BA3D5-D2EC-4FA8-90AE-34396968BBCA}" type="slidenum">
              <a:rPr lang="en-US" altLang="en-US" smtClean="0"/>
              <a:pPr>
                <a:spcBef>
                  <a:spcPct val="0"/>
                </a:spcBef>
              </a:pPr>
              <a:t>18</a:t>
            </a:fld>
            <a:endParaRPr lang="en-US" altLang="en-US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xmlns="" id="{63DD8828-9D15-454F-9CDE-6F431DAD27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xmlns="" id="{CA022976-7F4B-405D-9EFA-2ACA63237F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xmlns="" id="{9358F5F5-550A-419C-B762-A0FB3FFA5B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FB25A74-EE1B-4EB5-AFED-45855A74F20B}" type="slidenum">
              <a:rPr lang="en-US" altLang="en-US" smtClean="0"/>
              <a:pPr>
                <a:spcBef>
                  <a:spcPct val="0"/>
                </a:spcBef>
              </a:pPr>
              <a:t>19</a:t>
            </a:fld>
            <a:endParaRPr lang="en-US" altLang="en-US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xmlns="" id="{294C2E44-3E09-4AE8-A1A1-ED203CD997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xmlns="" id="{ED19E364-3055-4352-9EA4-D29E360252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>
            <a:extLst>
              <a:ext uri="{FF2B5EF4-FFF2-40B4-BE49-F238E27FC236}">
                <a16:creationId xmlns:a16="http://schemas.microsoft.com/office/drawing/2014/main" xmlns="" id="{97967B42-A7B7-4357-9D29-AEBED122A0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>
            <a:extLst>
              <a:ext uri="{FF2B5EF4-FFF2-40B4-BE49-F238E27FC236}">
                <a16:creationId xmlns:a16="http://schemas.microsoft.com/office/drawing/2014/main" xmlns="" id="{22599F7A-B72F-40C7-9AB9-D8132B2CA2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38916" name="Slide Number Placeholder 3">
            <a:extLst>
              <a:ext uri="{FF2B5EF4-FFF2-40B4-BE49-F238E27FC236}">
                <a16:creationId xmlns:a16="http://schemas.microsoft.com/office/drawing/2014/main" xmlns="" id="{E4813D91-30F3-474E-BA0A-00027B0878F5}"/>
              </a:ext>
            </a:extLst>
          </p:cNvPr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5B881C4F-28FF-4E8D-B276-F1C7EFE6004F}" type="slidenum">
              <a:rPr lang="en-US" altLang="en-US"/>
              <a:pPr algn="r" eaLnBrk="1" hangingPunct="1">
                <a:spcBef>
                  <a:spcPct val="0"/>
                </a:spcBef>
              </a:pPr>
              <a:t>24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>
            <a:extLst>
              <a:ext uri="{FF2B5EF4-FFF2-40B4-BE49-F238E27FC236}">
                <a16:creationId xmlns:a16="http://schemas.microsoft.com/office/drawing/2014/main" xmlns="" id="{97967B42-A7B7-4357-9D29-AEBED122A0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>
            <a:extLst>
              <a:ext uri="{FF2B5EF4-FFF2-40B4-BE49-F238E27FC236}">
                <a16:creationId xmlns:a16="http://schemas.microsoft.com/office/drawing/2014/main" xmlns="" id="{22599F7A-B72F-40C7-9AB9-D8132B2CA2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38916" name="Slide Number Placeholder 3">
            <a:extLst>
              <a:ext uri="{FF2B5EF4-FFF2-40B4-BE49-F238E27FC236}">
                <a16:creationId xmlns:a16="http://schemas.microsoft.com/office/drawing/2014/main" xmlns="" id="{E4813D91-30F3-474E-BA0A-00027B0878F5}"/>
              </a:ext>
            </a:extLst>
          </p:cNvPr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5B881C4F-28FF-4E8D-B276-F1C7EFE6004F}" type="slidenum">
              <a:rPr lang="en-US" altLang="en-US"/>
              <a:pPr algn="r" eaLnBrk="1" hangingPunct="1">
                <a:spcBef>
                  <a:spcPct val="0"/>
                </a:spcBef>
              </a:pPr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10488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>
            <a:extLst>
              <a:ext uri="{FF2B5EF4-FFF2-40B4-BE49-F238E27FC236}">
                <a16:creationId xmlns:a16="http://schemas.microsoft.com/office/drawing/2014/main" xmlns="" id="{12D4EA07-911C-4FDB-95EF-876545515B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Notes Placeholder 2">
            <a:extLst>
              <a:ext uri="{FF2B5EF4-FFF2-40B4-BE49-F238E27FC236}">
                <a16:creationId xmlns:a16="http://schemas.microsoft.com/office/drawing/2014/main" xmlns="" id="{24E8CA72-A47F-4341-BCC4-BE1CDD446E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47108" name="Slide Number Placeholder 3">
            <a:extLst>
              <a:ext uri="{FF2B5EF4-FFF2-40B4-BE49-F238E27FC236}">
                <a16:creationId xmlns:a16="http://schemas.microsoft.com/office/drawing/2014/main" xmlns="" id="{EA662818-1508-4C82-BCD0-898B144D2D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D5A9D6D-9D44-42F7-88EB-F414A596C6F3}" type="slidenum">
              <a:rPr lang="en-US" altLang="en-US" smtClean="0"/>
              <a:pPr>
                <a:spcBef>
                  <a:spcPct val="0"/>
                </a:spcBef>
              </a:pPr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0425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>
            <a:extLst>
              <a:ext uri="{FF2B5EF4-FFF2-40B4-BE49-F238E27FC236}">
                <a16:creationId xmlns:a16="http://schemas.microsoft.com/office/drawing/2014/main" xmlns="" id="{201E8684-F002-4A3D-ABB3-9EBE609327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>
            <a:extLst>
              <a:ext uri="{FF2B5EF4-FFF2-40B4-BE49-F238E27FC236}">
                <a16:creationId xmlns:a16="http://schemas.microsoft.com/office/drawing/2014/main" xmlns="" id="{C240BFE2-3FA2-4595-99FC-1BA6F49A44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41988" name="Slide Number Placeholder 3">
            <a:extLst>
              <a:ext uri="{FF2B5EF4-FFF2-40B4-BE49-F238E27FC236}">
                <a16:creationId xmlns:a16="http://schemas.microsoft.com/office/drawing/2014/main" xmlns="" id="{41C0660A-24FD-4430-9CC4-2070A7FB2B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EDEFBAC-8B27-4EC1-8E85-E21F48144BED}" type="slidenum">
              <a:rPr lang="en-US" altLang="en-US" smtClean="0"/>
              <a:pPr>
                <a:spcBef>
                  <a:spcPct val="0"/>
                </a:spcBef>
              </a:pPr>
              <a:t>29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>
            <a:extLst>
              <a:ext uri="{FF2B5EF4-FFF2-40B4-BE49-F238E27FC236}">
                <a16:creationId xmlns:a16="http://schemas.microsoft.com/office/drawing/2014/main" xmlns="" id="{BBDF6500-A013-4F5B-886A-1D1CB1E750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>
            <a:extLst>
              <a:ext uri="{FF2B5EF4-FFF2-40B4-BE49-F238E27FC236}">
                <a16:creationId xmlns:a16="http://schemas.microsoft.com/office/drawing/2014/main" xmlns="" id="{FC1EF699-E4BB-491C-A4AB-6F22DE137D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44036" name="Slide Number Placeholder 3">
            <a:extLst>
              <a:ext uri="{FF2B5EF4-FFF2-40B4-BE49-F238E27FC236}">
                <a16:creationId xmlns:a16="http://schemas.microsoft.com/office/drawing/2014/main" xmlns="" id="{33330ED2-A20B-42D7-B800-CDB735D530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451E1E5-803A-4D87-98FC-E370683695EA}" type="slidenum">
              <a:rPr lang="en-US" altLang="en-US" smtClean="0"/>
              <a:pPr>
                <a:spcBef>
                  <a:spcPct val="0"/>
                </a:spcBef>
              </a:pPr>
              <a:t>30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>
            <a:extLst>
              <a:ext uri="{FF2B5EF4-FFF2-40B4-BE49-F238E27FC236}">
                <a16:creationId xmlns:a16="http://schemas.microsoft.com/office/drawing/2014/main" xmlns="" id="{12D4EA07-911C-4FDB-95EF-876545515B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Notes Placeholder 2">
            <a:extLst>
              <a:ext uri="{FF2B5EF4-FFF2-40B4-BE49-F238E27FC236}">
                <a16:creationId xmlns:a16="http://schemas.microsoft.com/office/drawing/2014/main" xmlns="" id="{24E8CA72-A47F-4341-BCC4-BE1CDD446E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47108" name="Slide Number Placeholder 3">
            <a:extLst>
              <a:ext uri="{FF2B5EF4-FFF2-40B4-BE49-F238E27FC236}">
                <a16:creationId xmlns:a16="http://schemas.microsoft.com/office/drawing/2014/main" xmlns="" id="{EA662818-1508-4C82-BCD0-898B144D2D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D5A9D6D-9D44-42F7-88EB-F414A596C6F3}" type="slidenum">
              <a:rPr lang="en-US" altLang="en-US" smtClean="0"/>
              <a:pPr>
                <a:spcBef>
                  <a:spcPct val="0"/>
                </a:spcBef>
              </a:pPr>
              <a:t>32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>
            <a:extLst>
              <a:ext uri="{FF2B5EF4-FFF2-40B4-BE49-F238E27FC236}">
                <a16:creationId xmlns:a16="http://schemas.microsoft.com/office/drawing/2014/main" xmlns="" id="{27E050F8-3352-46B0-B3C7-1E4266B343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>
            <a:extLst>
              <a:ext uri="{FF2B5EF4-FFF2-40B4-BE49-F238E27FC236}">
                <a16:creationId xmlns:a16="http://schemas.microsoft.com/office/drawing/2014/main" xmlns="" id="{85DE02C5-045B-40EC-8C9B-0B2DE6684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49156" name="Slide Number Placeholder 3">
            <a:extLst>
              <a:ext uri="{FF2B5EF4-FFF2-40B4-BE49-F238E27FC236}">
                <a16:creationId xmlns:a16="http://schemas.microsoft.com/office/drawing/2014/main" xmlns="" id="{EBE74A4F-BBDD-4CC4-9743-90ADC42454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D6E3BC7-30E5-428E-A5B2-99BD71570E5E}" type="slidenum">
              <a:rPr lang="en-US" altLang="en-US" smtClean="0"/>
              <a:pPr>
                <a:spcBef>
                  <a:spcPct val="0"/>
                </a:spcBef>
              </a:pPr>
              <a:t>33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>
            <a:extLst>
              <a:ext uri="{FF2B5EF4-FFF2-40B4-BE49-F238E27FC236}">
                <a16:creationId xmlns:a16="http://schemas.microsoft.com/office/drawing/2014/main" xmlns="" id="{63F143BB-BE74-4132-9B97-C591E94007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>
            <a:extLst>
              <a:ext uri="{FF2B5EF4-FFF2-40B4-BE49-F238E27FC236}">
                <a16:creationId xmlns:a16="http://schemas.microsoft.com/office/drawing/2014/main" xmlns="" id="{2F7514B5-BD70-48DE-BED9-3591A9F7CB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51204" name="Slide Number Placeholder 3">
            <a:extLst>
              <a:ext uri="{FF2B5EF4-FFF2-40B4-BE49-F238E27FC236}">
                <a16:creationId xmlns:a16="http://schemas.microsoft.com/office/drawing/2014/main" xmlns="" id="{4610C259-E5B7-489B-B67C-58B3DFDB1A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BCF1D18-8A44-48DE-B70A-A543F4B055A8}" type="slidenum">
              <a:rPr lang="en-US" altLang="en-US" smtClean="0"/>
              <a:pPr>
                <a:spcBef>
                  <a:spcPct val="0"/>
                </a:spcBef>
              </a:pPr>
              <a:t>34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>
            <a:extLst>
              <a:ext uri="{FF2B5EF4-FFF2-40B4-BE49-F238E27FC236}">
                <a16:creationId xmlns:a16="http://schemas.microsoft.com/office/drawing/2014/main" xmlns="" id="{A5EB0057-E59B-4AF5-8ABF-E635EE6539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Notes Placeholder 2">
            <a:extLst>
              <a:ext uri="{FF2B5EF4-FFF2-40B4-BE49-F238E27FC236}">
                <a16:creationId xmlns:a16="http://schemas.microsoft.com/office/drawing/2014/main" xmlns="" id="{D5625F68-D826-496E-B070-E98B21928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53252" name="Slide Number Placeholder 3">
            <a:extLst>
              <a:ext uri="{FF2B5EF4-FFF2-40B4-BE49-F238E27FC236}">
                <a16:creationId xmlns:a16="http://schemas.microsoft.com/office/drawing/2014/main" xmlns="" id="{2D76CBAF-3049-4A35-9B7A-FCB7541527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B6A0336-76AA-479D-B4FC-64ECCDB20F65}" type="slidenum">
              <a:rPr lang="en-US" altLang="en-US" smtClean="0"/>
              <a:pPr>
                <a:spcBef>
                  <a:spcPct val="0"/>
                </a:spcBef>
              </a:pPr>
              <a:t>35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xmlns="" id="{1B94C5F3-BF11-4FA8-AB9A-D51F05C067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xmlns="" id="{D8287A2D-9D44-452E-8C86-72FDA32ABC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55300" name="Slide Number Placeholder 3">
            <a:extLst>
              <a:ext uri="{FF2B5EF4-FFF2-40B4-BE49-F238E27FC236}">
                <a16:creationId xmlns:a16="http://schemas.microsoft.com/office/drawing/2014/main" xmlns="" id="{AB9A7260-038D-428B-A040-6DBD228601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1C229B7-AD48-4598-BCE4-27C5305782E4}" type="slidenum">
              <a:rPr lang="en-US" altLang="en-US" smtClean="0"/>
              <a:pPr>
                <a:spcBef>
                  <a:spcPct val="0"/>
                </a:spcBef>
              </a:pPr>
              <a:t>36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xmlns="" id="{136D183E-38C3-4554-A081-929A31C84D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780982D-00AD-48B8-A7BD-C9AAE16DC352}" type="slidenum">
              <a:rPr lang="en-US" altLang="en-US" smtClean="0"/>
              <a:pPr>
                <a:spcBef>
                  <a:spcPct val="0"/>
                </a:spcBef>
              </a:pPr>
              <a:t>37</a:t>
            </a:fld>
            <a:endParaRPr lang="en-US" altLang="en-US"/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xmlns="" id="{8DBC9CEA-65B5-4896-9638-A9B13D9CE5F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xmlns="" id="{9FF5E476-84DE-4215-94E0-E33D9389B2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DA8CBA53-D2BB-407E-997D-E3D91549B0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A93CB4CD-60F1-461E-9F90-C490DEF906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333C2BE4-5ED9-4469-A82B-B848E7C0B7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42C848-329E-49A9-B2C7-DA20F71A977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3518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1DDBA3ED-6B34-4186-8361-560D13D45A8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5395C0FA-A0AE-4A96-AEBB-8C7A71FD8A5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C54D41BF-3F98-4AEB-88D1-E5F5C7CE44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B6F6FE-9BB5-40AF-B7FB-C3562C900FA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53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B3F34977-EF3F-4EBE-BB9B-607D63CA84C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749C8335-3198-480D-A63D-9432DC69F45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7AA04CB4-24E2-490D-8880-492A1535DC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EC11F8-E52A-4A51-AC95-BB6E926B069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5031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D010D6B7-8264-4A0C-BBA7-F8342A225D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79A0BE36-B4A5-4C83-8CAA-6E1396C1425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3E6EBAA1-B98D-4BB7-B00B-53458FAF9B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736EF5-0784-47A1-9411-D655581EB61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989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xmlns="" id="{D84A9FAC-1429-41ED-95DE-434D0776B6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xmlns="" id="{D358B92F-9D1A-40B9-9AB1-94466FD0C54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xmlns="" id="{1A551D94-9E20-4DC7-8A60-D3CDFED724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8A492A-633A-4B44-86E7-13E0B87C154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745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xmlns="" id="{3DE753DC-1DC6-442C-9425-C7769B6792D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xmlns="" id="{EEA83EE8-F828-4E4B-BB00-F0E772C9139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xmlns="" id="{01FA5246-72AB-43C9-B5D4-089665DDFD4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47F7EC-3928-4AEC-A39E-E85FDB9DF9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96556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xmlns="" id="{6861C2F0-6B26-4D6E-8388-79F5AD30543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xmlns="" id="{69D9F183-5695-4C96-ADED-CB220CACE75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xmlns="" id="{DAA60DD2-0C13-49F7-A64D-CA974BEF67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9F494E-52B6-43DE-9D48-8062B180797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1250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7E5483E2-8111-428F-AF04-82708F65BBD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3EF77069-5CF0-49F9-AABE-69570FFC97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CD66FB2D-A98D-43F6-AFCA-0F391387E8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465D38-3BF1-42B8-9DA4-BA9FFF5274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2004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E7E63901-CE74-4DE0-A168-A9D509848AF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73D4B8F5-72D1-4963-A752-E5B58632C42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B537B94-A5FD-4EEE-AC80-DCA3694593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4B00CD-0374-468D-8E17-B0BB106FE1A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6781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B8978EB8-EC48-427A-9FF0-2FF5357CC4E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F6A6B2E5-2B2C-425C-BFD8-DC9C417FF7D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F400849A-471F-4DF2-9DD5-11F6CFE1C92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A85292-9873-40C4-86CF-086CA1A2BB6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3595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FFE8C47A-BF8C-4335-9542-613E598F99B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145BB594-3B67-4B7A-805F-DAFE4BEB112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B00AE664-0E3F-417F-8F33-8F4E7C7A1D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C68DDC-82AC-4D0E-922F-C056E2E109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97406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4B1BC6F8-C45F-43C4-9266-0AB43472DC7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A0030EFA-90DB-4AFB-9DB0-2156045F83C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A920ECBC-796F-4F57-80FA-30F354B6C7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60ED9D-28B2-4F3D-BB23-53502DCF232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18730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xmlns="" id="{AB6D484D-1AFB-48E6-B998-D98DB8E3B36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xmlns="" id="{306974E9-F18E-45E9-94AF-35FF1E3B86B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xmlns="" id="{FCECFF18-2782-4A5D-968D-6DA2A51BAF9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3F695B-87F0-411C-ABB2-8F89AA1A81C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84358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8A4DE86-E179-4C0D-AFC6-9254FF34D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xmlns="" id="{808EF955-61B9-4BA2-8A9C-40B75F836A0B}"/>
              </a:ext>
            </a:extLst>
          </p:cNvPr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E294FE30-4C52-42A7-B3F7-387A5E93ED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59B0AC58-5BA9-41FE-8309-5EAC195E17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C1B58803-611F-4461-88EB-C76DA6E737A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8E166-75E6-42DD-8C86-CF54D53DA6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9475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xmlns="" id="{44B6DC40-A474-40F8-98C1-3833B5EB5E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xmlns="" id="{3B5662AF-E762-4B96-B37E-D5BE194371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xmlns="" id="{B1BEC37F-2C03-4863-B17E-FDAD6662305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xmlns="" id="{877078F0-0A12-4805-AB5E-6094EE500F1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xmlns="" id="{FAF782ED-F0F1-4C03-9CFD-5657EFA16E8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F005E2C4-912B-46E4-83D1-D2A5AB4F846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7.wmf"/><Relationship Id="rId12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9.wmf"/><Relationship Id="rId5" Type="http://schemas.openxmlformats.org/officeDocument/2006/relationships/image" Target="../media/image6.wmf"/><Relationship Id="rId10" Type="http://schemas.openxmlformats.org/officeDocument/2006/relationships/oleObject" Target="../embeddings/oleObject6.bin"/><Relationship Id="rId4" Type="http://schemas.openxmlformats.org/officeDocument/2006/relationships/oleObject" Target="../embeddings/oleObject3.bin"/><Relationship Id="rId9" Type="http://schemas.openxmlformats.org/officeDocument/2006/relationships/image" Target="../media/image8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7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13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15.wmf"/><Relationship Id="rId5" Type="http://schemas.openxmlformats.org/officeDocument/2006/relationships/image" Target="../media/image12.wmf"/><Relationship Id="rId10" Type="http://schemas.openxmlformats.org/officeDocument/2006/relationships/oleObject" Target="../embeddings/oleObject11.bin"/><Relationship Id="rId4" Type="http://schemas.openxmlformats.org/officeDocument/2006/relationships/oleObject" Target="../embeddings/oleObject8.bin"/><Relationship Id="rId9" Type="http://schemas.openxmlformats.org/officeDocument/2006/relationships/image" Target="../media/image14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10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24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23.wmf"/><Relationship Id="rId4" Type="http://schemas.openxmlformats.org/officeDocument/2006/relationships/oleObject" Target="../embeddings/oleObject12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30.w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3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39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10" Type="http://schemas.openxmlformats.org/officeDocument/2006/relationships/image" Target="../media/image45.png"/><Relationship Id="rId9" Type="http://schemas.openxmlformats.org/officeDocument/2006/relationships/image" Target="../media/image4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33.wmf"/><Relationship Id="rId4" Type="http://schemas.openxmlformats.org/officeDocument/2006/relationships/oleObject" Target="../embeddings/oleObject16.bin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0.png"/><Relationship Id="rId7" Type="http://schemas.openxmlformats.org/officeDocument/2006/relationships/image" Target="../media/image5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13" Type="http://schemas.openxmlformats.org/officeDocument/2006/relationships/image" Target="../media/image9.wmf"/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35.wmf"/><Relationship Id="rId12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8.bin"/><Relationship Id="rId11" Type="http://schemas.openxmlformats.org/officeDocument/2006/relationships/image" Target="../media/image37.wmf"/><Relationship Id="rId5" Type="http://schemas.openxmlformats.org/officeDocument/2006/relationships/image" Target="../media/image34.wmf"/><Relationship Id="rId15" Type="http://schemas.openxmlformats.org/officeDocument/2006/relationships/image" Target="../media/image38.wmf"/><Relationship Id="rId10" Type="http://schemas.openxmlformats.org/officeDocument/2006/relationships/oleObject" Target="../embeddings/oleObject20.bin"/><Relationship Id="rId4" Type="http://schemas.openxmlformats.org/officeDocument/2006/relationships/oleObject" Target="../embeddings/oleObject17.bin"/><Relationship Id="rId9" Type="http://schemas.openxmlformats.org/officeDocument/2006/relationships/image" Target="../media/image36.wmf"/><Relationship Id="rId14" Type="http://schemas.openxmlformats.org/officeDocument/2006/relationships/oleObject" Target="../embeddings/oleObject22.bin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4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24.bin"/><Relationship Id="rId11" Type="http://schemas.openxmlformats.org/officeDocument/2006/relationships/image" Target="../media/image41.wmf"/><Relationship Id="rId5" Type="http://schemas.openxmlformats.org/officeDocument/2006/relationships/image" Target="../media/image39.wmf"/><Relationship Id="rId10" Type="http://schemas.openxmlformats.org/officeDocument/2006/relationships/oleObject" Target="../embeddings/oleObject25.bin"/><Relationship Id="rId4" Type="http://schemas.openxmlformats.org/officeDocument/2006/relationships/oleObject" Target="../embeddings/oleObject23.bin"/><Relationship Id="rId9" Type="http://schemas.openxmlformats.org/officeDocument/2006/relationships/image" Target="../media/image6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42.wmf"/><Relationship Id="rId4" Type="http://schemas.openxmlformats.org/officeDocument/2006/relationships/oleObject" Target="../embeddings/oleObject26.bin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jpeg"/><Relationship Id="rId4" Type="http://schemas.openxmlformats.org/officeDocument/2006/relationships/image" Target="../media/image45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>
            <a:extLst>
              <a:ext uri="{FF2B5EF4-FFF2-40B4-BE49-F238E27FC236}">
                <a16:creationId xmlns:a16="http://schemas.microsoft.com/office/drawing/2014/main" xmlns="" id="{F1DE0AF4-AC2D-4066-9AC0-011380D3D6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47800" y="457200"/>
            <a:ext cx="6934200" cy="2743200"/>
          </a:xfrm>
          <a:effectLst>
            <a:outerShdw dist="107763" dir="2700000" algn="ctr" rotWithShape="0">
              <a:schemeClr val="bg2"/>
            </a:outerShdw>
          </a:effectLst>
        </p:spPr>
        <p:txBody>
          <a:bodyPr lIns="90488" tIns="44450" rIns="90488" bIns="44450"/>
          <a:lstStyle/>
          <a:p>
            <a:pPr algn="l" eaLnBrk="1" hangingPunct="1">
              <a:defRPr/>
            </a:pPr>
            <a:r>
              <a:rPr lang="en-US" altLang="en-US" sz="48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CHƯƠNG VI</a:t>
            </a:r>
            <a:r>
              <a:rPr lang="en-US" altLang="en-US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/>
            </a:r>
            <a:br>
              <a:rPr lang="en-US" altLang="en-US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altLang="en-US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CÂN BẰNG HOÁ HỌC</a:t>
            </a:r>
            <a:br>
              <a:rPr lang="en-US" altLang="en-US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endParaRPr lang="en-US" altLang="en-US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52628CB4-93A6-4FEC-BBF9-C6C3C407C0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14600"/>
            <a:ext cx="9144000" cy="43434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>
            <a:extLst>
              <a:ext uri="{FF2B5EF4-FFF2-40B4-BE49-F238E27FC236}">
                <a16:creationId xmlns:a16="http://schemas.microsoft.com/office/drawing/2014/main" xmlns="" id="{259F2104-375B-4394-BEB8-D7A47A1C4FC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0" y="1371600"/>
            <a:ext cx="9144000" cy="2514600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buNone/>
            </a:pPr>
            <a:r>
              <a:rPr lang="vi-VN" alt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  </a:t>
            </a:r>
            <a:r>
              <a:rPr lang="en-US" altLang="en-US" sz="2800" b="1" dirty="0" err="1">
                <a:solidFill>
                  <a:srgbClr val="FF0000"/>
                </a:solidFill>
                <a:sym typeface="Symbol" panose="05050102010706020507" pitchFamily="18" charset="2"/>
              </a:rPr>
              <a:t>Phản</a:t>
            </a:r>
            <a:r>
              <a:rPr lang="en-US" alt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en-US" sz="2800" b="1" dirty="0" err="1">
                <a:solidFill>
                  <a:srgbClr val="FF0000"/>
                </a:solidFill>
                <a:sym typeface="Symbol" panose="05050102010706020507" pitchFamily="18" charset="2"/>
              </a:rPr>
              <a:t>ứng</a:t>
            </a:r>
            <a:r>
              <a:rPr lang="en-US" alt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en-US" sz="2800" b="1" dirty="0" err="1">
                <a:solidFill>
                  <a:srgbClr val="FF0000"/>
                </a:solidFill>
                <a:sym typeface="Symbol" panose="05050102010706020507" pitchFamily="18" charset="2"/>
              </a:rPr>
              <a:t>thuận</a:t>
            </a:r>
            <a:r>
              <a:rPr lang="en-US" alt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en-US" sz="2800" b="1" dirty="0" err="1">
                <a:solidFill>
                  <a:srgbClr val="FF0000"/>
                </a:solidFill>
                <a:sym typeface="Symbol" panose="05050102010706020507" pitchFamily="18" charset="2"/>
              </a:rPr>
              <a:t>nghịch</a:t>
            </a:r>
            <a:r>
              <a:rPr lang="en-US" alt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 (</a:t>
            </a:r>
            <a:r>
              <a:rPr lang="en-US" altLang="en-US" sz="2800" b="1" dirty="0" err="1">
                <a:solidFill>
                  <a:srgbClr val="FF0000"/>
                </a:solidFill>
                <a:sym typeface="Symbol" panose="05050102010706020507" pitchFamily="18" charset="2"/>
              </a:rPr>
              <a:t>pư</a:t>
            </a:r>
            <a:r>
              <a:rPr lang="en-US" alt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en-US" sz="2800" b="1" dirty="0" err="1">
                <a:solidFill>
                  <a:srgbClr val="FF0000"/>
                </a:solidFill>
                <a:sym typeface="Symbol" panose="05050102010706020507" pitchFamily="18" charset="2"/>
              </a:rPr>
              <a:t>không</a:t>
            </a:r>
            <a:r>
              <a:rPr lang="en-US" alt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en-US" sz="2800" b="1" dirty="0" err="1">
                <a:solidFill>
                  <a:srgbClr val="FF0000"/>
                </a:solidFill>
                <a:sym typeface="Symbol" panose="05050102010706020507" pitchFamily="18" charset="2"/>
              </a:rPr>
              <a:t>hoàn</a:t>
            </a:r>
            <a:r>
              <a:rPr lang="en-US" alt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en-US" sz="2800" b="1" dirty="0" err="1">
                <a:solidFill>
                  <a:srgbClr val="FF0000"/>
                </a:solidFill>
                <a:sym typeface="Symbol" panose="05050102010706020507" pitchFamily="18" charset="2"/>
              </a:rPr>
              <a:t>toàn</a:t>
            </a:r>
            <a:r>
              <a:rPr lang="en-US" alt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): </a:t>
            </a:r>
            <a:r>
              <a:rPr lang="en-US" altLang="en-US" sz="2800" b="1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Symbol" panose="05050102010706020507" pitchFamily="18" charset="2"/>
              </a:rPr>
              <a:t>⇌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altLang="en-US" sz="2400" dirty="0"/>
              <a:t>   </a:t>
            </a:r>
            <a:r>
              <a:rPr lang="en-US" altLang="en-US" sz="2800" dirty="0"/>
              <a:t>Ở </a:t>
            </a:r>
            <a:r>
              <a:rPr lang="en-US" altLang="en-US" sz="2800" dirty="0" err="1"/>
              <a:t>cùng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đk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pư</a:t>
            </a:r>
            <a:r>
              <a:rPr lang="en-US" altLang="en-US" sz="2800" dirty="0"/>
              <a:t> </a:t>
            </a:r>
            <a:r>
              <a:rPr lang="en-US" altLang="en-US" sz="2800" dirty="0" err="1"/>
              <a:t>xảy</a:t>
            </a:r>
            <a:r>
              <a:rPr lang="en-US" altLang="en-US" sz="2800" dirty="0"/>
              <a:t> ra </a:t>
            </a:r>
            <a:r>
              <a:rPr lang="en-US" altLang="en-US" sz="2800" dirty="0" err="1"/>
              <a:t>đồng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thời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theo</a:t>
            </a:r>
            <a:r>
              <a:rPr lang="en-US" altLang="en-US" sz="2800" dirty="0"/>
              <a:t> </a:t>
            </a:r>
            <a:r>
              <a:rPr lang="vi-VN" altLang="en-US" sz="2800" dirty="0"/>
              <a:t>hai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chiều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nhau</a:t>
            </a:r>
            <a:r>
              <a:rPr lang="en-US" altLang="en-US" sz="2800" dirty="0"/>
              <a:t>.</a:t>
            </a:r>
          </a:p>
        </p:txBody>
      </p:sp>
      <p:pic>
        <p:nvPicPr>
          <p:cNvPr id="3076" name="Picture 4" descr="equilibrium composition independent of reaction direction">
            <a:extLst>
              <a:ext uri="{FF2B5EF4-FFF2-40B4-BE49-F238E27FC236}">
                <a16:creationId xmlns:a16="http://schemas.microsoft.com/office/drawing/2014/main" xmlns="" id="{CBB72569-A4D4-4513-83F7-351146D4738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14400" y="3473450"/>
            <a:ext cx="7200900" cy="3384550"/>
          </a:xfrm>
          <a:solidFill>
            <a:srgbClr val="FFFFFF"/>
          </a:solidFill>
        </p:spPr>
      </p:pic>
      <p:sp>
        <p:nvSpPr>
          <p:cNvPr id="3077" name="Text Box 5">
            <a:extLst>
              <a:ext uri="{FF2B5EF4-FFF2-40B4-BE49-F238E27FC236}">
                <a16:creationId xmlns:a16="http://schemas.microsoft.com/office/drawing/2014/main" xmlns="" id="{61E5D811-A7B7-40ED-95D4-7748ED71F6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5813" y="2892425"/>
            <a:ext cx="6172200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 err="1">
                <a:solidFill>
                  <a:srgbClr val="9933FF"/>
                </a:solidFill>
              </a:rPr>
              <a:t>Ví</a:t>
            </a:r>
            <a:r>
              <a:rPr lang="en-US" altLang="en-US" sz="2400" b="1" dirty="0">
                <a:solidFill>
                  <a:srgbClr val="9933FF"/>
                </a:solidFill>
              </a:rPr>
              <a:t> </a:t>
            </a:r>
            <a:r>
              <a:rPr lang="en-US" altLang="en-US" sz="2400" b="1" dirty="0" err="1">
                <a:solidFill>
                  <a:srgbClr val="9933FF"/>
                </a:solidFill>
              </a:rPr>
              <a:t>dụ</a:t>
            </a:r>
            <a:r>
              <a:rPr lang="vi-VN" altLang="en-US" sz="2400" dirty="0">
                <a:solidFill>
                  <a:srgbClr val="9933FF"/>
                </a:solidFill>
              </a:rPr>
              <a:t>:  </a:t>
            </a:r>
            <a:r>
              <a:rPr lang="en-US" altLang="en-US" sz="2400" dirty="0">
                <a:solidFill>
                  <a:srgbClr val="9933FF"/>
                </a:solidFill>
              </a:rPr>
              <a:t> </a:t>
            </a:r>
            <a:r>
              <a:rPr lang="en-US" altLang="en-US" sz="2800" b="1" dirty="0">
                <a:solidFill>
                  <a:srgbClr val="9933FF"/>
                </a:solidFill>
              </a:rPr>
              <a:t>H</a:t>
            </a:r>
            <a:r>
              <a:rPr lang="en-US" altLang="en-US" sz="2800" b="1" baseline="-25000" dirty="0">
                <a:solidFill>
                  <a:srgbClr val="9933FF"/>
                </a:solidFill>
              </a:rPr>
              <a:t>2</a:t>
            </a:r>
            <a:r>
              <a:rPr lang="en-US" altLang="en-US" sz="2800" b="1" dirty="0">
                <a:solidFill>
                  <a:srgbClr val="9933FF"/>
                </a:solidFill>
              </a:rPr>
              <a:t> (k)  + I</a:t>
            </a:r>
            <a:r>
              <a:rPr lang="en-US" altLang="en-US" sz="2800" b="1" baseline="-25000" dirty="0">
                <a:solidFill>
                  <a:srgbClr val="9933FF"/>
                </a:solidFill>
              </a:rPr>
              <a:t>2</a:t>
            </a:r>
            <a:r>
              <a:rPr lang="en-US" altLang="en-US" sz="2800" b="1" dirty="0">
                <a:solidFill>
                  <a:srgbClr val="9933FF"/>
                </a:solidFill>
              </a:rPr>
              <a:t> (k)    ⇌     2HI (k)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2800" b="1" dirty="0">
              <a:solidFill>
                <a:srgbClr val="FF0000"/>
              </a:solidFill>
            </a:endParaRPr>
          </a:p>
        </p:txBody>
      </p:sp>
      <p:sp>
        <p:nvSpPr>
          <p:cNvPr id="3080" name="Text Box 8">
            <a:extLst>
              <a:ext uri="{FF2B5EF4-FFF2-40B4-BE49-F238E27FC236}">
                <a16:creationId xmlns:a16="http://schemas.microsoft.com/office/drawing/2014/main" xmlns="" id="{26A9510C-A11D-401E-90D4-312A83F6D9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buNone/>
            </a:pPr>
            <a:r>
              <a:rPr lang="vi-VN" altLang="en-US" sz="2800" b="1" dirty="0">
                <a:solidFill>
                  <a:srgbClr val="FF0000"/>
                </a:solidFill>
              </a:rPr>
              <a:t>   </a:t>
            </a:r>
            <a:r>
              <a:rPr lang="en-US" altLang="en-US" sz="2800" b="1" dirty="0" err="1">
                <a:solidFill>
                  <a:srgbClr val="FF0000"/>
                </a:solidFill>
              </a:rPr>
              <a:t>Phản</a:t>
            </a:r>
            <a:r>
              <a:rPr lang="en-US" altLang="en-US" sz="2800" b="1" dirty="0">
                <a:solidFill>
                  <a:srgbClr val="FF0000"/>
                </a:solidFill>
              </a:rPr>
              <a:t> </a:t>
            </a:r>
            <a:r>
              <a:rPr lang="en-US" altLang="en-US" sz="2800" b="1" dirty="0" err="1">
                <a:solidFill>
                  <a:srgbClr val="FF0000"/>
                </a:solidFill>
              </a:rPr>
              <a:t>ứng</a:t>
            </a:r>
            <a:r>
              <a:rPr lang="en-US" altLang="en-US" sz="2800" b="1" dirty="0">
                <a:solidFill>
                  <a:srgbClr val="FF0000"/>
                </a:solidFill>
              </a:rPr>
              <a:t> </a:t>
            </a:r>
            <a:r>
              <a:rPr lang="en-US" altLang="en-US" sz="2800" b="1" dirty="0" err="1">
                <a:solidFill>
                  <a:srgbClr val="FF0000"/>
                </a:solidFill>
              </a:rPr>
              <a:t>một</a:t>
            </a:r>
            <a:r>
              <a:rPr lang="en-US" altLang="en-US" sz="2800" b="1" dirty="0">
                <a:solidFill>
                  <a:srgbClr val="FF0000"/>
                </a:solidFill>
              </a:rPr>
              <a:t> </a:t>
            </a:r>
            <a:r>
              <a:rPr lang="en-US" altLang="en-US" sz="2800" b="1" dirty="0" err="1">
                <a:solidFill>
                  <a:srgbClr val="FF0000"/>
                </a:solidFill>
              </a:rPr>
              <a:t>chiều</a:t>
            </a:r>
            <a:r>
              <a:rPr lang="en-US" altLang="en-US" sz="2800" b="1" dirty="0">
                <a:solidFill>
                  <a:srgbClr val="FF0000"/>
                </a:solidFill>
              </a:rPr>
              <a:t> (</a:t>
            </a:r>
            <a:r>
              <a:rPr lang="en-US" altLang="en-US" sz="2800" b="1" dirty="0" err="1">
                <a:solidFill>
                  <a:srgbClr val="FF0000"/>
                </a:solidFill>
              </a:rPr>
              <a:t>pư</a:t>
            </a:r>
            <a:r>
              <a:rPr lang="en-US" altLang="en-US" sz="2800" b="1" dirty="0">
                <a:solidFill>
                  <a:srgbClr val="FF0000"/>
                </a:solidFill>
              </a:rPr>
              <a:t> </a:t>
            </a:r>
            <a:r>
              <a:rPr lang="en-US" altLang="en-US" sz="2800" b="1" dirty="0" err="1">
                <a:solidFill>
                  <a:srgbClr val="FF0000"/>
                </a:solidFill>
              </a:rPr>
              <a:t>hoàn</a:t>
            </a:r>
            <a:r>
              <a:rPr lang="en-US" altLang="en-US" sz="2800" b="1" dirty="0">
                <a:solidFill>
                  <a:srgbClr val="FF0000"/>
                </a:solidFill>
              </a:rPr>
              <a:t> </a:t>
            </a:r>
            <a:r>
              <a:rPr lang="en-US" altLang="en-US" sz="2800" b="1" dirty="0" err="1">
                <a:solidFill>
                  <a:srgbClr val="FF0000"/>
                </a:solidFill>
              </a:rPr>
              <a:t>toàn</a:t>
            </a:r>
            <a:r>
              <a:rPr lang="en-US" altLang="en-US" sz="2800" b="1" dirty="0">
                <a:solidFill>
                  <a:srgbClr val="FF0000"/>
                </a:solidFill>
              </a:rPr>
              <a:t>): = hay  </a:t>
            </a:r>
            <a:r>
              <a:rPr lang="en-US" alt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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altLang="en-US" sz="2800" dirty="0">
                <a:sym typeface="Symbol" panose="05050102010706020507" pitchFamily="18" charset="2"/>
              </a:rPr>
              <a:t>            </a:t>
            </a:r>
            <a:r>
              <a:rPr lang="en-US" altLang="en-US" sz="2800" b="1" dirty="0" err="1">
                <a:solidFill>
                  <a:srgbClr val="0000FF"/>
                </a:solidFill>
                <a:sym typeface="Symbol" panose="05050102010706020507" pitchFamily="18" charset="2"/>
              </a:rPr>
              <a:t>Ví</a:t>
            </a:r>
            <a:r>
              <a:rPr lang="en-US" altLang="en-US" sz="2800" b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en-US" sz="2800" b="1" dirty="0" err="1">
                <a:solidFill>
                  <a:srgbClr val="0000FF"/>
                </a:solidFill>
                <a:sym typeface="Symbol" panose="05050102010706020507" pitchFamily="18" charset="2"/>
              </a:rPr>
              <a:t>dụ</a:t>
            </a:r>
            <a:r>
              <a:rPr lang="vi-VN" altLang="en-US" sz="2800" dirty="0">
                <a:solidFill>
                  <a:srgbClr val="0000FF"/>
                </a:solidFill>
                <a:sym typeface="Symbol" panose="05050102010706020507" pitchFamily="18" charset="2"/>
              </a:rPr>
              <a:t>:</a:t>
            </a:r>
            <a:r>
              <a:rPr lang="en-US" altLang="en-US" sz="2800" dirty="0">
                <a:solidFill>
                  <a:srgbClr val="0000FF"/>
                </a:solidFill>
                <a:sym typeface="Symbol" panose="05050102010706020507" pitchFamily="18" charset="2"/>
              </a:rPr>
              <a:t>   </a:t>
            </a:r>
            <a:r>
              <a:rPr lang="en-US" altLang="en-US" sz="2800" b="1" dirty="0">
                <a:solidFill>
                  <a:srgbClr val="0000FF"/>
                </a:solidFill>
                <a:sym typeface="Symbol" panose="05050102010706020507" pitchFamily="18" charset="2"/>
              </a:rPr>
              <a:t>KClO</a:t>
            </a:r>
            <a:r>
              <a:rPr lang="en-US" altLang="en-US" sz="2800" b="1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3</a:t>
            </a:r>
            <a:r>
              <a:rPr lang="en-US" altLang="en-US" sz="2800" b="1" dirty="0">
                <a:solidFill>
                  <a:srgbClr val="0000FF"/>
                </a:solidFill>
                <a:sym typeface="Symbol" panose="05050102010706020507" pitchFamily="18" charset="2"/>
              </a:rPr>
              <a:t> (r) = </a:t>
            </a:r>
            <a:r>
              <a:rPr lang="en-US" altLang="en-US" sz="2800" b="1" dirty="0" err="1">
                <a:solidFill>
                  <a:srgbClr val="0000FF"/>
                </a:solidFill>
                <a:sym typeface="Symbol" panose="05050102010706020507" pitchFamily="18" charset="2"/>
              </a:rPr>
              <a:t>KCl</a:t>
            </a:r>
            <a:r>
              <a:rPr lang="en-US" altLang="en-US" sz="2800" b="1" dirty="0">
                <a:solidFill>
                  <a:srgbClr val="0000FF"/>
                </a:solidFill>
                <a:sym typeface="Symbol" panose="05050102010706020507" pitchFamily="18" charset="2"/>
              </a:rPr>
              <a:t>(r)   + 3/2O</a:t>
            </a:r>
            <a:r>
              <a:rPr lang="en-US" altLang="en-US" sz="2800" b="1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2</a:t>
            </a:r>
            <a:r>
              <a:rPr lang="en-US" altLang="en-US" sz="2800" b="1" dirty="0">
                <a:solidFill>
                  <a:srgbClr val="0000FF"/>
                </a:solidFill>
                <a:sym typeface="Symbol" panose="05050102010706020507" pitchFamily="18" charset="2"/>
              </a:rPr>
              <a:t>(k)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build="p"/>
      <p:bldP spid="3077" grpId="0"/>
      <p:bldP spid="308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xmlns="" id="{910A3E28-4E52-4914-9F0E-0EFDF36192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1265238"/>
          </a:xfrm>
        </p:spPr>
        <p:txBody>
          <a:bodyPr/>
          <a:lstStyle/>
          <a:p>
            <a:pPr algn="l" eaLnBrk="1" hangingPunct="1"/>
            <a:r>
              <a:rPr lang="en-US" altLang="en-US" sz="3600" dirty="0">
                <a:solidFill>
                  <a:srgbClr val="0000FF"/>
                </a:solidFill>
                <a:latin typeface="Times New Roman" panose="02020603050405020304" pitchFamily="18" charset="0"/>
              </a:rPr>
              <a:t>  </a:t>
            </a:r>
            <a:r>
              <a:rPr lang="en-US" altLang="en-US" sz="3000" b="1" dirty="0" err="1">
                <a:solidFill>
                  <a:srgbClr val="FF0000"/>
                </a:solidFill>
                <a:latin typeface="+mn-lt"/>
              </a:rPr>
              <a:t>Phản</a:t>
            </a:r>
            <a:r>
              <a:rPr lang="en-US" altLang="en-US" sz="3000" b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altLang="en-US" sz="3000" b="1" dirty="0" err="1">
                <a:solidFill>
                  <a:srgbClr val="FF0000"/>
                </a:solidFill>
                <a:latin typeface="+mn-lt"/>
              </a:rPr>
              <a:t>ứng</a:t>
            </a:r>
            <a:r>
              <a:rPr lang="en-US" altLang="en-US" sz="3000" b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altLang="en-US" sz="3000" b="1" dirty="0" err="1">
                <a:solidFill>
                  <a:srgbClr val="FF0000"/>
                </a:solidFill>
                <a:latin typeface="+mn-lt"/>
              </a:rPr>
              <a:t>đồng</a:t>
            </a:r>
            <a:r>
              <a:rPr lang="en-US" altLang="en-US" sz="3000" b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altLang="en-US" sz="3000" b="1" dirty="0" err="1">
                <a:solidFill>
                  <a:srgbClr val="FF0000"/>
                </a:solidFill>
                <a:latin typeface="+mn-lt"/>
              </a:rPr>
              <a:t>thể</a:t>
            </a:r>
            <a:r>
              <a:rPr lang="en-US" altLang="en-US" sz="3000" dirty="0">
                <a:solidFill>
                  <a:srgbClr val="FF0000"/>
                </a:solidFill>
                <a:latin typeface="+mn-lt"/>
              </a:rPr>
              <a:t>: p</a:t>
            </a:r>
            <a:r>
              <a:rPr lang="vi-VN" altLang="en-US" sz="3000" dirty="0">
                <a:solidFill>
                  <a:srgbClr val="FF0000"/>
                </a:solidFill>
                <a:latin typeface="+mn-lt"/>
              </a:rPr>
              <a:t>ư</a:t>
            </a:r>
            <a:r>
              <a:rPr lang="en-US" altLang="en-US" sz="3000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altLang="en-US" sz="3000" dirty="0" err="1">
                <a:solidFill>
                  <a:srgbClr val="FF0000"/>
                </a:solidFill>
                <a:latin typeface="+mn-lt"/>
              </a:rPr>
              <a:t>trong</a:t>
            </a:r>
            <a:r>
              <a:rPr lang="en-US" altLang="en-US" sz="3000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altLang="en-US" sz="3000" dirty="0" err="1">
                <a:solidFill>
                  <a:srgbClr val="FF0000"/>
                </a:solidFill>
                <a:latin typeface="+mn-lt"/>
              </a:rPr>
              <a:t>thể</a:t>
            </a:r>
            <a:r>
              <a:rPr lang="en-US" altLang="en-US" sz="3000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altLang="en-US" sz="3000" dirty="0" err="1">
                <a:solidFill>
                  <a:srgbClr val="FF0000"/>
                </a:solidFill>
                <a:latin typeface="+mn-lt"/>
              </a:rPr>
              <a:t>tích</a:t>
            </a:r>
            <a:r>
              <a:rPr lang="en-US" altLang="en-US" sz="3000" dirty="0">
                <a:solidFill>
                  <a:srgbClr val="FF0000"/>
                </a:solidFill>
                <a:latin typeface="+mn-lt"/>
              </a:rPr>
              <a:t> 1 </a:t>
            </a:r>
            <a:r>
              <a:rPr lang="en-US" altLang="en-US" sz="3000" dirty="0" err="1">
                <a:solidFill>
                  <a:srgbClr val="FF0000"/>
                </a:solidFill>
                <a:latin typeface="+mn-lt"/>
              </a:rPr>
              <a:t>pha</a:t>
            </a:r>
            <a:r>
              <a:rPr lang="vi-VN" altLang="en-US" sz="3000" dirty="0">
                <a:solidFill>
                  <a:srgbClr val="FF0000"/>
                </a:solidFill>
                <a:latin typeface="+mn-lt"/>
              </a:rPr>
              <a:t>.</a:t>
            </a:r>
            <a:r>
              <a:rPr lang="en-US" altLang="en-US" sz="3000" dirty="0">
                <a:solidFill>
                  <a:srgbClr val="FF0000"/>
                </a:solidFill>
                <a:latin typeface="+mn-lt"/>
              </a:rPr>
              <a:t/>
            </a:r>
            <a:br>
              <a:rPr lang="en-US" altLang="en-US" sz="3000" dirty="0">
                <a:solidFill>
                  <a:srgbClr val="FF0000"/>
                </a:solidFill>
                <a:latin typeface="+mn-lt"/>
              </a:rPr>
            </a:br>
            <a:r>
              <a:rPr lang="en-US" altLang="en-US" sz="3000" dirty="0">
                <a:solidFill>
                  <a:srgbClr val="FF0000"/>
                </a:solidFill>
                <a:latin typeface="+mn-lt"/>
              </a:rPr>
              <a:t>  </a:t>
            </a:r>
            <a:r>
              <a:rPr lang="en-US" altLang="en-US" sz="3000" i="1" dirty="0">
                <a:solidFill>
                  <a:srgbClr val="FF0000"/>
                </a:solidFill>
                <a:latin typeface="+mn-lt"/>
              </a:rPr>
              <a:t>HCl(dd)  +  NaOH(dd) </a:t>
            </a:r>
            <a:r>
              <a:rPr lang="vi-VN" altLang="en-US" sz="3000" i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altLang="en-US" sz="3000" i="1" dirty="0">
                <a:solidFill>
                  <a:srgbClr val="FF0000"/>
                </a:solidFill>
                <a:latin typeface="+mn-lt"/>
              </a:rPr>
              <a:t>= </a:t>
            </a:r>
            <a:r>
              <a:rPr lang="vi-VN" altLang="en-US" sz="3000" i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altLang="en-US" sz="3000" i="1" dirty="0">
                <a:solidFill>
                  <a:srgbClr val="FF0000"/>
                </a:solidFill>
                <a:latin typeface="+mn-lt"/>
              </a:rPr>
              <a:t>NaCl (dd)  + </a:t>
            </a:r>
            <a:r>
              <a:rPr lang="vi-VN" altLang="en-US" sz="3000" i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altLang="en-US" sz="3000" i="1" dirty="0">
                <a:solidFill>
                  <a:srgbClr val="FF0000"/>
                </a:solidFill>
                <a:latin typeface="+mn-lt"/>
              </a:rPr>
              <a:t>H</a:t>
            </a:r>
            <a:r>
              <a:rPr lang="en-US" altLang="en-US" sz="3000" i="1" baseline="-25000" dirty="0">
                <a:solidFill>
                  <a:srgbClr val="FF0000"/>
                </a:solidFill>
                <a:latin typeface="+mn-lt"/>
              </a:rPr>
              <a:t>2</a:t>
            </a:r>
            <a:r>
              <a:rPr lang="en-US" altLang="en-US" sz="3000" i="1" dirty="0">
                <a:solidFill>
                  <a:srgbClr val="FF0000"/>
                </a:solidFill>
                <a:latin typeface="+mn-lt"/>
              </a:rPr>
              <a:t>O(l)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xmlns="" id="{C3F9D000-68B6-4A72-9E1B-659816E2DA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-38100" y="1542774"/>
            <a:ext cx="9220200" cy="1295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800" dirty="0">
                <a:solidFill>
                  <a:srgbClr val="0000FF"/>
                </a:solidFill>
              </a:rPr>
              <a:t> </a:t>
            </a:r>
            <a:r>
              <a:rPr lang="en-US" altLang="en-US" sz="2800" b="1" dirty="0" err="1">
                <a:solidFill>
                  <a:srgbClr val="006600"/>
                </a:solidFill>
              </a:rPr>
              <a:t>Phản</a:t>
            </a:r>
            <a:r>
              <a:rPr lang="en-US" altLang="en-US" sz="2800" b="1" dirty="0">
                <a:solidFill>
                  <a:srgbClr val="006600"/>
                </a:solidFill>
              </a:rPr>
              <a:t> </a:t>
            </a:r>
            <a:r>
              <a:rPr lang="en-US" altLang="en-US" sz="2800" b="1" dirty="0" err="1">
                <a:solidFill>
                  <a:srgbClr val="006600"/>
                </a:solidFill>
              </a:rPr>
              <a:t>ứng</a:t>
            </a:r>
            <a:r>
              <a:rPr lang="en-US" altLang="en-US" sz="2800" b="1" dirty="0">
                <a:solidFill>
                  <a:srgbClr val="006600"/>
                </a:solidFill>
              </a:rPr>
              <a:t> </a:t>
            </a:r>
            <a:r>
              <a:rPr lang="en-US" altLang="en-US" sz="2800" b="1" dirty="0" err="1">
                <a:solidFill>
                  <a:srgbClr val="006600"/>
                </a:solidFill>
              </a:rPr>
              <a:t>dị</a:t>
            </a:r>
            <a:r>
              <a:rPr lang="en-US" altLang="en-US" sz="2800" b="1" dirty="0">
                <a:solidFill>
                  <a:srgbClr val="006600"/>
                </a:solidFill>
              </a:rPr>
              <a:t> </a:t>
            </a:r>
            <a:r>
              <a:rPr lang="en-US" altLang="en-US" sz="2800" b="1" dirty="0" err="1">
                <a:solidFill>
                  <a:srgbClr val="006600"/>
                </a:solidFill>
              </a:rPr>
              <a:t>thể</a:t>
            </a:r>
            <a:r>
              <a:rPr lang="vi-VN" altLang="en-US" sz="2800" dirty="0">
                <a:solidFill>
                  <a:srgbClr val="006600"/>
                </a:solidFill>
              </a:rPr>
              <a:t>: </a:t>
            </a:r>
            <a:r>
              <a:rPr lang="en-US" altLang="en-US" sz="2800" dirty="0" err="1">
                <a:solidFill>
                  <a:srgbClr val="006600"/>
                </a:solidFill>
              </a:rPr>
              <a:t>pư</a:t>
            </a:r>
            <a:r>
              <a:rPr lang="en-US" altLang="en-US" sz="2800" dirty="0">
                <a:solidFill>
                  <a:srgbClr val="006600"/>
                </a:solidFill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</a:rPr>
              <a:t>diễn</a:t>
            </a:r>
            <a:r>
              <a:rPr lang="en-US" altLang="en-US" sz="2800" dirty="0">
                <a:solidFill>
                  <a:srgbClr val="006600"/>
                </a:solidFill>
              </a:rPr>
              <a:t> ra </a:t>
            </a:r>
            <a:r>
              <a:rPr lang="en-US" altLang="en-US" sz="2800" dirty="0" err="1">
                <a:solidFill>
                  <a:srgbClr val="006600"/>
                </a:solidFill>
              </a:rPr>
              <a:t>trên</a:t>
            </a:r>
            <a:r>
              <a:rPr lang="en-US" altLang="en-US" sz="2800" dirty="0">
                <a:solidFill>
                  <a:srgbClr val="006600"/>
                </a:solidFill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</a:rPr>
              <a:t>bề</a:t>
            </a:r>
            <a:r>
              <a:rPr lang="en-US" altLang="en-US" sz="2800" dirty="0">
                <a:solidFill>
                  <a:srgbClr val="006600"/>
                </a:solidFill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</a:rPr>
              <a:t>mặt</a:t>
            </a:r>
            <a:r>
              <a:rPr lang="en-US" altLang="en-US" sz="2800" dirty="0">
                <a:solidFill>
                  <a:srgbClr val="006600"/>
                </a:solidFill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</a:rPr>
              <a:t>phân</a:t>
            </a:r>
            <a:r>
              <a:rPr lang="en-US" altLang="en-US" sz="2800" dirty="0">
                <a:solidFill>
                  <a:srgbClr val="006600"/>
                </a:solidFill>
              </a:rPr>
              <a:t> chia </a:t>
            </a:r>
            <a:r>
              <a:rPr lang="en-US" altLang="en-US" sz="2800" dirty="0" err="1">
                <a:solidFill>
                  <a:srgbClr val="006600"/>
                </a:solidFill>
              </a:rPr>
              <a:t>pha</a:t>
            </a:r>
            <a:r>
              <a:rPr lang="vi-VN" altLang="en-US" sz="2800" dirty="0">
                <a:solidFill>
                  <a:srgbClr val="006600"/>
                </a:solidFill>
              </a:rPr>
              <a:t>.</a:t>
            </a:r>
            <a:endParaRPr lang="en-US" altLang="en-US" sz="2800" dirty="0">
              <a:solidFill>
                <a:srgbClr val="006600"/>
              </a:solidFill>
            </a:endParaRPr>
          </a:p>
          <a:p>
            <a:pPr eaLnBrk="1" hangingPunct="1">
              <a:buFontTx/>
              <a:buNone/>
            </a:pPr>
            <a:r>
              <a:rPr lang="en-US" altLang="en-US" sz="2800" dirty="0">
                <a:solidFill>
                  <a:srgbClr val="006600"/>
                </a:solidFill>
              </a:rPr>
              <a:t>  </a:t>
            </a:r>
            <a:r>
              <a:rPr lang="vi-VN" altLang="en-US" sz="2800" dirty="0">
                <a:solidFill>
                  <a:srgbClr val="006600"/>
                </a:solidFill>
              </a:rPr>
              <a:t>   </a:t>
            </a:r>
            <a:r>
              <a:rPr lang="en-US" altLang="en-US" i="1" dirty="0">
                <a:solidFill>
                  <a:srgbClr val="006600"/>
                </a:solidFill>
              </a:rPr>
              <a:t>Zn (r)  +  2HCl (dd)  =  ZnCl</a:t>
            </a:r>
            <a:r>
              <a:rPr lang="en-US" altLang="en-US" i="1" baseline="-25000" dirty="0">
                <a:solidFill>
                  <a:srgbClr val="006600"/>
                </a:solidFill>
              </a:rPr>
              <a:t>2</a:t>
            </a:r>
            <a:r>
              <a:rPr lang="en-US" altLang="en-US" i="1" dirty="0">
                <a:solidFill>
                  <a:srgbClr val="006600"/>
                </a:solidFill>
              </a:rPr>
              <a:t>(dd)  +  H</a:t>
            </a:r>
            <a:r>
              <a:rPr lang="en-US" altLang="en-US" i="1" baseline="-25000" dirty="0">
                <a:solidFill>
                  <a:srgbClr val="006600"/>
                </a:solidFill>
              </a:rPr>
              <a:t>2</a:t>
            </a:r>
            <a:r>
              <a:rPr lang="en-US" altLang="en-US" i="1" dirty="0">
                <a:solidFill>
                  <a:srgbClr val="006600"/>
                </a:solidFill>
              </a:rPr>
              <a:t>(k) </a:t>
            </a:r>
          </a:p>
        </p:txBody>
      </p:sp>
      <p:sp>
        <p:nvSpPr>
          <p:cNvPr id="27652" name="Text Box 4">
            <a:extLst>
              <a:ext uri="{FF2B5EF4-FFF2-40B4-BE49-F238E27FC236}">
                <a16:creationId xmlns:a16="http://schemas.microsoft.com/office/drawing/2014/main" xmlns="" id="{4B0A9120-5B1B-4DB9-9FD2-97FFB035BF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" y="2915276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dirty="0">
                <a:solidFill>
                  <a:srgbClr val="0000FF"/>
                </a:solidFill>
              </a:rPr>
              <a:t>  </a:t>
            </a:r>
            <a:r>
              <a:rPr lang="en-US" altLang="en-US" sz="2800" b="1" dirty="0" err="1">
                <a:solidFill>
                  <a:srgbClr val="0000FF"/>
                </a:solidFill>
              </a:rPr>
              <a:t>Phản</a:t>
            </a:r>
            <a:r>
              <a:rPr lang="en-US" altLang="en-US" sz="2800" b="1" dirty="0">
                <a:solidFill>
                  <a:srgbClr val="0000FF"/>
                </a:solidFill>
              </a:rPr>
              <a:t> </a:t>
            </a:r>
            <a:r>
              <a:rPr lang="en-US" altLang="en-US" sz="2800" b="1" dirty="0" err="1">
                <a:solidFill>
                  <a:srgbClr val="0000FF"/>
                </a:solidFill>
              </a:rPr>
              <a:t>ứng</a:t>
            </a:r>
            <a:r>
              <a:rPr lang="en-US" altLang="en-US" sz="2800" b="1" dirty="0">
                <a:solidFill>
                  <a:srgbClr val="0000FF"/>
                </a:solidFill>
              </a:rPr>
              <a:t> </a:t>
            </a:r>
            <a:r>
              <a:rPr lang="en-US" altLang="en-US" sz="2800" b="1" dirty="0" err="1">
                <a:solidFill>
                  <a:srgbClr val="0000FF"/>
                </a:solidFill>
              </a:rPr>
              <a:t>đơn</a:t>
            </a:r>
            <a:r>
              <a:rPr lang="en-US" altLang="en-US" sz="2800" b="1" dirty="0">
                <a:solidFill>
                  <a:srgbClr val="0000FF"/>
                </a:solidFill>
              </a:rPr>
              <a:t> </a:t>
            </a:r>
            <a:r>
              <a:rPr lang="en-US" altLang="en-US" sz="2800" b="1" dirty="0" err="1">
                <a:solidFill>
                  <a:srgbClr val="0000FF"/>
                </a:solidFill>
              </a:rPr>
              <a:t>giản</a:t>
            </a:r>
            <a:r>
              <a:rPr lang="vi-VN" altLang="en-US" sz="2800" dirty="0">
                <a:solidFill>
                  <a:srgbClr val="0000FF"/>
                </a:solidFill>
              </a:rPr>
              <a:t>:</a:t>
            </a:r>
            <a:r>
              <a:rPr lang="en-US" altLang="en-US" sz="2800" dirty="0">
                <a:solidFill>
                  <a:srgbClr val="0000FF"/>
                </a:solidFill>
              </a:rPr>
              <a:t> p</a:t>
            </a:r>
            <a:r>
              <a:rPr lang="vi-VN" altLang="en-US" sz="2800" dirty="0">
                <a:solidFill>
                  <a:srgbClr val="0000FF"/>
                </a:solidFill>
              </a:rPr>
              <a:t>ư</a:t>
            </a:r>
            <a:r>
              <a:rPr lang="en-US" altLang="en-US" sz="2800" dirty="0">
                <a:solidFill>
                  <a:srgbClr val="0000FF"/>
                </a:solidFill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</a:rPr>
              <a:t>diễn</a:t>
            </a:r>
            <a:r>
              <a:rPr lang="en-US" altLang="en-US" sz="2800" dirty="0">
                <a:solidFill>
                  <a:srgbClr val="0000FF"/>
                </a:solidFill>
              </a:rPr>
              <a:t> ra qua 1 </a:t>
            </a:r>
            <a:r>
              <a:rPr lang="en-US" altLang="en-US" sz="2800" dirty="0" err="1">
                <a:solidFill>
                  <a:srgbClr val="0000FF"/>
                </a:solidFill>
              </a:rPr>
              <a:t>giai</a:t>
            </a:r>
            <a:r>
              <a:rPr lang="en-US" altLang="en-US" sz="2800" dirty="0">
                <a:solidFill>
                  <a:srgbClr val="0000FF"/>
                </a:solidFill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</a:rPr>
              <a:t>đoạn</a:t>
            </a:r>
            <a:r>
              <a:rPr lang="en-US" altLang="en-US" sz="2800" dirty="0">
                <a:solidFill>
                  <a:srgbClr val="0000FF"/>
                </a:solidFill>
              </a:rPr>
              <a:t>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dirty="0">
                <a:solidFill>
                  <a:srgbClr val="0000FF"/>
                </a:solidFill>
              </a:rPr>
              <a:t> (1 </a:t>
            </a:r>
            <a:r>
              <a:rPr lang="en-US" altLang="en-US" sz="2800" dirty="0" err="1">
                <a:solidFill>
                  <a:srgbClr val="0000FF"/>
                </a:solidFill>
              </a:rPr>
              <a:t>tác</a:t>
            </a:r>
            <a:r>
              <a:rPr lang="en-US" altLang="en-US" sz="2800" dirty="0">
                <a:solidFill>
                  <a:srgbClr val="0000FF"/>
                </a:solidFill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</a:rPr>
              <a:t>dụng</a:t>
            </a:r>
            <a:r>
              <a:rPr lang="en-US" altLang="en-US" sz="2800" dirty="0">
                <a:solidFill>
                  <a:srgbClr val="0000FF"/>
                </a:solidFill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</a:rPr>
              <a:t>cơ</a:t>
            </a:r>
            <a:r>
              <a:rPr lang="en-US" altLang="en-US" sz="2800" dirty="0">
                <a:solidFill>
                  <a:srgbClr val="0000FF"/>
                </a:solidFill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</a:rPr>
              <a:t>bản</a:t>
            </a:r>
            <a:r>
              <a:rPr lang="en-US" altLang="en-US" sz="2800" dirty="0">
                <a:solidFill>
                  <a:srgbClr val="0000FF"/>
                </a:solidFill>
              </a:rPr>
              <a:t>)</a:t>
            </a:r>
            <a:r>
              <a:rPr lang="vi-VN" altLang="en-US" sz="2800" dirty="0">
                <a:solidFill>
                  <a:srgbClr val="0000FF"/>
                </a:solidFill>
              </a:rPr>
              <a:t>.      </a:t>
            </a:r>
            <a:r>
              <a:rPr lang="en-US" altLang="en-US" i="1" dirty="0">
                <a:solidFill>
                  <a:srgbClr val="0000FF"/>
                </a:solidFill>
              </a:rPr>
              <a:t>H</a:t>
            </a:r>
            <a:r>
              <a:rPr lang="en-US" altLang="en-US" i="1" baseline="-25000" dirty="0">
                <a:solidFill>
                  <a:srgbClr val="0000FF"/>
                </a:solidFill>
              </a:rPr>
              <a:t>2</a:t>
            </a:r>
            <a:r>
              <a:rPr lang="en-US" altLang="en-US" i="1" dirty="0">
                <a:solidFill>
                  <a:srgbClr val="0000FF"/>
                </a:solidFill>
              </a:rPr>
              <a:t>(k) + I</a:t>
            </a:r>
            <a:r>
              <a:rPr lang="en-US" altLang="en-US" i="1" baseline="-25000" dirty="0">
                <a:solidFill>
                  <a:srgbClr val="0000FF"/>
                </a:solidFill>
              </a:rPr>
              <a:t>2</a:t>
            </a:r>
            <a:r>
              <a:rPr lang="en-US" altLang="en-US" i="1" dirty="0">
                <a:solidFill>
                  <a:srgbClr val="0000FF"/>
                </a:solidFill>
              </a:rPr>
              <a:t>(k) = 2HI (k)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2800" b="1" dirty="0">
              <a:solidFill>
                <a:srgbClr val="0000FF"/>
              </a:solidFill>
            </a:endParaRPr>
          </a:p>
        </p:txBody>
      </p:sp>
      <p:sp>
        <p:nvSpPr>
          <p:cNvPr id="27653" name="Text Box 5">
            <a:extLst>
              <a:ext uri="{FF2B5EF4-FFF2-40B4-BE49-F238E27FC236}">
                <a16:creationId xmlns:a16="http://schemas.microsoft.com/office/drawing/2014/main" xmlns="" id="{D86AAF3C-8B12-446F-B98C-CB1B34D113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" y="4343400"/>
            <a:ext cx="9144000" cy="180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dirty="0">
                <a:solidFill>
                  <a:srgbClr val="0000FF"/>
                </a:solidFill>
              </a:rPr>
              <a:t>  </a:t>
            </a:r>
            <a:r>
              <a:rPr lang="en-US" altLang="en-US" sz="2800" b="1" dirty="0" err="1">
                <a:solidFill>
                  <a:srgbClr val="CC00FF"/>
                </a:solidFill>
              </a:rPr>
              <a:t>Phản</a:t>
            </a:r>
            <a:r>
              <a:rPr lang="en-US" altLang="en-US" sz="2800" b="1" dirty="0">
                <a:solidFill>
                  <a:srgbClr val="CC00FF"/>
                </a:solidFill>
              </a:rPr>
              <a:t> </a:t>
            </a:r>
            <a:r>
              <a:rPr lang="en-US" altLang="en-US" sz="2800" b="1" dirty="0" err="1">
                <a:solidFill>
                  <a:srgbClr val="CC00FF"/>
                </a:solidFill>
              </a:rPr>
              <a:t>ứng</a:t>
            </a:r>
            <a:r>
              <a:rPr lang="en-US" altLang="en-US" sz="2800" b="1" dirty="0">
                <a:solidFill>
                  <a:srgbClr val="CC00FF"/>
                </a:solidFill>
              </a:rPr>
              <a:t> </a:t>
            </a:r>
            <a:r>
              <a:rPr lang="en-US" altLang="en-US" sz="2800" b="1" dirty="0" err="1">
                <a:solidFill>
                  <a:srgbClr val="CC00FF"/>
                </a:solidFill>
              </a:rPr>
              <a:t>phức</a:t>
            </a:r>
            <a:r>
              <a:rPr lang="en-US" altLang="en-US" sz="2800" b="1" dirty="0">
                <a:solidFill>
                  <a:srgbClr val="CC00FF"/>
                </a:solidFill>
              </a:rPr>
              <a:t> </a:t>
            </a:r>
            <a:r>
              <a:rPr lang="en-US" altLang="en-US" sz="2800" b="1" dirty="0" err="1">
                <a:solidFill>
                  <a:srgbClr val="CC00FF"/>
                </a:solidFill>
              </a:rPr>
              <a:t>tạp</a:t>
            </a:r>
            <a:r>
              <a:rPr lang="vi-VN" altLang="en-US" sz="2800" dirty="0">
                <a:solidFill>
                  <a:srgbClr val="CC00FF"/>
                </a:solidFill>
              </a:rPr>
              <a:t>:</a:t>
            </a:r>
            <a:r>
              <a:rPr lang="en-US" altLang="en-US" sz="2800" dirty="0">
                <a:solidFill>
                  <a:srgbClr val="CC00FF"/>
                </a:solidFill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</a:rPr>
              <a:t>pư</a:t>
            </a:r>
            <a:r>
              <a:rPr lang="en-US" altLang="en-US" sz="2800" dirty="0">
                <a:solidFill>
                  <a:srgbClr val="CC00FF"/>
                </a:solidFill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</a:rPr>
              <a:t>diễn</a:t>
            </a:r>
            <a:r>
              <a:rPr lang="en-US" altLang="en-US" sz="2800" dirty="0">
                <a:solidFill>
                  <a:srgbClr val="CC00FF"/>
                </a:solidFill>
              </a:rPr>
              <a:t> ra qua </a:t>
            </a:r>
            <a:r>
              <a:rPr lang="en-US" altLang="en-US" sz="2800" dirty="0" err="1">
                <a:solidFill>
                  <a:srgbClr val="CC00FF"/>
                </a:solidFill>
              </a:rPr>
              <a:t>nhiều</a:t>
            </a:r>
            <a:r>
              <a:rPr lang="en-US" altLang="en-US" sz="2800" dirty="0">
                <a:solidFill>
                  <a:srgbClr val="CC00FF"/>
                </a:solidFill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</a:rPr>
              <a:t>giai</a:t>
            </a:r>
            <a:r>
              <a:rPr lang="en-US" altLang="en-US" sz="2800" dirty="0">
                <a:solidFill>
                  <a:srgbClr val="CC00FF"/>
                </a:solidFill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</a:rPr>
              <a:t>đoạn</a:t>
            </a:r>
            <a:endParaRPr lang="en-US" altLang="en-US" sz="2800" dirty="0">
              <a:solidFill>
                <a:srgbClr val="CC00FF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dirty="0">
                <a:solidFill>
                  <a:srgbClr val="CC00FF"/>
                </a:solidFill>
              </a:rPr>
              <a:t>  ( </a:t>
            </a:r>
            <a:r>
              <a:rPr lang="en-US" altLang="en-US" sz="2800" dirty="0" err="1">
                <a:solidFill>
                  <a:srgbClr val="CC00FF"/>
                </a:solidFill>
              </a:rPr>
              <a:t>nhiều</a:t>
            </a:r>
            <a:r>
              <a:rPr lang="en-US" altLang="en-US" sz="2800" dirty="0">
                <a:solidFill>
                  <a:srgbClr val="CC00FF"/>
                </a:solidFill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</a:rPr>
              <a:t>tác</a:t>
            </a:r>
            <a:r>
              <a:rPr lang="en-US" altLang="en-US" sz="2800" dirty="0">
                <a:solidFill>
                  <a:srgbClr val="CC00FF"/>
                </a:solidFill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</a:rPr>
              <a:t>dụng</a:t>
            </a:r>
            <a:r>
              <a:rPr lang="en-US" altLang="en-US" sz="2800" dirty="0">
                <a:solidFill>
                  <a:srgbClr val="CC00FF"/>
                </a:solidFill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</a:rPr>
              <a:t>cơ</a:t>
            </a:r>
            <a:r>
              <a:rPr lang="en-US" altLang="en-US" sz="2800" dirty="0">
                <a:solidFill>
                  <a:srgbClr val="CC00FF"/>
                </a:solidFill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</a:rPr>
              <a:t>bản</a:t>
            </a:r>
            <a:r>
              <a:rPr lang="en-US" altLang="en-US" sz="2800" dirty="0">
                <a:solidFill>
                  <a:srgbClr val="CC00FF"/>
                </a:solidFill>
              </a:rPr>
              <a:t>)</a:t>
            </a:r>
            <a:r>
              <a:rPr lang="vi-VN" altLang="en-US" sz="2800" dirty="0">
                <a:solidFill>
                  <a:srgbClr val="CC00FF"/>
                </a:solidFill>
              </a:rPr>
              <a:t>.</a:t>
            </a:r>
            <a:endParaRPr lang="en-US" altLang="en-US" sz="2800" dirty="0">
              <a:solidFill>
                <a:srgbClr val="CC00FF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dirty="0">
                <a:solidFill>
                  <a:srgbClr val="CC00FF"/>
                </a:solidFill>
              </a:rPr>
              <a:t>  </a:t>
            </a:r>
            <a:r>
              <a:rPr lang="en-US" altLang="en-US" sz="2800" dirty="0" err="1">
                <a:solidFill>
                  <a:srgbClr val="CC00FF"/>
                </a:solidFill>
              </a:rPr>
              <a:t>Các</a:t>
            </a:r>
            <a:r>
              <a:rPr lang="en-US" altLang="en-US" sz="2800" dirty="0">
                <a:solidFill>
                  <a:srgbClr val="CC00FF"/>
                </a:solidFill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</a:rPr>
              <a:t>giai</a:t>
            </a:r>
            <a:r>
              <a:rPr lang="en-US" altLang="en-US" sz="2800" dirty="0">
                <a:solidFill>
                  <a:srgbClr val="CC00FF"/>
                </a:solidFill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</a:rPr>
              <a:t>đoạn</a:t>
            </a:r>
            <a:r>
              <a:rPr lang="en-US" altLang="en-US" sz="2800" dirty="0">
                <a:solidFill>
                  <a:srgbClr val="CC00FF"/>
                </a:solidFill>
              </a:rPr>
              <a:t>: </a:t>
            </a:r>
            <a:r>
              <a:rPr lang="en-US" altLang="en-US" sz="2800" dirty="0" err="1">
                <a:solidFill>
                  <a:srgbClr val="CC00FF"/>
                </a:solidFill>
              </a:rPr>
              <a:t>nối</a:t>
            </a:r>
            <a:r>
              <a:rPr lang="en-US" altLang="en-US" sz="2800" dirty="0">
                <a:solidFill>
                  <a:srgbClr val="CC00FF"/>
                </a:solidFill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</a:rPr>
              <a:t>tiếp</a:t>
            </a:r>
            <a:r>
              <a:rPr lang="en-US" altLang="en-US" sz="2800" dirty="0">
                <a:solidFill>
                  <a:srgbClr val="CC00FF"/>
                </a:solidFill>
              </a:rPr>
              <a:t> , song </a:t>
            </a:r>
            <a:r>
              <a:rPr lang="en-US" altLang="en-US" sz="2800" dirty="0" err="1">
                <a:solidFill>
                  <a:srgbClr val="CC00FF"/>
                </a:solidFill>
              </a:rPr>
              <a:t>song</a:t>
            </a:r>
            <a:r>
              <a:rPr lang="en-US" altLang="en-US" sz="2800" dirty="0">
                <a:solidFill>
                  <a:srgbClr val="CC00FF"/>
                </a:solidFill>
              </a:rPr>
              <a:t>, </a:t>
            </a:r>
            <a:r>
              <a:rPr lang="en-US" altLang="en-US" sz="2800" dirty="0" err="1">
                <a:solidFill>
                  <a:srgbClr val="CC00FF"/>
                </a:solidFill>
              </a:rPr>
              <a:t>thuận</a:t>
            </a:r>
            <a:r>
              <a:rPr lang="en-US" altLang="en-US" sz="2800" dirty="0">
                <a:solidFill>
                  <a:srgbClr val="CC00FF"/>
                </a:solidFill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</a:rPr>
              <a:t>nghịch</a:t>
            </a:r>
            <a:r>
              <a:rPr lang="en-US" altLang="en-US" sz="2800" dirty="0">
                <a:solidFill>
                  <a:srgbClr val="CC00FF"/>
                </a:solidFill>
              </a:rPr>
              <a:t>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/>
      <p:bldP spid="27651" grpId="0" build="p"/>
      <p:bldP spid="27652" grpId="0"/>
      <p:bldP spid="2765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>
            <a:extLst>
              <a:ext uri="{FF2B5EF4-FFF2-40B4-BE49-F238E27FC236}">
                <a16:creationId xmlns:a16="http://schemas.microsoft.com/office/drawing/2014/main" xmlns="" id="{B7C887CA-71DF-4E00-83D6-31DDCC74F0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685800"/>
            <a:ext cx="9144000" cy="2667000"/>
          </a:xfrm>
        </p:spPr>
        <p:txBody>
          <a:bodyPr/>
          <a:lstStyle/>
          <a:p>
            <a:pPr marL="287338" indent="-236538" eaLnBrk="1" hangingPunct="1">
              <a:buFontTx/>
              <a:buNone/>
            </a:pPr>
            <a:r>
              <a:rPr lang="en-US" altLang="en-US" sz="2800" b="1" dirty="0" err="1">
                <a:solidFill>
                  <a:srgbClr val="0000FF"/>
                </a:solidFill>
              </a:rPr>
              <a:t>Định</a:t>
            </a:r>
            <a:r>
              <a:rPr lang="en-US" altLang="en-US" sz="2800" b="1" dirty="0">
                <a:solidFill>
                  <a:srgbClr val="0000FF"/>
                </a:solidFill>
              </a:rPr>
              <a:t> </a:t>
            </a:r>
            <a:r>
              <a:rPr lang="en-US" altLang="en-US" sz="2800" b="1" dirty="0" err="1">
                <a:solidFill>
                  <a:srgbClr val="0000FF"/>
                </a:solidFill>
              </a:rPr>
              <a:t>luật</a:t>
            </a:r>
            <a:r>
              <a:rPr lang="en-US" altLang="en-US" sz="2800" b="1" dirty="0">
                <a:solidFill>
                  <a:srgbClr val="0000FF"/>
                </a:solidFill>
              </a:rPr>
              <a:t> </a:t>
            </a:r>
            <a:r>
              <a:rPr lang="en-US" altLang="en-US" sz="2800" b="1" dirty="0" err="1">
                <a:solidFill>
                  <a:srgbClr val="0000FF"/>
                </a:solidFill>
              </a:rPr>
              <a:t>tác</a:t>
            </a:r>
            <a:r>
              <a:rPr lang="en-US" altLang="en-US" sz="2800" b="1" dirty="0">
                <a:solidFill>
                  <a:srgbClr val="0000FF"/>
                </a:solidFill>
              </a:rPr>
              <a:t> </a:t>
            </a:r>
            <a:r>
              <a:rPr lang="en-US" altLang="en-US" sz="2800" b="1" dirty="0" err="1">
                <a:solidFill>
                  <a:srgbClr val="0000FF"/>
                </a:solidFill>
              </a:rPr>
              <a:t>dụng</a:t>
            </a:r>
            <a:r>
              <a:rPr lang="en-US" altLang="en-US" sz="2800" b="1" dirty="0">
                <a:solidFill>
                  <a:srgbClr val="0000FF"/>
                </a:solidFill>
              </a:rPr>
              <a:t> </a:t>
            </a:r>
            <a:r>
              <a:rPr lang="en-US" altLang="en-US" sz="2800" b="1" dirty="0" err="1">
                <a:solidFill>
                  <a:srgbClr val="0000FF"/>
                </a:solidFill>
              </a:rPr>
              <a:t>khối</a:t>
            </a:r>
            <a:r>
              <a:rPr lang="en-US" altLang="en-US" sz="2800" b="1" dirty="0">
                <a:solidFill>
                  <a:srgbClr val="0000FF"/>
                </a:solidFill>
              </a:rPr>
              <a:t> </a:t>
            </a:r>
            <a:r>
              <a:rPr lang="en-US" altLang="en-US" sz="2800" b="1" dirty="0" err="1">
                <a:solidFill>
                  <a:srgbClr val="0000FF"/>
                </a:solidFill>
              </a:rPr>
              <a:t>lượng</a:t>
            </a:r>
            <a:r>
              <a:rPr lang="en-US" altLang="en-US" dirty="0">
                <a:solidFill>
                  <a:srgbClr val="0000FF"/>
                </a:solidFill>
              </a:rPr>
              <a:t> </a:t>
            </a:r>
            <a:r>
              <a:rPr lang="en-US" altLang="en-US" sz="2400" dirty="0">
                <a:solidFill>
                  <a:srgbClr val="0000FF"/>
                </a:solidFill>
              </a:rPr>
              <a:t>(</a:t>
            </a:r>
            <a:r>
              <a:rPr lang="en-US" altLang="en-US" sz="2400" dirty="0" err="1">
                <a:solidFill>
                  <a:srgbClr val="0000FF"/>
                </a:solidFill>
              </a:rPr>
              <a:t>M.Guldberg</a:t>
            </a:r>
            <a:r>
              <a:rPr lang="en-US" altLang="en-US" sz="2400" dirty="0">
                <a:solidFill>
                  <a:srgbClr val="0000FF"/>
                </a:solidFill>
              </a:rPr>
              <a:t> </a:t>
            </a:r>
            <a:r>
              <a:rPr lang="en-US" altLang="en-US" sz="2400" dirty="0" err="1">
                <a:solidFill>
                  <a:srgbClr val="0000FF"/>
                </a:solidFill>
              </a:rPr>
              <a:t>và</a:t>
            </a:r>
            <a:r>
              <a:rPr lang="en-US" altLang="en-US" sz="2400" dirty="0">
                <a:solidFill>
                  <a:srgbClr val="0000FF"/>
                </a:solidFill>
              </a:rPr>
              <a:t> P. </a:t>
            </a:r>
            <a:r>
              <a:rPr lang="en-US" altLang="en-US" sz="2400" dirty="0" err="1">
                <a:solidFill>
                  <a:srgbClr val="0000FF"/>
                </a:solidFill>
              </a:rPr>
              <a:t>Waage</a:t>
            </a:r>
            <a:r>
              <a:rPr lang="en-US" altLang="en-US" sz="2400" dirty="0">
                <a:solidFill>
                  <a:srgbClr val="0000FF"/>
                </a:solidFill>
              </a:rPr>
              <a:t> )</a:t>
            </a:r>
          </a:p>
          <a:p>
            <a:pPr marL="287338" indent="-236538" eaLnBrk="1" hangingPunct="1">
              <a:buFontTx/>
              <a:buNone/>
            </a:pPr>
            <a:r>
              <a:rPr lang="en-US" altLang="en-US" sz="2800" dirty="0"/>
              <a:t>Ở </a:t>
            </a:r>
            <a:r>
              <a:rPr lang="en-US" altLang="en-US" sz="2800" dirty="0" err="1"/>
              <a:t>nhiệt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độ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đổi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phản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ứng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đồng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thể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đơn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giản</a:t>
            </a:r>
            <a:r>
              <a:rPr lang="en-US" altLang="en-US" sz="2800" dirty="0"/>
              <a:t>:</a:t>
            </a:r>
            <a:r>
              <a:rPr lang="en-US" altLang="en-US" dirty="0"/>
              <a:t>  </a:t>
            </a:r>
          </a:p>
          <a:p>
            <a:pPr marL="287338" indent="-236538" eaLnBrk="1" hangingPunct="1">
              <a:buFontTx/>
              <a:buNone/>
            </a:pPr>
            <a:r>
              <a:rPr lang="en-US" altLang="en-US" dirty="0"/>
              <a:t>           </a:t>
            </a:r>
            <a:r>
              <a:rPr lang="en-US" altLang="en-US" dirty="0" err="1"/>
              <a:t>aA</a:t>
            </a:r>
            <a:r>
              <a:rPr lang="en-US" altLang="en-US" dirty="0"/>
              <a:t>   +   </a:t>
            </a:r>
            <a:r>
              <a:rPr lang="en-US" altLang="en-US" dirty="0" err="1"/>
              <a:t>bB</a:t>
            </a:r>
            <a:r>
              <a:rPr lang="en-US" altLang="en-US" dirty="0"/>
              <a:t>   =   </a:t>
            </a:r>
            <a:r>
              <a:rPr lang="en-US" altLang="en-US" dirty="0" err="1"/>
              <a:t>cC</a:t>
            </a:r>
            <a:r>
              <a:rPr lang="en-US" altLang="en-US" dirty="0"/>
              <a:t>   +     </a:t>
            </a:r>
            <a:r>
              <a:rPr lang="en-US" altLang="en-US" dirty="0" err="1"/>
              <a:t>dD</a:t>
            </a:r>
            <a:endParaRPr lang="en-US" altLang="en-US" dirty="0"/>
          </a:p>
          <a:p>
            <a:pPr marL="287338" indent="-236538" eaLnBrk="1" hangingPunct="1">
              <a:buFontTx/>
              <a:buNone/>
            </a:pPr>
            <a:r>
              <a:rPr lang="en-US" altLang="en-US" sz="2800" dirty="0"/>
              <a:t>  </a:t>
            </a:r>
            <a:r>
              <a:rPr lang="vi-VN" altLang="en-US" sz="2800" dirty="0"/>
              <a:t>  </a:t>
            </a:r>
            <a:r>
              <a:rPr lang="en-US" altLang="en-US" sz="2800" dirty="0" err="1">
                <a:solidFill>
                  <a:srgbClr val="FF0000"/>
                </a:solidFill>
              </a:rPr>
              <a:t>Tốc</a:t>
            </a:r>
            <a:r>
              <a:rPr lang="en-US" altLang="en-US" sz="2800" dirty="0">
                <a:solidFill>
                  <a:srgbClr val="FF0000"/>
                </a:solidFill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</a:rPr>
              <a:t>độ</a:t>
            </a:r>
            <a:r>
              <a:rPr lang="en-US" altLang="en-US" sz="2800" dirty="0">
                <a:solidFill>
                  <a:srgbClr val="FF0000"/>
                </a:solidFill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</a:rPr>
              <a:t>phản</a:t>
            </a:r>
            <a:r>
              <a:rPr lang="en-US" altLang="en-US" sz="2800" dirty="0">
                <a:solidFill>
                  <a:srgbClr val="FF0000"/>
                </a:solidFill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</a:rPr>
              <a:t>ứng</a:t>
            </a:r>
            <a:r>
              <a:rPr lang="en-US" altLang="en-US" sz="2800" dirty="0">
                <a:solidFill>
                  <a:srgbClr val="FF0000"/>
                </a:solidFill>
              </a:rPr>
              <a:t>:     </a:t>
            </a:r>
            <a:r>
              <a:rPr lang="en-US" altLang="en-US" b="1" dirty="0">
                <a:solidFill>
                  <a:srgbClr val="FF0000"/>
                </a:solidFill>
              </a:rPr>
              <a:t>v  = </a:t>
            </a:r>
            <a:r>
              <a:rPr lang="en-US" altLang="en-US" b="1" dirty="0" err="1">
                <a:solidFill>
                  <a:srgbClr val="FF0000"/>
                </a:solidFill>
              </a:rPr>
              <a:t>k.C</a:t>
            </a:r>
            <a:r>
              <a:rPr lang="en-US" altLang="en-US" b="1" baseline="30000" dirty="0" err="1">
                <a:solidFill>
                  <a:srgbClr val="FF0000"/>
                </a:solidFill>
              </a:rPr>
              <a:t>a</a:t>
            </a:r>
            <a:r>
              <a:rPr lang="en-US" altLang="en-US" b="1" baseline="-25000" dirty="0" err="1">
                <a:solidFill>
                  <a:srgbClr val="FF0000"/>
                </a:solidFill>
              </a:rPr>
              <a:t>A</a:t>
            </a:r>
            <a:r>
              <a:rPr lang="en-US" altLang="en-US" b="1" dirty="0" err="1">
                <a:solidFill>
                  <a:srgbClr val="FF0000"/>
                </a:solidFill>
              </a:rPr>
              <a:t>.C</a:t>
            </a:r>
            <a:r>
              <a:rPr lang="en-US" altLang="en-US" b="1" baseline="30000" dirty="0" err="1">
                <a:solidFill>
                  <a:srgbClr val="FF0000"/>
                </a:solidFill>
              </a:rPr>
              <a:t>b</a:t>
            </a:r>
            <a:r>
              <a:rPr lang="en-US" altLang="en-US" b="1" baseline="-25000" dirty="0" err="1">
                <a:solidFill>
                  <a:srgbClr val="FF0000"/>
                </a:solidFill>
              </a:rPr>
              <a:t>B</a:t>
            </a:r>
            <a:r>
              <a:rPr lang="en-US" altLang="en-US" sz="2800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9219" name="Rectangle 6">
            <a:extLst>
              <a:ext uri="{FF2B5EF4-FFF2-40B4-BE49-F238E27FC236}">
                <a16:creationId xmlns:a16="http://schemas.microsoft.com/office/drawing/2014/main" xmlns="" id="{C8D4EC06-EA1F-4C05-A042-7FA6862D98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3352800"/>
            <a:ext cx="8382000" cy="2997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lang="en-US" altLang="en-US" b="1" i="1" dirty="0" err="1">
                <a:solidFill>
                  <a:srgbClr val="006600"/>
                </a:solidFill>
              </a:rPr>
              <a:t>Định</a:t>
            </a:r>
            <a:r>
              <a:rPr lang="en-US" altLang="en-US" b="1" i="1" dirty="0">
                <a:solidFill>
                  <a:srgbClr val="006600"/>
                </a:solidFill>
              </a:rPr>
              <a:t> </a:t>
            </a:r>
            <a:r>
              <a:rPr lang="en-US" altLang="en-US" b="1" i="1" dirty="0" err="1">
                <a:solidFill>
                  <a:srgbClr val="006600"/>
                </a:solidFill>
              </a:rPr>
              <a:t>luật</a:t>
            </a:r>
            <a:r>
              <a:rPr lang="en-US" altLang="en-US" b="1" i="1" dirty="0">
                <a:solidFill>
                  <a:srgbClr val="006600"/>
                </a:solidFill>
              </a:rPr>
              <a:t> </a:t>
            </a:r>
            <a:r>
              <a:rPr lang="en-US" altLang="en-US" b="1" i="1" dirty="0" err="1">
                <a:solidFill>
                  <a:srgbClr val="006600"/>
                </a:solidFill>
              </a:rPr>
              <a:t>này</a:t>
            </a:r>
            <a:r>
              <a:rPr lang="en-US" altLang="en-US" b="1" i="1" dirty="0">
                <a:solidFill>
                  <a:srgbClr val="006600"/>
                </a:solidFill>
              </a:rPr>
              <a:t> </a:t>
            </a:r>
            <a:r>
              <a:rPr lang="en-US" altLang="en-US" b="1" i="1" dirty="0" err="1">
                <a:solidFill>
                  <a:srgbClr val="006600"/>
                </a:solidFill>
              </a:rPr>
              <a:t>nghiệm</a:t>
            </a:r>
            <a:r>
              <a:rPr lang="en-US" altLang="en-US" b="1" i="1" dirty="0">
                <a:solidFill>
                  <a:srgbClr val="006600"/>
                </a:solidFill>
              </a:rPr>
              <a:t> </a:t>
            </a:r>
            <a:r>
              <a:rPr lang="en-US" altLang="en-US" b="1" i="1" dirty="0" err="1">
                <a:solidFill>
                  <a:srgbClr val="006600"/>
                </a:solidFill>
              </a:rPr>
              <a:t>đúng</a:t>
            </a:r>
            <a:r>
              <a:rPr lang="en-US" altLang="en-US" b="1" i="1" dirty="0">
                <a:solidFill>
                  <a:srgbClr val="006600"/>
                </a:solidFill>
              </a:rPr>
              <a:t> </a:t>
            </a:r>
            <a:r>
              <a:rPr lang="en-US" altLang="en-US" b="1" i="1" dirty="0" err="1">
                <a:solidFill>
                  <a:srgbClr val="006600"/>
                </a:solidFill>
              </a:rPr>
              <a:t>cho</a:t>
            </a:r>
            <a:r>
              <a:rPr lang="en-US" altLang="en-US" b="1" i="1" dirty="0">
                <a:solidFill>
                  <a:srgbClr val="006600"/>
                </a:solidFill>
              </a:rPr>
              <a:t> </a:t>
            </a:r>
            <a:r>
              <a:rPr lang="en-US" altLang="en-US" b="1" i="1" dirty="0" err="1">
                <a:solidFill>
                  <a:srgbClr val="006600"/>
                </a:solidFill>
              </a:rPr>
              <a:t>các</a:t>
            </a:r>
            <a:r>
              <a:rPr lang="en-US" altLang="en-US" b="1" i="1" dirty="0">
                <a:solidFill>
                  <a:srgbClr val="006600"/>
                </a:solidFill>
              </a:rPr>
              <a:t> </a:t>
            </a:r>
            <a:r>
              <a:rPr lang="en-US" altLang="en-US" b="1" i="1" dirty="0" err="1">
                <a:solidFill>
                  <a:srgbClr val="006600"/>
                </a:solidFill>
              </a:rPr>
              <a:t>phản</a:t>
            </a:r>
            <a:r>
              <a:rPr lang="en-US" altLang="en-US" b="1" i="1" dirty="0">
                <a:solidFill>
                  <a:srgbClr val="006600"/>
                </a:solidFill>
              </a:rPr>
              <a:t> </a:t>
            </a:r>
            <a:r>
              <a:rPr lang="en-US" altLang="en-US" b="1" i="1" dirty="0" err="1">
                <a:solidFill>
                  <a:srgbClr val="006600"/>
                </a:solidFill>
              </a:rPr>
              <a:t>ứng</a:t>
            </a:r>
            <a:r>
              <a:rPr lang="en-US" altLang="en-US" b="1" i="1" dirty="0">
                <a:solidFill>
                  <a:srgbClr val="006600"/>
                </a:solidFill>
              </a:rPr>
              <a:t> </a:t>
            </a:r>
            <a:r>
              <a:rPr lang="en-US" altLang="en-US" b="1" i="1" dirty="0" err="1">
                <a:solidFill>
                  <a:srgbClr val="006600"/>
                </a:solidFill>
              </a:rPr>
              <a:t>đơn</a:t>
            </a:r>
            <a:r>
              <a:rPr lang="en-US" altLang="en-US" b="1" i="1" dirty="0">
                <a:solidFill>
                  <a:srgbClr val="006600"/>
                </a:solidFill>
              </a:rPr>
              <a:t> </a:t>
            </a:r>
            <a:r>
              <a:rPr lang="en-US" altLang="en-US" b="1" i="1" dirty="0" err="1">
                <a:solidFill>
                  <a:srgbClr val="006600"/>
                </a:solidFill>
              </a:rPr>
              <a:t>giản</a:t>
            </a:r>
            <a:r>
              <a:rPr lang="en-US" altLang="en-US" b="1" i="1" dirty="0">
                <a:solidFill>
                  <a:srgbClr val="006600"/>
                </a:solidFill>
              </a:rPr>
              <a:t> </a:t>
            </a:r>
            <a:r>
              <a:rPr lang="en-US" altLang="en-US" b="1" i="1" dirty="0" err="1">
                <a:solidFill>
                  <a:srgbClr val="006600"/>
                </a:solidFill>
              </a:rPr>
              <a:t>và</a:t>
            </a:r>
            <a:r>
              <a:rPr lang="en-US" altLang="en-US" b="1" i="1" dirty="0">
                <a:solidFill>
                  <a:srgbClr val="006600"/>
                </a:solidFill>
              </a:rPr>
              <a:t> </a:t>
            </a:r>
            <a:r>
              <a:rPr lang="en-US" altLang="en-US" b="1" i="1" dirty="0" err="1">
                <a:solidFill>
                  <a:srgbClr val="006600"/>
                </a:solidFill>
              </a:rPr>
              <a:t>cho</a:t>
            </a:r>
            <a:r>
              <a:rPr lang="en-US" altLang="en-US" b="1" i="1" dirty="0">
                <a:solidFill>
                  <a:srgbClr val="006600"/>
                </a:solidFill>
              </a:rPr>
              <a:t> </a:t>
            </a:r>
            <a:r>
              <a:rPr lang="en-US" altLang="en-US" b="1" i="1" dirty="0" err="1">
                <a:solidFill>
                  <a:srgbClr val="006600"/>
                </a:solidFill>
              </a:rPr>
              <a:t>từng</a:t>
            </a:r>
            <a:r>
              <a:rPr lang="en-US" altLang="en-US" b="1" i="1" dirty="0">
                <a:solidFill>
                  <a:srgbClr val="006600"/>
                </a:solidFill>
              </a:rPr>
              <a:t> </a:t>
            </a:r>
            <a:r>
              <a:rPr lang="en-US" altLang="en-US" b="1" i="1" dirty="0" err="1">
                <a:solidFill>
                  <a:srgbClr val="006600"/>
                </a:solidFill>
              </a:rPr>
              <a:t>giai</a:t>
            </a:r>
            <a:r>
              <a:rPr lang="en-US" altLang="en-US" b="1" i="1" dirty="0">
                <a:solidFill>
                  <a:srgbClr val="006600"/>
                </a:solidFill>
              </a:rPr>
              <a:t> </a:t>
            </a:r>
            <a:r>
              <a:rPr lang="en-US" altLang="en-US" b="1" i="1" dirty="0" err="1">
                <a:solidFill>
                  <a:srgbClr val="006600"/>
                </a:solidFill>
              </a:rPr>
              <a:t>đoạn</a:t>
            </a:r>
            <a:r>
              <a:rPr lang="en-US" altLang="en-US" b="1" i="1" dirty="0">
                <a:solidFill>
                  <a:srgbClr val="006600"/>
                </a:solidFill>
              </a:rPr>
              <a:t>        (</a:t>
            </a:r>
            <a:r>
              <a:rPr lang="en-US" altLang="en-US" b="1" i="1" dirty="0" err="1">
                <a:solidFill>
                  <a:srgbClr val="006600"/>
                </a:solidFill>
              </a:rPr>
              <a:t>tác</a:t>
            </a:r>
            <a:r>
              <a:rPr lang="en-US" altLang="en-US" b="1" i="1" dirty="0">
                <a:solidFill>
                  <a:srgbClr val="006600"/>
                </a:solidFill>
              </a:rPr>
              <a:t> </a:t>
            </a:r>
            <a:r>
              <a:rPr lang="en-US" altLang="en-US" b="1" i="1" dirty="0" err="1">
                <a:solidFill>
                  <a:srgbClr val="006600"/>
                </a:solidFill>
              </a:rPr>
              <a:t>dụng</a:t>
            </a:r>
            <a:r>
              <a:rPr lang="en-US" altLang="en-US" b="1" i="1" dirty="0">
                <a:solidFill>
                  <a:srgbClr val="006600"/>
                </a:solidFill>
              </a:rPr>
              <a:t> </a:t>
            </a:r>
            <a:r>
              <a:rPr lang="en-US" altLang="en-US" b="1" i="1" dirty="0" err="1">
                <a:solidFill>
                  <a:srgbClr val="006600"/>
                </a:solidFill>
              </a:rPr>
              <a:t>cơ</a:t>
            </a:r>
            <a:r>
              <a:rPr lang="en-US" altLang="en-US" b="1" i="1" dirty="0">
                <a:solidFill>
                  <a:srgbClr val="006600"/>
                </a:solidFill>
              </a:rPr>
              <a:t> </a:t>
            </a:r>
            <a:r>
              <a:rPr lang="en-US" altLang="en-US" b="1" i="1" dirty="0" err="1">
                <a:solidFill>
                  <a:srgbClr val="006600"/>
                </a:solidFill>
              </a:rPr>
              <a:t>bản</a:t>
            </a:r>
            <a:r>
              <a:rPr lang="en-US" altLang="en-US" b="1" i="1" dirty="0">
                <a:solidFill>
                  <a:srgbClr val="006600"/>
                </a:solidFill>
              </a:rPr>
              <a:t>) </a:t>
            </a:r>
            <a:r>
              <a:rPr lang="en-US" altLang="en-US" b="1" i="1" dirty="0" err="1">
                <a:solidFill>
                  <a:srgbClr val="006600"/>
                </a:solidFill>
              </a:rPr>
              <a:t>của</a:t>
            </a:r>
            <a:r>
              <a:rPr lang="en-US" altLang="en-US" b="1" i="1" dirty="0">
                <a:solidFill>
                  <a:srgbClr val="006600"/>
                </a:solidFill>
              </a:rPr>
              <a:t> </a:t>
            </a:r>
            <a:r>
              <a:rPr lang="en-US" altLang="en-US" b="1" i="1" dirty="0" err="1">
                <a:solidFill>
                  <a:srgbClr val="006600"/>
                </a:solidFill>
              </a:rPr>
              <a:t>phản</a:t>
            </a:r>
            <a:r>
              <a:rPr lang="en-US" altLang="en-US" b="1" i="1" dirty="0">
                <a:solidFill>
                  <a:srgbClr val="006600"/>
                </a:solidFill>
              </a:rPr>
              <a:t> </a:t>
            </a:r>
            <a:r>
              <a:rPr lang="en-US" altLang="en-US" b="1" i="1" dirty="0" err="1">
                <a:solidFill>
                  <a:srgbClr val="006600"/>
                </a:solidFill>
              </a:rPr>
              <a:t>ứng</a:t>
            </a:r>
            <a:r>
              <a:rPr lang="en-US" altLang="en-US" b="1" i="1" dirty="0">
                <a:solidFill>
                  <a:srgbClr val="006600"/>
                </a:solidFill>
              </a:rPr>
              <a:t> </a:t>
            </a:r>
            <a:r>
              <a:rPr lang="en-US" altLang="en-US" b="1" i="1" dirty="0" err="1">
                <a:solidFill>
                  <a:srgbClr val="006600"/>
                </a:solidFill>
              </a:rPr>
              <a:t>phức</a:t>
            </a:r>
            <a:r>
              <a:rPr lang="en-US" altLang="en-US" b="1" i="1" dirty="0">
                <a:solidFill>
                  <a:srgbClr val="006600"/>
                </a:solidFill>
              </a:rPr>
              <a:t> </a:t>
            </a:r>
            <a:r>
              <a:rPr lang="en-US" altLang="en-US" b="1" i="1" dirty="0" err="1">
                <a:solidFill>
                  <a:srgbClr val="006600"/>
                </a:solidFill>
              </a:rPr>
              <a:t>tạp</a:t>
            </a:r>
            <a:r>
              <a:rPr lang="en-US" altLang="en-US" b="1" i="1" dirty="0">
                <a:solidFill>
                  <a:srgbClr val="006600"/>
                </a:solidFill>
              </a:rPr>
              <a:t>.</a:t>
            </a:r>
            <a:endParaRPr lang="en-US" altLang="en-US" b="1" dirty="0">
              <a:solidFill>
                <a:srgbClr val="006600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endParaRPr lang="en-US" altLang="en-US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xmlns="" id="{43B31F4B-12C3-44D5-9112-CAE881E163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36613"/>
          </a:xfrm>
          <a:noFill/>
        </p:spPr>
        <p:txBody>
          <a:bodyPr/>
          <a:lstStyle/>
          <a:p>
            <a:pPr eaLnBrk="1" hangingPunct="1"/>
            <a:r>
              <a:rPr lang="en-US" altLang="en-US" sz="3200" b="1" dirty="0">
                <a:solidFill>
                  <a:srgbClr val="FF0000"/>
                </a:solidFill>
                <a:latin typeface="+mn-lt"/>
              </a:rPr>
              <a:t>CÂN BẰNG HÓA HỌC</a:t>
            </a:r>
          </a:p>
        </p:txBody>
      </p:sp>
      <p:sp>
        <p:nvSpPr>
          <p:cNvPr id="11267" name="Rectangle 4">
            <a:extLst>
              <a:ext uri="{FF2B5EF4-FFF2-40B4-BE49-F238E27FC236}">
                <a16:creationId xmlns:a16="http://schemas.microsoft.com/office/drawing/2014/main" xmlns="" id="{2DBE88A2-BAE6-48EB-A938-F9E5D009AE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4101" name="Object 5">
            <a:extLst>
              <a:ext uri="{FF2B5EF4-FFF2-40B4-BE49-F238E27FC236}">
                <a16:creationId xmlns:a16="http://schemas.microsoft.com/office/drawing/2014/main" xmlns="" id="{854F489F-603E-4C01-ADE0-9F8CE708EC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3512598"/>
              </p:ext>
            </p:extLst>
          </p:nvPr>
        </p:nvGraphicFramePr>
        <p:xfrm>
          <a:off x="5064711" y="4520850"/>
          <a:ext cx="3415673" cy="8040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33" name="Equation" r:id="rId4" imgW="812447" imgH="241195" progId="Equation.3">
                  <p:embed/>
                </p:oleObj>
              </mc:Choice>
              <mc:Fallback>
                <p:oleObj name="Equation" r:id="rId4" imgW="812447" imgH="24119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4711" y="4520850"/>
                        <a:ext cx="3415673" cy="8040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9" name="Rectangle 6">
            <a:extLst>
              <a:ext uri="{FF2B5EF4-FFF2-40B4-BE49-F238E27FC236}">
                <a16:creationId xmlns:a16="http://schemas.microsoft.com/office/drawing/2014/main" xmlns="" id="{9D50A6E4-9550-466D-98D2-3DE0795A1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4103" name="Object 7">
            <a:extLst>
              <a:ext uri="{FF2B5EF4-FFF2-40B4-BE49-F238E27FC236}">
                <a16:creationId xmlns:a16="http://schemas.microsoft.com/office/drawing/2014/main" xmlns="" id="{4CC6C771-7EFD-4C91-8261-6C78F986AE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3955142"/>
              </p:ext>
            </p:extLst>
          </p:nvPr>
        </p:nvGraphicFramePr>
        <p:xfrm>
          <a:off x="5064988" y="5476927"/>
          <a:ext cx="3326561" cy="8040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34" name="Equation" r:id="rId6" imgW="838200" imgH="241300" progId="Equation.3">
                  <p:embed/>
                </p:oleObj>
              </mc:Choice>
              <mc:Fallback>
                <p:oleObj name="Equation" r:id="rId6" imgW="838200" imgH="2413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4988" y="5476927"/>
                        <a:ext cx="3326561" cy="8040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1" name="Rectangle 9">
            <a:extLst>
              <a:ext uri="{FF2B5EF4-FFF2-40B4-BE49-F238E27FC236}">
                <a16:creationId xmlns:a16="http://schemas.microsoft.com/office/drawing/2014/main" xmlns="" id="{B8F08506-439F-4391-9B46-CCBEAB65CC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1272" name="Rectangle 13">
            <a:extLst>
              <a:ext uri="{FF2B5EF4-FFF2-40B4-BE49-F238E27FC236}">
                <a16:creationId xmlns:a16="http://schemas.microsoft.com/office/drawing/2014/main" xmlns="" id="{AE979DCB-EFC4-4EBC-A4D1-027CECF4F7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1273" name="Rectangle 15">
            <a:extLst>
              <a:ext uri="{FF2B5EF4-FFF2-40B4-BE49-F238E27FC236}">
                <a16:creationId xmlns:a16="http://schemas.microsoft.com/office/drawing/2014/main" xmlns="" id="{CFD8A364-C0B4-4BDA-AADD-7D6491A195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pSp>
        <p:nvGrpSpPr>
          <p:cNvPr id="2" name="Group 17">
            <a:extLst>
              <a:ext uri="{FF2B5EF4-FFF2-40B4-BE49-F238E27FC236}">
                <a16:creationId xmlns:a16="http://schemas.microsoft.com/office/drawing/2014/main" xmlns="" id="{02A5C233-CA1D-478D-A79B-08C732DC93DD}"/>
              </a:ext>
            </a:extLst>
          </p:cNvPr>
          <p:cNvGrpSpPr>
            <a:grpSpLocks/>
          </p:cNvGrpSpPr>
          <p:nvPr/>
        </p:nvGrpSpPr>
        <p:grpSpPr bwMode="auto">
          <a:xfrm>
            <a:off x="662778" y="4071717"/>
            <a:ext cx="4032250" cy="2160588"/>
            <a:chOff x="3362" y="10512"/>
            <a:chExt cx="4810" cy="2340"/>
          </a:xfrm>
        </p:grpSpPr>
        <p:sp>
          <p:nvSpPr>
            <p:cNvPr id="11284" name="Line 18">
              <a:extLst>
                <a:ext uri="{FF2B5EF4-FFF2-40B4-BE49-F238E27FC236}">
                  <a16:creationId xmlns:a16="http://schemas.microsoft.com/office/drawing/2014/main" xmlns="" id="{C5FBBB44-F937-4CBC-90B4-F1D1F5D495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62" y="10512"/>
              <a:ext cx="0" cy="23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5" name="Line 19">
              <a:extLst>
                <a:ext uri="{FF2B5EF4-FFF2-40B4-BE49-F238E27FC236}">
                  <a16:creationId xmlns:a16="http://schemas.microsoft.com/office/drawing/2014/main" xmlns="" id="{0934ED53-D1EA-4870-BBEE-41FF2E3F8E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2" y="12852"/>
              <a:ext cx="481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6" name="Arc 20">
              <a:extLst>
                <a:ext uri="{FF2B5EF4-FFF2-40B4-BE49-F238E27FC236}">
                  <a16:creationId xmlns:a16="http://schemas.microsoft.com/office/drawing/2014/main" xmlns="" id="{F99FD163-EA03-4D93-942C-47F4ABA5F877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3363" y="10692"/>
              <a:ext cx="4322" cy="1440"/>
            </a:xfrm>
            <a:custGeom>
              <a:avLst/>
              <a:gdLst>
                <a:gd name="T0" fmla="*/ 0 w 21762"/>
                <a:gd name="T1" fmla="*/ 0 h 21600"/>
                <a:gd name="T2" fmla="*/ 7 w 21762"/>
                <a:gd name="T3" fmla="*/ 0 h 21600"/>
                <a:gd name="T4" fmla="*/ 0 w 21762"/>
                <a:gd name="T5" fmla="*/ 0 h 21600"/>
                <a:gd name="T6" fmla="*/ 0 60000 65536"/>
                <a:gd name="T7" fmla="*/ 0 60000 65536"/>
                <a:gd name="T8" fmla="*/ 0 60000 65536"/>
                <a:gd name="T9" fmla="*/ 0 w 21762"/>
                <a:gd name="T10" fmla="*/ 0 h 21600"/>
                <a:gd name="T11" fmla="*/ 21762 w 2176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762" h="21600" fill="none" extrusionOk="0">
                  <a:moveTo>
                    <a:pt x="-1" y="0"/>
                  </a:moveTo>
                  <a:cubicBezTo>
                    <a:pt x="53" y="0"/>
                    <a:pt x="107" y="-1"/>
                    <a:pt x="162" y="0"/>
                  </a:cubicBezTo>
                  <a:cubicBezTo>
                    <a:pt x="12091" y="0"/>
                    <a:pt x="21762" y="9670"/>
                    <a:pt x="21762" y="21600"/>
                  </a:cubicBezTo>
                </a:path>
                <a:path w="21762" h="21600" stroke="0" extrusionOk="0">
                  <a:moveTo>
                    <a:pt x="-1" y="0"/>
                  </a:moveTo>
                  <a:cubicBezTo>
                    <a:pt x="53" y="0"/>
                    <a:pt x="107" y="-1"/>
                    <a:pt x="162" y="0"/>
                  </a:cubicBezTo>
                  <a:cubicBezTo>
                    <a:pt x="12091" y="0"/>
                    <a:pt x="21762" y="9670"/>
                    <a:pt x="21762" y="21600"/>
                  </a:cubicBezTo>
                  <a:lnTo>
                    <a:pt x="162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7" name="Arc 21">
              <a:extLst>
                <a:ext uri="{FF2B5EF4-FFF2-40B4-BE49-F238E27FC236}">
                  <a16:creationId xmlns:a16="http://schemas.microsoft.com/office/drawing/2014/main" xmlns="" id="{F32C69FD-9BE2-4FFA-879C-72EA7296A94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362" y="12132"/>
              <a:ext cx="4290" cy="720"/>
            </a:xfrm>
            <a:custGeom>
              <a:avLst/>
              <a:gdLst>
                <a:gd name="T0" fmla="*/ 0 w 21600"/>
                <a:gd name="T1" fmla="*/ 0 h 21600"/>
                <a:gd name="T2" fmla="*/ 7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8" name="Line 22">
              <a:extLst>
                <a:ext uri="{FF2B5EF4-FFF2-40B4-BE49-F238E27FC236}">
                  <a16:creationId xmlns:a16="http://schemas.microsoft.com/office/drawing/2014/main" xmlns="" id="{D598B452-C28F-4934-9BE9-3C5B4B93CC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62" y="12132"/>
              <a:ext cx="0" cy="72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119" name="Text Box 23">
            <a:extLst>
              <a:ext uri="{FF2B5EF4-FFF2-40B4-BE49-F238E27FC236}">
                <a16:creationId xmlns:a16="http://schemas.microsoft.com/office/drawing/2014/main" xmlns="" id="{48844EF5-643D-4916-8CC8-CB0AE9ECD7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7473" y="4924470"/>
            <a:ext cx="1498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b="1" dirty="0" err="1">
                <a:solidFill>
                  <a:srgbClr val="FF0000"/>
                </a:solidFill>
              </a:rPr>
              <a:t>v</a:t>
            </a:r>
            <a:r>
              <a:rPr lang="en-US" altLang="en-US" sz="2800" b="1" baseline="-25000" dirty="0" err="1">
                <a:solidFill>
                  <a:srgbClr val="FF0000"/>
                </a:solidFill>
              </a:rPr>
              <a:t>t</a:t>
            </a:r>
            <a:r>
              <a:rPr lang="en-US" altLang="en-US" sz="2800" b="1" dirty="0">
                <a:solidFill>
                  <a:srgbClr val="FF0000"/>
                </a:solidFill>
              </a:rPr>
              <a:t> = </a:t>
            </a:r>
            <a:r>
              <a:rPr lang="en-US" altLang="en-US" sz="2800" b="1" dirty="0" err="1">
                <a:solidFill>
                  <a:srgbClr val="FF0000"/>
                </a:solidFill>
              </a:rPr>
              <a:t>v</a:t>
            </a:r>
            <a:r>
              <a:rPr lang="en-US" altLang="en-US" sz="2800" b="1" baseline="-25000" dirty="0" err="1">
                <a:solidFill>
                  <a:srgbClr val="FF0000"/>
                </a:solidFill>
              </a:rPr>
              <a:t>n</a:t>
            </a:r>
            <a:endParaRPr lang="en-US" altLang="en-US" sz="2800" b="1" dirty="0">
              <a:solidFill>
                <a:srgbClr val="FF0000"/>
              </a:solidFill>
            </a:endParaRPr>
          </a:p>
        </p:txBody>
      </p:sp>
      <p:sp>
        <p:nvSpPr>
          <p:cNvPr id="4120" name="Text Box 24">
            <a:extLst>
              <a:ext uri="{FF2B5EF4-FFF2-40B4-BE49-F238E27FC236}">
                <a16:creationId xmlns:a16="http://schemas.microsoft.com/office/drawing/2014/main" xmlns="" id="{44E4E61F-A469-4025-8E36-B8F82F676E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5943600"/>
            <a:ext cx="67786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dirty="0"/>
              <a:t>	</a:t>
            </a:r>
            <a:r>
              <a:rPr lang="en-US" altLang="en-US" sz="1800" dirty="0">
                <a:sym typeface="Symbol" panose="05050102010706020507" pitchFamily="18" charset="2"/>
              </a:rPr>
              <a:t></a:t>
            </a:r>
            <a:r>
              <a:rPr lang="en-US" altLang="en-US" sz="1800" dirty="0"/>
              <a:t> </a:t>
            </a:r>
          </a:p>
        </p:txBody>
      </p:sp>
      <p:sp>
        <p:nvSpPr>
          <p:cNvPr id="4121" name="Text Box 25">
            <a:extLst>
              <a:ext uri="{FF2B5EF4-FFF2-40B4-BE49-F238E27FC236}">
                <a16:creationId xmlns:a16="http://schemas.microsoft.com/office/drawing/2014/main" xmlns="" id="{E23ECC9F-9859-4854-85D7-1F64EE153C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292" y="6022929"/>
            <a:ext cx="3603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dirty="0"/>
              <a:t>0</a:t>
            </a:r>
          </a:p>
        </p:txBody>
      </p:sp>
      <p:sp>
        <p:nvSpPr>
          <p:cNvPr id="4122" name="Text Box 26">
            <a:extLst>
              <a:ext uri="{FF2B5EF4-FFF2-40B4-BE49-F238E27FC236}">
                <a16:creationId xmlns:a16="http://schemas.microsoft.com/office/drawing/2014/main" xmlns="" id="{C0F83944-CE3B-45E1-8B50-F47BCA0088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143" y="3917407"/>
            <a:ext cx="50482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dirty="0"/>
              <a:t>v</a:t>
            </a:r>
          </a:p>
        </p:txBody>
      </p:sp>
      <p:sp>
        <p:nvSpPr>
          <p:cNvPr id="4123" name="Text Box 27">
            <a:extLst>
              <a:ext uri="{FF2B5EF4-FFF2-40B4-BE49-F238E27FC236}">
                <a16:creationId xmlns:a16="http://schemas.microsoft.com/office/drawing/2014/main" xmlns="" id="{3D659675-4D03-4878-A170-0D77831BB3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7443" y="4389150"/>
            <a:ext cx="83819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dirty="0" err="1"/>
              <a:t>v</a:t>
            </a:r>
            <a:r>
              <a:rPr lang="en-US" altLang="en-US" baseline="-25000" dirty="0" err="1"/>
              <a:t>t</a:t>
            </a:r>
            <a:endParaRPr lang="en-US" altLang="en-US" dirty="0"/>
          </a:p>
        </p:txBody>
      </p:sp>
      <p:sp>
        <p:nvSpPr>
          <p:cNvPr id="4124" name="Text Box 28">
            <a:extLst>
              <a:ext uri="{FF2B5EF4-FFF2-40B4-BE49-F238E27FC236}">
                <a16:creationId xmlns:a16="http://schemas.microsoft.com/office/drawing/2014/main" xmlns="" id="{D1C0BB4E-48DF-4048-8E25-C96EB5D747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5543" y="5660848"/>
            <a:ext cx="76199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dirty="0" err="1"/>
              <a:t>v</a:t>
            </a:r>
            <a:r>
              <a:rPr lang="en-US" altLang="en-US" baseline="-25000" dirty="0" err="1"/>
              <a:t>n</a:t>
            </a:r>
            <a:endParaRPr lang="en-US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25" name="Text Box 29">
                <a:extLst>
                  <a:ext uri="{FF2B5EF4-FFF2-40B4-BE49-F238E27FC236}">
                    <a16:creationId xmlns:a16="http://schemas.microsoft.com/office/drawing/2014/main" xmlns="" id="{3F1E0304-59B9-4AE1-948E-CB63145D14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0500" y="651714"/>
                <a:ext cx="9144000" cy="2286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5080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b="1" dirty="0">
                    <a:solidFill>
                      <a:srgbClr val="0000FF"/>
                    </a:solidFill>
                  </a:rPr>
                  <a:t>Phản </a:t>
                </a:r>
                <a:r>
                  <a:rPr lang="en-US" altLang="en-US" sz="2800" b="1" dirty="0" err="1">
                    <a:solidFill>
                      <a:srgbClr val="0000FF"/>
                    </a:solidFill>
                  </a:rPr>
                  <a:t>ứng</a:t>
                </a:r>
                <a:r>
                  <a:rPr lang="en-US" altLang="en-US" sz="2800" b="1" dirty="0">
                    <a:solidFill>
                      <a:srgbClr val="0000FF"/>
                    </a:solidFill>
                  </a:rPr>
                  <a:t> </a:t>
                </a:r>
                <a:r>
                  <a:rPr lang="en-US" altLang="en-US" sz="2800" b="1" dirty="0" err="1">
                    <a:solidFill>
                      <a:srgbClr val="0000FF"/>
                    </a:solidFill>
                  </a:rPr>
                  <a:t>của</a:t>
                </a:r>
                <a:r>
                  <a:rPr lang="en-US" altLang="en-US" sz="2800" b="1" dirty="0">
                    <a:solidFill>
                      <a:srgbClr val="0000FF"/>
                    </a:solidFill>
                  </a:rPr>
                  <a:t> </a:t>
                </a:r>
                <a:r>
                  <a:rPr lang="en-US" altLang="en-US" sz="2800" b="1" dirty="0" err="1">
                    <a:solidFill>
                      <a:srgbClr val="0000FF"/>
                    </a:solidFill>
                  </a:rPr>
                  <a:t>hệ</a:t>
                </a:r>
                <a:r>
                  <a:rPr lang="en-US" altLang="en-US" sz="2800" b="1" dirty="0">
                    <a:solidFill>
                      <a:srgbClr val="0000FF"/>
                    </a:solidFill>
                  </a:rPr>
                  <a:t> </a:t>
                </a:r>
                <a:r>
                  <a:rPr lang="en-US" altLang="en-US" sz="2800" b="1" dirty="0" err="1">
                    <a:solidFill>
                      <a:srgbClr val="0000FF"/>
                    </a:solidFill>
                  </a:rPr>
                  <a:t>khí</a:t>
                </a:r>
                <a:r>
                  <a:rPr lang="en-US" altLang="en-US" sz="2800" b="1" dirty="0">
                    <a:solidFill>
                      <a:srgbClr val="0000FF"/>
                    </a:solidFill>
                  </a:rPr>
                  <a:t> </a:t>
                </a:r>
                <a:r>
                  <a:rPr lang="en-US" altLang="en-US" sz="2800" b="1" dirty="0" err="1">
                    <a:solidFill>
                      <a:srgbClr val="0000FF"/>
                    </a:solidFill>
                  </a:rPr>
                  <a:t>lý</a:t>
                </a:r>
                <a:r>
                  <a:rPr lang="en-US" altLang="en-US" sz="2800" b="1" dirty="0">
                    <a:solidFill>
                      <a:srgbClr val="0000FF"/>
                    </a:solidFill>
                  </a:rPr>
                  <a:t> </a:t>
                </a:r>
                <a:r>
                  <a:rPr lang="en-US" altLang="en-US" sz="2800" b="1" dirty="0" err="1">
                    <a:solidFill>
                      <a:srgbClr val="0000FF"/>
                    </a:solidFill>
                  </a:rPr>
                  <a:t>tưởng</a:t>
                </a:r>
                <a:r>
                  <a:rPr lang="en-US" altLang="en-US" sz="2800" b="1" dirty="0">
                    <a:solidFill>
                      <a:srgbClr val="0000FF"/>
                    </a:solidFill>
                  </a:rPr>
                  <a:t> (</a:t>
                </a:r>
                <a:r>
                  <a:rPr lang="en-US" altLang="en-US" sz="2800" b="1" dirty="0" err="1">
                    <a:solidFill>
                      <a:srgbClr val="0000FF"/>
                    </a:solidFill>
                  </a:rPr>
                  <a:t>pư</a:t>
                </a:r>
                <a:r>
                  <a:rPr lang="en-US" altLang="en-US" sz="2800" b="1" dirty="0">
                    <a:solidFill>
                      <a:srgbClr val="0000FF"/>
                    </a:solidFill>
                  </a:rPr>
                  <a:t> </a:t>
                </a:r>
                <a:r>
                  <a:rPr lang="en-US" altLang="en-US" sz="2800" b="1" dirty="0" err="1">
                    <a:solidFill>
                      <a:srgbClr val="0000FF"/>
                    </a:solidFill>
                  </a:rPr>
                  <a:t>đơn</a:t>
                </a:r>
                <a:r>
                  <a:rPr lang="en-US" altLang="en-US" sz="2800" b="1" dirty="0">
                    <a:solidFill>
                      <a:srgbClr val="0000FF"/>
                    </a:solidFill>
                  </a:rPr>
                  <a:t> </a:t>
                </a:r>
                <a:r>
                  <a:rPr lang="en-US" altLang="en-US" sz="2800" b="1" dirty="0" err="1">
                    <a:solidFill>
                      <a:srgbClr val="0000FF"/>
                    </a:solidFill>
                  </a:rPr>
                  <a:t>giản</a:t>
                </a:r>
                <a:r>
                  <a:rPr lang="en-US" altLang="en-US" sz="2800" b="1" dirty="0">
                    <a:solidFill>
                      <a:srgbClr val="0000FF"/>
                    </a:solidFill>
                  </a:rPr>
                  <a:t>):</a:t>
                </a:r>
              </a:p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dirty="0"/>
                  <a:t>           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a</a:t>
                </a:r>
                <a:r>
                  <a:rPr lang="en-US" altLang="en-US" sz="2800" b="1" dirty="0" err="1">
                    <a:solidFill>
                      <a:srgbClr val="FF0000"/>
                    </a:solidFill>
                  </a:rPr>
                  <a:t>A</a:t>
                </a:r>
                <a:r>
                  <a:rPr lang="en-US" altLang="en-US" sz="2800" dirty="0"/>
                  <a:t> (k)  +   </a:t>
                </a:r>
                <a:r>
                  <a:rPr lang="en-US" altLang="en-US" sz="2800" b="1" dirty="0" err="1"/>
                  <a:t>b</a:t>
                </a:r>
                <a:r>
                  <a:rPr lang="en-US" altLang="en-US" sz="2800" b="1" dirty="0" err="1">
                    <a:solidFill>
                      <a:srgbClr val="FF0000"/>
                    </a:solidFill>
                  </a:rPr>
                  <a:t>B</a:t>
                </a:r>
                <a:r>
                  <a:rPr lang="en-US" altLang="en-US" sz="2800" dirty="0"/>
                  <a:t>(k)    </a:t>
                </a:r>
                <a:r>
                  <a:rPr lang="en-US" altLang="en-US" sz="2800" b="1" dirty="0"/>
                  <a:t>⇌</a:t>
                </a:r>
                <a:r>
                  <a:rPr lang="en-US" altLang="en-US" sz="2800" dirty="0"/>
                  <a:t>    </a:t>
                </a:r>
                <a:r>
                  <a:rPr lang="en-US" altLang="en-US" sz="2800" b="1" dirty="0" err="1"/>
                  <a:t>c</a:t>
                </a:r>
                <a:r>
                  <a:rPr lang="en-US" altLang="en-US" sz="2800" b="1" dirty="0" err="1">
                    <a:solidFill>
                      <a:srgbClr val="FF0000"/>
                    </a:solidFill>
                  </a:rPr>
                  <a:t>C</a:t>
                </a:r>
                <a:r>
                  <a:rPr lang="en-US" altLang="en-US" sz="2800" dirty="0"/>
                  <a:t>(k)   +   </a:t>
                </a:r>
                <a:r>
                  <a:rPr lang="vi-VN" altLang="en-US" sz="2800" dirty="0"/>
                  <a:t>  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 err="1"/>
                  <a:t>d</a:t>
                </a:r>
                <a:r>
                  <a:rPr lang="en-US" altLang="en-US" sz="2800" b="1" dirty="0" err="1">
                    <a:solidFill>
                      <a:srgbClr val="FF0000"/>
                    </a:solidFill>
                  </a:rPr>
                  <a:t>D</a:t>
                </a:r>
                <a:r>
                  <a:rPr lang="en-US" altLang="en-US" sz="2800" dirty="0"/>
                  <a:t>(k)</a:t>
                </a:r>
              </a:p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dirty="0">
                    <a:solidFill>
                      <a:srgbClr val="CC00FF"/>
                    </a:solidFill>
                    <a:sym typeface="Symbol" panose="05050102010706020507" pitchFamily="18" charset="2"/>
                  </a:rPr>
                  <a:t></a:t>
                </a:r>
                <a:r>
                  <a:rPr lang="en-US" altLang="en-US" sz="2800" dirty="0">
                    <a:solidFill>
                      <a:srgbClr val="CC00FF"/>
                    </a:solidFill>
                  </a:rPr>
                  <a:t> = 0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2800" i="1" smtClean="0">
                            <a:solidFill>
                              <a:srgbClr val="CC00FF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en-US" sz="2800" b="0" i="0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en-US" sz="2800" b="0" i="0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  <m:sup>
                        <m:r>
                          <a:rPr lang="en-US" altLang="en-US" sz="2800" b="0" i="0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altLang="en-US" sz="2800" dirty="0">
                    <a:solidFill>
                      <a:srgbClr val="CC00FF"/>
                    </a:solidFill>
                    <a:latin typeface="+mj-lt"/>
                  </a:rPr>
                  <a:t>   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2800" i="1">
                            <a:solidFill>
                              <a:srgbClr val="CC00FF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altLang="en-US" sz="2800" b="0" i="0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      </m:t>
                        </m:r>
                        <m:r>
                          <m:rPr>
                            <m:sty m:val="p"/>
                          </m:rPr>
                          <a:rPr lang="en-US" altLang="en-US" sz="2800" i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en-US" sz="2800" b="0" i="0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  <m:sup>
                        <m:r>
                          <a:rPr lang="en-US" altLang="en-US" sz="2800" i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altLang="en-US" sz="2800" dirty="0">
                    <a:solidFill>
                      <a:srgbClr val="CC00FF"/>
                    </a:solidFill>
                  </a:rPr>
                  <a:t>                   0             </a:t>
                </a:r>
                <a:r>
                  <a:rPr lang="vi-VN" altLang="en-US" sz="2800" dirty="0">
                    <a:solidFill>
                      <a:srgbClr val="CC00FF"/>
                    </a:solidFill>
                  </a:rPr>
                  <a:t>    </a:t>
                </a:r>
                <a:r>
                  <a:rPr lang="en-US" altLang="en-US" sz="2800" dirty="0">
                    <a:solidFill>
                      <a:srgbClr val="CC00FF"/>
                    </a:solidFill>
                  </a:rPr>
                  <a:t>0  (mol/l )                      </a:t>
                </a:r>
                <a:r>
                  <a:rPr lang="en-US" altLang="en-US" sz="2800" dirty="0">
                    <a:solidFill>
                      <a:srgbClr val="990000"/>
                    </a:solidFill>
                    <a:sym typeface="Symbol" panose="05050102010706020507" pitchFamily="18" charset="2"/>
                  </a:rPr>
                  <a:t></a:t>
                </a:r>
                <a:r>
                  <a:rPr lang="en-US" altLang="en-US" sz="2800" dirty="0">
                    <a:solidFill>
                      <a:srgbClr val="990000"/>
                    </a:solidFill>
                  </a:rPr>
                  <a:t>  </a:t>
                </a:r>
                <a:r>
                  <a:rPr lang="en-US" altLang="en-US" sz="2800" dirty="0">
                    <a:solidFill>
                      <a:srgbClr val="990000"/>
                    </a:solidFill>
                    <a:sym typeface="Symbol" panose="05050102010706020507" pitchFamily="18" charset="2"/>
                  </a:rPr>
                  <a:t>      C</a:t>
                </a:r>
                <a:r>
                  <a:rPr lang="en-US" altLang="en-US" sz="2800" b="1" baseline="-25000" dirty="0">
                    <a:solidFill>
                      <a:srgbClr val="990000"/>
                    </a:solidFill>
                    <a:sym typeface="Symbol" panose="05050102010706020507" pitchFamily="18" charset="2"/>
                  </a:rPr>
                  <a:t>A</a:t>
                </a:r>
                <a:r>
                  <a:rPr lang="en-US" altLang="en-US" sz="2800" baseline="-25000" dirty="0">
                    <a:solidFill>
                      <a:srgbClr val="990000"/>
                    </a:solidFill>
                    <a:sym typeface="Symbol" panose="05050102010706020507" pitchFamily="18" charset="2"/>
                  </a:rPr>
                  <a:t> </a:t>
                </a:r>
                <a:r>
                  <a:rPr lang="en-US" altLang="en-US" sz="2800" dirty="0">
                    <a:solidFill>
                      <a:srgbClr val="990000"/>
                    </a:solidFill>
                    <a:sym typeface="Symbol" panose="05050102010706020507" pitchFamily="18" charset="2"/>
                  </a:rPr>
                  <a:t>           C</a:t>
                </a:r>
                <a:r>
                  <a:rPr lang="en-US" altLang="en-US" sz="2800" b="1" baseline="-25000" dirty="0">
                    <a:solidFill>
                      <a:srgbClr val="990000"/>
                    </a:solidFill>
                  </a:rPr>
                  <a:t>B</a:t>
                </a:r>
                <a:r>
                  <a:rPr lang="en-US" altLang="en-US" sz="2800" dirty="0">
                    <a:solidFill>
                      <a:srgbClr val="990000"/>
                    </a:solidFill>
                    <a:sym typeface="Symbol" panose="05050102010706020507" pitchFamily="18" charset="2"/>
                  </a:rPr>
                  <a:t>               C</a:t>
                </a:r>
                <a:r>
                  <a:rPr lang="en-US" altLang="en-US" b="1" baseline="-25000" dirty="0">
                    <a:solidFill>
                      <a:srgbClr val="990000"/>
                    </a:solidFill>
                    <a:sym typeface="Symbol" panose="05050102010706020507" pitchFamily="18" charset="2"/>
                  </a:rPr>
                  <a:t>c</a:t>
                </a:r>
                <a:r>
                  <a:rPr lang="en-US" altLang="en-US" sz="2800" baseline="-25000" dirty="0">
                    <a:solidFill>
                      <a:srgbClr val="990000"/>
                    </a:solidFill>
                    <a:sym typeface="Symbol" panose="05050102010706020507" pitchFamily="18" charset="2"/>
                  </a:rPr>
                  <a:t> </a:t>
                </a:r>
                <a:r>
                  <a:rPr lang="en-US" altLang="en-US" sz="2800" dirty="0">
                    <a:solidFill>
                      <a:srgbClr val="990000"/>
                    </a:solidFill>
                    <a:sym typeface="Symbol" panose="05050102010706020507" pitchFamily="18" charset="2"/>
                  </a:rPr>
                  <a:t>          </a:t>
                </a:r>
                <a:r>
                  <a:rPr lang="vi-VN" altLang="en-US" sz="2800" dirty="0">
                    <a:solidFill>
                      <a:srgbClr val="990000"/>
                    </a:solidFill>
                    <a:sym typeface="Symbol" panose="05050102010706020507" pitchFamily="18" charset="2"/>
                  </a:rPr>
                  <a:t>   </a:t>
                </a:r>
                <a:r>
                  <a:rPr lang="en-US" altLang="en-US" sz="2800" dirty="0">
                    <a:solidFill>
                      <a:srgbClr val="990000"/>
                    </a:solidFill>
                    <a:sym typeface="Symbol" panose="05050102010706020507" pitchFamily="18" charset="2"/>
                  </a:rPr>
                  <a:t>C</a:t>
                </a:r>
                <a:r>
                  <a:rPr lang="en-US" altLang="en-US" sz="2800" b="1" baseline="-25000" dirty="0">
                    <a:solidFill>
                      <a:srgbClr val="990000"/>
                    </a:solidFill>
                    <a:sym typeface="Symbol" panose="05050102010706020507" pitchFamily="18" charset="2"/>
                  </a:rPr>
                  <a:t>D</a:t>
                </a:r>
                <a:r>
                  <a:rPr lang="en-US" altLang="en-US" sz="2800" dirty="0">
                    <a:solidFill>
                      <a:srgbClr val="990000"/>
                    </a:solidFill>
                    <a:sym typeface="Symbol" panose="05050102010706020507" pitchFamily="18" charset="2"/>
                  </a:rPr>
                  <a:t>  </a:t>
                </a:r>
              </a:p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altLang="en-US" sz="2400" b="1" dirty="0">
                  <a:solidFill>
                    <a:srgbClr val="990000"/>
                  </a:solidFill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4125" name="Text Box 29">
                <a:extLst>
                  <a:ext uri="{FF2B5EF4-FFF2-40B4-BE49-F238E27FC236}">
                    <a16:creationId xmlns:a16="http://schemas.microsoft.com/office/drawing/2014/main" id="{3F1E0304-59B9-4AE1-948E-CB63145D14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0500" y="651714"/>
                <a:ext cx="9144000" cy="2286000"/>
              </a:xfrm>
              <a:prstGeom prst="rect">
                <a:avLst/>
              </a:prstGeom>
              <a:blipFill>
                <a:blip r:embed="rId8"/>
                <a:stretch>
                  <a:fillRect l="-800" t="-2933" r="-20400" b="-773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26" name="Text Box 30">
            <a:extLst>
              <a:ext uri="{FF2B5EF4-FFF2-40B4-BE49-F238E27FC236}">
                <a16:creationId xmlns:a16="http://schemas.microsoft.com/office/drawing/2014/main" xmlns="" id="{E3D5E439-DE5D-4269-B382-D853FDA484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028" y="2838194"/>
            <a:ext cx="91440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400" dirty="0" err="1">
                <a:solidFill>
                  <a:srgbClr val="FF0000"/>
                </a:solidFill>
                <a:sym typeface="Symbol" panose="05050102010706020507" pitchFamily="18" charset="2"/>
              </a:rPr>
              <a:t>v</a:t>
            </a:r>
            <a:r>
              <a:rPr lang="en-US" altLang="en-US" sz="2400" baseline="-25000" dirty="0" err="1">
                <a:solidFill>
                  <a:srgbClr val="FF0000"/>
                </a:solidFill>
                <a:sym typeface="Symbol" panose="05050102010706020507" pitchFamily="18" charset="2"/>
              </a:rPr>
              <a:t>t</a:t>
            </a:r>
            <a:r>
              <a:rPr lang="en-US" alt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 = </a:t>
            </a:r>
            <a:r>
              <a:rPr lang="en-US" altLang="en-US" sz="2400" dirty="0" err="1">
                <a:solidFill>
                  <a:srgbClr val="FF0000"/>
                </a:solidFill>
                <a:sym typeface="Symbol" panose="05050102010706020507" pitchFamily="18" charset="2"/>
              </a:rPr>
              <a:t>v</a:t>
            </a:r>
            <a:r>
              <a:rPr lang="en-US" altLang="en-US" sz="2400" baseline="-25000" dirty="0" err="1">
                <a:solidFill>
                  <a:srgbClr val="FF0000"/>
                </a:solidFill>
                <a:sym typeface="Symbol" panose="05050102010706020507" pitchFamily="18" charset="2"/>
              </a:rPr>
              <a:t>n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olidFill>
                  <a:srgbClr val="0000FF"/>
                </a:solidFill>
                <a:sym typeface="Symbol" panose="05050102010706020507" pitchFamily="18" charset="2"/>
              </a:rPr>
              <a:t>(C</a:t>
            </a:r>
            <a:r>
              <a:rPr lang="en-US" altLang="en-US" sz="2400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olidFill>
                  <a:srgbClr val="0000FF"/>
                </a:solidFill>
                <a:sym typeface="Symbol" panose="05050102010706020507" pitchFamily="18" charset="2"/>
              </a:rPr>
              <a:t>)</a:t>
            </a:r>
            <a:r>
              <a:rPr lang="en-US" altLang="en-US" sz="2400" baseline="-25000" dirty="0" err="1">
                <a:solidFill>
                  <a:srgbClr val="0000FF"/>
                </a:solidFill>
                <a:sym typeface="Symbol" panose="05050102010706020507" pitchFamily="18" charset="2"/>
              </a:rPr>
              <a:t>cb</a:t>
            </a:r>
            <a:r>
              <a:rPr lang="en-US" altLang="en-US" sz="2400" dirty="0">
                <a:sym typeface="Symbol" panose="05050102010706020507" pitchFamily="18" charset="2"/>
              </a:rPr>
              <a:t>=const     </a:t>
            </a:r>
            <a:r>
              <a:rPr lang="en-US" altLang="en-US" sz="2400" dirty="0">
                <a:solidFill>
                  <a:srgbClr val="0000FF"/>
                </a:solidFill>
                <a:sym typeface="Symbol" panose="05050102010706020507" pitchFamily="18" charset="2"/>
              </a:rPr>
              <a:t>(C</a:t>
            </a:r>
            <a:r>
              <a:rPr lang="en-US" altLang="en-US" sz="2400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olidFill>
                  <a:srgbClr val="0000FF"/>
                </a:solidFill>
                <a:sym typeface="Symbol" panose="05050102010706020507" pitchFamily="18" charset="2"/>
              </a:rPr>
              <a:t>)</a:t>
            </a:r>
            <a:r>
              <a:rPr lang="en-US" altLang="en-US" sz="2400" baseline="-25000" dirty="0" err="1">
                <a:solidFill>
                  <a:srgbClr val="0000FF"/>
                </a:solidFill>
                <a:sym typeface="Symbol" panose="05050102010706020507" pitchFamily="18" charset="2"/>
              </a:rPr>
              <a:t>cb</a:t>
            </a:r>
            <a:r>
              <a:rPr lang="en-US" altLang="en-US" sz="2400" dirty="0">
                <a:sym typeface="Symbol" panose="05050102010706020507" pitchFamily="18" charset="2"/>
              </a:rPr>
              <a:t>=const    </a:t>
            </a:r>
            <a:r>
              <a:rPr lang="en-US" altLang="en-US" sz="2400" dirty="0">
                <a:solidFill>
                  <a:srgbClr val="0000FF"/>
                </a:solidFill>
                <a:sym typeface="Symbol" panose="05050102010706020507" pitchFamily="18" charset="2"/>
              </a:rPr>
              <a:t>(C</a:t>
            </a:r>
            <a:r>
              <a:rPr lang="en-US" altLang="en-US" sz="2400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c</a:t>
            </a:r>
            <a:r>
              <a:rPr lang="en-US" altLang="en-US" sz="2400" dirty="0">
                <a:solidFill>
                  <a:srgbClr val="0000FF"/>
                </a:solidFill>
                <a:sym typeface="Symbol" panose="05050102010706020507" pitchFamily="18" charset="2"/>
              </a:rPr>
              <a:t>)</a:t>
            </a:r>
            <a:r>
              <a:rPr lang="en-US" altLang="en-US" sz="2400" baseline="-25000" dirty="0" err="1">
                <a:solidFill>
                  <a:srgbClr val="0000FF"/>
                </a:solidFill>
                <a:sym typeface="Symbol" panose="05050102010706020507" pitchFamily="18" charset="2"/>
              </a:rPr>
              <a:t>cb</a:t>
            </a:r>
            <a:r>
              <a:rPr lang="en-US" altLang="en-US" sz="2400" dirty="0">
                <a:sym typeface="Symbol" panose="05050102010706020507" pitchFamily="18" charset="2"/>
              </a:rPr>
              <a:t>=const   </a:t>
            </a:r>
            <a:r>
              <a:rPr lang="en-US" altLang="en-US" sz="2400" dirty="0">
                <a:solidFill>
                  <a:srgbClr val="0000FF"/>
                </a:solidFill>
                <a:sym typeface="Symbol" panose="05050102010706020507" pitchFamily="18" charset="2"/>
              </a:rPr>
              <a:t>(C</a:t>
            </a:r>
            <a:r>
              <a:rPr lang="en-US" altLang="en-US" sz="2400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D</a:t>
            </a:r>
            <a:r>
              <a:rPr lang="en-US" altLang="en-US" sz="2400" dirty="0">
                <a:solidFill>
                  <a:srgbClr val="0000FF"/>
                </a:solidFill>
                <a:sym typeface="Symbol" panose="05050102010706020507" pitchFamily="18" charset="2"/>
              </a:rPr>
              <a:t>)</a:t>
            </a:r>
            <a:r>
              <a:rPr lang="en-US" altLang="en-US" sz="2400" baseline="-25000" dirty="0" err="1">
                <a:solidFill>
                  <a:srgbClr val="0000FF"/>
                </a:solidFill>
                <a:sym typeface="Symbol" panose="05050102010706020507" pitchFamily="18" charset="2"/>
              </a:rPr>
              <a:t>cb</a:t>
            </a:r>
            <a:r>
              <a:rPr lang="en-US" altLang="en-US" sz="2400" baseline="-25000" dirty="0"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=const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G=0</a:t>
            </a:r>
            <a:r>
              <a:rPr lang="en-US" altLang="en-US" sz="2400" dirty="0">
                <a:sym typeface="Symbol" panose="05050102010706020507" pitchFamily="18" charset="2"/>
              </a:rPr>
              <a:t>  </a:t>
            </a:r>
            <a:r>
              <a:rPr lang="en-US" altLang="en-US" sz="2400" dirty="0">
                <a:solidFill>
                  <a:srgbClr val="0000FF"/>
                </a:solidFill>
                <a:sym typeface="Symbol" panose="05050102010706020507" pitchFamily="18" charset="2"/>
              </a:rPr>
              <a:t>(P</a:t>
            </a:r>
            <a:r>
              <a:rPr lang="en-US" altLang="en-US" sz="2400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olidFill>
                  <a:srgbClr val="0000FF"/>
                </a:solidFill>
                <a:sym typeface="Symbol" panose="05050102010706020507" pitchFamily="18" charset="2"/>
              </a:rPr>
              <a:t>)</a:t>
            </a:r>
            <a:r>
              <a:rPr lang="en-US" altLang="en-US" sz="2400" baseline="-25000" dirty="0" err="1">
                <a:solidFill>
                  <a:srgbClr val="0000FF"/>
                </a:solidFill>
                <a:sym typeface="Symbol" panose="05050102010706020507" pitchFamily="18" charset="2"/>
              </a:rPr>
              <a:t>cb</a:t>
            </a:r>
            <a:r>
              <a:rPr lang="en-US" altLang="en-US" sz="2400" dirty="0">
                <a:sym typeface="Symbol" panose="05050102010706020507" pitchFamily="18" charset="2"/>
              </a:rPr>
              <a:t>=const     </a:t>
            </a:r>
            <a:r>
              <a:rPr lang="en-US" altLang="en-US" sz="2400" dirty="0">
                <a:solidFill>
                  <a:srgbClr val="0000FF"/>
                </a:solidFill>
                <a:sym typeface="Symbol" panose="05050102010706020507" pitchFamily="18" charset="2"/>
              </a:rPr>
              <a:t>(P</a:t>
            </a:r>
            <a:r>
              <a:rPr lang="en-US" altLang="en-US" sz="2400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olidFill>
                  <a:srgbClr val="0000FF"/>
                </a:solidFill>
                <a:sym typeface="Symbol" panose="05050102010706020507" pitchFamily="18" charset="2"/>
              </a:rPr>
              <a:t>)</a:t>
            </a:r>
            <a:r>
              <a:rPr lang="en-US" altLang="en-US" sz="2400" baseline="-25000" dirty="0" err="1">
                <a:solidFill>
                  <a:srgbClr val="0000FF"/>
                </a:solidFill>
                <a:sym typeface="Symbol" panose="05050102010706020507" pitchFamily="18" charset="2"/>
              </a:rPr>
              <a:t>cb</a:t>
            </a:r>
            <a:r>
              <a:rPr lang="en-US" altLang="en-US" sz="2400" dirty="0">
                <a:sym typeface="Symbol" panose="05050102010706020507" pitchFamily="18" charset="2"/>
              </a:rPr>
              <a:t>=const    (</a:t>
            </a:r>
            <a:r>
              <a:rPr lang="en-US" altLang="en-US" sz="2400" dirty="0">
                <a:solidFill>
                  <a:srgbClr val="0000FF"/>
                </a:solidFill>
                <a:sym typeface="Symbol" panose="05050102010706020507" pitchFamily="18" charset="2"/>
              </a:rPr>
              <a:t>P</a:t>
            </a:r>
            <a:r>
              <a:rPr lang="en-US" altLang="en-US" sz="2400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C</a:t>
            </a:r>
            <a:r>
              <a:rPr lang="en-US" altLang="en-US" sz="2400" dirty="0">
                <a:solidFill>
                  <a:srgbClr val="0000FF"/>
                </a:solidFill>
                <a:sym typeface="Symbol" panose="05050102010706020507" pitchFamily="18" charset="2"/>
              </a:rPr>
              <a:t>)</a:t>
            </a:r>
            <a:r>
              <a:rPr lang="en-US" altLang="en-US" sz="2400" baseline="-25000" dirty="0" err="1">
                <a:solidFill>
                  <a:srgbClr val="0000FF"/>
                </a:solidFill>
                <a:sym typeface="Symbol" panose="05050102010706020507" pitchFamily="18" charset="2"/>
              </a:rPr>
              <a:t>c</a:t>
            </a:r>
            <a:r>
              <a:rPr lang="en-US" altLang="en-US" sz="2400" baseline="-25000" dirty="0" err="1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=const   </a:t>
            </a:r>
            <a:r>
              <a:rPr lang="en-US" altLang="en-US" sz="2400" dirty="0">
                <a:solidFill>
                  <a:srgbClr val="0000FF"/>
                </a:solidFill>
                <a:sym typeface="Symbol" panose="05050102010706020507" pitchFamily="18" charset="2"/>
              </a:rPr>
              <a:t>(P</a:t>
            </a:r>
            <a:r>
              <a:rPr lang="en-US" altLang="en-US" sz="2400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D</a:t>
            </a:r>
            <a:r>
              <a:rPr lang="en-US" altLang="en-US" sz="2400" dirty="0">
                <a:solidFill>
                  <a:srgbClr val="0000FF"/>
                </a:solidFill>
                <a:sym typeface="Symbol" panose="05050102010706020507" pitchFamily="18" charset="2"/>
              </a:rPr>
              <a:t>)</a:t>
            </a:r>
            <a:r>
              <a:rPr lang="en-US" altLang="en-US" sz="2400" baseline="-25000" dirty="0" err="1">
                <a:solidFill>
                  <a:srgbClr val="0000FF"/>
                </a:solidFill>
                <a:sym typeface="Symbol" panose="05050102010706020507" pitchFamily="18" charset="2"/>
              </a:rPr>
              <a:t>cb</a:t>
            </a:r>
            <a:r>
              <a:rPr lang="en-US" altLang="en-US" sz="2400" baseline="-25000" dirty="0"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=const</a:t>
            </a:r>
          </a:p>
        </p:txBody>
      </p:sp>
      <p:sp>
        <p:nvSpPr>
          <p:cNvPr id="4127" name="Text Box 31">
            <a:extLst>
              <a:ext uri="{FF2B5EF4-FFF2-40B4-BE49-F238E27FC236}">
                <a16:creationId xmlns:a16="http://schemas.microsoft.com/office/drawing/2014/main" xmlns="" id="{7621EE6E-8BEF-4654-A223-78C56FF652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9572" y="6119592"/>
            <a:ext cx="215575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solidFill>
                  <a:srgbClr val="FF0000"/>
                </a:solidFill>
                <a:sym typeface="Symbol" panose="05050102010706020507" pitchFamily="18" charset="2"/>
              </a:rPr>
              <a:t></a:t>
            </a:r>
            <a:r>
              <a:rPr lang="en-US" altLang="en-US" sz="2400" b="1" baseline="-25000" dirty="0" err="1">
                <a:solidFill>
                  <a:srgbClr val="FF0000"/>
                </a:solidFill>
              </a:rPr>
              <a:t>cb</a:t>
            </a:r>
            <a:r>
              <a:rPr lang="vi-VN" altLang="en-US" sz="2400" b="1" dirty="0">
                <a:solidFill>
                  <a:srgbClr val="FF0000"/>
                </a:solidFill>
              </a:rPr>
              <a:t> </a:t>
            </a:r>
            <a:r>
              <a:rPr lang="vi-VN" altLang="en-US" sz="2400" b="1" dirty="0">
                <a:solidFill>
                  <a:srgbClr val="FF0000"/>
                </a:solidFill>
                <a:sym typeface="Symbol" panose="05050102010706020507" pitchFamily="18" charset="2"/>
              </a:rPr>
              <a:t> cbhh</a:t>
            </a:r>
            <a:endParaRPr lang="en-US" altLang="en-US" sz="2400" b="1" baseline="-25000" dirty="0">
              <a:solidFill>
                <a:srgbClr val="FF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D880B1C0-5BED-4121-87BD-D4680F97957F}"/>
              </a:ext>
            </a:extLst>
          </p:cNvPr>
          <p:cNvSpPr txBox="1"/>
          <p:nvPr/>
        </p:nvSpPr>
        <p:spPr>
          <a:xfrm>
            <a:off x="5756373" y="3993937"/>
            <a:ext cx="27240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>
                <a:solidFill>
                  <a:srgbClr val="CC00FF"/>
                </a:solidFill>
                <a:sym typeface="Symbol" panose="05050102010706020507" pitchFamily="18" charset="2"/>
              </a:rPr>
              <a:t></a:t>
            </a:r>
            <a:r>
              <a:rPr lang="en-US" sz="2800" dirty="0">
                <a:solidFill>
                  <a:srgbClr val="CC00FF"/>
                </a:solidFill>
                <a:sym typeface="Symbol" panose="05050102010706020507" pitchFamily="18" charset="2"/>
              </a:rPr>
              <a:t> </a:t>
            </a:r>
            <a:r>
              <a:rPr lang="vi-VN" sz="2800" dirty="0">
                <a:solidFill>
                  <a:srgbClr val="CC00FF"/>
                </a:solidFill>
              </a:rPr>
              <a:t>P</a:t>
            </a:r>
            <a:r>
              <a:rPr lang="vi-VN" sz="2800" baseline="-25000" dirty="0">
                <a:solidFill>
                  <a:srgbClr val="CC00FF"/>
                </a:solidFill>
              </a:rPr>
              <a:t>X</a:t>
            </a:r>
            <a:r>
              <a:rPr lang="vi-VN" sz="2800" dirty="0">
                <a:solidFill>
                  <a:srgbClr val="CC00FF"/>
                </a:solidFill>
              </a:rPr>
              <a:t>  = C</a:t>
            </a:r>
            <a:r>
              <a:rPr lang="vi-VN" sz="2800" baseline="-25000" dirty="0">
                <a:solidFill>
                  <a:srgbClr val="CC00FF"/>
                </a:solidFill>
              </a:rPr>
              <a:t>X</a:t>
            </a:r>
            <a:r>
              <a:rPr lang="vi-VN" sz="2800" dirty="0">
                <a:solidFill>
                  <a:srgbClr val="CC00FF"/>
                </a:solidFill>
              </a:rPr>
              <a:t>. R.T</a:t>
            </a:r>
            <a:endParaRPr lang="en-US" sz="2800" dirty="0">
              <a:solidFill>
                <a:srgbClr val="CC00FF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29D1BB54-4A61-4F92-92BE-584323AB4DF0}"/>
              </a:ext>
            </a:extLst>
          </p:cNvPr>
          <p:cNvSpPr txBox="1"/>
          <p:nvPr/>
        </p:nvSpPr>
        <p:spPr>
          <a:xfrm>
            <a:off x="3098873" y="4025904"/>
            <a:ext cx="27240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>
                <a:solidFill>
                  <a:srgbClr val="006600"/>
                </a:solidFill>
              </a:rPr>
              <a:t>P</a:t>
            </a:r>
            <a:r>
              <a:rPr lang="vi-VN" sz="2800" baseline="-25000" dirty="0">
                <a:solidFill>
                  <a:srgbClr val="006600"/>
                </a:solidFill>
              </a:rPr>
              <a:t>X</a:t>
            </a:r>
            <a:r>
              <a:rPr lang="vi-VN" sz="2800" dirty="0">
                <a:solidFill>
                  <a:srgbClr val="006600"/>
                </a:solidFill>
              </a:rPr>
              <a:t> .V = n</a:t>
            </a:r>
            <a:r>
              <a:rPr lang="vi-VN" sz="2800" baseline="-25000" dirty="0">
                <a:solidFill>
                  <a:srgbClr val="006600"/>
                </a:solidFill>
              </a:rPr>
              <a:t>X</a:t>
            </a:r>
            <a:r>
              <a:rPr lang="vi-VN" sz="2800" dirty="0">
                <a:solidFill>
                  <a:srgbClr val="006600"/>
                </a:solidFill>
              </a:rPr>
              <a:t>. R.T</a:t>
            </a:r>
            <a:endParaRPr lang="en-US" sz="2800" dirty="0">
              <a:solidFill>
                <a:srgbClr val="0066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4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4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4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/>
      <p:bldP spid="4119" grpId="0"/>
      <p:bldP spid="4120" grpId="0"/>
      <p:bldP spid="4121" grpId="0"/>
      <p:bldP spid="4122" grpId="0"/>
      <p:bldP spid="4123" grpId="0"/>
      <p:bldP spid="4124" grpId="0"/>
      <p:bldP spid="4125" grpId="0"/>
      <p:bldP spid="4126" grpId="0"/>
      <p:bldP spid="4127" grpId="0"/>
      <p:bldP spid="25" grpId="0"/>
      <p:bldP spid="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xmlns="" id="{F40E04C5-159C-4B68-84D1-02174036F7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765175"/>
          </a:xfrm>
          <a:noFill/>
        </p:spPr>
        <p:txBody>
          <a:bodyPr/>
          <a:lstStyle/>
          <a:p>
            <a:pPr algn="l" eaLnBrk="1" hangingPunct="1">
              <a:buFont typeface="Wingdings" panose="05000000000000000000" pitchFamily="2" charset="2"/>
              <a:buNone/>
            </a:pPr>
            <a:r>
              <a:rPr lang="en-US" altLang="en-US" sz="3200" b="1" i="1" dirty="0"/>
              <a:t>   </a:t>
            </a:r>
            <a:r>
              <a:rPr lang="en-US" altLang="en-US" sz="2800" b="1" i="1" dirty="0">
                <a:solidFill>
                  <a:srgbClr val="006600"/>
                </a:solidFill>
              </a:rPr>
              <a:t>NHẬN XÉT VỀ TRẠNG THÁI CÂN BẰNG HÓA HỌC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xmlns="" id="{CFD41F90-1D4C-4D10-B883-2AC05239E0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381000"/>
            <a:ext cx="9448800" cy="5410200"/>
          </a:xfrm>
          <a:noFill/>
        </p:spPr>
        <p:txBody>
          <a:bodyPr/>
          <a:lstStyle/>
          <a:p>
            <a:pPr marL="236538" indent="558800" eaLnBrk="1" hangingPunct="1">
              <a:lnSpc>
                <a:spcPct val="150000"/>
              </a:lnSpc>
              <a:buFontTx/>
              <a:buNone/>
            </a:pPr>
            <a:endParaRPr lang="en-US" altLang="en-US" sz="1800" dirty="0"/>
          </a:p>
          <a:p>
            <a:pPr marL="236538" indent="0" eaLnBrk="1" hangingPunct="1">
              <a:lnSpc>
                <a:spcPct val="150000"/>
              </a:lnSpc>
              <a:buNone/>
            </a:pPr>
            <a:r>
              <a:rPr lang="en-US" altLang="en-US" dirty="0" err="1">
                <a:solidFill>
                  <a:srgbClr val="FF0000"/>
                </a:solidFill>
              </a:rPr>
              <a:t>Trạng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thái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cbhh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là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trạng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thái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cân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bằng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động</a:t>
            </a:r>
            <a:r>
              <a:rPr lang="en-US" altLang="en-US" dirty="0">
                <a:solidFill>
                  <a:srgbClr val="FF0000"/>
                </a:solidFill>
              </a:rPr>
              <a:t>.</a:t>
            </a:r>
          </a:p>
          <a:p>
            <a:pPr marL="236538" indent="0" eaLnBrk="1" hangingPunct="1">
              <a:lnSpc>
                <a:spcPct val="150000"/>
              </a:lnSpc>
              <a:buNone/>
            </a:pPr>
            <a:r>
              <a:rPr lang="en-US" altLang="en-US" dirty="0" err="1">
                <a:solidFill>
                  <a:srgbClr val="CC00FF"/>
                </a:solidFill>
              </a:rPr>
              <a:t>Trạng</a:t>
            </a:r>
            <a:r>
              <a:rPr lang="en-US" altLang="en-US" dirty="0">
                <a:solidFill>
                  <a:srgbClr val="CC00FF"/>
                </a:solidFill>
              </a:rPr>
              <a:t> </a:t>
            </a:r>
            <a:r>
              <a:rPr lang="en-US" altLang="en-US" dirty="0" err="1">
                <a:solidFill>
                  <a:srgbClr val="CC00FF"/>
                </a:solidFill>
              </a:rPr>
              <a:t>thái</a:t>
            </a:r>
            <a:r>
              <a:rPr lang="en-US" altLang="en-US" dirty="0">
                <a:solidFill>
                  <a:srgbClr val="CC00FF"/>
                </a:solidFill>
              </a:rPr>
              <a:t> </a:t>
            </a:r>
            <a:r>
              <a:rPr lang="en-US" altLang="en-US" dirty="0" err="1">
                <a:solidFill>
                  <a:srgbClr val="CC00FF"/>
                </a:solidFill>
              </a:rPr>
              <a:t>cân</a:t>
            </a:r>
            <a:r>
              <a:rPr lang="en-US" altLang="en-US" dirty="0">
                <a:solidFill>
                  <a:srgbClr val="CC00FF"/>
                </a:solidFill>
              </a:rPr>
              <a:t> </a:t>
            </a:r>
            <a:r>
              <a:rPr lang="en-US" altLang="en-US" dirty="0" err="1">
                <a:solidFill>
                  <a:srgbClr val="CC00FF"/>
                </a:solidFill>
              </a:rPr>
              <a:t>bằng</a:t>
            </a:r>
            <a:r>
              <a:rPr lang="en-US" altLang="en-US" dirty="0">
                <a:solidFill>
                  <a:srgbClr val="CC00FF"/>
                </a:solidFill>
              </a:rPr>
              <a:t> </a:t>
            </a:r>
            <a:r>
              <a:rPr lang="en-US" altLang="en-US" dirty="0" err="1">
                <a:solidFill>
                  <a:srgbClr val="CC00FF"/>
                </a:solidFill>
              </a:rPr>
              <a:t>ứng</a:t>
            </a:r>
            <a:r>
              <a:rPr lang="en-US" altLang="en-US" dirty="0">
                <a:solidFill>
                  <a:srgbClr val="CC00FF"/>
                </a:solidFill>
              </a:rPr>
              <a:t> </a:t>
            </a:r>
            <a:r>
              <a:rPr lang="en-US" altLang="en-US" dirty="0" err="1">
                <a:solidFill>
                  <a:srgbClr val="CC00FF"/>
                </a:solidFill>
              </a:rPr>
              <a:t>với</a:t>
            </a:r>
            <a:r>
              <a:rPr lang="en-US" altLang="en-US" dirty="0">
                <a:solidFill>
                  <a:srgbClr val="CC00FF"/>
                </a:solidFill>
              </a:rPr>
              <a:t> </a:t>
            </a:r>
            <a:r>
              <a:rPr lang="en-US" altLang="en-US" dirty="0">
                <a:solidFill>
                  <a:srgbClr val="CC00FF"/>
                </a:solidFill>
                <a:sym typeface="Symbol" panose="05050102010706020507" pitchFamily="18" charset="2"/>
              </a:rPr>
              <a:t></a:t>
            </a:r>
            <a:r>
              <a:rPr lang="en-US" altLang="en-US" dirty="0" err="1">
                <a:solidFill>
                  <a:srgbClr val="CC00FF"/>
                </a:solidFill>
              </a:rPr>
              <a:t>G</a:t>
            </a:r>
            <a:r>
              <a:rPr lang="en-US" altLang="en-US" baseline="-25000" dirty="0" err="1">
                <a:solidFill>
                  <a:srgbClr val="CC00FF"/>
                </a:solidFill>
              </a:rPr>
              <a:t>pư</a:t>
            </a:r>
            <a:r>
              <a:rPr lang="en-US" altLang="en-US" dirty="0">
                <a:solidFill>
                  <a:srgbClr val="CC00FF"/>
                </a:solidFill>
              </a:rPr>
              <a:t>= 0. (A’=0)</a:t>
            </a:r>
          </a:p>
          <a:p>
            <a:pPr marL="236538" indent="0" eaLnBrk="1" hangingPunct="1">
              <a:lnSpc>
                <a:spcPct val="150000"/>
              </a:lnSpc>
              <a:buNone/>
            </a:pPr>
            <a:r>
              <a:rPr lang="en-US" altLang="en-US" dirty="0" err="1"/>
              <a:t>Dấu</a:t>
            </a:r>
            <a:r>
              <a:rPr lang="en-US" altLang="en-US" dirty="0"/>
              <a:t> </a:t>
            </a:r>
            <a:r>
              <a:rPr lang="en-US" altLang="en-US" dirty="0" err="1"/>
              <a:t>hiệu</a:t>
            </a:r>
            <a:r>
              <a:rPr lang="en-US" altLang="en-US" dirty="0"/>
              <a:t> </a:t>
            </a:r>
            <a:r>
              <a:rPr lang="en-US" altLang="en-US" dirty="0" err="1"/>
              <a:t>của</a:t>
            </a:r>
            <a:r>
              <a:rPr lang="en-US" altLang="en-US" dirty="0"/>
              <a:t> </a:t>
            </a:r>
            <a:r>
              <a:rPr lang="en-US" altLang="en-US" dirty="0" err="1"/>
              <a:t>trạng</a:t>
            </a:r>
            <a:r>
              <a:rPr lang="en-US" altLang="en-US" dirty="0"/>
              <a:t> </a:t>
            </a:r>
            <a:r>
              <a:rPr lang="en-US" altLang="en-US" dirty="0" err="1"/>
              <a:t>thái</a:t>
            </a:r>
            <a:r>
              <a:rPr lang="en-US" altLang="en-US" dirty="0"/>
              <a:t> </a:t>
            </a:r>
            <a:r>
              <a:rPr lang="en-US" altLang="en-US" dirty="0" err="1"/>
              <a:t>cân</a:t>
            </a:r>
            <a:r>
              <a:rPr lang="en-US" altLang="en-US" dirty="0"/>
              <a:t> </a:t>
            </a:r>
            <a:r>
              <a:rPr lang="en-US" altLang="en-US" dirty="0" err="1"/>
              <a:t>bằng</a:t>
            </a:r>
            <a:r>
              <a:rPr lang="en-US" altLang="en-US" dirty="0"/>
              <a:t> </a:t>
            </a:r>
            <a:r>
              <a:rPr lang="en-US" altLang="en-US" dirty="0" err="1"/>
              <a:t>hoá</a:t>
            </a:r>
            <a:r>
              <a:rPr lang="en-US" altLang="en-US" dirty="0"/>
              <a:t> </a:t>
            </a:r>
            <a:r>
              <a:rPr lang="en-US" altLang="en-US" dirty="0" err="1"/>
              <a:t>học</a:t>
            </a:r>
            <a:r>
              <a:rPr lang="en-US" altLang="en-US" dirty="0"/>
              <a:t>: </a:t>
            </a:r>
          </a:p>
          <a:p>
            <a:pPr marL="236538" indent="558800"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800" b="1" dirty="0" err="1">
                <a:solidFill>
                  <a:srgbClr val="0000FF"/>
                </a:solidFill>
              </a:rPr>
              <a:t>Tính</a:t>
            </a:r>
            <a:r>
              <a:rPr lang="en-US" altLang="en-US" sz="2800" b="1" dirty="0">
                <a:solidFill>
                  <a:srgbClr val="0000FF"/>
                </a:solidFill>
              </a:rPr>
              <a:t> </a:t>
            </a:r>
            <a:r>
              <a:rPr lang="en-US" altLang="en-US" sz="2800" b="1" dirty="0" err="1">
                <a:solidFill>
                  <a:srgbClr val="0000FF"/>
                </a:solidFill>
              </a:rPr>
              <a:t>bất</a:t>
            </a:r>
            <a:r>
              <a:rPr lang="en-US" altLang="en-US" sz="2800" b="1" dirty="0">
                <a:solidFill>
                  <a:srgbClr val="0000FF"/>
                </a:solidFill>
              </a:rPr>
              <a:t> </a:t>
            </a:r>
            <a:r>
              <a:rPr lang="en-US" altLang="en-US" sz="2800" b="1" dirty="0" err="1">
                <a:solidFill>
                  <a:srgbClr val="0000FF"/>
                </a:solidFill>
              </a:rPr>
              <a:t>biến</a:t>
            </a:r>
            <a:r>
              <a:rPr lang="en-US" altLang="en-US" sz="2800" b="1" dirty="0">
                <a:solidFill>
                  <a:srgbClr val="0000FF"/>
                </a:solidFill>
              </a:rPr>
              <a:t> </a:t>
            </a:r>
            <a:r>
              <a:rPr lang="en-US" altLang="en-US" sz="2800" b="1" dirty="0" err="1">
                <a:solidFill>
                  <a:srgbClr val="0000FF"/>
                </a:solidFill>
              </a:rPr>
              <a:t>theo</a:t>
            </a:r>
            <a:r>
              <a:rPr lang="en-US" altLang="en-US" sz="2800" b="1" dirty="0">
                <a:solidFill>
                  <a:srgbClr val="0000FF"/>
                </a:solidFill>
              </a:rPr>
              <a:t> </a:t>
            </a:r>
            <a:r>
              <a:rPr lang="en-US" altLang="en-US" sz="2800" b="1" dirty="0" err="1">
                <a:solidFill>
                  <a:srgbClr val="0000FF"/>
                </a:solidFill>
              </a:rPr>
              <a:t>thời</a:t>
            </a:r>
            <a:r>
              <a:rPr lang="en-US" altLang="en-US" sz="2800" b="1" dirty="0">
                <a:solidFill>
                  <a:srgbClr val="0000FF"/>
                </a:solidFill>
              </a:rPr>
              <a:t> </a:t>
            </a:r>
            <a:r>
              <a:rPr lang="en-US" altLang="en-US" sz="2800" b="1" dirty="0" err="1">
                <a:solidFill>
                  <a:srgbClr val="0000FF"/>
                </a:solidFill>
              </a:rPr>
              <a:t>gian</a:t>
            </a:r>
            <a:r>
              <a:rPr lang="en-US" altLang="en-US" sz="2800" b="1" dirty="0">
                <a:solidFill>
                  <a:srgbClr val="0000FF"/>
                </a:solidFill>
              </a:rPr>
              <a:t>. </a:t>
            </a:r>
          </a:p>
          <a:p>
            <a:pPr marL="236538" indent="558800"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800" b="1" dirty="0">
                <a:solidFill>
                  <a:srgbClr val="0000FF"/>
                </a:solidFill>
              </a:rPr>
              <a:t> </a:t>
            </a:r>
            <a:r>
              <a:rPr lang="en-US" altLang="en-US" sz="2800" b="1" dirty="0" err="1">
                <a:solidFill>
                  <a:srgbClr val="CC00FF"/>
                </a:solidFill>
              </a:rPr>
              <a:t>Tính</a:t>
            </a:r>
            <a:r>
              <a:rPr lang="en-US" altLang="en-US" sz="2800" b="1" dirty="0">
                <a:solidFill>
                  <a:srgbClr val="CC00FF"/>
                </a:solidFill>
              </a:rPr>
              <a:t> </a:t>
            </a:r>
            <a:r>
              <a:rPr lang="en-US" altLang="en-US" sz="2800" b="1" dirty="0" err="1">
                <a:solidFill>
                  <a:srgbClr val="CC00FF"/>
                </a:solidFill>
              </a:rPr>
              <a:t>linh</a:t>
            </a:r>
            <a:r>
              <a:rPr lang="en-US" altLang="en-US" sz="2800" b="1" dirty="0">
                <a:solidFill>
                  <a:srgbClr val="CC00FF"/>
                </a:solidFill>
              </a:rPr>
              <a:t> </a:t>
            </a:r>
            <a:r>
              <a:rPr lang="en-US" altLang="en-US" sz="2800" b="1" dirty="0" err="1">
                <a:solidFill>
                  <a:srgbClr val="CC00FF"/>
                </a:solidFill>
              </a:rPr>
              <a:t>động</a:t>
            </a:r>
            <a:r>
              <a:rPr lang="en-US" altLang="en-US" sz="2800" b="1" dirty="0">
                <a:solidFill>
                  <a:srgbClr val="CC00FF"/>
                </a:solidFill>
              </a:rPr>
              <a:t>. </a:t>
            </a:r>
          </a:p>
          <a:p>
            <a:pPr marL="236538" indent="558800"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800" b="1" dirty="0">
                <a:solidFill>
                  <a:srgbClr val="0000FF"/>
                </a:solidFill>
              </a:rPr>
              <a:t> </a:t>
            </a:r>
            <a:r>
              <a:rPr lang="en-US" altLang="en-US" sz="2800" b="1" dirty="0" err="1">
                <a:solidFill>
                  <a:srgbClr val="C00000"/>
                </a:solidFill>
              </a:rPr>
              <a:t>Tính</a:t>
            </a:r>
            <a:r>
              <a:rPr lang="en-US" altLang="en-US" sz="2800" b="1" dirty="0">
                <a:solidFill>
                  <a:srgbClr val="C00000"/>
                </a:solidFill>
              </a:rPr>
              <a:t> </a:t>
            </a:r>
            <a:r>
              <a:rPr lang="en-US" altLang="en-US" sz="2800" b="1" dirty="0" err="1">
                <a:solidFill>
                  <a:srgbClr val="C00000"/>
                </a:solidFill>
              </a:rPr>
              <a:t>hai</a:t>
            </a:r>
            <a:r>
              <a:rPr lang="en-US" altLang="en-US" sz="2800" b="1" dirty="0">
                <a:solidFill>
                  <a:srgbClr val="C00000"/>
                </a:solidFill>
              </a:rPr>
              <a:t> </a:t>
            </a:r>
            <a:r>
              <a:rPr lang="en-US" altLang="en-US" sz="2800" b="1" dirty="0" err="1">
                <a:solidFill>
                  <a:srgbClr val="C00000"/>
                </a:solidFill>
              </a:rPr>
              <a:t>chiều</a:t>
            </a:r>
            <a:r>
              <a:rPr lang="en-US" altLang="en-US" sz="2800" b="1" dirty="0">
                <a:solidFill>
                  <a:srgbClr val="C00000"/>
                </a:solidFill>
              </a:rPr>
              <a:t>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D45BC32E-316F-4233-A38B-B86091B9D240}"/>
              </a:ext>
            </a:extLst>
          </p:cNvPr>
          <p:cNvSpPr/>
          <p:nvPr/>
        </p:nvSpPr>
        <p:spPr>
          <a:xfrm>
            <a:off x="6868752" y="4890432"/>
            <a:ext cx="381000" cy="381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315A7BA1-AEB2-4B9A-AD8F-64B258852497}"/>
              </a:ext>
            </a:extLst>
          </p:cNvPr>
          <p:cNvSpPr/>
          <p:nvPr/>
        </p:nvSpPr>
        <p:spPr>
          <a:xfrm>
            <a:off x="3668001" y="4053771"/>
            <a:ext cx="381000" cy="381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3FC60271-E47E-4241-B549-6B0B33DD81C1}"/>
              </a:ext>
            </a:extLst>
          </p:cNvPr>
          <p:cNvSpPr/>
          <p:nvPr/>
        </p:nvSpPr>
        <p:spPr>
          <a:xfrm>
            <a:off x="4419600" y="4953000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AAB97C49-723B-4CF3-9BD7-ECE0A4057289}"/>
              </a:ext>
            </a:extLst>
          </p:cNvPr>
          <p:cNvSpPr/>
          <p:nvPr/>
        </p:nvSpPr>
        <p:spPr>
          <a:xfrm>
            <a:off x="5029200" y="6193032"/>
            <a:ext cx="381000" cy="381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CFBB35A9-73C4-4E36-B225-8A36354D9AFD}"/>
              </a:ext>
            </a:extLst>
          </p:cNvPr>
          <p:cNvSpPr/>
          <p:nvPr/>
        </p:nvSpPr>
        <p:spPr>
          <a:xfrm>
            <a:off x="6034480" y="5271432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xmlns="" id="{588D7BFE-642B-40E1-89FE-3B9B8D5788C1}"/>
              </a:ext>
            </a:extLst>
          </p:cNvPr>
          <p:cNvSpPr/>
          <p:nvPr/>
        </p:nvSpPr>
        <p:spPr>
          <a:xfrm>
            <a:off x="7994009" y="4301945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xmlns="" id="{9CF8C114-2115-4E8D-8564-3F675C0EE4B6}"/>
              </a:ext>
            </a:extLst>
          </p:cNvPr>
          <p:cNvSpPr/>
          <p:nvPr/>
        </p:nvSpPr>
        <p:spPr>
          <a:xfrm>
            <a:off x="3592500" y="4466929"/>
            <a:ext cx="4764947" cy="2124230"/>
          </a:xfrm>
          <a:custGeom>
            <a:avLst/>
            <a:gdLst>
              <a:gd name="connsiteX0" fmla="*/ 0 w 4764947"/>
              <a:gd name="connsiteY0" fmla="*/ 284068 h 2124230"/>
              <a:gd name="connsiteX1" fmla="*/ 528507 w 4764947"/>
              <a:gd name="connsiteY1" fmla="*/ 149844 h 2124230"/>
              <a:gd name="connsiteX2" fmla="*/ 1518408 w 4764947"/>
              <a:gd name="connsiteY2" fmla="*/ 2112868 h 2124230"/>
              <a:gd name="connsiteX3" fmla="*/ 3011648 w 4764947"/>
              <a:gd name="connsiteY3" fmla="*/ 946798 h 2124230"/>
              <a:gd name="connsiteX4" fmla="*/ 4093828 w 4764947"/>
              <a:gd name="connsiteY4" fmla="*/ 745462 h 2124230"/>
              <a:gd name="connsiteX5" fmla="*/ 4764947 w 4764947"/>
              <a:gd name="connsiteY5" fmla="*/ 133066 h 2124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64947" h="2124230">
                <a:moveTo>
                  <a:pt x="0" y="284068"/>
                </a:moveTo>
                <a:cubicBezTo>
                  <a:pt x="137719" y="64556"/>
                  <a:pt x="275439" y="-154956"/>
                  <a:pt x="528507" y="149844"/>
                </a:cubicBezTo>
                <a:cubicBezTo>
                  <a:pt x="781575" y="454644"/>
                  <a:pt x="1104551" y="1980042"/>
                  <a:pt x="1518408" y="2112868"/>
                </a:cubicBezTo>
                <a:cubicBezTo>
                  <a:pt x="1932265" y="2245694"/>
                  <a:pt x="2582411" y="1174699"/>
                  <a:pt x="3011648" y="946798"/>
                </a:cubicBezTo>
                <a:cubicBezTo>
                  <a:pt x="3440885" y="718897"/>
                  <a:pt x="3801612" y="881084"/>
                  <a:pt x="4093828" y="745462"/>
                </a:cubicBezTo>
                <a:cubicBezTo>
                  <a:pt x="4386045" y="609840"/>
                  <a:pt x="4632121" y="250512"/>
                  <a:pt x="4764947" y="133066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xmlns="" id="{850B1A98-DBD6-4D2B-872C-5F41CC5A4E7B}"/>
              </a:ext>
            </a:extLst>
          </p:cNvPr>
          <p:cNvCxnSpPr>
            <a:cxnSpLocks/>
          </p:cNvCxnSpPr>
          <p:nvPr/>
        </p:nvCxnSpPr>
        <p:spPr>
          <a:xfrm>
            <a:off x="4692417" y="5340922"/>
            <a:ext cx="101367" cy="249886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xmlns="" id="{F1762E12-9297-4A30-ACAD-8ADBC96CF073}"/>
              </a:ext>
            </a:extLst>
          </p:cNvPr>
          <p:cNvCxnSpPr>
            <a:cxnSpLocks/>
          </p:cNvCxnSpPr>
          <p:nvPr/>
        </p:nvCxnSpPr>
        <p:spPr>
          <a:xfrm flipH="1">
            <a:off x="5943600" y="5590808"/>
            <a:ext cx="159128" cy="200392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xmlns="" id="{15CD3BBE-6ED7-4D4E-B3CE-3E7EAFEBE59D}"/>
              </a:ext>
            </a:extLst>
          </p:cNvPr>
          <p:cNvCxnSpPr>
            <a:cxnSpLocks/>
          </p:cNvCxnSpPr>
          <p:nvPr/>
        </p:nvCxnSpPr>
        <p:spPr>
          <a:xfrm flipH="1">
            <a:off x="7848600" y="4615659"/>
            <a:ext cx="187968" cy="219686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BB99F3B9-D006-455B-B0F6-07B5E4CEABAD}"/>
              </a:ext>
            </a:extLst>
          </p:cNvPr>
          <p:cNvSpPr txBox="1"/>
          <p:nvPr/>
        </p:nvSpPr>
        <p:spPr>
          <a:xfrm>
            <a:off x="4743100" y="5867746"/>
            <a:ext cx="2506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>
                <a:solidFill>
                  <a:srgbClr val="FF0000"/>
                </a:solidFill>
              </a:rPr>
              <a:t>CB BỀN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vi-VN" b="1" dirty="0">
                <a:solidFill>
                  <a:srgbClr val="FF0000"/>
                </a:solidFill>
                <a:sym typeface="Symbol" panose="05050102010706020507" pitchFamily="18" charset="2"/>
              </a:rPr>
              <a:t></a:t>
            </a:r>
            <a:r>
              <a:rPr lang="en-US" b="1" dirty="0">
                <a:solidFill>
                  <a:srgbClr val="FF0000"/>
                </a:solidFill>
                <a:sym typeface="Symbol" panose="05050102010706020507" pitchFamily="18" charset="2"/>
              </a:rPr>
              <a:t> CBHH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C6C4E1DF-A7E2-40DF-9339-97288C4CE6FC}"/>
              </a:ext>
            </a:extLst>
          </p:cNvPr>
          <p:cNvSpPr txBox="1"/>
          <p:nvPr/>
        </p:nvSpPr>
        <p:spPr>
          <a:xfrm>
            <a:off x="5919047" y="4540836"/>
            <a:ext cx="2074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>
                <a:solidFill>
                  <a:srgbClr val="006600"/>
                </a:solidFill>
              </a:rPr>
              <a:t>CB KHÔNG BỀN</a:t>
            </a:r>
            <a:endParaRPr lang="en-US" b="1" dirty="0">
              <a:solidFill>
                <a:srgbClr val="00660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BD585BAA-F627-49CE-B552-048F4B95002B}"/>
              </a:ext>
            </a:extLst>
          </p:cNvPr>
          <p:cNvSpPr txBox="1"/>
          <p:nvPr/>
        </p:nvSpPr>
        <p:spPr>
          <a:xfrm>
            <a:off x="4024491" y="4060834"/>
            <a:ext cx="2074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>
                <a:solidFill>
                  <a:srgbClr val="006600"/>
                </a:solidFill>
              </a:rPr>
              <a:t>CB KHÔNG BỀN</a:t>
            </a:r>
            <a:endParaRPr lang="en-US" b="1" dirty="0">
              <a:solidFill>
                <a:srgbClr val="0066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/>
      <p:bldP spid="5123" grpId="0" build="p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4" grpId="0" animBg="1"/>
      <p:bldP spid="26" grpId="0"/>
      <p:bldP spid="30" grpId="0"/>
      <p:bldP spid="3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1" name="Rectangle 3">
            <a:extLst>
              <a:ext uri="{FF2B5EF4-FFF2-40B4-BE49-F238E27FC236}">
                <a16:creationId xmlns:a16="http://schemas.microsoft.com/office/drawing/2014/main" xmlns="" id="{0EAD467B-003E-432B-A92F-FB16BAF240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-27963" y="4267200"/>
            <a:ext cx="9144000" cy="1828800"/>
          </a:xfrm>
        </p:spPr>
        <p:txBody>
          <a:bodyPr lIns="90488" tIns="44450" rIns="90488" bIns="44450"/>
          <a:lstStyle/>
          <a:p>
            <a:pPr eaLnBrk="1" hangingPunct="1">
              <a:lnSpc>
                <a:spcPct val="120000"/>
              </a:lnSpc>
              <a:buFontTx/>
              <a:buNone/>
              <a:defRPr/>
            </a:pPr>
            <a:r>
              <a:rPr 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       </a:t>
            </a:r>
            <a:r>
              <a:rPr lang="en-US" sz="4000" b="1" dirty="0">
                <a:solidFill>
                  <a:srgbClr val="CC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SỰ TẠO THÀNH THẠCH NHŨ </a:t>
            </a:r>
          </a:p>
          <a:p>
            <a:pPr eaLnBrk="1" hangingPunct="1">
              <a:lnSpc>
                <a:spcPct val="120000"/>
              </a:lnSpc>
              <a:buFontTx/>
              <a:buNone/>
              <a:defRPr/>
            </a:pPr>
            <a:r>
              <a:rPr 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3000" dirty="0">
                <a:solidFill>
                  <a:srgbClr val="0000FF"/>
                </a:solidFill>
              </a:rPr>
              <a:t>CaCO</a:t>
            </a:r>
            <a:r>
              <a:rPr lang="en-US" sz="3000" baseline="-25000" dirty="0">
                <a:solidFill>
                  <a:srgbClr val="0000FF"/>
                </a:solidFill>
              </a:rPr>
              <a:t>3</a:t>
            </a:r>
            <a:r>
              <a:rPr lang="en-US" sz="3000" dirty="0">
                <a:solidFill>
                  <a:srgbClr val="0000FF"/>
                </a:solidFill>
              </a:rPr>
              <a:t>(r)+ H</a:t>
            </a:r>
            <a:r>
              <a:rPr lang="en-US" sz="3000" baseline="-25000" dirty="0">
                <a:solidFill>
                  <a:srgbClr val="0000FF"/>
                </a:solidFill>
              </a:rPr>
              <a:t>2</a:t>
            </a:r>
            <a:r>
              <a:rPr lang="en-US" sz="3000" dirty="0">
                <a:solidFill>
                  <a:srgbClr val="0000FF"/>
                </a:solidFill>
              </a:rPr>
              <a:t>O(l)+ CO</a:t>
            </a:r>
            <a:r>
              <a:rPr lang="en-US" sz="3000" baseline="-25000" dirty="0">
                <a:solidFill>
                  <a:srgbClr val="0000FF"/>
                </a:solidFill>
              </a:rPr>
              <a:t>2</a:t>
            </a:r>
            <a:r>
              <a:rPr lang="en-US" sz="3000" dirty="0">
                <a:solidFill>
                  <a:srgbClr val="0000FF"/>
                </a:solidFill>
              </a:rPr>
              <a:t>(k) </a:t>
            </a:r>
            <a:r>
              <a:rPr lang="en-US" altLang="en-US" b="1" dirty="0"/>
              <a:t>⇌</a:t>
            </a:r>
            <a:r>
              <a:rPr lang="en-US" altLang="en-US" dirty="0"/>
              <a:t> </a:t>
            </a:r>
            <a:r>
              <a:rPr lang="en-US" sz="3000" dirty="0">
                <a:solidFill>
                  <a:srgbClr val="0000FF"/>
                </a:solidFill>
              </a:rPr>
              <a:t>Ca</a:t>
            </a:r>
            <a:r>
              <a:rPr lang="en-US" sz="3000" baseline="30000" dirty="0">
                <a:solidFill>
                  <a:srgbClr val="0000FF"/>
                </a:solidFill>
              </a:rPr>
              <a:t>2+</a:t>
            </a:r>
            <a:r>
              <a:rPr lang="en-US" sz="3000" dirty="0">
                <a:solidFill>
                  <a:srgbClr val="0000FF"/>
                </a:solidFill>
              </a:rPr>
              <a:t>(</a:t>
            </a:r>
            <a:r>
              <a:rPr lang="en-US" sz="3000" dirty="0" err="1">
                <a:solidFill>
                  <a:srgbClr val="0000FF"/>
                </a:solidFill>
              </a:rPr>
              <a:t>aq</a:t>
            </a:r>
            <a:r>
              <a:rPr lang="en-US" sz="3000" dirty="0">
                <a:solidFill>
                  <a:srgbClr val="0000FF"/>
                </a:solidFill>
              </a:rPr>
              <a:t>) + 2HCO</a:t>
            </a:r>
            <a:r>
              <a:rPr lang="en-US" sz="3000" baseline="-25000" dirty="0">
                <a:solidFill>
                  <a:srgbClr val="0000FF"/>
                </a:solidFill>
              </a:rPr>
              <a:t>3</a:t>
            </a:r>
            <a:r>
              <a:rPr lang="en-US" sz="3000" baseline="30000" dirty="0">
                <a:solidFill>
                  <a:srgbClr val="0000FF"/>
                </a:solidFill>
              </a:rPr>
              <a:t>-</a:t>
            </a:r>
            <a:r>
              <a:rPr lang="en-US" sz="3000" dirty="0">
                <a:solidFill>
                  <a:srgbClr val="0000FF"/>
                </a:solidFill>
              </a:rPr>
              <a:t>(</a:t>
            </a:r>
            <a:r>
              <a:rPr lang="en-US" sz="3000" dirty="0" err="1">
                <a:solidFill>
                  <a:srgbClr val="0000FF"/>
                </a:solidFill>
              </a:rPr>
              <a:t>aq</a:t>
            </a:r>
            <a:r>
              <a:rPr lang="en-US" sz="3000" dirty="0">
                <a:solidFill>
                  <a:srgbClr val="0000FF"/>
                </a:solidFill>
              </a:rPr>
              <a:t>)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8AEBE493-C228-46E0-93F3-E598B5F496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4267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C7D51E3D-D68D-4423-9693-8CA0544F5C12}"/>
              </a:ext>
            </a:extLst>
          </p:cNvPr>
          <p:cNvSpPr txBox="1"/>
          <p:nvPr/>
        </p:nvSpPr>
        <p:spPr>
          <a:xfrm>
            <a:off x="5181600" y="3048506"/>
            <a:ext cx="4038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chemeClr val="bg1">
                    <a:lumMod val="95000"/>
                  </a:schemeClr>
                </a:solidFill>
              </a:rPr>
              <a:t>Động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95000"/>
                  </a:schemeClr>
                </a:solidFill>
              </a:rPr>
              <a:t>thạch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95000"/>
                  </a:schemeClr>
                </a:solidFill>
              </a:rPr>
              <a:t>nhũ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bg1">
                    <a:lumMod val="95000"/>
                  </a:schemeClr>
                </a:solidFill>
              </a:rPr>
              <a:t>Gyokusendo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95000"/>
                  </a:schemeClr>
                </a:solidFill>
              </a:rPr>
              <a:t>dài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 900m, </a:t>
            </a:r>
            <a:r>
              <a:rPr lang="en-US" sz="2000" dirty="0" err="1">
                <a:solidFill>
                  <a:schemeClr val="bg1">
                    <a:lumMod val="95000"/>
                  </a:schemeClr>
                </a:solidFill>
              </a:rPr>
              <a:t>hình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95000"/>
                  </a:schemeClr>
                </a:solidFill>
              </a:rPr>
              <a:t>thành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95000"/>
                  </a:schemeClr>
                </a:solidFill>
              </a:rPr>
              <a:t>bởi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95000"/>
                  </a:schemeClr>
                </a:solidFill>
              </a:rPr>
              <a:t>quá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95000"/>
                  </a:schemeClr>
                </a:solidFill>
              </a:rPr>
              <a:t>trình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95000"/>
                  </a:schemeClr>
                </a:solidFill>
              </a:rPr>
              <a:t>tích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95000"/>
                  </a:schemeClr>
                </a:solidFill>
              </a:rPr>
              <a:t>tụ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95000"/>
                  </a:schemeClr>
                </a:solidFill>
              </a:rPr>
              <a:t>lâu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95000"/>
                  </a:schemeClr>
                </a:solidFill>
              </a:rPr>
              <a:t>dài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95000"/>
                  </a:schemeClr>
                </a:solidFill>
              </a:rPr>
              <a:t>của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95000"/>
                  </a:schemeClr>
                </a:solidFill>
              </a:rPr>
              <a:t>các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95000"/>
                  </a:schemeClr>
                </a:solidFill>
              </a:rPr>
              <a:t>rạn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 san </a:t>
            </a:r>
            <a:r>
              <a:rPr lang="en-US" sz="2000" dirty="0" err="1">
                <a:solidFill>
                  <a:schemeClr val="bg1">
                    <a:lumMod val="95000"/>
                  </a:schemeClr>
                </a:solidFill>
              </a:rPr>
              <a:t>hô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. 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>
            <a:extLst>
              <a:ext uri="{FF2B5EF4-FFF2-40B4-BE49-F238E27FC236}">
                <a16:creationId xmlns:a16="http://schemas.microsoft.com/office/drawing/2014/main" xmlns="" id="{58AB0DFB-3537-4C12-BBD4-0C200EDD43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12" y="1104901"/>
            <a:ext cx="9144000" cy="2667000"/>
          </a:xfrm>
          <a:ln>
            <a:noFill/>
          </a:ln>
        </p:spPr>
        <p:txBody>
          <a:bodyPr/>
          <a:lstStyle/>
          <a:p>
            <a:pPr eaLnBrk="1" hangingPunct="1">
              <a:lnSpc>
                <a:spcPct val="125000"/>
              </a:lnSpc>
              <a:buFontTx/>
              <a:buNone/>
            </a:pPr>
            <a:r>
              <a:rPr lang="en-US" altLang="en-US" dirty="0"/>
              <a:t>	  </a:t>
            </a:r>
            <a:r>
              <a:rPr lang="en-US" altLang="en-US" dirty="0" err="1"/>
              <a:t>a</a:t>
            </a:r>
            <a:r>
              <a:rPr lang="en-US" altLang="en-US" b="1" dirty="0" err="1">
                <a:solidFill>
                  <a:srgbClr val="FF0000"/>
                </a:solidFill>
              </a:rPr>
              <a:t>A</a:t>
            </a:r>
            <a:r>
              <a:rPr lang="en-US" altLang="en-US" dirty="0"/>
              <a:t>(k) + </a:t>
            </a:r>
            <a:r>
              <a:rPr lang="en-US" altLang="en-US" dirty="0" err="1"/>
              <a:t>b</a:t>
            </a:r>
            <a:r>
              <a:rPr lang="en-US" altLang="en-US" b="1" dirty="0" err="1">
                <a:solidFill>
                  <a:srgbClr val="FF0000"/>
                </a:solidFill>
              </a:rPr>
              <a:t>B</a:t>
            </a:r>
            <a:r>
              <a:rPr lang="en-US" altLang="en-US" dirty="0"/>
              <a:t>(k) ⇌ </a:t>
            </a:r>
            <a:r>
              <a:rPr lang="en-US" altLang="en-US" dirty="0" err="1"/>
              <a:t>c</a:t>
            </a:r>
            <a:r>
              <a:rPr lang="en-US" altLang="en-US" b="1" dirty="0" err="1">
                <a:solidFill>
                  <a:srgbClr val="FF0000"/>
                </a:solidFill>
              </a:rPr>
              <a:t>C</a:t>
            </a:r>
            <a:r>
              <a:rPr lang="en-US" altLang="en-US" dirty="0"/>
              <a:t>(k) + </a:t>
            </a:r>
            <a:r>
              <a:rPr lang="en-US" altLang="en-US" dirty="0" err="1"/>
              <a:t>d</a:t>
            </a:r>
            <a:r>
              <a:rPr lang="en-US" altLang="en-US" b="1" dirty="0" err="1">
                <a:solidFill>
                  <a:srgbClr val="FF0000"/>
                </a:solidFill>
              </a:rPr>
              <a:t>D</a:t>
            </a:r>
            <a:r>
              <a:rPr lang="en-US" altLang="en-US" dirty="0"/>
              <a:t>(k) </a:t>
            </a:r>
            <a:r>
              <a:rPr lang="en-US" altLang="en-US" sz="2000" dirty="0">
                <a:solidFill>
                  <a:srgbClr val="FF0000"/>
                </a:solidFill>
              </a:rPr>
              <a:t>(</a:t>
            </a:r>
            <a:r>
              <a:rPr lang="en-US" altLang="en-US" sz="2000" dirty="0" err="1">
                <a:solidFill>
                  <a:srgbClr val="FF0000"/>
                </a:solidFill>
              </a:rPr>
              <a:t>pư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000" dirty="0" err="1">
                <a:solidFill>
                  <a:srgbClr val="FF0000"/>
                </a:solidFill>
              </a:rPr>
              <a:t>đơn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000" dirty="0" err="1">
                <a:solidFill>
                  <a:srgbClr val="FF0000"/>
                </a:solidFill>
              </a:rPr>
              <a:t>giản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000" dirty="0" err="1">
                <a:solidFill>
                  <a:srgbClr val="FF0000"/>
                </a:solidFill>
              </a:rPr>
              <a:t>cả</a:t>
            </a:r>
            <a:r>
              <a:rPr lang="en-US" altLang="en-US" sz="2000" dirty="0">
                <a:solidFill>
                  <a:srgbClr val="FF0000"/>
                </a:solidFill>
              </a:rPr>
              <a:t> 2 </a:t>
            </a:r>
            <a:r>
              <a:rPr lang="en-US" altLang="en-US" sz="2000" dirty="0" err="1">
                <a:solidFill>
                  <a:srgbClr val="FF0000"/>
                </a:solidFill>
              </a:rPr>
              <a:t>chiều</a:t>
            </a:r>
            <a:r>
              <a:rPr lang="en-US" altLang="en-US" sz="2000" dirty="0">
                <a:solidFill>
                  <a:srgbClr val="FF0000"/>
                </a:solidFill>
              </a:rPr>
              <a:t>)</a:t>
            </a:r>
          </a:p>
          <a:p>
            <a:pPr eaLnBrk="1" hangingPunct="1">
              <a:lnSpc>
                <a:spcPct val="125000"/>
              </a:lnSpc>
              <a:buFontTx/>
              <a:buNone/>
            </a:pPr>
            <a:r>
              <a:rPr lang="en-US" altLang="en-US" sz="2800" dirty="0"/>
              <a:t>    </a:t>
            </a:r>
            <a:r>
              <a:rPr lang="en-US" altLang="en-US" sz="2800" dirty="0" err="1">
                <a:solidFill>
                  <a:srgbClr val="CC00FF"/>
                </a:solidFill>
              </a:rPr>
              <a:t>Khi</a:t>
            </a:r>
            <a:r>
              <a:rPr lang="en-US" altLang="en-US" sz="2800" dirty="0">
                <a:solidFill>
                  <a:srgbClr val="CC00FF"/>
                </a:solidFill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</a:rPr>
              <a:t>trạng</a:t>
            </a:r>
            <a:r>
              <a:rPr lang="en-US" altLang="en-US" sz="2800" dirty="0">
                <a:solidFill>
                  <a:srgbClr val="CC00FF"/>
                </a:solidFill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</a:rPr>
              <a:t>thái</a:t>
            </a:r>
            <a:r>
              <a:rPr lang="en-US" altLang="en-US" sz="2800" dirty="0">
                <a:solidFill>
                  <a:srgbClr val="CC00FF"/>
                </a:solidFill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</a:rPr>
              <a:t>đạt</a:t>
            </a:r>
            <a:r>
              <a:rPr lang="en-US" altLang="en-US" sz="2800" dirty="0">
                <a:solidFill>
                  <a:srgbClr val="CC00FF"/>
                </a:solidFill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</a:rPr>
              <a:t>cân</a:t>
            </a:r>
            <a:r>
              <a:rPr lang="en-US" altLang="en-US" sz="2800" dirty="0">
                <a:solidFill>
                  <a:srgbClr val="CC00FF"/>
                </a:solidFill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</a:rPr>
              <a:t>bằng</a:t>
            </a:r>
            <a:r>
              <a:rPr lang="en-US" altLang="en-US" sz="2800" dirty="0">
                <a:solidFill>
                  <a:srgbClr val="CC00FF"/>
                </a:solidFill>
              </a:rPr>
              <a:t>:   </a:t>
            </a:r>
            <a:r>
              <a:rPr lang="en-US" altLang="en-US" b="1" dirty="0" err="1">
                <a:solidFill>
                  <a:srgbClr val="CC00FF"/>
                </a:solidFill>
              </a:rPr>
              <a:t>v</a:t>
            </a:r>
            <a:r>
              <a:rPr lang="en-US" altLang="en-US" b="1" baseline="-25000" dirty="0" err="1">
                <a:solidFill>
                  <a:srgbClr val="CC00FF"/>
                </a:solidFill>
              </a:rPr>
              <a:t>t</a:t>
            </a:r>
            <a:r>
              <a:rPr lang="en-US" altLang="en-US" b="1" dirty="0">
                <a:solidFill>
                  <a:srgbClr val="CC00FF"/>
                </a:solidFill>
              </a:rPr>
              <a:t> = </a:t>
            </a:r>
            <a:r>
              <a:rPr lang="en-US" altLang="en-US" b="1" dirty="0" err="1">
                <a:solidFill>
                  <a:srgbClr val="CC00FF"/>
                </a:solidFill>
              </a:rPr>
              <a:t>v</a:t>
            </a:r>
            <a:r>
              <a:rPr lang="en-US" altLang="en-US" b="1" baseline="-25000" dirty="0" err="1">
                <a:solidFill>
                  <a:srgbClr val="CC00FF"/>
                </a:solidFill>
              </a:rPr>
              <a:t>n</a:t>
            </a:r>
            <a:endParaRPr lang="en-US" altLang="en-US" b="1" baseline="-25000" dirty="0">
              <a:solidFill>
                <a:srgbClr val="CC00FF"/>
              </a:solidFill>
            </a:endParaRPr>
          </a:p>
          <a:p>
            <a:pPr marL="0" indent="0" eaLnBrk="1" hangingPunct="1">
              <a:lnSpc>
                <a:spcPct val="125000"/>
              </a:lnSpc>
              <a:buNone/>
            </a:pPr>
            <a:endParaRPr lang="en-US" altLang="en-US" sz="2800" baseline="-25000" dirty="0"/>
          </a:p>
          <a:p>
            <a:pPr eaLnBrk="1" hangingPunct="1">
              <a:lnSpc>
                <a:spcPct val="125000"/>
              </a:lnSpc>
            </a:pPr>
            <a:endParaRPr lang="en-US" altLang="en-US" sz="2800" baseline="-25000" dirty="0"/>
          </a:p>
          <a:p>
            <a:pPr eaLnBrk="1" hangingPunct="1">
              <a:lnSpc>
                <a:spcPct val="125000"/>
              </a:lnSpc>
            </a:pPr>
            <a:endParaRPr lang="en-US" altLang="en-US" sz="2800" baseline="-25000" dirty="0"/>
          </a:p>
          <a:p>
            <a:pPr eaLnBrk="1" hangingPunct="1">
              <a:lnSpc>
                <a:spcPct val="125000"/>
              </a:lnSpc>
              <a:buFontTx/>
              <a:buNone/>
            </a:pPr>
            <a:r>
              <a:rPr lang="en-US" altLang="en-US" sz="2800" dirty="0"/>
              <a:t>    </a:t>
            </a:r>
            <a:endParaRPr lang="en-US" altLang="en-US" sz="2800" dirty="0">
              <a:solidFill>
                <a:srgbClr val="FF0000"/>
              </a:solidFill>
            </a:endParaRPr>
          </a:p>
          <a:p>
            <a:pPr eaLnBrk="1" hangingPunct="1">
              <a:lnSpc>
                <a:spcPct val="125000"/>
              </a:lnSpc>
              <a:buFontTx/>
              <a:buNone/>
            </a:pPr>
            <a:endParaRPr lang="en-US" altLang="en-US" sz="2800" dirty="0"/>
          </a:p>
          <a:p>
            <a:pPr eaLnBrk="1" hangingPunct="1">
              <a:lnSpc>
                <a:spcPct val="125000"/>
              </a:lnSpc>
              <a:buFontTx/>
              <a:buNone/>
            </a:pPr>
            <a:r>
              <a:rPr lang="en-US" altLang="en-US" dirty="0"/>
              <a:t>										 </a:t>
            </a:r>
          </a:p>
        </p:txBody>
      </p:sp>
      <p:sp>
        <p:nvSpPr>
          <p:cNvPr id="17411" name="Rectangle 4">
            <a:extLst>
              <a:ext uri="{FF2B5EF4-FFF2-40B4-BE49-F238E27FC236}">
                <a16:creationId xmlns:a16="http://schemas.microsoft.com/office/drawing/2014/main" xmlns="" id="{3331C2AA-9D80-45CC-867B-0EDCB944AD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7173" name="Object 5">
            <a:extLst>
              <a:ext uri="{FF2B5EF4-FFF2-40B4-BE49-F238E27FC236}">
                <a16:creationId xmlns:a16="http://schemas.microsoft.com/office/drawing/2014/main" xmlns="" id="{9ACEE7F1-525A-42CE-B412-31A256002A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0353059"/>
              </p:ext>
            </p:extLst>
          </p:nvPr>
        </p:nvGraphicFramePr>
        <p:xfrm>
          <a:off x="1604258" y="2378076"/>
          <a:ext cx="50292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30" name="Equation" r:id="rId4" imgW="2667000" imgH="241300" progId="Equation.3">
                  <p:embed/>
                </p:oleObj>
              </mc:Choice>
              <mc:Fallback>
                <p:oleObj name="Equation" r:id="rId4" imgW="2667000" imgH="2413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4258" y="2378076"/>
                        <a:ext cx="50292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3" name="Rectangle 6">
            <a:extLst>
              <a:ext uri="{FF2B5EF4-FFF2-40B4-BE49-F238E27FC236}">
                <a16:creationId xmlns:a16="http://schemas.microsoft.com/office/drawing/2014/main" xmlns="" id="{25162BB2-4E93-470F-A279-2751E9FA7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7175" name="Object 7">
            <a:extLst>
              <a:ext uri="{FF2B5EF4-FFF2-40B4-BE49-F238E27FC236}">
                <a16:creationId xmlns:a16="http://schemas.microsoft.com/office/drawing/2014/main" xmlns="" id="{5065FB8B-847A-4E8D-AD2F-00FC822A57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9137896"/>
              </p:ext>
            </p:extLst>
          </p:nvPr>
        </p:nvGraphicFramePr>
        <p:xfrm>
          <a:off x="2872924" y="3188028"/>
          <a:ext cx="2971800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31" name="Equation" r:id="rId6" imgW="1473200" imgH="457200" progId="Equation.3">
                  <p:embed/>
                </p:oleObj>
              </mc:Choice>
              <mc:Fallback>
                <p:oleObj name="Equation" r:id="rId6" imgW="1473200" imgH="457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2924" y="3188028"/>
                        <a:ext cx="2971800" cy="895350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C0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5" name="Rectangle 8">
            <a:extLst>
              <a:ext uri="{FF2B5EF4-FFF2-40B4-BE49-F238E27FC236}">
                <a16:creationId xmlns:a16="http://schemas.microsoft.com/office/drawing/2014/main" xmlns="" id="{BCAA4287-9D2B-4062-9BA3-59C841CD8B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7177" name="Object 9">
            <a:extLst>
              <a:ext uri="{FF2B5EF4-FFF2-40B4-BE49-F238E27FC236}">
                <a16:creationId xmlns:a16="http://schemas.microsoft.com/office/drawing/2014/main" xmlns="" id="{213F0050-17EF-4727-8891-9EEFEA16B3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6647958"/>
              </p:ext>
            </p:extLst>
          </p:nvPr>
        </p:nvGraphicFramePr>
        <p:xfrm>
          <a:off x="266700" y="4635596"/>
          <a:ext cx="86106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32" name="Equation" r:id="rId8" imgW="4330700" imgH="482600" progId="Equation.3">
                  <p:embed/>
                </p:oleObj>
              </mc:Choice>
              <mc:Fallback>
                <p:oleObj name="Equation" r:id="rId8" imgW="4330700" imgH="482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" y="4635596"/>
                        <a:ext cx="86106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7" name="Rectangle 10">
            <a:extLst>
              <a:ext uri="{FF2B5EF4-FFF2-40B4-BE49-F238E27FC236}">
                <a16:creationId xmlns:a16="http://schemas.microsoft.com/office/drawing/2014/main" xmlns="" id="{822FBE66-B0BE-4CE6-9288-66455654F4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52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7179" name="Object 11">
            <a:extLst>
              <a:ext uri="{FF2B5EF4-FFF2-40B4-BE49-F238E27FC236}">
                <a16:creationId xmlns:a16="http://schemas.microsoft.com/office/drawing/2014/main" xmlns="" id="{A0355268-3323-4896-81F7-14FC1FCB9C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0834444"/>
              </p:ext>
            </p:extLst>
          </p:nvPr>
        </p:nvGraphicFramePr>
        <p:xfrm>
          <a:off x="1174335" y="5708977"/>
          <a:ext cx="34290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33" name="Equation" r:id="rId10" imgW="990170" imgH="266584" progId="Equation.3">
                  <p:embed/>
                </p:oleObj>
              </mc:Choice>
              <mc:Fallback>
                <p:oleObj name="Equation" r:id="rId10" imgW="990170" imgH="266584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4335" y="5708977"/>
                        <a:ext cx="3429000" cy="711200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C0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9" name="Rectangle 12">
            <a:extLst>
              <a:ext uri="{FF2B5EF4-FFF2-40B4-BE49-F238E27FC236}">
                <a16:creationId xmlns:a16="http://schemas.microsoft.com/office/drawing/2014/main" xmlns="" id="{0528F946-B4D4-439F-AF88-3FD108579C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290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7420" name="Rectangle 14">
            <a:extLst>
              <a:ext uri="{FF2B5EF4-FFF2-40B4-BE49-F238E27FC236}">
                <a16:creationId xmlns:a16="http://schemas.microsoft.com/office/drawing/2014/main" xmlns="" id="{69DD0708-C8A4-4F62-9517-9FA83C91F1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57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7421" name="Rectangle 16">
            <a:extLst>
              <a:ext uri="{FF2B5EF4-FFF2-40B4-BE49-F238E27FC236}">
                <a16:creationId xmlns:a16="http://schemas.microsoft.com/office/drawing/2014/main" xmlns="" id="{B0938087-0A1B-4E1D-A301-D1BC513FF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7423" name="Rectangle 17">
            <a:extLst>
              <a:ext uri="{FF2B5EF4-FFF2-40B4-BE49-F238E27FC236}">
                <a16:creationId xmlns:a16="http://schemas.microsoft.com/office/drawing/2014/main" xmlns="" id="{3258349D-CCFD-4DFC-8D8B-7FF7DE03E3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2963" y="5738813"/>
            <a:ext cx="4017962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rgbClr val="0000FF"/>
                </a:solidFill>
              </a:rPr>
              <a:t>R = 0,082 [</a:t>
            </a:r>
            <a:r>
              <a:rPr lang="en-US" altLang="en-US" sz="2800" dirty="0" err="1">
                <a:solidFill>
                  <a:srgbClr val="0000FF"/>
                </a:solidFill>
              </a:rPr>
              <a:t>lit.atm</a:t>
            </a:r>
            <a:r>
              <a:rPr lang="en-US" altLang="en-US" sz="2800" dirty="0">
                <a:solidFill>
                  <a:srgbClr val="0000FF"/>
                </a:solidFill>
              </a:rPr>
              <a:t>/</a:t>
            </a:r>
            <a:r>
              <a:rPr lang="en-US" altLang="en-US" sz="2800" dirty="0" err="1">
                <a:solidFill>
                  <a:srgbClr val="0000FF"/>
                </a:solidFill>
              </a:rPr>
              <a:t>mol.k</a:t>
            </a:r>
            <a:r>
              <a:rPr lang="en-US" altLang="en-US" sz="2800" dirty="0">
                <a:solidFill>
                  <a:srgbClr val="0000FF"/>
                </a:solidFill>
              </a:rPr>
              <a:t>]</a:t>
            </a: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xmlns="" id="{11834E64-55B2-42B5-B88A-7060612B5F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963" y="76201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en-US" sz="3200" b="1" dirty="0">
                <a:solidFill>
                  <a:srgbClr val="0000FF"/>
                </a:solidFill>
              </a:rPr>
              <a:t>HẰNG SỐ CÂN BẰNG PHẢN ỨNG ĐỒNG THỂ</a:t>
            </a:r>
            <a:br>
              <a:rPr lang="en-US" altLang="en-US" sz="3200" b="1" dirty="0">
                <a:solidFill>
                  <a:srgbClr val="0000FF"/>
                </a:solidFill>
              </a:rPr>
            </a:br>
            <a:r>
              <a:rPr lang="en-US" altLang="en-US" sz="3200" b="1" dirty="0">
                <a:solidFill>
                  <a:srgbClr val="0000FF"/>
                </a:solidFill>
              </a:rPr>
              <a:t>TRONG HỆ KHÍ LÝ T</a:t>
            </a:r>
            <a:r>
              <a:rPr lang="vi-VN" altLang="en-US" sz="3200" b="1" dirty="0">
                <a:solidFill>
                  <a:srgbClr val="0000FF"/>
                </a:solidFill>
              </a:rPr>
              <a:t>Ư</a:t>
            </a:r>
            <a:r>
              <a:rPr lang="en-US" altLang="en-US" sz="3200" b="1" dirty="0">
                <a:solidFill>
                  <a:srgbClr val="0000FF"/>
                </a:solidFill>
              </a:rPr>
              <a:t>ỞNG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xmlns="" id="{98AF3340-CC99-4258-B7C2-9D3FFB11137A}"/>
              </a:ext>
            </a:extLst>
          </p:cNvPr>
          <p:cNvSpPr/>
          <p:nvPr/>
        </p:nvSpPr>
        <p:spPr>
          <a:xfrm>
            <a:off x="3585458" y="3188028"/>
            <a:ext cx="533400" cy="8953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allout: Line 19">
            <a:extLst>
              <a:ext uri="{FF2B5EF4-FFF2-40B4-BE49-F238E27FC236}">
                <a16:creationId xmlns:a16="http://schemas.microsoft.com/office/drawing/2014/main" xmlns="" id="{B5333B6B-829A-4155-B3B6-D187E3ABE878}"/>
              </a:ext>
            </a:extLst>
          </p:cNvPr>
          <p:cNvSpPr/>
          <p:nvPr/>
        </p:nvSpPr>
        <p:spPr>
          <a:xfrm>
            <a:off x="6179534" y="1342394"/>
            <a:ext cx="2870110" cy="441325"/>
          </a:xfrm>
          <a:prstGeom prst="borderCallout1">
            <a:avLst>
              <a:gd name="adj1" fmla="val 97202"/>
              <a:gd name="adj2" fmla="val -410"/>
              <a:gd name="adj3" fmla="val 489269"/>
              <a:gd name="adj4" fmla="val -7112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6322815-CF90-4AEB-9ADA-24ADDABAA0D6}"/>
              </a:ext>
            </a:extLst>
          </p:cNvPr>
          <p:cNvSpPr txBox="1"/>
          <p:nvPr/>
        </p:nvSpPr>
        <p:spPr>
          <a:xfrm>
            <a:off x="6179534" y="3229607"/>
            <a:ext cx="27240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/>
              <a:t>P</a:t>
            </a:r>
            <a:r>
              <a:rPr lang="vi-VN" sz="2800" baseline="-25000" dirty="0"/>
              <a:t>X</a:t>
            </a:r>
            <a:r>
              <a:rPr lang="vi-VN" sz="2800" dirty="0"/>
              <a:t> .V = n</a:t>
            </a:r>
            <a:r>
              <a:rPr lang="vi-VN" sz="2800" baseline="-25000" dirty="0"/>
              <a:t>X</a:t>
            </a:r>
            <a:r>
              <a:rPr lang="vi-VN" sz="2800" dirty="0"/>
              <a:t>. R.T</a:t>
            </a:r>
            <a:endParaRPr lang="en-US" sz="2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F16976A2-CFDE-4897-85AD-384E4E713A51}"/>
              </a:ext>
            </a:extLst>
          </p:cNvPr>
          <p:cNvSpPr txBox="1"/>
          <p:nvPr/>
        </p:nvSpPr>
        <p:spPr>
          <a:xfrm>
            <a:off x="6179534" y="3249358"/>
            <a:ext cx="2724011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vi-VN" sz="2800" dirty="0"/>
              <a:t>P</a:t>
            </a:r>
            <a:r>
              <a:rPr lang="vi-VN" sz="2800" baseline="-25000" dirty="0"/>
              <a:t>X</a:t>
            </a:r>
            <a:r>
              <a:rPr lang="vi-VN" sz="2800" dirty="0"/>
              <a:t>  = C</a:t>
            </a:r>
            <a:r>
              <a:rPr lang="vi-VN" sz="2800" baseline="-25000" dirty="0"/>
              <a:t>X</a:t>
            </a:r>
            <a:r>
              <a:rPr lang="vi-VN" sz="2800" dirty="0"/>
              <a:t>. R.T</a:t>
            </a:r>
            <a:endParaRPr lang="en-US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639A0F6-EE6D-441A-9F0B-D854DFEC2E91}"/>
              </a:ext>
            </a:extLst>
          </p:cNvPr>
          <p:cNvSpPr txBox="1"/>
          <p:nvPr/>
        </p:nvSpPr>
        <p:spPr>
          <a:xfrm>
            <a:off x="257442" y="4119795"/>
            <a:ext cx="85162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dirty="0">
                <a:solidFill>
                  <a:srgbClr val="FF0000"/>
                </a:solidFill>
              </a:rPr>
              <a:t>K</a:t>
            </a:r>
            <a:r>
              <a:rPr lang="en-US" altLang="en-US" sz="2800" baseline="-25000" dirty="0">
                <a:solidFill>
                  <a:srgbClr val="FF0000"/>
                </a:solidFill>
              </a:rPr>
              <a:t>c</a:t>
            </a:r>
            <a:r>
              <a:rPr lang="en-US" altLang="en-US" sz="2800" dirty="0">
                <a:solidFill>
                  <a:srgbClr val="FF0000"/>
                </a:solidFill>
              </a:rPr>
              <a:t>: </a:t>
            </a:r>
            <a:r>
              <a:rPr lang="en-US" altLang="en-US" sz="2800" dirty="0" err="1">
                <a:solidFill>
                  <a:srgbClr val="FF0000"/>
                </a:solidFill>
              </a:rPr>
              <a:t>hằng</a:t>
            </a:r>
            <a:r>
              <a:rPr lang="en-US" altLang="en-US" sz="2800" dirty="0">
                <a:solidFill>
                  <a:srgbClr val="FF0000"/>
                </a:solidFill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</a:rPr>
              <a:t>số</a:t>
            </a:r>
            <a:r>
              <a:rPr lang="en-US" altLang="en-US" sz="2800" dirty="0">
                <a:solidFill>
                  <a:srgbClr val="FF0000"/>
                </a:solidFill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</a:rPr>
              <a:t>cân</a:t>
            </a:r>
            <a:r>
              <a:rPr lang="en-US" altLang="en-US" sz="2800" dirty="0">
                <a:solidFill>
                  <a:srgbClr val="FF0000"/>
                </a:solidFill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</a:rPr>
              <a:t>bằng</a:t>
            </a:r>
            <a:r>
              <a:rPr lang="en-US" altLang="en-US" sz="2800" dirty="0">
                <a:solidFill>
                  <a:srgbClr val="FF0000"/>
                </a:solidFill>
              </a:rPr>
              <a:t>, </a:t>
            </a:r>
            <a:r>
              <a:rPr lang="en-US" altLang="en-US" sz="2800" dirty="0" err="1">
                <a:solidFill>
                  <a:srgbClr val="FF0000"/>
                </a:solidFill>
              </a:rPr>
              <a:t>hằng</a:t>
            </a:r>
            <a:r>
              <a:rPr lang="en-US" altLang="en-US" sz="2800" dirty="0">
                <a:solidFill>
                  <a:srgbClr val="FF0000"/>
                </a:solidFill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</a:rPr>
              <a:t>số</a:t>
            </a:r>
            <a:r>
              <a:rPr lang="en-US" altLang="en-US" sz="2800" dirty="0">
                <a:solidFill>
                  <a:srgbClr val="FF0000"/>
                </a:solidFill>
              </a:rPr>
              <a:t> ở </a:t>
            </a:r>
            <a:r>
              <a:rPr lang="en-US" altLang="en-US" sz="2800" dirty="0" err="1">
                <a:solidFill>
                  <a:srgbClr val="FF0000"/>
                </a:solidFill>
              </a:rPr>
              <a:t>nhiệt</a:t>
            </a:r>
            <a:r>
              <a:rPr lang="en-US" altLang="en-US" sz="2800" dirty="0">
                <a:solidFill>
                  <a:srgbClr val="FF0000"/>
                </a:solidFill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</a:rPr>
              <a:t>độ</a:t>
            </a:r>
            <a:r>
              <a:rPr lang="en-US" altLang="en-US" sz="2800" dirty="0">
                <a:solidFill>
                  <a:srgbClr val="FF0000"/>
                </a:solidFill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</a:rPr>
              <a:t>xác</a:t>
            </a:r>
            <a:r>
              <a:rPr lang="en-US" altLang="en-US" sz="2800" dirty="0">
                <a:solidFill>
                  <a:srgbClr val="FF0000"/>
                </a:solidFill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</a:rPr>
              <a:t>định</a:t>
            </a:r>
            <a:r>
              <a:rPr lang="en-US" altLang="en-US" sz="2800" dirty="0">
                <a:solidFill>
                  <a:srgbClr val="FF0000"/>
                </a:solidFill>
              </a:rPr>
              <a:t>.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EF85B08A-5D19-4AD7-808C-341CE73AA1ED}"/>
                  </a:ext>
                </a:extLst>
              </p:cNvPr>
              <p:cNvSpPr txBox="1"/>
              <p:nvPr/>
            </p:nvSpPr>
            <p:spPr>
              <a:xfrm>
                <a:off x="215312" y="4585668"/>
                <a:ext cx="8928688" cy="105471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noAutofit/>
              </a:bodyPr>
              <a:lstStyle/>
              <a:p>
                <a:r>
                  <a:rPr lang="en-US" sz="4000" dirty="0">
                    <a:sym typeface="Symbol" panose="05050102010706020507" pitchFamily="18" charset="2"/>
                  </a:rPr>
                  <a:t> </a:t>
                </a:r>
                <a:r>
                  <a:rPr lang="en-US" sz="4000" dirty="0">
                    <a:solidFill>
                      <a:srgbClr val="CC00FF"/>
                    </a:solidFill>
                    <a:sym typeface="Symbol" panose="05050102010706020507" pitchFamily="18" charset="2"/>
                  </a:rPr>
                  <a:t>n = 0  </a:t>
                </a:r>
                <a:r>
                  <a:rPr lang="en-US" sz="4000" dirty="0" err="1">
                    <a:solidFill>
                      <a:srgbClr val="CC00FF"/>
                    </a:solidFill>
                    <a:sym typeface="Symbol" panose="05050102010706020507" pitchFamily="18" charset="2"/>
                  </a:rPr>
                  <a:t>K</a:t>
                </a:r>
                <a:r>
                  <a:rPr lang="en-US" sz="4000" baseline="-25000" dirty="0" err="1">
                    <a:solidFill>
                      <a:srgbClr val="CC00FF"/>
                    </a:solidFill>
                    <a:sym typeface="Symbol" panose="05050102010706020507" pitchFamily="18" charset="2"/>
                  </a:rPr>
                  <a:t>p</a:t>
                </a:r>
                <a:r>
                  <a:rPr lang="en-US" sz="4000" dirty="0">
                    <a:solidFill>
                      <a:srgbClr val="CC00FF"/>
                    </a:solidFill>
                    <a:sym typeface="Symbol" panose="05050102010706020507" pitchFamily="18" charset="2"/>
                  </a:rPr>
                  <a:t> = K</a:t>
                </a:r>
                <a:r>
                  <a:rPr lang="en-US" sz="4000" baseline="-25000" dirty="0">
                    <a:solidFill>
                      <a:srgbClr val="CC00FF"/>
                    </a:solidFill>
                    <a:sym typeface="Symbol" panose="05050102010706020507" pitchFamily="18" charset="2"/>
                  </a:rPr>
                  <a:t>C</a:t>
                </a:r>
                <a:r>
                  <a:rPr lang="en-US" sz="4000" dirty="0">
                    <a:solidFill>
                      <a:srgbClr val="CC00FF"/>
                    </a:solidFill>
                    <a:sym typeface="Symbol" panose="05050102010706020507" pitchFamily="18" charset="2"/>
                  </a:rPr>
                  <a:t> = </a:t>
                </a:r>
                <a:r>
                  <a:rPr lang="en-US" sz="4000" dirty="0" err="1">
                    <a:solidFill>
                      <a:srgbClr val="CC00FF"/>
                    </a:solidFill>
                    <a:sym typeface="Symbol" panose="05050102010706020507" pitchFamily="18" charset="2"/>
                  </a:rPr>
                  <a:t>K</a:t>
                </a:r>
                <a:r>
                  <a:rPr lang="en-US" sz="4000" baseline="-25000" dirty="0" err="1">
                    <a:solidFill>
                      <a:srgbClr val="CC00FF"/>
                    </a:solidFill>
                    <a:sym typeface="Symbol" panose="05050102010706020507" pitchFamily="18" charset="2"/>
                  </a:rPr>
                  <a:t>n</a:t>
                </a:r>
                <a:r>
                  <a:rPr lang="en-US" sz="4000" dirty="0">
                    <a:solidFill>
                      <a:srgbClr val="CC00FF"/>
                    </a:solidFill>
                    <a:sym typeface="Symbol" panose="05050102010706020507" pitchFamily="18" charset="2"/>
                  </a:rPr>
                  <a:t> = 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000" i="1" smtClean="0">
                            <a:solidFill>
                              <a:srgbClr val="CC00FF"/>
                            </a:solidFill>
                            <a:latin typeface="Cambria Math"/>
                            <a:sym typeface="Symbol" panose="05050102010706020507" pitchFamily="18" charset="2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sz="4000" i="1" smtClean="0">
                                <a:solidFill>
                                  <a:srgbClr val="CC00FF"/>
                                </a:solidFill>
                                <a:latin typeface="Cambria Math"/>
                                <a:sym typeface="Symbol" panose="05050102010706020507" pitchFamily="18" charset="2"/>
                              </a:rPr>
                            </m:ctrlPr>
                          </m:sSubSupPr>
                          <m:e>
                            <m:r>
                              <a:rPr lang="en-US" sz="4000" b="0" i="1" smtClean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𝑛</m:t>
                            </m:r>
                          </m:e>
                          <m:sub>
                            <m:r>
                              <a:rPr lang="en-US" sz="4000" b="0" i="1" smtClean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𝐶</m:t>
                            </m:r>
                          </m:sub>
                          <m:sup>
                            <m:r>
                              <a:rPr lang="en-US" sz="4000" b="0" i="1" smtClean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𝑐</m:t>
                            </m:r>
                          </m:sup>
                        </m:sSubSup>
                        <m:sSubSup>
                          <m:sSubSupPr>
                            <m:ctrlPr>
                              <a:rPr lang="en-US" sz="4000" i="1" smtClean="0">
                                <a:solidFill>
                                  <a:srgbClr val="CC00FF"/>
                                </a:solidFill>
                                <a:latin typeface="Cambria Math"/>
                                <a:sym typeface="Symbol" panose="05050102010706020507" pitchFamily="18" charset="2"/>
                              </a:rPr>
                            </m:ctrlPr>
                          </m:sSubSupPr>
                          <m:e>
                            <m:r>
                              <a:rPr lang="en-US" sz="4000" b="0" i="1" smtClean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𝑛</m:t>
                            </m:r>
                          </m:e>
                          <m:sub>
                            <m:r>
                              <a:rPr lang="en-US" sz="4000" b="0" i="1" smtClean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𝐷</m:t>
                            </m:r>
                          </m:sub>
                          <m:sup>
                            <m:r>
                              <a:rPr lang="en-US" sz="4000" b="0" i="1" smtClean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𝑑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en-US" sz="4000" i="1" smtClean="0">
                                <a:solidFill>
                                  <a:srgbClr val="CC00FF"/>
                                </a:solidFill>
                                <a:latin typeface="Cambria Math"/>
                                <a:sym typeface="Symbol" panose="05050102010706020507" pitchFamily="18" charset="2"/>
                              </a:rPr>
                            </m:ctrlPr>
                          </m:sSubSupPr>
                          <m:e>
                            <m:r>
                              <a:rPr lang="en-US" sz="4000" b="0" i="1" smtClean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𝑛</m:t>
                            </m:r>
                          </m:e>
                          <m:sub>
                            <m:r>
                              <a:rPr lang="en-US" sz="4000" b="0" i="1" smtClean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𝐴</m:t>
                            </m:r>
                          </m:sub>
                          <m:sup>
                            <m:r>
                              <a:rPr lang="en-US" sz="4000" b="0" i="1" smtClean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𝑎</m:t>
                            </m:r>
                          </m:sup>
                        </m:sSubSup>
                        <m:sSubSup>
                          <m:sSubSupPr>
                            <m:ctrlPr>
                              <a:rPr lang="en-US" sz="4000" i="1" smtClean="0">
                                <a:solidFill>
                                  <a:srgbClr val="CC00FF"/>
                                </a:solidFill>
                                <a:latin typeface="Cambria Math"/>
                                <a:sym typeface="Symbol" panose="05050102010706020507" pitchFamily="18" charset="2"/>
                              </a:rPr>
                            </m:ctrlPr>
                          </m:sSubSupPr>
                          <m:e>
                            <m:r>
                              <a:rPr lang="en-US" sz="4000" b="0" i="1" smtClean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𝑛</m:t>
                            </m:r>
                          </m:e>
                          <m:sub>
                            <m:r>
                              <a:rPr lang="en-US" sz="4000" b="0" i="1" smtClean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𝐵</m:t>
                            </m:r>
                          </m:sub>
                          <m:sup>
                            <m:r>
                              <a:rPr lang="en-US" sz="4000" b="0" i="1" smtClean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𝑏</m:t>
                            </m:r>
                          </m:sup>
                        </m:sSubSup>
                      </m:den>
                    </m:f>
                    <m:r>
                      <a:rPr lang="en-US" sz="4000" i="1" smtClean="0">
                        <a:solidFill>
                          <a:srgbClr val="CC00FF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</m:t>
                    </m:r>
                  </m:oMath>
                </a14:m>
                <a:r>
                  <a:rPr lang="en-US" sz="4000" baseline="-25000" dirty="0">
                    <a:solidFill>
                      <a:srgbClr val="CC00FF"/>
                    </a:solidFill>
                  </a:rPr>
                  <a:t>cb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F85B08A-5D19-4AD7-808C-341CE73AA1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312" y="4585668"/>
                <a:ext cx="8928688" cy="1054719"/>
              </a:xfrm>
              <a:prstGeom prst="rect">
                <a:avLst/>
              </a:prstGeom>
              <a:blipFill>
                <a:blip r:embed="rId12"/>
                <a:stretch>
                  <a:fillRect l="-819" b="-15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  <p:bldP spid="17423" grpId="0"/>
      <p:bldP spid="2" grpId="0" animBg="1"/>
      <p:bldP spid="20" grpId="0" animBg="1"/>
      <p:bldP spid="3" grpId="0"/>
      <p:bldP spid="21" grpId="0" animBg="1"/>
      <p:bldP spid="4" grpId="0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9" name="Rectangle 3">
            <a:extLst>
              <a:ext uri="{FF2B5EF4-FFF2-40B4-BE49-F238E27FC236}">
                <a16:creationId xmlns:a16="http://schemas.microsoft.com/office/drawing/2014/main" xmlns="" id="{4D8AA9B4-BE31-4F20-866C-AA4E7A64A9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9772" y="236568"/>
            <a:ext cx="8839200" cy="3157537"/>
          </a:xfrm>
        </p:spPr>
        <p:txBody>
          <a:bodyPr lIns="90488" tIns="44450" rIns="90488" bIns="44450"/>
          <a:lstStyle/>
          <a:p>
            <a:pPr eaLnBrk="1" hangingPunct="1">
              <a:buFontTx/>
              <a:buNone/>
              <a:defRPr/>
            </a:pPr>
            <a:r>
              <a:rPr lang="en-US" sz="3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</a:t>
            </a:r>
            <a:r>
              <a:rPr lang="en-US" sz="3600" dirty="0">
                <a:solidFill>
                  <a:srgbClr val="C00000"/>
                </a:solidFill>
              </a:rPr>
              <a:t>2 </a:t>
            </a:r>
            <a:r>
              <a:rPr lang="en-US" sz="3600" dirty="0" err="1">
                <a:solidFill>
                  <a:srgbClr val="C00000"/>
                </a:solidFill>
              </a:rPr>
              <a:t>NOCl</a:t>
            </a:r>
            <a:r>
              <a:rPr lang="en-US" sz="3600" dirty="0">
                <a:solidFill>
                  <a:srgbClr val="C00000"/>
                </a:solidFill>
              </a:rPr>
              <a:t>(K) </a:t>
            </a:r>
            <a:r>
              <a:rPr lang="en-US" altLang="en-US" sz="3600" b="1" dirty="0">
                <a:solidFill>
                  <a:srgbClr val="C0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Symbol" panose="05050102010706020507" pitchFamily="18" charset="2"/>
              </a:rPr>
              <a:t>⇌</a:t>
            </a:r>
            <a:r>
              <a:rPr lang="en-US" sz="3600" dirty="0">
                <a:solidFill>
                  <a:srgbClr val="C00000"/>
                </a:solidFill>
                <a:latin typeface="CHM17SSB" charset="0"/>
              </a:rPr>
              <a:t>     </a:t>
            </a:r>
            <a:r>
              <a:rPr lang="en-US" sz="3600" dirty="0">
                <a:solidFill>
                  <a:srgbClr val="C00000"/>
                </a:solidFill>
              </a:rPr>
              <a:t>2 NO(k)   +   Cl</a:t>
            </a:r>
            <a:r>
              <a:rPr lang="en-US" sz="3600" baseline="-25000" dirty="0">
                <a:solidFill>
                  <a:srgbClr val="C00000"/>
                </a:solidFill>
              </a:rPr>
              <a:t>2</a:t>
            </a:r>
            <a:r>
              <a:rPr lang="en-US" sz="3600" dirty="0">
                <a:solidFill>
                  <a:srgbClr val="C00000"/>
                </a:solidFill>
              </a:rPr>
              <a:t>(k)</a:t>
            </a:r>
          </a:p>
          <a:p>
            <a:pPr eaLnBrk="1" hangingPunct="1">
              <a:buFontTx/>
              <a:buNone/>
              <a:defRPr/>
            </a:pPr>
            <a:r>
              <a:rPr lang="en-US" sz="3600" dirty="0"/>
              <a:t>			    </a:t>
            </a:r>
            <a:r>
              <a:rPr lang="en-US" sz="3600" b="1" dirty="0">
                <a:solidFill>
                  <a:srgbClr val="0000FF"/>
                </a:solidFill>
              </a:rPr>
              <a:t>[</a:t>
            </a:r>
            <a:r>
              <a:rPr lang="en-US" sz="3600" b="1" dirty="0" err="1">
                <a:solidFill>
                  <a:srgbClr val="0000FF"/>
                </a:solidFill>
              </a:rPr>
              <a:t>NOCl</a:t>
            </a:r>
            <a:r>
              <a:rPr lang="en-US" sz="3600" b="1" dirty="0">
                <a:solidFill>
                  <a:srgbClr val="0000FF"/>
                </a:solidFill>
              </a:rPr>
              <a:t>]	[NO]      [Cl</a:t>
            </a:r>
            <a:r>
              <a:rPr lang="en-US" sz="3600" b="1" baseline="-25000" dirty="0">
                <a:solidFill>
                  <a:srgbClr val="0000FF"/>
                </a:solidFill>
              </a:rPr>
              <a:t>2</a:t>
            </a:r>
            <a:r>
              <a:rPr lang="en-US" sz="3600" b="1" dirty="0">
                <a:solidFill>
                  <a:srgbClr val="0000FF"/>
                </a:solidFill>
              </a:rPr>
              <a:t>]</a:t>
            </a:r>
          </a:p>
          <a:p>
            <a:pPr eaLnBrk="1" hangingPunct="1">
              <a:buFontTx/>
              <a:buNone/>
              <a:defRPr/>
            </a:pPr>
            <a:r>
              <a:rPr lang="en-US" dirty="0">
                <a:solidFill>
                  <a:srgbClr val="0000FF"/>
                </a:solidFill>
              </a:rPr>
              <a:t>Ban </a:t>
            </a:r>
            <a:r>
              <a:rPr lang="en-US" dirty="0" err="1">
                <a:solidFill>
                  <a:srgbClr val="0000FF"/>
                </a:solidFill>
              </a:rPr>
              <a:t>đầu</a:t>
            </a:r>
            <a:r>
              <a:rPr lang="en-US" dirty="0">
                <a:solidFill>
                  <a:srgbClr val="0000FF"/>
                </a:solidFill>
              </a:rPr>
              <a:t> 		2</a:t>
            </a:r>
            <a:r>
              <a:rPr lang="vi-VN" dirty="0">
                <a:solidFill>
                  <a:srgbClr val="0000FF"/>
                </a:solidFill>
              </a:rPr>
              <a:t>,</a:t>
            </a:r>
            <a:r>
              <a:rPr lang="en-US" dirty="0">
                <a:solidFill>
                  <a:srgbClr val="0000FF"/>
                </a:solidFill>
              </a:rPr>
              <a:t>00		</a:t>
            </a:r>
            <a:r>
              <a:rPr lang="vi-VN" dirty="0">
                <a:solidFill>
                  <a:srgbClr val="0000FF"/>
                </a:solidFill>
              </a:rPr>
              <a:t>  </a:t>
            </a:r>
            <a:r>
              <a:rPr lang="en-US" dirty="0">
                <a:solidFill>
                  <a:srgbClr val="0000FF"/>
                </a:solidFill>
              </a:rPr>
              <a:t>0		</a:t>
            </a:r>
            <a:r>
              <a:rPr lang="vi-VN" dirty="0">
                <a:solidFill>
                  <a:srgbClr val="0000FF"/>
                </a:solidFill>
              </a:rPr>
              <a:t>  </a:t>
            </a:r>
            <a:r>
              <a:rPr lang="en-US" dirty="0">
                <a:solidFill>
                  <a:srgbClr val="0000FF"/>
                </a:solidFill>
              </a:rPr>
              <a:t>0</a:t>
            </a:r>
            <a:r>
              <a:rPr lang="vi-VN" dirty="0">
                <a:solidFill>
                  <a:srgbClr val="0000FF"/>
                </a:solidFill>
              </a:rPr>
              <a:t>       </a:t>
            </a:r>
            <a:r>
              <a:rPr lang="en-US" dirty="0">
                <a:solidFill>
                  <a:srgbClr val="0000FF"/>
                </a:solidFill>
              </a:rPr>
              <a:t>[M]</a:t>
            </a:r>
          </a:p>
          <a:p>
            <a:pPr eaLnBrk="1" hangingPunct="1">
              <a:buFontTx/>
              <a:buNone/>
              <a:defRPr/>
            </a:pPr>
            <a:r>
              <a:rPr lang="en-US" dirty="0" err="1">
                <a:solidFill>
                  <a:srgbClr val="712000"/>
                </a:solidFill>
              </a:rPr>
              <a:t>Phản</a:t>
            </a:r>
            <a:r>
              <a:rPr lang="en-US" dirty="0">
                <a:solidFill>
                  <a:srgbClr val="712000"/>
                </a:solidFill>
              </a:rPr>
              <a:t> </a:t>
            </a:r>
            <a:r>
              <a:rPr lang="en-US" dirty="0" err="1">
                <a:solidFill>
                  <a:srgbClr val="712000"/>
                </a:solidFill>
              </a:rPr>
              <a:t>ứng</a:t>
            </a:r>
            <a:r>
              <a:rPr lang="en-US" dirty="0">
                <a:solidFill>
                  <a:srgbClr val="712000"/>
                </a:solidFill>
              </a:rPr>
              <a:t>          	                       +0</a:t>
            </a:r>
            <a:r>
              <a:rPr lang="vi-VN" dirty="0">
                <a:solidFill>
                  <a:srgbClr val="712000"/>
                </a:solidFill>
              </a:rPr>
              <a:t>,</a:t>
            </a:r>
            <a:r>
              <a:rPr lang="en-US" dirty="0">
                <a:solidFill>
                  <a:srgbClr val="712000"/>
                </a:solidFill>
              </a:rPr>
              <a:t>33  </a:t>
            </a:r>
            <a:r>
              <a:rPr lang="vi-VN" dirty="0">
                <a:solidFill>
                  <a:srgbClr val="712000"/>
                </a:solidFill>
              </a:rPr>
              <a:t> </a:t>
            </a:r>
            <a:r>
              <a:rPr lang="en-US" dirty="0">
                <a:solidFill>
                  <a:srgbClr val="712000"/>
                </a:solidFill>
              </a:rPr>
              <a:t>[M]</a:t>
            </a:r>
          </a:p>
          <a:p>
            <a:pPr eaLnBrk="1" hangingPunct="1">
              <a:buFontTx/>
              <a:buNone/>
              <a:defRPr/>
            </a:pPr>
            <a:endParaRPr lang="en-US" sz="2800" dirty="0">
              <a:solidFill>
                <a:srgbClr val="6E0043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>
              <a:buFontTx/>
              <a:buNone/>
              <a:defRPr/>
            </a:pPr>
            <a:endParaRPr lang="en-US" sz="2800" dirty="0">
              <a:solidFill>
                <a:srgbClr val="6E0043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>
              <a:buFontTx/>
              <a:buNone/>
              <a:defRPr/>
            </a:pPr>
            <a:endParaRPr lang="en-US" sz="2800" dirty="0">
              <a:solidFill>
                <a:srgbClr val="6E0043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47465" name="Text Box 9">
            <a:extLst>
              <a:ext uri="{FF2B5EF4-FFF2-40B4-BE49-F238E27FC236}">
                <a16:creationId xmlns:a16="http://schemas.microsoft.com/office/drawing/2014/main" xmlns="" id="{AC9BD4C3-60DC-43F9-B2BB-6C810541A6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2132210"/>
            <a:ext cx="34290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Arial" pitchFamily="34" charset="0"/>
              </a:rPr>
              <a:t>-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r>
              <a:rPr lang="vi-V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,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66       </a:t>
            </a:r>
            <a:r>
              <a:rPr lang="vi-V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+0</a:t>
            </a:r>
            <a:r>
              <a:rPr lang="vi-V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,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66</a:t>
            </a:r>
          </a:p>
        </p:txBody>
      </p:sp>
      <p:sp>
        <p:nvSpPr>
          <p:cNvPr id="147466" name="Text Box 10">
            <a:extLst>
              <a:ext uri="{FF2B5EF4-FFF2-40B4-BE49-F238E27FC236}">
                <a16:creationId xmlns:a16="http://schemas.microsoft.com/office/drawing/2014/main" xmlns="" id="{90073196-E313-4573-A7F3-4A59802770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772" y="2732117"/>
            <a:ext cx="9096628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20000"/>
              </a:spcBef>
              <a:defRPr/>
            </a:pPr>
            <a:r>
              <a:rPr lang="en-US" sz="3200" dirty="0" err="1">
                <a:solidFill>
                  <a:srgbClr val="CC00FF"/>
                </a:solidFill>
              </a:rPr>
              <a:t>Cân</a:t>
            </a:r>
            <a:r>
              <a:rPr lang="en-US" sz="3200" dirty="0">
                <a:solidFill>
                  <a:srgbClr val="CC00FF"/>
                </a:solidFill>
              </a:rPr>
              <a:t> </a:t>
            </a:r>
            <a:r>
              <a:rPr lang="en-US" sz="3200" dirty="0" err="1">
                <a:solidFill>
                  <a:srgbClr val="CC00FF"/>
                </a:solidFill>
              </a:rPr>
              <a:t>bằng</a:t>
            </a:r>
            <a:r>
              <a:rPr lang="vi-VN" sz="3200" dirty="0">
                <a:solidFill>
                  <a:srgbClr val="CC00FF"/>
                </a:solidFill>
              </a:rPr>
              <a:t>        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vi-V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,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34	</a:t>
            </a:r>
            <a:r>
              <a:rPr lang="vi-V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    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r>
              <a:rPr lang="vi-V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,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66	</a:t>
            </a:r>
            <a:r>
              <a:rPr lang="vi-V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   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0</a:t>
            </a:r>
            <a:r>
              <a:rPr lang="vi-V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,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33   </a:t>
            </a:r>
            <a:r>
              <a:rPr lang="en-US" sz="3200" b="1" dirty="0">
                <a:solidFill>
                  <a:srgbClr val="CC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[M]</a:t>
            </a:r>
          </a:p>
          <a:p>
            <a:pPr eaLnBrk="1" hangingPunct="1">
              <a:spcBef>
                <a:spcPct val="50000"/>
              </a:spcBef>
              <a:defRPr/>
            </a:pP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40BB3807-E99E-4B6A-A052-1F084BF6AAF1}"/>
              </a:ext>
            </a:extLst>
          </p:cNvPr>
          <p:cNvSpPr txBox="1"/>
          <p:nvPr/>
        </p:nvSpPr>
        <p:spPr>
          <a:xfrm>
            <a:off x="36320" y="4911672"/>
            <a:ext cx="937260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rgbClr val="CC00FF"/>
                </a:solidFill>
              </a:rPr>
              <a:t>Ở 25</a:t>
            </a:r>
            <a:r>
              <a:rPr lang="en-US" sz="3000" baseline="30000" dirty="0">
                <a:solidFill>
                  <a:srgbClr val="CC00FF"/>
                </a:solidFill>
              </a:rPr>
              <a:t>0</a:t>
            </a:r>
            <a:r>
              <a:rPr lang="en-US" sz="3000" dirty="0">
                <a:solidFill>
                  <a:srgbClr val="CC00FF"/>
                </a:solidFill>
              </a:rPr>
              <a:t>C, </a:t>
            </a:r>
            <a:r>
              <a:rPr lang="en-US" sz="3000" dirty="0" err="1">
                <a:solidFill>
                  <a:srgbClr val="CC00FF"/>
                </a:solidFill>
              </a:rPr>
              <a:t>hằng</a:t>
            </a:r>
            <a:r>
              <a:rPr lang="en-US" sz="3000" dirty="0">
                <a:solidFill>
                  <a:srgbClr val="CC00FF"/>
                </a:solidFill>
              </a:rPr>
              <a:t> </a:t>
            </a:r>
            <a:r>
              <a:rPr lang="en-US" sz="3000" dirty="0" err="1">
                <a:solidFill>
                  <a:srgbClr val="CC00FF"/>
                </a:solidFill>
              </a:rPr>
              <a:t>số</a:t>
            </a:r>
            <a:r>
              <a:rPr lang="en-US" sz="3000" dirty="0">
                <a:solidFill>
                  <a:srgbClr val="CC00FF"/>
                </a:solidFill>
              </a:rPr>
              <a:t> </a:t>
            </a:r>
            <a:r>
              <a:rPr lang="en-US" sz="3000" dirty="0" err="1">
                <a:solidFill>
                  <a:srgbClr val="CC00FF"/>
                </a:solidFill>
              </a:rPr>
              <a:t>cân</a:t>
            </a:r>
            <a:r>
              <a:rPr lang="en-US" sz="3000" dirty="0">
                <a:solidFill>
                  <a:srgbClr val="CC00FF"/>
                </a:solidFill>
              </a:rPr>
              <a:t> </a:t>
            </a:r>
            <a:r>
              <a:rPr lang="en-US" sz="3000" dirty="0" err="1">
                <a:solidFill>
                  <a:srgbClr val="CC00FF"/>
                </a:solidFill>
              </a:rPr>
              <a:t>bằng</a:t>
            </a:r>
            <a:r>
              <a:rPr lang="en-US" sz="3000" dirty="0">
                <a:solidFill>
                  <a:srgbClr val="CC00FF"/>
                </a:solidFill>
              </a:rPr>
              <a:t> </a:t>
            </a:r>
            <a:r>
              <a:rPr lang="en-US" sz="3000" dirty="0" err="1">
                <a:solidFill>
                  <a:srgbClr val="CC00FF"/>
                </a:solidFill>
              </a:rPr>
              <a:t>K</a:t>
            </a:r>
            <a:r>
              <a:rPr lang="en-US" sz="3000" baseline="-25000" dirty="0" err="1">
                <a:solidFill>
                  <a:srgbClr val="CC00FF"/>
                </a:solidFill>
              </a:rPr>
              <a:t>p</a:t>
            </a:r>
            <a:r>
              <a:rPr lang="en-US" sz="3000" dirty="0">
                <a:solidFill>
                  <a:srgbClr val="CC00FF"/>
                </a:solidFill>
              </a:rPr>
              <a:t>= </a:t>
            </a:r>
            <a:r>
              <a:rPr lang="vi-VN" sz="2800" dirty="0">
                <a:solidFill>
                  <a:srgbClr val="CC00FF"/>
                </a:solidFill>
              </a:rPr>
              <a:t>0,08.(0,082.298)</a:t>
            </a:r>
            <a:r>
              <a:rPr lang="vi-VN" sz="3000" dirty="0">
                <a:solidFill>
                  <a:srgbClr val="CC00FF"/>
                </a:solidFill>
              </a:rPr>
              <a:t>=</a:t>
            </a:r>
            <a:r>
              <a:rPr lang="en-US" sz="3000" dirty="0">
                <a:solidFill>
                  <a:srgbClr val="CC00FF"/>
                </a:solidFill>
              </a:rPr>
              <a:t>1,95</a:t>
            </a:r>
            <a:endParaRPr lang="vi-VN" sz="3000" dirty="0">
              <a:solidFill>
                <a:srgbClr val="CC00FF"/>
              </a:solidFill>
            </a:endParaRPr>
          </a:p>
          <a:p>
            <a:r>
              <a:rPr lang="vi-VN" sz="3000" dirty="0">
                <a:solidFill>
                  <a:srgbClr val="CC00FF"/>
                </a:solidFill>
              </a:rPr>
              <a:t>  </a:t>
            </a:r>
            <a:r>
              <a:rPr lang="en-US" sz="3000" dirty="0">
                <a:solidFill>
                  <a:srgbClr val="CC00FF"/>
                </a:solidFill>
                <a:sym typeface="Symbol" panose="05050102010706020507" pitchFamily="18" charset="2"/>
              </a:rPr>
              <a:t></a:t>
            </a:r>
            <a:r>
              <a:rPr lang="vi-VN" sz="3000" dirty="0">
                <a:solidFill>
                  <a:srgbClr val="CC00FF"/>
                </a:solidFill>
                <a:sym typeface="Symbol" panose="05050102010706020507" pitchFamily="18" charset="2"/>
              </a:rPr>
              <a:t>n = 1.</a:t>
            </a:r>
            <a:endParaRPr lang="en-US" sz="3000" dirty="0">
              <a:solidFill>
                <a:srgbClr val="CC00FF"/>
              </a:solidFill>
            </a:endParaRP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BF5AB5C6-CBCC-4A19-92B2-A1C7489FD50F}"/>
              </a:ext>
            </a:extLst>
          </p:cNvPr>
          <p:cNvSpPr txBox="1"/>
          <p:nvPr/>
        </p:nvSpPr>
        <p:spPr>
          <a:xfrm>
            <a:off x="533400" y="3883139"/>
            <a:ext cx="7391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dirty="0">
                <a:solidFill>
                  <a:srgbClr val="006600"/>
                </a:solidFill>
              </a:rPr>
              <a:t>Tính </a:t>
            </a:r>
            <a:r>
              <a:rPr lang="en-US" sz="3200" dirty="0" err="1">
                <a:solidFill>
                  <a:srgbClr val="006600"/>
                </a:solidFill>
              </a:rPr>
              <a:t>hằng</a:t>
            </a:r>
            <a:r>
              <a:rPr lang="en-US" sz="3200" dirty="0">
                <a:solidFill>
                  <a:srgbClr val="006600"/>
                </a:solidFill>
              </a:rPr>
              <a:t> </a:t>
            </a:r>
            <a:r>
              <a:rPr lang="en-US" sz="3200" dirty="0" err="1">
                <a:solidFill>
                  <a:srgbClr val="006600"/>
                </a:solidFill>
              </a:rPr>
              <a:t>số</a:t>
            </a:r>
            <a:r>
              <a:rPr lang="en-US" sz="3200" dirty="0">
                <a:solidFill>
                  <a:srgbClr val="006600"/>
                </a:solidFill>
              </a:rPr>
              <a:t> </a:t>
            </a:r>
            <a:r>
              <a:rPr lang="en-US" sz="3200" dirty="0" err="1">
                <a:solidFill>
                  <a:srgbClr val="006600"/>
                </a:solidFill>
              </a:rPr>
              <a:t>cân</a:t>
            </a:r>
            <a:r>
              <a:rPr lang="en-US" sz="3200" dirty="0">
                <a:solidFill>
                  <a:srgbClr val="006600"/>
                </a:solidFill>
              </a:rPr>
              <a:t> </a:t>
            </a:r>
            <a:r>
              <a:rPr lang="en-US" sz="3200" dirty="0" err="1">
                <a:solidFill>
                  <a:srgbClr val="006600"/>
                </a:solidFill>
              </a:rPr>
              <a:t>bằng</a:t>
            </a:r>
            <a:r>
              <a:rPr lang="en-US" sz="3200" dirty="0">
                <a:solidFill>
                  <a:srgbClr val="006600"/>
                </a:solidFill>
              </a:rPr>
              <a:t> K</a:t>
            </a:r>
            <a:r>
              <a:rPr lang="en-US" sz="3200" baseline="-25000" dirty="0">
                <a:solidFill>
                  <a:srgbClr val="006600"/>
                </a:solidFill>
              </a:rPr>
              <a:t>c</a:t>
            </a:r>
            <a:r>
              <a:rPr lang="vi-VN" sz="3200" dirty="0">
                <a:solidFill>
                  <a:srgbClr val="006600"/>
                </a:solidFill>
              </a:rPr>
              <a:t>, K</a:t>
            </a:r>
            <a:r>
              <a:rPr lang="vi-VN" sz="3200" baseline="-25000" dirty="0">
                <a:solidFill>
                  <a:srgbClr val="006600"/>
                </a:solidFill>
              </a:rPr>
              <a:t>p</a:t>
            </a:r>
            <a:r>
              <a:rPr lang="vi-VN" sz="3200" dirty="0">
                <a:solidFill>
                  <a:srgbClr val="006600"/>
                </a:solidFill>
              </a:rPr>
              <a:t> ở 25</a:t>
            </a:r>
            <a:r>
              <a:rPr lang="vi-VN" sz="3200" baseline="30000" dirty="0">
                <a:solidFill>
                  <a:srgbClr val="006600"/>
                </a:solidFill>
              </a:rPr>
              <a:t>0</a:t>
            </a:r>
            <a:r>
              <a:rPr lang="vi-VN" sz="3200" dirty="0">
                <a:solidFill>
                  <a:srgbClr val="006600"/>
                </a:solidFill>
              </a:rPr>
              <a:t>C ? </a:t>
            </a:r>
            <a:endParaRPr lang="en-US" sz="3200" dirty="0">
              <a:solidFill>
                <a:srgbClr val="0066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xmlns="" id="{617AFB63-4E9A-4B30-B5FE-72600B30D777}"/>
                  </a:ext>
                </a:extLst>
              </p:cNvPr>
              <p:cNvSpPr txBox="1"/>
              <p:nvPr/>
            </p:nvSpPr>
            <p:spPr>
              <a:xfrm>
                <a:off x="36320" y="3704293"/>
                <a:ext cx="9144000" cy="120097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>
                    <a:solidFill>
                      <a:srgbClr val="0000FF"/>
                    </a:solidFill>
                  </a:rPr>
                  <a:t>Ở 25</a:t>
                </a:r>
                <a:r>
                  <a:rPr lang="en-US" sz="3200" baseline="30000" dirty="0">
                    <a:solidFill>
                      <a:srgbClr val="0000FF"/>
                    </a:solidFill>
                  </a:rPr>
                  <a:t>0</a:t>
                </a:r>
                <a:r>
                  <a:rPr lang="en-US" sz="3200" dirty="0">
                    <a:solidFill>
                      <a:srgbClr val="0000FF"/>
                    </a:solidFill>
                  </a:rPr>
                  <a:t>C, </a:t>
                </a:r>
                <a:r>
                  <a:rPr lang="en-US" sz="3200" dirty="0" err="1">
                    <a:solidFill>
                      <a:srgbClr val="0000FF"/>
                    </a:solidFill>
                  </a:rPr>
                  <a:t>hằng</a:t>
                </a:r>
                <a:r>
                  <a:rPr lang="en-US" sz="3200" dirty="0">
                    <a:solidFill>
                      <a:srgbClr val="0000FF"/>
                    </a:solidFill>
                  </a:rPr>
                  <a:t> </a:t>
                </a:r>
                <a:r>
                  <a:rPr lang="en-US" sz="3200" dirty="0" err="1">
                    <a:solidFill>
                      <a:srgbClr val="0000FF"/>
                    </a:solidFill>
                  </a:rPr>
                  <a:t>số</a:t>
                </a:r>
                <a:r>
                  <a:rPr lang="en-US" sz="3200" dirty="0">
                    <a:solidFill>
                      <a:srgbClr val="0000FF"/>
                    </a:solidFill>
                  </a:rPr>
                  <a:t> </a:t>
                </a:r>
                <a:r>
                  <a:rPr lang="en-US" sz="3200" dirty="0" err="1">
                    <a:solidFill>
                      <a:srgbClr val="0000FF"/>
                    </a:solidFill>
                  </a:rPr>
                  <a:t>cân</a:t>
                </a:r>
                <a:r>
                  <a:rPr lang="en-US" sz="3200" dirty="0">
                    <a:solidFill>
                      <a:srgbClr val="0000FF"/>
                    </a:solidFill>
                  </a:rPr>
                  <a:t> </a:t>
                </a:r>
                <a:r>
                  <a:rPr lang="en-US" sz="3200" dirty="0" err="1">
                    <a:solidFill>
                      <a:srgbClr val="0000FF"/>
                    </a:solidFill>
                  </a:rPr>
                  <a:t>bằng</a:t>
                </a:r>
                <a:r>
                  <a:rPr lang="en-US" sz="3200" dirty="0">
                    <a:solidFill>
                      <a:srgbClr val="0000FF"/>
                    </a:solidFill>
                  </a:rPr>
                  <a:t> K</a:t>
                </a:r>
                <a:r>
                  <a:rPr lang="en-US" sz="3200" baseline="-25000" dirty="0">
                    <a:solidFill>
                      <a:srgbClr val="0000FF"/>
                    </a:solidFill>
                  </a:rPr>
                  <a:t>c</a:t>
                </a:r>
                <a:r>
                  <a:rPr lang="vi-VN" sz="3200" dirty="0">
                    <a:solidFill>
                      <a:srgbClr val="0000FF"/>
                    </a:solidFill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sz="3200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vi-VN" sz="3200" i="1" smtClean="0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vi-VN" sz="3200" b="0" i="1" smtClean="0">
                                    <a:solidFill>
                                      <a:srgbClr val="0000FF"/>
                                    </a:solidFill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vi-VN" sz="32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0,66</m:t>
                                </m:r>
                              </m:e>
                            </m:d>
                          </m:e>
                          <m:sup>
                            <m:r>
                              <a:rPr lang="vi-VN" sz="32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32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.(0,33)</m:t>
                        </m:r>
                      </m:num>
                      <m:den>
                        <m:sSup>
                          <m:sSupPr>
                            <m:ctrlPr>
                              <a:rPr lang="vi-VN" sz="3200" i="1" smtClean="0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vi-VN" sz="32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(1,34)</m:t>
                            </m:r>
                          </m:e>
                          <m:sup>
                            <m:r>
                              <a:rPr lang="vi-VN" sz="32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vi-VN" sz="3200" dirty="0">
                    <a:solidFill>
                      <a:srgbClr val="0000FF"/>
                    </a:solidFill>
                  </a:rPr>
                  <a:t> = 0.08</a:t>
                </a:r>
                <a:endParaRPr lang="en-US" sz="3200" dirty="0">
                  <a:solidFill>
                    <a:srgbClr val="0000FF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17AFB63-4E9A-4B30-B5FE-72600B30D7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20" y="3704293"/>
                <a:ext cx="9144000" cy="1200970"/>
              </a:xfrm>
              <a:prstGeom prst="rect">
                <a:avLst/>
              </a:prstGeom>
              <a:blipFill>
                <a:blip r:embed="rId3"/>
                <a:stretch>
                  <a:fillRect l="-17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465" grpId="0"/>
      <p:bldP spid="147466" grpId="0"/>
      <p:bldP spid="2" grpId="0"/>
      <p:bldP spid="4" grpId="0"/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4">
            <a:extLst>
              <a:ext uri="{FF2B5EF4-FFF2-40B4-BE49-F238E27FC236}">
                <a16:creationId xmlns:a16="http://schemas.microsoft.com/office/drawing/2014/main" xmlns="" id="{D6A7F166-7541-4ACF-8B45-A5A9189C50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en-US" sz="3200" b="1" dirty="0">
                <a:solidFill>
                  <a:srgbClr val="0000FF"/>
                </a:solidFill>
              </a:rPr>
              <a:t>HẰNG SỐ CÂN BẰNG PHẢN ỨNG ĐỒNG THỂ</a:t>
            </a:r>
            <a:br>
              <a:rPr lang="en-US" altLang="en-US" sz="3200" b="1" dirty="0">
                <a:solidFill>
                  <a:srgbClr val="0000FF"/>
                </a:solidFill>
              </a:rPr>
            </a:br>
            <a:r>
              <a:rPr lang="en-US" altLang="en-US" sz="2800" b="1" dirty="0">
                <a:solidFill>
                  <a:srgbClr val="0000FF"/>
                </a:solidFill>
              </a:rPr>
              <a:t>TRONG DUNG DỊCH LỎNG LOÃNG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xmlns="" id="{F0A0ABE5-8E59-4B90-B05B-EB2F064350A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219200"/>
            <a:ext cx="7924800" cy="4525963"/>
          </a:xfrm>
        </p:spPr>
        <p:txBody>
          <a:bodyPr/>
          <a:lstStyle/>
          <a:p>
            <a:pPr eaLnBrk="1" hangingPunct="1">
              <a:lnSpc>
                <a:spcPct val="125000"/>
              </a:lnSpc>
              <a:buFontTx/>
              <a:buNone/>
            </a:pPr>
            <a:r>
              <a:rPr lang="en-US" altLang="en-US" sz="2800" dirty="0"/>
              <a:t>      </a:t>
            </a:r>
          </a:p>
          <a:p>
            <a:pPr eaLnBrk="1" hangingPunct="1">
              <a:lnSpc>
                <a:spcPct val="125000"/>
              </a:lnSpc>
              <a:buFontTx/>
              <a:buNone/>
            </a:pPr>
            <a:r>
              <a:rPr lang="en-US" altLang="en-US" sz="2800" dirty="0"/>
              <a:t>    </a:t>
            </a:r>
            <a:r>
              <a:rPr lang="en-US" altLang="en-US" sz="3600" dirty="0" err="1"/>
              <a:t>a</a:t>
            </a:r>
            <a:r>
              <a:rPr lang="en-US" altLang="en-US" sz="3600" b="1" dirty="0" err="1">
                <a:solidFill>
                  <a:srgbClr val="FF0000"/>
                </a:solidFill>
              </a:rPr>
              <a:t>A</a:t>
            </a:r>
            <a:r>
              <a:rPr lang="en-US" altLang="en-US" sz="3600" dirty="0"/>
              <a:t>(dd) + </a:t>
            </a:r>
            <a:r>
              <a:rPr lang="en-US" altLang="en-US" sz="3600" dirty="0" err="1"/>
              <a:t>b</a:t>
            </a:r>
            <a:r>
              <a:rPr lang="en-US" altLang="en-US" sz="3600" b="1" dirty="0" err="1">
                <a:solidFill>
                  <a:srgbClr val="FF0000"/>
                </a:solidFill>
              </a:rPr>
              <a:t>B</a:t>
            </a:r>
            <a:r>
              <a:rPr lang="en-US" altLang="en-US" sz="3600" dirty="0"/>
              <a:t>(dd) ⇌ </a:t>
            </a:r>
            <a:r>
              <a:rPr lang="en-US" altLang="en-US" sz="3600" dirty="0" err="1"/>
              <a:t>c</a:t>
            </a:r>
            <a:r>
              <a:rPr lang="en-US" altLang="en-US" sz="3600" b="1" dirty="0" err="1">
                <a:solidFill>
                  <a:srgbClr val="FF0000"/>
                </a:solidFill>
              </a:rPr>
              <a:t>C</a:t>
            </a:r>
            <a:r>
              <a:rPr lang="en-US" altLang="en-US" sz="3600" dirty="0"/>
              <a:t>(dd) + </a:t>
            </a:r>
            <a:r>
              <a:rPr lang="en-US" altLang="en-US" sz="3600" dirty="0" err="1"/>
              <a:t>d</a:t>
            </a:r>
            <a:r>
              <a:rPr lang="en-US" altLang="en-US" sz="3600" b="1" dirty="0" err="1">
                <a:solidFill>
                  <a:srgbClr val="FF0000"/>
                </a:solidFill>
              </a:rPr>
              <a:t>D</a:t>
            </a:r>
            <a:r>
              <a:rPr lang="en-US" altLang="en-US" sz="3600" dirty="0"/>
              <a:t>(dd)</a:t>
            </a:r>
          </a:p>
          <a:p>
            <a:pPr eaLnBrk="1" hangingPunct="1"/>
            <a:endParaRPr lang="en-US" altLang="en-US" sz="2800" dirty="0"/>
          </a:p>
        </p:txBody>
      </p:sp>
      <p:graphicFrame>
        <p:nvGraphicFramePr>
          <p:cNvPr id="16389" name="Object 5">
            <a:extLst>
              <a:ext uri="{FF2B5EF4-FFF2-40B4-BE49-F238E27FC236}">
                <a16:creationId xmlns:a16="http://schemas.microsoft.com/office/drawing/2014/main" xmlns="" id="{055FBBEE-E391-4158-9578-9F0F4200AC2D}"/>
              </a:ext>
            </a:extLst>
          </p:cNvPr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60518364"/>
              </p:ext>
            </p:extLst>
          </p:nvPr>
        </p:nvGraphicFramePr>
        <p:xfrm>
          <a:off x="2895600" y="3124200"/>
          <a:ext cx="282575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30" name="Equation" r:id="rId4" imgW="1130300" imgH="457200" progId="Equation.3">
                  <p:embed/>
                </p:oleObj>
              </mc:Choice>
              <mc:Fallback>
                <p:oleObj name="Equation" r:id="rId4" imgW="1130300" imgH="457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3124200"/>
                        <a:ext cx="2825750" cy="11430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E8DF445-1CBD-4B26-A5C0-76B6B6D761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774" y="935968"/>
            <a:ext cx="9024226" cy="2202178"/>
          </a:xfrm>
        </p:spPr>
        <p:txBody>
          <a:bodyPr>
            <a:normAutofit fontScale="40000" lnSpcReduction="20000"/>
          </a:bodyPr>
          <a:lstStyle/>
          <a:p>
            <a:pPr algn="l">
              <a:lnSpc>
                <a:spcPct val="160000"/>
              </a:lnSpc>
            </a:pPr>
            <a:r>
              <a:rPr lang="en-US" dirty="0"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    </a:t>
            </a:r>
            <a:r>
              <a:rPr lang="en-US" sz="8000" b="1" dirty="0">
                <a:solidFill>
                  <a:srgbClr val="0000FF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en-US" sz="8000" b="1" dirty="0" err="1">
                <a:solidFill>
                  <a:srgbClr val="0000FF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H</a:t>
            </a:r>
            <a:r>
              <a:rPr lang="en-US" sz="8000" b="1" baseline="-25000" dirty="0" err="1">
                <a:solidFill>
                  <a:srgbClr val="0000FF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nđ</a:t>
            </a:r>
            <a:r>
              <a:rPr lang="en-US" sz="8000" b="1" dirty="0">
                <a:solidFill>
                  <a:srgbClr val="0000FF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 &lt;  0   </a:t>
            </a:r>
            <a:r>
              <a:rPr lang="en-US" sz="8000" b="1" dirty="0">
                <a:solidFill>
                  <a:srgbClr val="FF00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RẮN   </a:t>
            </a:r>
            <a:r>
              <a:rPr lang="en-US" altLang="en-US" sz="9000" b="1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Symbol" panose="05050102010706020507" pitchFamily="18" charset="2"/>
              </a:rPr>
              <a:t>⇌</a:t>
            </a:r>
            <a:r>
              <a:rPr lang="en-US" sz="9000" b="1" dirty="0">
                <a:solidFill>
                  <a:srgbClr val="FF00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8000" b="1" dirty="0">
                <a:solidFill>
                  <a:srgbClr val="FF00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   H</a:t>
            </a:r>
            <a:r>
              <a:rPr lang="vi-VN" sz="8000" b="1" dirty="0">
                <a:solidFill>
                  <a:srgbClr val="FF00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Ơ</a:t>
            </a:r>
            <a:r>
              <a:rPr lang="en-US" sz="8000" b="1" dirty="0">
                <a:solidFill>
                  <a:srgbClr val="FF00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I       </a:t>
            </a:r>
            <a:r>
              <a:rPr lang="en-US" sz="8000" b="1" dirty="0">
                <a:solidFill>
                  <a:srgbClr val="0000FF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en-US" sz="8000" b="1" dirty="0" err="1">
                <a:solidFill>
                  <a:srgbClr val="0000FF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H</a:t>
            </a:r>
            <a:r>
              <a:rPr lang="en-US" sz="8000" b="1" baseline="-25000" dirty="0" err="1">
                <a:solidFill>
                  <a:srgbClr val="0000FF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th</a:t>
            </a:r>
            <a:r>
              <a:rPr lang="en-US" sz="8000" b="1" dirty="0">
                <a:solidFill>
                  <a:srgbClr val="0000FF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 &gt; 0</a:t>
            </a:r>
          </a:p>
          <a:p>
            <a:pPr algn="l">
              <a:lnSpc>
                <a:spcPct val="160000"/>
              </a:lnSpc>
            </a:pPr>
            <a:r>
              <a:rPr lang="en-US" sz="4100" dirty="0"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      </a:t>
            </a:r>
            <a:r>
              <a:rPr lang="en-US" sz="6700" dirty="0">
                <a:solidFill>
                  <a:srgbClr val="C000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G</a:t>
            </a:r>
            <a:r>
              <a:rPr lang="en-US" sz="6700" baseline="-25000" dirty="0">
                <a:solidFill>
                  <a:srgbClr val="C000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T</a:t>
            </a:r>
            <a:r>
              <a:rPr lang="en-US" sz="6700" dirty="0">
                <a:solidFill>
                  <a:srgbClr val="C000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 = 0     </a:t>
            </a:r>
            <a:r>
              <a:rPr lang="en-US" sz="8000" dirty="0" err="1">
                <a:solidFill>
                  <a:srgbClr val="C000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v</a:t>
            </a:r>
            <a:r>
              <a:rPr lang="en-US" sz="8000" baseline="-25000" dirty="0" err="1">
                <a:solidFill>
                  <a:srgbClr val="C000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nđ</a:t>
            </a:r>
            <a:r>
              <a:rPr lang="en-US" sz="8000" dirty="0">
                <a:solidFill>
                  <a:srgbClr val="C000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 = </a:t>
            </a:r>
            <a:r>
              <a:rPr lang="en-US" sz="8000" dirty="0" err="1">
                <a:solidFill>
                  <a:srgbClr val="C000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v</a:t>
            </a:r>
            <a:r>
              <a:rPr lang="en-US" sz="8000" baseline="-25000" dirty="0" err="1">
                <a:solidFill>
                  <a:srgbClr val="C000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th</a:t>
            </a:r>
            <a:r>
              <a:rPr lang="en-US" sz="8000" baseline="-25000" dirty="0">
                <a:solidFill>
                  <a:srgbClr val="C000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8000" dirty="0">
                <a:solidFill>
                  <a:srgbClr val="C000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6700" dirty="0">
                <a:solidFill>
                  <a:srgbClr val="C000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   </a:t>
            </a:r>
            <a:r>
              <a:rPr lang="en-US" sz="6700" dirty="0" err="1">
                <a:solidFill>
                  <a:srgbClr val="C000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P</a:t>
            </a:r>
            <a:r>
              <a:rPr lang="en-US" sz="6700" baseline="-25000" dirty="0" err="1">
                <a:solidFill>
                  <a:srgbClr val="C000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bh</a:t>
            </a:r>
            <a:r>
              <a:rPr lang="en-US" sz="6700" dirty="0">
                <a:solidFill>
                  <a:srgbClr val="C000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 = const  </a:t>
            </a:r>
            <a:r>
              <a:rPr lang="en-US" sz="6700" dirty="0" err="1">
                <a:solidFill>
                  <a:srgbClr val="C000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khi</a:t>
            </a:r>
            <a:r>
              <a:rPr lang="en-US" sz="6700" dirty="0">
                <a:solidFill>
                  <a:srgbClr val="C000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  T= const</a:t>
            </a:r>
          </a:p>
          <a:p>
            <a:pPr algn="l"/>
            <a:r>
              <a:rPr lang="en-US" sz="6700" dirty="0"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                                           </a:t>
            </a:r>
            <a:endParaRPr lang="en-US" sz="6700" baseline="-25000" dirty="0">
              <a:latin typeface="Arial" panose="020B0604020202020204" pitchFamily="34" charset="0"/>
              <a:ea typeface="Aachen" panose="02020500000000000000" pitchFamily="18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6FBCAA80-0D3E-4E16-99C8-65F16EC6BC8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03364">
            <a:off x="6218701" y="2587884"/>
            <a:ext cx="310172" cy="37544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xmlns="" id="{00B899A3-9644-4927-93A9-C6B356E623C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03364">
            <a:off x="5125533" y="3604976"/>
            <a:ext cx="310172" cy="375447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2C9F0A3D-98A4-4C15-84B1-074CDD52B110}"/>
              </a:ext>
            </a:extLst>
          </p:cNvPr>
          <p:cNvSpPr/>
          <p:nvPr/>
        </p:nvSpPr>
        <p:spPr>
          <a:xfrm>
            <a:off x="4930723" y="2488824"/>
            <a:ext cx="4093504" cy="29616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xmlns="" id="{2B328EEB-0059-4410-8D17-72C3C88B99B2}"/>
              </a:ext>
            </a:extLst>
          </p:cNvPr>
          <p:cNvCxnSpPr>
            <a:cxnSpLocks/>
          </p:cNvCxnSpPr>
          <p:nvPr/>
        </p:nvCxnSpPr>
        <p:spPr>
          <a:xfrm>
            <a:off x="4921485" y="4639461"/>
            <a:ext cx="4093504" cy="0"/>
          </a:xfrm>
          <a:prstGeom prst="line">
            <a:avLst/>
          </a:prstGeom>
          <a:ln w="22225">
            <a:solidFill>
              <a:srgbClr val="99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xmlns="" id="{EC9C076B-F280-4AA7-BFB6-DEEFF83F12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03364">
            <a:off x="4999924" y="4689605"/>
            <a:ext cx="310172" cy="375447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xmlns="" id="{BEA98B60-C2A5-42B9-83D3-55600B843E0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03364">
            <a:off x="8202388" y="4673712"/>
            <a:ext cx="310172" cy="375447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xmlns="" id="{8A275F3A-2261-4879-BD21-76C94280D1F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03364">
            <a:off x="7948463" y="2820540"/>
            <a:ext cx="310172" cy="375447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xmlns="" id="{6D94EED7-A8ED-463F-A499-A9251E48117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03364">
            <a:off x="7602234" y="4660080"/>
            <a:ext cx="310172" cy="375447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xmlns="" id="{3D400E8E-EB26-49D2-8E56-29981B98E2D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03364">
            <a:off x="7384912" y="3309970"/>
            <a:ext cx="310172" cy="375447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xmlns="" id="{1FFFDC7F-DF76-4EAA-8FD3-360D75CBA1C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03364">
            <a:off x="6956647" y="4665324"/>
            <a:ext cx="310172" cy="375447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xmlns="" id="{37C0A7DB-59F5-42CA-99E7-8518E6988FB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03364">
            <a:off x="6763846" y="2662736"/>
            <a:ext cx="310172" cy="375447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xmlns="" id="{F8C60A8F-B041-4A87-9E86-F85F1C58ABD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03364">
            <a:off x="6316786" y="4675520"/>
            <a:ext cx="310172" cy="375447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xmlns="" id="{71AB2D6C-FF6E-4EF2-942F-9601B88634F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03364">
            <a:off x="6156550" y="3575450"/>
            <a:ext cx="310172" cy="375447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xmlns="" id="{A6FBF112-FF6D-4C45-9EF4-B53AC52ED91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03364">
            <a:off x="5676583" y="4665326"/>
            <a:ext cx="310172" cy="375447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xmlns="" id="{AD7E0B51-0ABF-4340-B4BE-16D9D281190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03364">
            <a:off x="5455958" y="3101629"/>
            <a:ext cx="310172" cy="375447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xmlns="" id="{D74D9532-2B05-4CB0-9B4B-9E835B77281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03364">
            <a:off x="8553487" y="2660807"/>
            <a:ext cx="310172" cy="375447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xmlns="" id="{6A6D8EA8-D34B-47C8-9E67-A177AE5C3C1A}"/>
              </a:ext>
            </a:extLst>
          </p:cNvPr>
          <p:cNvSpPr txBox="1"/>
          <p:nvPr/>
        </p:nvSpPr>
        <p:spPr>
          <a:xfrm>
            <a:off x="288708" y="2420597"/>
            <a:ext cx="4556677" cy="29557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 err="1">
                <a:solidFill>
                  <a:srgbClr val="0000FF"/>
                </a:solidFill>
                <a:cs typeface="Arial" panose="020B0604020202020204" pitchFamily="34" charset="0"/>
              </a:rPr>
              <a:t>Áp</a:t>
            </a:r>
            <a:r>
              <a:rPr lang="en-US" sz="3200" dirty="0">
                <a:solidFill>
                  <a:srgbClr val="0000FF"/>
                </a:solidFill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cs typeface="Arial" panose="020B0604020202020204" pitchFamily="34" charset="0"/>
              </a:rPr>
              <a:t>suất</a:t>
            </a:r>
            <a:r>
              <a:rPr lang="en-US" sz="3200" dirty="0">
                <a:solidFill>
                  <a:srgbClr val="0000FF"/>
                </a:solidFill>
                <a:cs typeface="Arial" panose="020B0604020202020204" pitchFamily="34" charset="0"/>
              </a:rPr>
              <a:t> h</a:t>
            </a:r>
            <a:r>
              <a:rPr lang="vi-VN" sz="3200" dirty="0">
                <a:solidFill>
                  <a:srgbClr val="0000FF"/>
                </a:solidFill>
                <a:cs typeface="Arial" panose="020B0604020202020204" pitchFamily="34" charset="0"/>
              </a:rPr>
              <a:t>ơ</a:t>
            </a:r>
            <a:r>
              <a:rPr lang="en-US" sz="3200" dirty="0" err="1">
                <a:solidFill>
                  <a:srgbClr val="0000FF"/>
                </a:solidFill>
                <a:cs typeface="Arial" panose="020B0604020202020204" pitchFamily="34" charset="0"/>
              </a:rPr>
              <a:t>i</a:t>
            </a:r>
            <a:r>
              <a:rPr lang="en-US" sz="3200" dirty="0">
                <a:solidFill>
                  <a:srgbClr val="0000FF"/>
                </a:solidFill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cs typeface="Arial" panose="020B0604020202020204" pitchFamily="34" charset="0"/>
              </a:rPr>
              <a:t>bão</a:t>
            </a:r>
            <a:r>
              <a:rPr lang="en-US" sz="3200" dirty="0">
                <a:solidFill>
                  <a:srgbClr val="0000FF"/>
                </a:solidFill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cs typeface="Arial" panose="020B0604020202020204" pitchFamily="34" charset="0"/>
              </a:rPr>
              <a:t>hòa</a:t>
            </a:r>
            <a:r>
              <a:rPr lang="en-US" sz="3200" dirty="0">
                <a:solidFill>
                  <a:srgbClr val="0000FF"/>
                </a:solidFill>
                <a:cs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3200" dirty="0" err="1">
                <a:solidFill>
                  <a:srgbClr val="0000FF"/>
                </a:solidFill>
                <a:cs typeface="Arial" panose="020B0604020202020204" pitchFamily="34" charset="0"/>
              </a:rPr>
              <a:t>phụ</a:t>
            </a:r>
            <a:r>
              <a:rPr lang="en-US" sz="3200" dirty="0">
                <a:solidFill>
                  <a:srgbClr val="0000FF"/>
                </a:solidFill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cs typeface="Arial" panose="020B0604020202020204" pitchFamily="34" charset="0"/>
              </a:rPr>
              <a:t>thuộc</a:t>
            </a:r>
            <a:r>
              <a:rPr lang="en-US" sz="3200" dirty="0">
                <a:solidFill>
                  <a:srgbClr val="0000FF"/>
                </a:solidFill>
                <a:cs typeface="Arial" panose="020B0604020202020204" pitchFamily="34" charset="0"/>
              </a:rPr>
              <a:t>: </a:t>
            </a:r>
            <a:r>
              <a:rPr lang="en-US" sz="3200" dirty="0" err="1">
                <a:solidFill>
                  <a:srgbClr val="0000FF"/>
                </a:solidFill>
                <a:cs typeface="Arial" panose="020B0604020202020204" pitchFamily="34" charset="0"/>
              </a:rPr>
              <a:t>lực</a:t>
            </a:r>
            <a:r>
              <a:rPr lang="en-US" sz="3200" dirty="0">
                <a:solidFill>
                  <a:srgbClr val="0000FF"/>
                </a:solidFill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cs typeface="Arial" panose="020B0604020202020204" pitchFamily="34" charset="0"/>
              </a:rPr>
              <a:t>liên</a:t>
            </a:r>
            <a:r>
              <a:rPr lang="en-US" sz="3200" dirty="0">
                <a:solidFill>
                  <a:srgbClr val="0000FF"/>
                </a:solidFill>
                <a:cs typeface="Arial" panose="020B0604020202020204" pitchFamily="34" charset="0"/>
              </a:rPr>
              <a:t> </a:t>
            </a:r>
            <a:r>
              <a:rPr lang="vi-VN" sz="3200" dirty="0">
                <a:solidFill>
                  <a:srgbClr val="0000FF"/>
                </a:solidFill>
                <a:cs typeface="Arial" panose="020B0604020202020204" pitchFamily="34" charset="0"/>
              </a:rPr>
              <a:t>kết </a:t>
            </a:r>
            <a:r>
              <a:rPr lang="en-US" sz="3200" dirty="0" err="1">
                <a:solidFill>
                  <a:srgbClr val="0000FF"/>
                </a:solidFill>
                <a:cs typeface="Arial" panose="020B0604020202020204" pitchFamily="34" charset="0"/>
              </a:rPr>
              <a:t>trong</a:t>
            </a:r>
            <a:r>
              <a:rPr lang="en-US" sz="3200" dirty="0">
                <a:solidFill>
                  <a:srgbClr val="0000FF"/>
                </a:solidFill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cs typeface="Arial" panose="020B0604020202020204" pitchFamily="34" charset="0"/>
              </a:rPr>
              <a:t>pha</a:t>
            </a:r>
            <a:r>
              <a:rPr lang="en-US" sz="3200" dirty="0">
                <a:solidFill>
                  <a:srgbClr val="0000FF"/>
                </a:solidFill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cs typeface="Arial" panose="020B0604020202020204" pitchFamily="34" charset="0"/>
              </a:rPr>
              <a:t>rắn</a:t>
            </a:r>
            <a:r>
              <a:rPr lang="en-US" sz="3200" dirty="0">
                <a:solidFill>
                  <a:srgbClr val="0000FF"/>
                </a:solidFill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cs typeface="Arial" panose="020B0604020202020204" pitchFamily="34" charset="0"/>
              </a:rPr>
              <a:t>và</a:t>
            </a:r>
            <a:r>
              <a:rPr lang="en-US" sz="3200" dirty="0">
                <a:solidFill>
                  <a:srgbClr val="0000FF"/>
                </a:solidFill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cs typeface="Arial" panose="020B0604020202020204" pitchFamily="34" charset="0"/>
              </a:rPr>
              <a:t>nhiệt</a:t>
            </a:r>
            <a:r>
              <a:rPr lang="en-US" sz="3200" dirty="0">
                <a:solidFill>
                  <a:srgbClr val="0000FF"/>
                </a:solidFill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cs typeface="Arial" panose="020B0604020202020204" pitchFamily="34" charset="0"/>
              </a:rPr>
              <a:t>độ</a:t>
            </a:r>
            <a:r>
              <a:rPr lang="vi-VN" sz="3200" dirty="0">
                <a:solidFill>
                  <a:srgbClr val="0000FF"/>
                </a:solidFill>
                <a:cs typeface="Arial" panose="020B0604020202020204" pitchFamily="34" charset="0"/>
              </a:rPr>
              <a:t> (T</a:t>
            </a:r>
            <a:r>
              <a:rPr lang="en-US" sz="3200" dirty="0">
                <a:solidFill>
                  <a:srgbClr val="0000F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</a:t>
            </a:r>
            <a:r>
              <a:rPr lang="vi-VN" sz="3200" dirty="0">
                <a:solidFill>
                  <a:srgbClr val="0000F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thì P</a:t>
            </a:r>
            <a:r>
              <a:rPr lang="vi-VN" sz="3200" baseline="-25000" dirty="0">
                <a:solidFill>
                  <a:srgbClr val="0000F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bh</a:t>
            </a:r>
            <a:r>
              <a:rPr lang="en-US" sz="3200" dirty="0">
                <a:solidFill>
                  <a:srgbClr val="0000F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</a:t>
            </a:r>
            <a:r>
              <a:rPr lang="vi-VN" sz="3200" dirty="0">
                <a:solidFill>
                  <a:srgbClr val="0000F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). </a:t>
            </a:r>
            <a:endParaRPr lang="en-US" sz="3200" dirty="0">
              <a:solidFill>
                <a:srgbClr val="0000FF"/>
              </a:solidFill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73FFD058-896A-4266-8C02-0DC1DE7A5562}"/>
              </a:ext>
            </a:extLst>
          </p:cNvPr>
          <p:cNvSpPr txBox="1"/>
          <p:nvPr/>
        </p:nvSpPr>
        <p:spPr>
          <a:xfrm>
            <a:off x="533400" y="319729"/>
            <a:ext cx="82890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C00FF"/>
                </a:solidFill>
              </a:rPr>
              <a:t>ÁP SUẤT H</a:t>
            </a:r>
            <a:r>
              <a:rPr lang="vi-VN" sz="3200" b="1" dirty="0">
                <a:solidFill>
                  <a:srgbClr val="CC00FF"/>
                </a:solidFill>
              </a:rPr>
              <a:t>Ơ</a:t>
            </a:r>
            <a:r>
              <a:rPr lang="en-US" sz="3200" b="1" dirty="0">
                <a:solidFill>
                  <a:srgbClr val="CC00FF"/>
                </a:solidFill>
              </a:rPr>
              <a:t>I BÃO HÒA CỦA CHẤT RẮN</a:t>
            </a: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xmlns="" id="{90C8D142-FF08-4691-8B45-E4529593CCF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03364">
            <a:off x="5465807" y="5029562"/>
            <a:ext cx="310172" cy="375447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xmlns="" id="{F3B578C8-9134-41D5-B178-C9C6E7CB65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03364">
            <a:off x="5905735" y="5049092"/>
            <a:ext cx="310172" cy="375447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xmlns="" id="{E5C980FD-B6F4-4D3E-8D5A-82CF370629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03364">
            <a:off x="6361070" y="5052086"/>
            <a:ext cx="310172" cy="375447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xmlns="" id="{E738CE0A-1088-4C4A-BC6C-BF6A4942A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03364">
            <a:off x="6820269" y="5054398"/>
            <a:ext cx="310172" cy="375447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xmlns="" id="{0AC7A6ED-0090-42FD-B62F-8F7F0D4B8F7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03364">
            <a:off x="7239606" y="5054397"/>
            <a:ext cx="310172" cy="375447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xmlns="" id="{F765CA00-0E2C-466A-83D3-3A4D0EDC9D6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03364">
            <a:off x="7684315" y="5029563"/>
            <a:ext cx="310172" cy="375447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xmlns="" id="{F411E9F8-1FD5-43AD-B205-5CB066826F4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03364">
            <a:off x="5057545" y="5039912"/>
            <a:ext cx="310172" cy="37544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xmlns="" id="{D9EB9934-D108-430A-8F8E-0DEF76FC73A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03364">
            <a:off x="8067005" y="5047626"/>
            <a:ext cx="310172" cy="37544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xmlns="" id="{789EF1E9-09BE-452C-884F-D937742B9F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03364">
            <a:off x="8490789" y="5039911"/>
            <a:ext cx="310172" cy="375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859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4.79167E-6 3.33333E-6 L 4.79167E-6 -0.363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817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3.95833E-6 -1.85185E-6 L -3.95833E-6 -0.40949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486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repeatCount="indefinite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4.72222E-6 -1.11111E-6 L 4.72222E-6 -0.14329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7176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repeatCount="indefinite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4.16667E-7 -1.85185E-6 L -4.16667E-7 -0.18403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213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repeatCount="indefinite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2.29167E-6 -3.7037E-6 L -2.29167E-6 -0.13726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875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repeatCount="indefinite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4.375E-6 -1.85185E-6 L -4.375E-6 -0.30416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5208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repeatCount="indefinite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2.70833E-6 -4.44444E-6 L 2.70833E-6 -0.18588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306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path" presetSubtype="0" repeatCount="indefinite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1.11111E-6 3.7037E-6 L 1.11111E-6 -0.24028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14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2" presetClass="path" presetSubtype="0" repeatCount="indefinite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1.66667E-6 4.81481E-6 L -1.66667E-6 0.25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42" presetClass="path" presetSubtype="0" repeatCount="indefinite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6.25E-7 5.55112E-17 L -6.25E-7 0.25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42" presetClass="path" presetSubtype="0" repeatCount="indefinite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3.75E-6 2.96296E-6 L -3.75E-6 0.25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42" presetClass="path" presetSubtype="0" repeatCount="indefinite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2.08333E-6 4.44444E-6 L 2.08333E-6 0.25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26" presetClass="path" presetSubtype="0" repeatCount="indefinite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4.375E-6 -4.81481E-6 C 0.00964 0.03033 0.02852 0.04422 0.0418 0.03079 C 0.05717 0.01482 0.05378 -0.01828 0.05066 -0.03726 L 0.04597 -0.06203 C 0.04297 -0.08125 0.03998 -0.11458 0.05743 -0.1324 C 0.06862 -0.14398 0.08933 -0.1324 0.09922 -0.10185 C 0.10912 -0.07152 0.10443 -0.03356 0.09323 -0.02222 C 0.07579 -0.00416 0.06094 -0.02569 0.05313 -0.03981 L 0.04349 -0.05949 C 0.03568 -0.07384 0.02136 -0.09537 0.00586 -0.07962 C -0.00729 -0.06597 -0.00989 -0.03055 -4.375E-6 -4.81481E-6 Z " pathEditMode="relative" rAng="19800000" ptsTypes="AAAAAAAAAAA">
                                      <p:cBhvr>
                                        <p:cTn id="30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948" y="-5093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26" presetClass="path" presetSubtype="0" repeatCount="indefinite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6.25E-7 -4.44444E-6 C 0.00963 0.03033 0.02852 0.04422 0.0418 0.03079 C 0.05716 0.01482 0.05378 -0.01828 0.05065 -0.03726 L 0.04596 -0.06203 C 0.04297 -0.08125 0.03997 -0.11458 0.05742 -0.1324 C 0.06862 -0.14398 0.08932 -0.1324 0.09922 -0.10185 C 0.10911 -0.07152 0.10443 -0.03356 0.09323 -0.02222 C 0.07578 -0.00416 0.06094 -0.02569 0.05312 -0.03981 L 0.04349 -0.05949 C 0.03568 -0.07384 0.02135 -0.09537 0.00586 -0.07963 C -0.00729 -0.06597 -0.0099 -0.03055 6.25E-7 -4.44444E-6 Z " pathEditMode="relative" rAng="19800000" ptsTypes="AAAAAAAAAAA">
                                      <p:cBhvr>
                                        <p:cTn id="32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948" y="-5093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37" presetClass="path" presetSubtype="0" repeatCount="indefinite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67 0.04 C 0.081 0.049 0.102 0.054 0.124 0.054 C 0.149 0.054 0.169 0.049 0.183 0.04 L 0.25 0 E" pathEditMode="relative" ptsTypes="">
                                      <p:cBhvr>
                                        <p:cTn id="34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" presetClass="path" presetSubtype="0" repeatCount="indefinite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4.79167E-6 3.33333E-6 C 0.06901 3.33333E-6 0.125 0.05602 0.125 0.125 C 0.125 0.19398 0.06901 0.25 4.79167E-6 0.25 C -0.06902 0.25 -0.125 0.19398 -0.125 0.125 C -0.125 0.05602 -0.06902 3.33333E-6 4.79167E-6 3.33333E-6 Z " pathEditMode="relative" rAng="0" ptsTypes="AAAAA">
                                      <p:cBhvr>
                                        <p:cTn id="3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42" presetClass="path" presetSubtype="0" repeatCount="indefinite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3.33333E-6 1.85185E-6 L 0.02084 1.85185E-6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2" y="0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42" presetClass="path" presetSubtype="0" repeatCount="indefinite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2.77778E-6 2.59259E-6 L 0.02083 2.59259E-6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2" y="0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42" presetClass="path" presetSubtype="0" repeatCount="indefinite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1.11111E-6 L 0.02083 1.11111E-6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2" y="0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42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2.77778E-6 -1.85185E-6 L 0.02083 -1.85185E-6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2" y="0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42" presetClass="path" presetSubtype="0" repeatCount="indefinite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5.55556E-7 -1.85185E-6 L 0.02083 -1.85185E-6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2" y="0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42" presetClass="path" presetSubtype="0" repeatCount="indefinite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1.66667E-6 1.85185E-6 L 0.02084 1.85185E-6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2" y="0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42" presetClass="path" presetSubtype="0" repeatCount="indefinite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4.72222E-6 1.48148E-6 L 0.02083 1.48148E-6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2" y="0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42" presetClass="path" presetSubtype="0" repeatCount="indefinite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1.94444E-6 4.07407E-6 L 0.02084 4.07407E-6 " pathEditMode="relative" rAng="0" ptsTypes="AA">
                                      <p:cBhvr>
                                        <p:cTn id="52" dur="2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2" y="0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42" presetClass="path" presetSubtype="0" repeatCount="indefinite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3.88889E-6 1.48148E-6 L 0.02083 1.48148E-6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xmlns="" id="{618058D5-87D4-47F0-B9E4-7EFC81F533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0538" y="152400"/>
            <a:ext cx="8229600" cy="1143000"/>
          </a:xfrm>
          <a:noFill/>
        </p:spPr>
        <p:txBody>
          <a:bodyPr/>
          <a:lstStyle/>
          <a:p>
            <a:pPr eaLnBrk="1" hangingPunct="1"/>
            <a:r>
              <a:rPr lang="en-US" altLang="en-US" sz="3200" b="1" dirty="0"/>
              <a:t/>
            </a:r>
            <a:br>
              <a:rPr lang="en-US" altLang="en-US" sz="3200" b="1" dirty="0"/>
            </a:br>
            <a:r>
              <a:rPr lang="en-US" altLang="en-US" sz="4000" b="1" dirty="0">
                <a:solidFill>
                  <a:srgbClr val="990000"/>
                </a:solidFill>
              </a:rPr>
              <a:t>PHẢN ỨNG DỊ PHA</a:t>
            </a:r>
            <a:r>
              <a:rPr lang="en-US" altLang="en-US" sz="3200" dirty="0">
                <a:solidFill>
                  <a:srgbClr val="990000"/>
                </a:solidFill>
              </a:rPr>
              <a:t/>
            </a:r>
            <a:br>
              <a:rPr lang="en-US" altLang="en-US" sz="3200" dirty="0">
                <a:solidFill>
                  <a:srgbClr val="990000"/>
                </a:solidFill>
              </a:rPr>
            </a:br>
            <a:r>
              <a:rPr lang="en-US" altLang="en-US" sz="2800" dirty="0"/>
              <a:t>	</a:t>
            </a:r>
            <a:endParaRPr lang="en-US" altLang="en-US" sz="4000" dirty="0"/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xmlns="" id="{026BADCC-0372-4B26-A278-0044AFC86D6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15118" y="1127125"/>
            <a:ext cx="8676482" cy="3429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1800" dirty="0"/>
              <a:t>	  </a:t>
            </a:r>
            <a:r>
              <a:rPr lang="en-US" altLang="en-US" sz="3600" dirty="0">
                <a:solidFill>
                  <a:srgbClr val="0000FF"/>
                </a:solidFill>
              </a:rPr>
              <a:t>CaCO</a:t>
            </a:r>
            <a:r>
              <a:rPr lang="en-US" altLang="en-US" sz="3600" baseline="-25000" dirty="0">
                <a:solidFill>
                  <a:srgbClr val="0000FF"/>
                </a:solidFill>
              </a:rPr>
              <a:t>3(r)</a:t>
            </a:r>
            <a:r>
              <a:rPr lang="en-US" altLang="en-US" sz="3600" dirty="0">
                <a:solidFill>
                  <a:srgbClr val="0000FF"/>
                </a:solidFill>
              </a:rPr>
              <a:t> </a:t>
            </a:r>
            <a:r>
              <a:rPr lang="en-US" altLang="en-US" sz="3600" dirty="0">
                <a:solidFill>
                  <a:srgbClr val="0000FF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⇌</a:t>
            </a:r>
            <a:r>
              <a:rPr lang="en-US" altLang="en-US" sz="3600" dirty="0">
                <a:solidFill>
                  <a:srgbClr val="0000FF"/>
                </a:solidFill>
              </a:rPr>
              <a:t> </a:t>
            </a:r>
            <a:r>
              <a:rPr lang="en-US" altLang="en-US" sz="3600" dirty="0" err="1">
                <a:solidFill>
                  <a:srgbClr val="0000FF"/>
                </a:solidFill>
              </a:rPr>
              <a:t>CaO</a:t>
            </a:r>
            <a:r>
              <a:rPr lang="en-US" altLang="en-US" sz="3600" baseline="-25000" dirty="0">
                <a:solidFill>
                  <a:srgbClr val="0000FF"/>
                </a:solidFill>
              </a:rPr>
              <a:t>(r)</a:t>
            </a:r>
            <a:r>
              <a:rPr lang="en-US" altLang="en-US" sz="3600" dirty="0">
                <a:solidFill>
                  <a:srgbClr val="0000FF"/>
                </a:solidFill>
              </a:rPr>
              <a:t> + CO</a:t>
            </a:r>
            <a:r>
              <a:rPr lang="en-US" altLang="en-US" sz="3600" baseline="-25000" dirty="0">
                <a:solidFill>
                  <a:srgbClr val="0000FF"/>
                </a:solidFill>
              </a:rPr>
              <a:t>2(k)</a:t>
            </a:r>
            <a:r>
              <a:rPr lang="vi-VN" altLang="en-US" sz="3600" dirty="0">
                <a:solidFill>
                  <a:srgbClr val="0000FF"/>
                </a:solidFill>
              </a:rPr>
              <a:t>  (</a:t>
            </a:r>
            <a:r>
              <a:rPr lang="en-US" sz="3600" dirty="0">
                <a:solidFill>
                  <a:srgbClr val="0000FF"/>
                </a:solidFill>
                <a:sym typeface="Symbol" panose="05050102010706020507" pitchFamily="18" charset="2"/>
              </a:rPr>
              <a:t></a:t>
            </a:r>
            <a:r>
              <a:rPr lang="vi-VN" sz="3600" dirty="0">
                <a:solidFill>
                  <a:srgbClr val="0000FF"/>
                </a:solidFill>
                <a:sym typeface="Symbol" panose="05050102010706020507" pitchFamily="18" charset="2"/>
              </a:rPr>
              <a:t>n = 1)</a:t>
            </a:r>
            <a:r>
              <a:rPr lang="vi-VN" altLang="en-US" sz="3600" dirty="0">
                <a:solidFill>
                  <a:srgbClr val="0000FF"/>
                </a:solidFill>
              </a:rPr>
              <a:t> </a:t>
            </a:r>
            <a:r>
              <a:rPr lang="en-US" altLang="en-US" sz="3600" baseline="-25000" dirty="0">
                <a:solidFill>
                  <a:srgbClr val="0000FF"/>
                </a:solidFill>
              </a:rPr>
              <a:t/>
            </a:r>
            <a:br>
              <a:rPr lang="en-US" altLang="en-US" sz="3600" baseline="-25000" dirty="0">
                <a:solidFill>
                  <a:srgbClr val="0000FF"/>
                </a:solidFill>
              </a:rPr>
            </a:br>
            <a:r>
              <a:rPr lang="en-US" altLang="en-US" sz="3600" dirty="0"/>
              <a:t>				 		</a:t>
            </a:r>
            <a:br>
              <a:rPr lang="en-US" altLang="en-US" sz="3600" dirty="0"/>
            </a:br>
            <a:endParaRPr lang="en-US" altLang="en-US" sz="3600" dirty="0"/>
          </a:p>
        </p:txBody>
      </p:sp>
      <p:graphicFrame>
        <p:nvGraphicFramePr>
          <p:cNvPr id="23557" name="Object 4">
            <a:extLst>
              <a:ext uri="{FF2B5EF4-FFF2-40B4-BE49-F238E27FC236}">
                <a16:creationId xmlns:a16="http://schemas.microsoft.com/office/drawing/2014/main" xmlns="" id="{6AC38181-201F-4FAB-B943-68E56B2A3C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0329762"/>
              </p:ext>
            </p:extLst>
          </p:nvPr>
        </p:nvGraphicFramePr>
        <p:xfrm>
          <a:off x="769937" y="1877997"/>
          <a:ext cx="3344863" cy="1183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50" name="Equation" r:id="rId4" imgW="1295400" imgH="482600" progId="Equation.3">
                  <p:embed/>
                </p:oleObj>
              </mc:Choice>
              <mc:Fallback>
                <p:oleObj name="Equation" r:id="rId4" imgW="1295400" imgH="482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937" y="1877997"/>
                        <a:ext cx="3344863" cy="11832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8" name="Object 5">
            <a:extLst>
              <a:ext uri="{FF2B5EF4-FFF2-40B4-BE49-F238E27FC236}">
                <a16:creationId xmlns:a16="http://schemas.microsoft.com/office/drawing/2014/main" xmlns="" id="{F79A788C-EB0C-4186-9A1D-078C39EBE4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7782108"/>
              </p:ext>
            </p:extLst>
          </p:nvPr>
        </p:nvGraphicFramePr>
        <p:xfrm>
          <a:off x="4327525" y="1833563"/>
          <a:ext cx="4287838" cy="1183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51" name="Equation" r:id="rId6" imgW="1727200" imgH="457200" progId="Equation.3">
                  <p:embed/>
                </p:oleObj>
              </mc:Choice>
              <mc:Fallback>
                <p:oleObj name="Equation" r:id="rId6" imgW="1727200" imgH="457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7525" y="1833563"/>
                        <a:ext cx="4287838" cy="11832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9" name="Text Box 6">
            <a:extLst>
              <a:ext uri="{FF2B5EF4-FFF2-40B4-BE49-F238E27FC236}">
                <a16:creationId xmlns:a16="http://schemas.microsoft.com/office/drawing/2014/main" xmlns="" id="{3B810336-5D51-4B97-81EA-F382DE50C6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5562600"/>
            <a:ext cx="502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23560" name="Object 9">
            <a:extLst>
              <a:ext uri="{FF2B5EF4-FFF2-40B4-BE49-F238E27FC236}">
                <a16:creationId xmlns:a16="http://schemas.microsoft.com/office/drawing/2014/main" xmlns="" id="{52C21A18-56BF-4E9E-9A53-DFD697537B9E}"/>
              </a:ext>
            </a:extLst>
          </p:cNvPr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1021030172"/>
              </p:ext>
            </p:extLst>
          </p:nvPr>
        </p:nvGraphicFramePr>
        <p:xfrm>
          <a:off x="4355526" y="3106836"/>
          <a:ext cx="3048000" cy="759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52" name="Equation" r:id="rId8" imgW="837836" imgH="253890" progId="Equation.3">
                  <p:embed/>
                </p:oleObj>
              </mc:Choice>
              <mc:Fallback>
                <p:oleObj name="Equation" r:id="rId8" imgW="837836" imgH="25389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5526" y="3106836"/>
                        <a:ext cx="3048000" cy="7598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1" name="Text Box 11">
            <a:extLst>
              <a:ext uri="{FF2B5EF4-FFF2-40B4-BE49-F238E27FC236}">
                <a16:creationId xmlns:a16="http://schemas.microsoft.com/office/drawing/2014/main" xmlns="" id="{ACA6521B-0991-453D-BBA2-F624FD63D8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059" y="3866676"/>
            <a:ext cx="8610600" cy="2217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lang="en-US" altLang="en-US" dirty="0" err="1">
                <a:solidFill>
                  <a:srgbClr val="C00000"/>
                </a:solidFill>
              </a:rPr>
              <a:t>Trong</a:t>
            </a:r>
            <a:r>
              <a:rPr lang="en-US" altLang="en-US" dirty="0">
                <a:solidFill>
                  <a:srgbClr val="C00000"/>
                </a:solidFill>
              </a:rPr>
              <a:t> </a:t>
            </a:r>
            <a:r>
              <a:rPr lang="en-US" altLang="en-US" dirty="0" err="1">
                <a:solidFill>
                  <a:srgbClr val="C00000"/>
                </a:solidFill>
              </a:rPr>
              <a:t>biểu</a:t>
            </a:r>
            <a:r>
              <a:rPr lang="en-US" altLang="en-US" dirty="0">
                <a:solidFill>
                  <a:srgbClr val="C00000"/>
                </a:solidFill>
              </a:rPr>
              <a:t> </a:t>
            </a:r>
            <a:r>
              <a:rPr lang="en-US" altLang="en-US" dirty="0" err="1">
                <a:solidFill>
                  <a:srgbClr val="C00000"/>
                </a:solidFill>
              </a:rPr>
              <a:t>thức</a:t>
            </a:r>
            <a:r>
              <a:rPr lang="en-US" altLang="en-US" dirty="0">
                <a:solidFill>
                  <a:srgbClr val="C00000"/>
                </a:solidFill>
              </a:rPr>
              <a:t> </a:t>
            </a:r>
            <a:r>
              <a:rPr lang="en-US" altLang="en-US" dirty="0" err="1">
                <a:solidFill>
                  <a:srgbClr val="C00000"/>
                </a:solidFill>
              </a:rPr>
              <a:t>của</a:t>
            </a:r>
            <a:r>
              <a:rPr lang="en-US" altLang="en-US" dirty="0">
                <a:solidFill>
                  <a:srgbClr val="C00000"/>
                </a:solidFill>
              </a:rPr>
              <a:t> </a:t>
            </a:r>
            <a:r>
              <a:rPr lang="en-US" altLang="en-US" dirty="0" err="1">
                <a:solidFill>
                  <a:srgbClr val="C00000"/>
                </a:solidFill>
              </a:rPr>
              <a:t>hằng</a:t>
            </a:r>
            <a:r>
              <a:rPr lang="en-US" altLang="en-US" dirty="0">
                <a:solidFill>
                  <a:srgbClr val="C00000"/>
                </a:solidFill>
              </a:rPr>
              <a:t> </a:t>
            </a:r>
            <a:r>
              <a:rPr lang="en-US" altLang="en-US" dirty="0" err="1">
                <a:solidFill>
                  <a:srgbClr val="C00000"/>
                </a:solidFill>
              </a:rPr>
              <a:t>số</a:t>
            </a:r>
            <a:r>
              <a:rPr lang="en-US" altLang="en-US" dirty="0">
                <a:solidFill>
                  <a:srgbClr val="C00000"/>
                </a:solidFill>
              </a:rPr>
              <a:t> </a:t>
            </a:r>
            <a:r>
              <a:rPr lang="en-US" altLang="en-US" dirty="0" err="1">
                <a:solidFill>
                  <a:srgbClr val="C00000"/>
                </a:solidFill>
              </a:rPr>
              <a:t>cân</a:t>
            </a:r>
            <a:r>
              <a:rPr lang="en-US" altLang="en-US" dirty="0">
                <a:solidFill>
                  <a:srgbClr val="C00000"/>
                </a:solidFill>
              </a:rPr>
              <a:t> </a:t>
            </a:r>
            <a:r>
              <a:rPr lang="en-US" altLang="en-US" dirty="0" err="1">
                <a:solidFill>
                  <a:srgbClr val="C00000"/>
                </a:solidFill>
              </a:rPr>
              <a:t>bằng</a:t>
            </a:r>
            <a:r>
              <a:rPr lang="en-US" altLang="en-US" dirty="0">
                <a:solidFill>
                  <a:srgbClr val="C00000"/>
                </a:solidFill>
              </a:rPr>
              <a:t> K </a:t>
            </a:r>
            <a:r>
              <a:rPr lang="en-US" altLang="en-US" dirty="0" err="1">
                <a:solidFill>
                  <a:srgbClr val="C00000"/>
                </a:solidFill>
              </a:rPr>
              <a:t>không</a:t>
            </a:r>
            <a:r>
              <a:rPr lang="en-US" altLang="en-US" dirty="0">
                <a:solidFill>
                  <a:srgbClr val="C00000"/>
                </a:solidFill>
              </a:rPr>
              <a:t> </a:t>
            </a:r>
            <a:r>
              <a:rPr lang="en-US" altLang="en-US" dirty="0" err="1">
                <a:solidFill>
                  <a:srgbClr val="C00000"/>
                </a:solidFill>
              </a:rPr>
              <a:t>xuất</a:t>
            </a:r>
            <a:r>
              <a:rPr lang="en-US" altLang="en-US" dirty="0">
                <a:solidFill>
                  <a:srgbClr val="C00000"/>
                </a:solidFill>
              </a:rPr>
              <a:t> </a:t>
            </a:r>
            <a:r>
              <a:rPr lang="en-US" altLang="en-US" dirty="0" err="1">
                <a:solidFill>
                  <a:srgbClr val="C00000"/>
                </a:solidFill>
              </a:rPr>
              <a:t>hiện</a:t>
            </a:r>
            <a:r>
              <a:rPr lang="en-US" altLang="en-US" dirty="0">
                <a:solidFill>
                  <a:srgbClr val="C00000"/>
                </a:solidFill>
              </a:rPr>
              <a:t> </a:t>
            </a:r>
            <a:r>
              <a:rPr lang="en-US" altLang="en-US" dirty="0" err="1">
                <a:solidFill>
                  <a:srgbClr val="C00000"/>
                </a:solidFill>
              </a:rPr>
              <a:t>các</a:t>
            </a:r>
            <a:r>
              <a:rPr lang="en-US" altLang="en-US" dirty="0">
                <a:solidFill>
                  <a:srgbClr val="C00000"/>
                </a:solidFill>
              </a:rPr>
              <a:t> </a:t>
            </a:r>
            <a:r>
              <a:rPr lang="en-US" altLang="en-US" dirty="0" err="1">
                <a:solidFill>
                  <a:srgbClr val="C00000"/>
                </a:solidFill>
              </a:rPr>
              <a:t>thành</a:t>
            </a:r>
            <a:r>
              <a:rPr lang="en-US" altLang="en-US" dirty="0">
                <a:solidFill>
                  <a:srgbClr val="C00000"/>
                </a:solidFill>
              </a:rPr>
              <a:t> </a:t>
            </a:r>
            <a:r>
              <a:rPr lang="en-US" altLang="en-US" dirty="0" err="1">
                <a:solidFill>
                  <a:srgbClr val="C00000"/>
                </a:solidFill>
              </a:rPr>
              <a:t>phần</a:t>
            </a:r>
            <a:r>
              <a:rPr lang="en-US" altLang="en-US" dirty="0">
                <a:solidFill>
                  <a:srgbClr val="C00000"/>
                </a:solidFill>
              </a:rPr>
              <a:t> </a:t>
            </a:r>
            <a:r>
              <a:rPr lang="en-US" altLang="en-US" dirty="0" err="1">
                <a:solidFill>
                  <a:srgbClr val="C00000"/>
                </a:solidFill>
              </a:rPr>
              <a:t>sau</a:t>
            </a:r>
            <a:r>
              <a:rPr lang="en-US" altLang="en-US" dirty="0">
                <a:solidFill>
                  <a:srgbClr val="C00000"/>
                </a:solidFill>
              </a:rPr>
              <a:t>: </a:t>
            </a:r>
            <a:r>
              <a:rPr lang="en-US" altLang="en-US" dirty="0" err="1">
                <a:solidFill>
                  <a:srgbClr val="006600"/>
                </a:solidFill>
              </a:rPr>
              <a:t>chất</a:t>
            </a:r>
            <a:r>
              <a:rPr lang="en-US" altLang="en-US" dirty="0">
                <a:solidFill>
                  <a:srgbClr val="006600"/>
                </a:solidFill>
              </a:rPr>
              <a:t> </a:t>
            </a:r>
            <a:r>
              <a:rPr lang="en-US" altLang="en-US" dirty="0" err="1">
                <a:solidFill>
                  <a:srgbClr val="006600"/>
                </a:solidFill>
              </a:rPr>
              <a:t>rắn</a:t>
            </a:r>
            <a:r>
              <a:rPr lang="en-US" altLang="en-US" dirty="0">
                <a:solidFill>
                  <a:srgbClr val="006600"/>
                </a:solidFill>
              </a:rPr>
              <a:t> </a:t>
            </a:r>
            <a:r>
              <a:rPr lang="en-US" altLang="en-US" dirty="0" err="1">
                <a:solidFill>
                  <a:srgbClr val="006600"/>
                </a:solidFill>
              </a:rPr>
              <a:t>nguyên</a:t>
            </a:r>
            <a:r>
              <a:rPr lang="en-US" altLang="en-US" dirty="0">
                <a:solidFill>
                  <a:srgbClr val="006600"/>
                </a:solidFill>
              </a:rPr>
              <a:t> </a:t>
            </a:r>
            <a:r>
              <a:rPr lang="en-US" altLang="en-US" dirty="0" err="1">
                <a:solidFill>
                  <a:srgbClr val="006600"/>
                </a:solidFill>
              </a:rPr>
              <a:t>chất</a:t>
            </a:r>
            <a:r>
              <a:rPr lang="en-US" altLang="en-US" dirty="0">
                <a:solidFill>
                  <a:srgbClr val="C00000"/>
                </a:solidFill>
              </a:rPr>
              <a:t>, </a:t>
            </a:r>
            <a:r>
              <a:rPr lang="en-US" altLang="en-US" dirty="0" err="1">
                <a:solidFill>
                  <a:srgbClr val="CC00FF"/>
                </a:solidFill>
              </a:rPr>
              <a:t>chất</a:t>
            </a:r>
            <a:r>
              <a:rPr lang="en-US" altLang="en-US" dirty="0">
                <a:solidFill>
                  <a:srgbClr val="CC00FF"/>
                </a:solidFill>
              </a:rPr>
              <a:t> </a:t>
            </a:r>
            <a:r>
              <a:rPr lang="en-US" altLang="en-US" dirty="0" err="1">
                <a:solidFill>
                  <a:srgbClr val="CC00FF"/>
                </a:solidFill>
              </a:rPr>
              <a:t>lỏng</a:t>
            </a:r>
            <a:r>
              <a:rPr lang="en-US" altLang="en-US" dirty="0">
                <a:solidFill>
                  <a:srgbClr val="CC00FF"/>
                </a:solidFill>
              </a:rPr>
              <a:t> </a:t>
            </a:r>
            <a:r>
              <a:rPr lang="en-US" altLang="en-US" dirty="0" err="1">
                <a:solidFill>
                  <a:srgbClr val="CC00FF"/>
                </a:solidFill>
              </a:rPr>
              <a:t>nguyên</a:t>
            </a:r>
            <a:r>
              <a:rPr lang="en-US" altLang="en-US" dirty="0">
                <a:solidFill>
                  <a:srgbClr val="CC00FF"/>
                </a:solidFill>
              </a:rPr>
              <a:t> </a:t>
            </a:r>
            <a:r>
              <a:rPr lang="en-US" altLang="en-US" dirty="0" err="1">
                <a:solidFill>
                  <a:srgbClr val="CC00FF"/>
                </a:solidFill>
              </a:rPr>
              <a:t>chất</a:t>
            </a:r>
            <a:r>
              <a:rPr lang="en-US" altLang="en-US" dirty="0">
                <a:solidFill>
                  <a:srgbClr val="C00000"/>
                </a:solidFill>
              </a:rPr>
              <a:t>, </a:t>
            </a:r>
            <a:r>
              <a:rPr lang="en-US" altLang="en-US" dirty="0">
                <a:solidFill>
                  <a:srgbClr val="0000FF"/>
                </a:solidFill>
              </a:rPr>
              <a:t>dung </a:t>
            </a:r>
            <a:r>
              <a:rPr lang="en-US" altLang="en-US" dirty="0" err="1">
                <a:solidFill>
                  <a:srgbClr val="0000FF"/>
                </a:solidFill>
              </a:rPr>
              <a:t>môi</a:t>
            </a:r>
            <a:r>
              <a:rPr lang="en-US" altLang="en-US" dirty="0">
                <a:solidFill>
                  <a:srgbClr val="C00000"/>
                </a:solidFill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950DD19B-1BF9-4083-8FF4-87FFACD26D43}"/>
              </a:ext>
            </a:extLst>
          </p:cNvPr>
          <p:cNvSpPr txBox="1"/>
          <p:nvPr/>
        </p:nvSpPr>
        <p:spPr>
          <a:xfrm>
            <a:off x="638091" y="3106836"/>
            <a:ext cx="36085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dirty="0"/>
              <a:t>P</a:t>
            </a:r>
            <a:r>
              <a:rPr lang="vi-VN" sz="3200" baseline="-25000" dirty="0"/>
              <a:t>CO2</a:t>
            </a:r>
            <a:r>
              <a:rPr lang="vi-VN" sz="3200" dirty="0"/>
              <a:t>  = C</a:t>
            </a:r>
            <a:r>
              <a:rPr lang="vi-VN" sz="3200" baseline="-25000" dirty="0"/>
              <a:t>CO2</a:t>
            </a:r>
            <a:r>
              <a:rPr lang="vi-VN" sz="3200" dirty="0"/>
              <a:t>. R.T</a:t>
            </a:r>
            <a:endParaRPr lang="en-US" sz="3200" dirty="0"/>
          </a:p>
        </p:txBody>
      </p:sp>
      <p:graphicFrame>
        <p:nvGraphicFramePr>
          <p:cNvPr id="23556" name="Object 7">
            <a:extLst>
              <a:ext uri="{FF2B5EF4-FFF2-40B4-BE49-F238E27FC236}">
                <a16:creationId xmlns:a16="http://schemas.microsoft.com/office/drawing/2014/main" xmlns="" id="{BD0A1E46-9450-43DD-9FBA-E7B25619D53F}"/>
              </a:ext>
            </a:extLst>
          </p:cNvPr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1313555615"/>
              </p:ext>
            </p:extLst>
          </p:nvPr>
        </p:nvGraphicFramePr>
        <p:xfrm>
          <a:off x="730593" y="3061217"/>
          <a:ext cx="3350024" cy="8498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53" name="Equation" r:id="rId10" imgW="761669" imgH="228501" progId="Equation.3">
                  <p:embed/>
                </p:oleObj>
              </mc:Choice>
              <mc:Fallback>
                <p:oleObj name="Equation" r:id="rId10" imgW="761669" imgH="228501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593" y="3061217"/>
                        <a:ext cx="3350024" cy="84989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FC63AE09-C3F8-4532-9D84-8D2AB6923B71}"/>
              </a:ext>
            </a:extLst>
          </p:cNvPr>
          <p:cNvSpPr txBox="1"/>
          <p:nvPr/>
        </p:nvSpPr>
        <p:spPr>
          <a:xfrm>
            <a:off x="3115771" y="2592847"/>
            <a:ext cx="1130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b="1" dirty="0">
                <a:solidFill>
                  <a:srgbClr val="FF0000"/>
                </a:solidFill>
              </a:rPr>
              <a:t>const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6F2C1320-AF09-4E47-9297-13DC8AD6204D}"/>
              </a:ext>
            </a:extLst>
          </p:cNvPr>
          <p:cNvSpPr txBox="1"/>
          <p:nvPr/>
        </p:nvSpPr>
        <p:spPr>
          <a:xfrm>
            <a:off x="1274731" y="1716643"/>
            <a:ext cx="1130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b="1" dirty="0">
                <a:solidFill>
                  <a:srgbClr val="FF0000"/>
                </a:solidFill>
              </a:rPr>
              <a:t>const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61" grpId="0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1" name="Rectangle 3">
            <a:extLst>
              <a:ext uri="{FF2B5EF4-FFF2-40B4-BE49-F238E27FC236}">
                <a16:creationId xmlns:a16="http://schemas.microsoft.com/office/drawing/2014/main" xmlns="" id="{27A684AD-0BE8-4721-ACE0-8B5F51C8B6A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723900" y="771525"/>
            <a:ext cx="7696200" cy="838200"/>
          </a:xfrm>
        </p:spPr>
        <p:txBody>
          <a:bodyPr lIns="90488" tIns="44450" rIns="90488" bIns="44450"/>
          <a:lstStyle/>
          <a:p>
            <a:pPr eaLnBrk="1" hangingPunct="1">
              <a:lnSpc>
                <a:spcPct val="110000"/>
              </a:lnSpc>
              <a:buFontTx/>
              <a:buNone/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	</a:t>
            </a:r>
            <a:r>
              <a:rPr lang="en-US" sz="3600" b="1" dirty="0">
                <a:solidFill>
                  <a:srgbClr val="0000FF"/>
                </a:solidFill>
              </a:rPr>
              <a:t>S(r)  +   O</a:t>
            </a:r>
            <a:r>
              <a:rPr lang="en-US" sz="3600" b="1" baseline="-25000" dirty="0">
                <a:solidFill>
                  <a:srgbClr val="0000FF"/>
                </a:solidFill>
              </a:rPr>
              <a:t>2</a:t>
            </a:r>
            <a:r>
              <a:rPr lang="en-US" sz="3600" b="1" dirty="0">
                <a:solidFill>
                  <a:srgbClr val="0000FF"/>
                </a:solidFill>
              </a:rPr>
              <a:t>(k) </a:t>
            </a:r>
            <a:r>
              <a:rPr lang="vi-VN" sz="3600" b="1" dirty="0">
                <a:solidFill>
                  <a:srgbClr val="0000FF"/>
                </a:solidFill>
              </a:rPr>
              <a:t>   </a:t>
            </a:r>
            <a:r>
              <a:rPr lang="en-US" altLang="en-US" sz="3600" b="1" dirty="0">
                <a:solidFill>
                  <a:srgbClr val="0000FF"/>
                </a:solidFill>
              </a:rPr>
              <a:t>⇌ </a:t>
            </a:r>
            <a:r>
              <a:rPr lang="vi-VN" altLang="en-US" sz="3600" b="1" dirty="0">
                <a:solidFill>
                  <a:srgbClr val="0000FF"/>
                </a:solidFill>
              </a:rPr>
              <a:t>  </a:t>
            </a:r>
            <a:r>
              <a:rPr lang="en-US" sz="3600" b="1" dirty="0">
                <a:solidFill>
                  <a:srgbClr val="0000FF"/>
                </a:solidFill>
              </a:rPr>
              <a:t>SO</a:t>
            </a:r>
            <a:r>
              <a:rPr lang="en-US" sz="3600" b="1" baseline="-25000" dirty="0">
                <a:solidFill>
                  <a:srgbClr val="0000FF"/>
                </a:solidFill>
              </a:rPr>
              <a:t>2</a:t>
            </a:r>
            <a:r>
              <a:rPr lang="en-US" sz="3600" b="1" dirty="0">
                <a:solidFill>
                  <a:srgbClr val="0000FF"/>
                </a:solidFill>
              </a:rPr>
              <a:t>(k)</a:t>
            </a:r>
          </a:p>
          <a:p>
            <a:pPr eaLnBrk="1" hangingPunct="1">
              <a:buFontTx/>
              <a:buNone/>
              <a:defRPr/>
            </a:pP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>
              <a:buFontTx/>
              <a:buNone/>
              <a:defRPr/>
            </a:pP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25603" name="Picture 4">
            <a:extLst>
              <a:ext uri="{FF2B5EF4-FFF2-40B4-BE49-F238E27FC236}">
                <a16:creationId xmlns:a16="http://schemas.microsoft.com/office/drawing/2014/main" xmlns="" id="{5903C48B-AD77-4FAC-A17E-DA731ABE2E8C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" y="2024063"/>
            <a:ext cx="2590800" cy="31130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3216B73-C981-4ED4-8D6C-A7EB69AB1D1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sz="half" idx="2"/>
          </p:nvPr>
        </p:nvSpPr>
        <p:spPr>
          <a:xfrm>
            <a:off x="3581400" y="1765231"/>
            <a:ext cx="4737347" cy="3371709"/>
          </a:xfrm>
          <a:blipFill>
            <a:blip r:embed="rId4"/>
            <a:stretch>
              <a:fillRect l="-5920"/>
            </a:stretch>
          </a:blipFill>
        </p:spPr>
        <p:txBody>
          <a:bodyPr/>
          <a:lstStyle/>
          <a:p>
            <a:r>
              <a:rPr lang="en-US" dirty="0">
                <a:noFill/>
              </a:rPr>
              <a:t> 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xmlns="" id="{252F2F8C-856C-43AA-82C4-76C62101F9C4}"/>
              </a:ext>
            </a:extLst>
          </p:cNvPr>
          <p:cNvSpPr/>
          <p:nvPr/>
        </p:nvSpPr>
        <p:spPr>
          <a:xfrm>
            <a:off x="1429274" y="737270"/>
            <a:ext cx="533400" cy="838200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93E2072-CC1A-4393-96A5-C1338B9AC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309" y="2507963"/>
            <a:ext cx="8801100" cy="1019253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en-US" sz="2800" dirty="0">
                <a:solidFill>
                  <a:srgbClr val="0000FF"/>
                </a:solidFill>
              </a:rPr>
              <a:t>Cho NH</a:t>
            </a:r>
            <a:r>
              <a:rPr lang="en-US" sz="2800" baseline="-25000" dirty="0">
                <a:solidFill>
                  <a:srgbClr val="0000FF"/>
                </a:solidFill>
              </a:rPr>
              <a:t>4</a:t>
            </a:r>
            <a:r>
              <a:rPr lang="en-US" sz="2800" dirty="0">
                <a:solidFill>
                  <a:srgbClr val="0000FF"/>
                </a:solidFill>
              </a:rPr>
              <a:t>COONH</a:t>
            </a:r>
            <a:r>
              <a:rPr lang="en-US" sz="2800" baseline="-25000" dirty="0">
                <a:solidFill>
                  <a:srgbClr val="0000FF"/>
                </a:solidFill>
              </a:rPr>
              <a:t>2 </a:t>
            </a:r>
            <a:r>
              <a:rPr lang="en-US" sz="2800" dirty="0">
                <a:solidFill>
                  <a:srgbClr val="0000FF"/>
                </a:solidFill>
              </a:rPr>
              <a:t>(ammonium carbamate) </a:t>
            </a:r>
            <a:r>
              <a:rPr lang="en-US" sz="2800" dirty="0" err="1">
                <a:solidFill>
                  <a:srgbClr val="0000FF"/>
                </a:solidFill>
              </a:rPr>
              <a:t>vào</a:t>
            </a:r>
            <a:r>
              <a:rPr lang="en-US" sz="2800" dirty="0">
                <a:solidFill>
                  <a:srgbClr val="0000FF"/>
                </a:solidFill>
              </a:rPr>
              <a:t> </a:t>
            </a:r>
            <a:r>
              <a:rPr lang="en-US" sz="2800" dirty="0" err="1">
                <a:solidFill>
                  <a:srgbClr val="0000FF"/>
                </a:solidFill>
              </a:rPr>
              <a:t>bình</a:t>
            </a:r>
            <a:r>
              <a:rPr lang="en-US" sz="2800" dirty="0">
                <a:solidFill>
                  <a:srgbClr val="0000FF"/>
                </a:solidFill>
              </a:rPr>
              <a:t> </a:t>
            </a:r>
            <a:r>
              <a:rPr lang="en-US" sz="2800" dirty="0" err="1">
                <a:solidFill>
                  <a:srgbClr val="0000FF"/>
                </a:solidFill>
              </a:rPr>
              <a:t>chân</a:t>
            </a:r>
            <a:r>
              <a:rPr lang="en-US" sz="2800" dirty="0">
                <a:solidFill>
                  <a:srgbClr val="0000FF"/>
                </a:solidFill>
              </a:rPr>
              <a:t> </a:t>
            </a:r>
            <a:r>
              <a:rPr lang="en-US" sz="2800" dirty="0" err="1">
                <a:solidFill>
                  <a:srgbClr val="0000FF"/>
                </a:solidFill>
              </a:rPr>
              <a:t>không</a:t>
            </a:r>
            <a:r>
              <a:rPr lang="en-US" sz="2800" dirty="0">
                <a:solidFill>
                  <a:srgbClr val="0000FF"/>
                </a:solidFill>
              </a:rPr>
              <a:t> </a:t>
            </a:r>
            <a:r>
              <a:rPr lang="en-US" sz="2800" dirty="0" err="1">
                <a:solidFill>
                  <a:srgbClr val="0000FF"/>
                </a:solidFill>
              </a:rPr>
              <a:t>có</a:t>
            </a:r>
            <a:r>
              <a:rPr lang="en-US" sz="2800" dirty="0">
                <a:solidFill>
                  <a:srgbClr val="0000FF"/>
                </a:solidFill>
              </a:rPr>
              <a:t> dung </a:t>
            </a:r>
            <a:r>
              <a:rPr lang="en-US" sz="2800" dirty="0" err="1">
                <a:solidFill>
                  <a:srgbClr val="0000FF"/>
                </a:solidFill>
              </a:rPr>
              <a:t>tích</a:t>
            </a:r>
            <a:r>
              <a:rPr lang="en-US" sz="2800" dirty="0">
                <a:solidFill>
                  <a:srgbClr val="0000FF"/>
                </a:solidFill>
              </a:rPr>
              <a:t> 5,46 lit ở 20</a:t>
            </a:r>
            <a:r>
              <a:rPr lang="en-US" sz="2800" baseline="30000" dirty="0">
                <a:solidFill>
                  <a:srgbClr val="0000FF"/>
                </a:solidFill>
              </a:rPr>
              <a:t>0</a:t>
            </a:r>
            <a:r>
              <a:rPr lang="en-US" sz="2800" dirty="0">
                <a:solidFill>
                  <a:srgbClr val="0000FF"/>
                </a:solidFill>
              </a:rPr>
              <a:t>C </a:t>
            </a:r>
            <a:r>
              <a:rPr lang="en-US" sz="2800" dirty="0" err="1">
                <a:solidFill>
                  <a:srgbClr val="0000FF"/>
                </a:solidFill>
              </a:rPr>
              <a:t>thực</a:t>
            </a:r>
            <a:r>
              <a:rPr lang="en-US" sz="2800" dirty="0">
                <a:solidFill>
                  <a:srgbClr val="0000FF"/>
                </a:solidFill>
              </a:rPr>
              <a:t> </a:t>
            </a:r>
            <a:r>
              <a:rPr lang="en-US" sz="2800" dirty="0" err="1">
                <a:solidFill>
                  <a:srgbClr val="0000FF"/>
                </a:solidFill>
              </a:rPr>
              <a:t>hiện</a:t>
            </a:r>
            <a:r>
              <a:rPr lang="en-US" sz="2800" dirty="0">
                <a:solidFill>
                  <a:srgbClr val="0000FF"/>
                </a:solidFill>
              </a:rPr>
              <a:t> p</a:t>
            </a:r>
            <a:r>
              <a:rPr lang="vi-VN" sz="2800" dirty="0">
                <a:solidFill>
                  <a:srgbClr val="0000FF"/>
                </a:solidFill>
              </a:rPr>
              <a:t>ư</a:t>
            </a:r>
            <a:r>
              <a:rPr lang="en-US" sz="2800" dirty="0">
                <a:solidFill>
                  <a:srgbClr val="0000FF"/>
                </a:solidFill>
              </a:rPr>
              <a:t>: 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 </a:t>
            </a:r>
            <a:r>
              <a:rPr lang="en-US" sz="2800" dirty="0">
                <a:solidFill>
                  <a:srgbClr val="C00000"/>
                </a:solidFill>
              </a:rPr>
              <a:t>NH</a:t>
            </a:r>
            <a:r>
              <a:rPr lang="en-US" sz="2800" baseline="-25000" dirty="0">
                <a:solidFill>
                  <a:srgbClr val="C00000"/>
                </a:solidFill>
              </a:rPr>
              <a:t>4</a:t>
            </a:r>
            <a:r>
              <a:rPr lang="en-US" sz="2800" dirty="0">
                <a:solidFill>
                  <a:srgbClr val="C00000"/>
                </a:solidFill>
              </a:rPr>
              <a:t>COONH</a:t>
            </a:r>
            <a:r>
              <a:rPr lang="en-US" sz="2800" baseline="-25000" dirty="0">
                <a:solidFill>
                  <a:srgbClr val="C00000"/>
                </a:solidFill>
              </a:rPr>
              <a:t>2</a:t>
            </a:r>
            <a:r>
              <a:rPr lang="en-US" sz="2800" dirty="0">
                <a:solidFill>
                  <a:srgbClr val="C00000"/>
                </a:solidFill>
              </a:rPr>
              <a:t>(</a:t>
            </a:r>
            <a:r>
              <a:rPr lang="en-US" sz="2800" dirty="0" err="1">
                <a:solidFill>
                  <a:srgbClr val="C00000"/>
                </a:solidFill>
              </a:rPr>
              <a:t>tt</a:t>
            </a:r>
            <a:r>
              <a:rPr lang="en-US" sz="2800" dirty="0">
                <a:solidFill>
                  <a:srgbClr val="C00000"/>
                </a:solidFill>
              </a:rPr>
              <a:t>)   </a:t>
            </a:r>
            <a:r>
              <a:rPr lang="en-US" altLang="en-US" sz="2800" b="1" dirty="0">
                <a:solidFill>
                  <a:srgbClr val="C00000"/>
                </a:solidFill>
              </a:rPr>
              <a:t>⇌</a:t>
            </a:r>
            <a:r>
              <a:rPr lang="en-US" sz="2800" dirty="0">
                <a:solidFill>
                  <a:srgbClr val="C00000"/>
                </a:solidFill>
              </a:rPr>
              <a:t>  CO</a:t>
            </a:r>
            <a:r>
              <a:rPr lang="en-US" sz="2800" baseline="-25000" dirty="0">
                <a:solidFill>
                  <a:srgbClr val="C00000"/>
                </a:solidFill>
              </a:rPr>
              <a:t>2</a:t>
            </a:r>
            <a:r>
              <a:rPr lang="en-US" sz="2800" dirty="0">
                <a:solidFill>
                  <a:srgbClr val="C00000"/>
                </a:solidFill>
              </a:rPr>
              <a:t>(k)        +      2NH</a:t>
            </a:r>
            <a:r>
              <a:rPr lang="en-US" sz="2800" baseline="-25000" dirty="0">
                <a:solidFill>
                  <a:srgbClr val="C00000"/>
                </a:solidFill>
              </a:rPr>
              <a:t>3</a:t>
            </a:r>
            <a:r>
              <a:rPr lang="en-US" sz="2800" dirty="0">
                <a:solidFill>
                  <a:srgbClr val="C00000"/>
                </a:solidFill>
              </a:rPr>
              <a:t>(k)</a:t>
            </a:r>
            <a:br>
              <a:rPr lang="en-US" sz="2800" dirty="0">
                <a:solidFill>
                  <a:srgbClr val="C00000"/>
                </a:solidFill>
              </a:rPr>
            </a:b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 err="1">
                <a:solidFill>
                  <a:srgbClr val="006600"/>
                </a:solidFill>
              </a:rPr>
              <a:t>Khi</a:t>
            </a:r>
            <a:r>
              <a:rPr lang="en-US" sz="2800" dirty="0">
                <a:solidFill>
                  <a:srgbClr val="006600"/>
                </a:solidFill>
              </a:rPr>
              <a:t> </a:t>
            </a:r>
            <a:r>
              <a:rPr lang="en-US" sz="2800" dirty="0" err="1">
                <a:solidFill>
                  <a:srgbClr val="006600"/>
                </a:solidFill>
              </a:rPr>
              <a:t>phản</a:t>
            </a:r>
            <a:r>
              <a:rPr lang="en-US" sz="2800" dirty="0">
                <a:solidFill>
                  <a:srgbClr val="006600"/>
                </a:solidFill>
              </a:rPr>
              <a:t> </a:t>
            </a:r>
            <a:r>
              <a:rPr lang="en-US" sz="2800" dirty="0" err="1">
                <a:solidFill>
                  <a:srgbClr val="006600"/>
                </a:solidFill>
              </a:rPr>
              <a:t>ứng</a:t>
            </a:r>
            <a:r>
              <a:rPr lang="en-US" sz="2800" dirty="0">
                <a:solidFill>
                  <a:srgbClr val="006600"/>
                </a:solidFill>
              </a:rPr>
              <a:t> </a:t>
            </a:r>
            <a:r>
              <a:rPr lang="en-US" sz="2800" dirty="0" err="1">
                <a:solidFill>
                  <a:srgbClr val="006600"/>
                </a:solidFill>
              </a:rPr>
              <a:t>đạt</a:t>
            </a:r>
            <a:r>
              <a:rPr lang="en-US" sz="2800" dirty="0">
                <a:solidFill>
                  <a:srgbClr val="006600"/>
                </a:solidFill>
              </a:rPr>
              <a:t> </a:t>
            </a:r>
            <a:r>
              <a:rPr lang="en-US" sz="2800" dirty="0" err="1">
                <a:solidFill>
                  <a:srgbClr val="006600"/>
                </a:solidFill>
              </a:rPr>
              <a:t>cân</a:t>
            </a:r>
            <a:r>
              <a:rPr lang="en-US" sz="2800" dirty="0">
                <a:solidFill>
                  <a:srgbClr val="006600"/>
                </a:solidFill>
              </a:rPr>
              <a:t> </a:t>
            </a:r>
            <a:r>
              <a:rPr lang="en-US" sz="2800" dirty="0" err="1">
                <a:solidFill>
                  <a:srgbClr val="006600"/>
                </a:solidFill>
              </a:rPr>
              <a:t>bằng</a:t>
            </a:r>
            <a:r>
              <a:rPr lang="en-US" sz="2800" dirty="0">
                <a:solidFill>
                  <a:srgbClr val="006600"/>
                </a:solidFill>
              </a:rPr>
              <a:t> </a:t>
            </a:r>
            <a:r>
              <a:rPr lang="en-US" sz="2800" dirty="0" err="1">
                <a:solidFill>
                  <a:srgbClr val="006600"/>
                </a:solidFill>
              </a:rPr>
              <a:t>thì</a:t>
            </a:r>
            <a:r>
              <a:rPr lang="en-US" sz="2800" dirty="0">
                <a:solidFill>
                  <a:srgbClr val="006600"/>
                </a:solidFill>
              </a:rPr>
              <a:t>  </a:t>
            </a:r>
            <a:r>
              <a:rPr lang="en-US" sz="2800" dirty="0" err="1">
                <a:solidFill>
                  <a:srgbClr val="006600"/>
                </a:solidFill>
              </a:rPr>
              <a:t>hệ</a:t>
            </a:r>
            <a:r>
              <a:rPr lang="en-US" sz="2800" dirty="0">
                <a:solidFill>
                  <a:srgbClr val="006600"/>
                </a:solidFill>
              </a:rPr>
              <a:t> </a:t>
            </a:r>
            <a:r>
              <a:rPr lang="en-US" sz="2800" dirty="0" err="1">
                <a:solidFill>
                  <a:srgbClr val="006600"/>
                </a:solidFill>
              </a:rPr>
              <a:t>có</a:t>
            </a:r>
            <a:r>
              <a:rPr lang="en-US" sz="2800" dirty="0">
                <a:solidFill>
                  <a:srgbClr val="006600"/>
                </a:solidFill>
              </a:rPr>
              <a:t> </a:t>
            </a:r>
            <a:r>
              <a:rPr lang="en-US" sz="2800" dirty="0" err="1">
                <a:solidFill>
                  <a:srgbClr val="006600"/>
                </a:solidFill>
              </a:rPr>
              <a:t>áp</a:t>
            </a:r>
            <a:r>
              <a:rPr lang="en-US" sz="2800" dirty="0">
                <a:solidFill>
                  <a:srgbClr val="006600"/>
                </a:solidFill>
              </a:rPr>
              <a:t> </a:t>
            </a:r>
            <a:r>
              <a:rPr lang="en-US" sz="2800" dirty="0" err="1">
                <a:solidFill>
                  <a:srgbClr val="006600"/>
                </a:solidFill>
              </a:rPr>
              <a:t>suất</a:t>
            </a:r>
            <a:r>
              <a:rPr lang="en-US" sz="2800" dirty="0">
                <a:solidFill>
                  <a:srgbClr val="006600"/>
                </a:solidFill>
              </a:rPr>
              <a:t> </a:t>
            </a:r>
            <a:r>
              <a:rPr lang="en-US" sz="2800" dirty="0" err="1">
                <a:solidFill>
                  <a:srgbClr val="006600"/>
                </a:solidFill>
              </a:rPr>
              <a:t>chung</a:t>
            </a:r>
            <a:r>
              <a:rPr lang="en-US" sz="2800" dirty="0">
                <a:solidFill>
                  <a:srgbClr val="006600"/>
                </a:solidFill>
              </a:rPr>
              <a:t> P</a:t>
            </a:r>
            <a:r>
              <a:rPr lang="en-US" sz="2800" baseline="-25000" dirty="0">
                <a:solidFill>
                  <a:srgbClr val="006600"/>
                </a:solidFill>
              </a:rPr>
              <a:t>c</a:t>
            </a:r>
            <a:r>
              <a:rPr lang="en-US" sz="2800" dirty="0">
                <a:solidFill>
                  <a:srgbClr val="006600"/>
                </a:solidFill>
              </a:rPr>
              <a:t> = 66,88 mmHg. </a:t>
            </a:r>
            <a:r>
              <a:rPr lang="en-US" sz="2800" dirty="0" err="1">
                <a:solidFill>
                  <a:srgbClr val="006600"/>
                </a:solidFill>
              </a:rPr>
              <a:t>Tính</a:t>
            </a:r>
            <a:r>
              <a:rPr lang="en-US" sz="2800" dirty="0">
                <a:solidFill>
                  <a:srgbClr val="006600"/>
                </a:solidFill>
              </a:rPr>
              <a:t> </a:t>
            </a:r>
            <a:r>
              <a:rPr lang="en-US" sz="2800" dirty="0" err="1">
                <a:solidFill>
                  <a:srgbClr val="006600"/>
                </a:solidFill>
              </a:rPr>
              <a:t>K</a:t>
            </a:r>
            <a:r>
              <a:rPr lang="en-US" sz="2800" baseline="-25000" dirty="0" err="1">
                <a:solidFill>
                  <a:srgbClr val="006600"/>
                </a:solidFill>
              </a:rPr>
              <a:t>p</a:t>
            </a:r>
            <a:r>
              <a:rPr lang="en-US" sz="2800" dirty="0">
                <a:solidFill>
                  <a:srgbClr val="006600"/>
                </a:solidFill>
              </a:rPr>
              <a:t> , K</a:t>
            </a:r>
            <a:r>
              <a:rPr lang="en-US" sz="2800" baseline="-25000" dirty="0">
                <a:solidFill>
                  <a:srgbClr val="006600"/>
                </a:solidFill>
              </a:rPr>
              <a:t>C </a:t>
            </a:r>
            <a:r>
              <a:rPr lang="en-US" sz="2800" dirty="0">
                <a:solidFill>
                  <a:srgbClr val="006600"/>
                </a:solidFill>
              </a:rPr>
              <a:t>ở 20</a:t>
            </a:r>
            <a:r>
              <a:rPr lang="en-US" sz="2800" baseline="30000" dirty="0">
                <a:solidFill>
                  <a:srgbClr val="006600"/>
                </a:solidFill>
              </a:rPr>
              <a:t>0</a:t>
            </a:r>
            <a:r>
              <a:rPr lang="en-US" sz="2800" dirty="0">
                <a:solidFill>
                  <a:srgbClr val="006600"/>
                </a:solidFill>
              </a:rPr>
              <a:t>C. 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xmlns="" id="{A8265A22-81B8-4189-B990-D3697C20B49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3276600" y="2297008"/>
                <a:ext cx="5484652" cy="8382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  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US" b="0" i="0" baseline="-25000" smtClean="0">
                        <a:latin typeface="Cambria Math" panose="02040503050406030204" pitchFamily="18" charset="0"/>
                      </a:rPr>
                      <m:t>cb</m:t>
                    </m:r>
                  </m:oMath>
                </a14:m>
                <a:r>
                  <a:rPr lang="en-US" dirty="0"/>
                  <a:t>                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2.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dirty="0"/>
                  <a:t>)</a:t>
                </a:r>
                <a:r>
                  <a:rPr lang="en-US" baseline="-25000" dirty="0" err="1"/>
                  <a:t>cb</a:t>
                </a:r>
                <a:r>
                  <a:rPr lang="en-US" dirty="0"/>
                  <a:t>  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8265A22-81B8-4189-B990-D3697C20B4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3276600" y="2297008"/>
                <a:ext cx="5484652" cy="838200"/>
              </a:xfrm>
              <a:blipFill>
                <a:blip r:embed="rId2"/>
                <a:stretch>
                  <a:fillRect b="-43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05C0008A-DCF5-42F3-974F-CB08CEDFF5CD}"/>
                  </a:ext>
                </a:extLst>
              </p:cNvPr>
              <p:cNvSpPr txBox="1"/>
              <p:nvPr/>
            </p:nvSpPr>
            <p:spPr>
              <a:xfrm>
                <a:off x="1509318" y="4191000"/>
                <a:ext cx="6263081" cy="10192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800" dirty="0">
                    <a:solidFill>
                      <a:srgbClr val="CC00FF"/>
                    </a:solidFill>
                  </a:rPr>
                  <a:t>K</a:t>
                </a:r>
                <a:r>
                  <a:rPr lang="en-US" sz="2800" baseline="-25000" dirty="0">
                    <a:solidFill>
                      <a:srgbClr val="CC00FF"/>
                    </a:solidFill>
                  </a:rPr>
                  <a:t>P</a:t>
                </a:r>
                <a:r>
                  <a:rPr lang="en-US" sz="2800" dirty="0">
                    <a:solidFill>
                      <a:srgbClr val="CC00FF"/>
                    </a:solidFill>
                  </a:rPr>
                  <a:t> =(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solidFill>
                              <a:srgbClr val="CC00FF"/>
                            </a:solidFill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i="1">
                                <a:solidFill>
                                  <a:srgbClr val="CC00FF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num>
                      <m:den>
                        <m:r>
                          <a:rPr lang="en-US" sz="2800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800" dirty="0">
                    <a:solidFill>
                      <a:srgbClr val="CC00FF"/>
                    </a:solidFill>
                  </a:rPr>
                  <a:t>).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solidFill>
                              <a:srgbClr val="CC00FF"/>
                            </a:solidFill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i="1">
                                <a:solidFill>
                                  <a:srgbClr val="CC00FF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</a:rPr>
                              <m:t>2.</m:t>
                            </m:r>
                            <m:r>
                              <a:rPr lang="en-US" sz="2800" i="1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num>
                      <m:den>
                        <m:r>
                          <a:rPr lang="en-US" sz="2800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sSupPr>
                        <m:ctrlPr>
                          <a:rPr lang="en-US" sz="2800" i="1" dirty="0" smtClean="0">
                            <a:solidFill>
                              <a:srgbClr val="CC00FF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sz="2800" b="0" i="1" dirty="0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800" b="0" i="1" dirty="0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rgbClr val="CC00FF"/>
                    </a:solidFill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solidFill>
                              <a:srgbClr val="CC00FF"/>
                            </a:solidFill>
                            <a:latin typeface="Cambria Math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sz="2800" i="1" smtClean="0">
                                <a:solidFill>
                                  <a:srgbClr val="CC00FF"/>
                                </a:solidFill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en-US" sz="2800" b="0" i="1" smtClean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</a:rPr>
                              <m:t>4.</m:t>
                            </m:r>
                            <m:r>
                              <a:rPr lang="en-US" sz="2800" b="0" i="1" smtClean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  <m:sup>
                            <m:r>
                              <a:rPr lang="en-US" sz="2800" b="0" i="1" smtClean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bSup>
                      </m:num>
                      <m:den>
                        <m:r>
                          <a:rPr lang="en-US" sz="2800" b="0" i="1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</m:oMath>
                </a14:m>
                <a:r>
                  <a:rPr lang="en-US" sz="2800" dirty="0">
                    <a:solidFill>
                      <a:srgbClr val="CC00FF"/>
                    </a:solidFill>
                  </a:rPr>
                  <a:t> = 10</a:t>
                </a:r>
                <a:r>
                  <a:rPr lang="en-US" sz="2800" baseline="30000" dirty="0">
                    <a:solidFill>
                      <a:srgbClr val="CC00FF"/>
                    </a:solidFill>
                  </a:rPr>
                  <a:t>-4</a:t>
                </a:r>
                <a:r>
                  <a:rPr lang="en-US" sz="2800" dirty="0">
                    <a:solidFill>
                      <a:srgbClr val="CC00FF"/>
                    </a:solidFill>
                  </a:rPr>
                  <a:t>  (ở 20</a:t>
                </a:r>
                <a:r>
                  <a:rPr lang="en-US" sz="2800" baseline="30000" dirty="0">
                    <a:solidFill>
                      <a:srgbClr val="CC00FF"/>
                    </a:solidFill>
                  </a:rPr>
                  <a:t>0</a:t>
                </a:r>
                <a:r>
                  <a:rPr lang="en-US" sz="2800" dirty="0">
                    <a:solidFill>
                      <a:srgbClr val="CC00FF"/>
                    </a:solidFill>
                  </a:rPr>
                  <a:t>C)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5C0008A-DCF5-42F3-974F-CB08CEDFF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9318" y="4191000"/>
                <a:ext cx="6263081" cy="1019253"/>
              </a:xfrm>
              <a:prstGeom prst="rect">
                <a:avLst/>
              </a:prstGeom>
              <a:blipFill>
                <a:blip r:embed="rId3"/>
                <a:stretch>
                  <a:fillRect l="-2045" b="-5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C0094F64-854E-4796-81DA-A643F4224FF9}"/>
              </a:ext>
            </a:extLst>
          </p:cNvPr>
          <p:cNvSpPr txBox="1"/>
          <p:nvPr/>
        </p:nvSpPr>
        <p:spPr>
          <a:xfrm>
            <a:off x="457200" y="2419180"/>
            <a:ext cx="1981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ym typeface="Symbol" panose="05050102010706020507" pitchFamily="18" charset="2"/>
              </a:rPr>
              <a:t>G</a:t>
            </a:r>
            <a:r>
              <a:rPr lang="en-US" sz="3200" baseline="-25000" dirty="0">
                <a:sym typeface="Symbol" panose="05050102010706020507" pitchFamily="18" charset="2"/>
              </a:rPr>
              <a:t>293 </a:t>
            </a:r>
            <a:r>
              <a:rPr lang="en-US" sz="3200" dirty="0">
                <a:sym typeface="Symbol" panose="05050102010706020507" pitchFamily="18" charset="2"/>
              </a:rPr>
              <a:t>= 0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id="{83DA9949-1B30-41A7-9DA5-1D733D46624A}"/>
                  </a:ext>
                </a:extLst>
              </p:cNvPr>
              <p:cNvSpPr txBox="1"/>
              <p:nvPr/>
            </p:nvSpPr>
            <p:spPr>
              <a:xfrm>
                <a:off x="126009" y="5210253"/>
                <a:ext cx="8915400" cy="8099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rgbClr val="C00000"/>
                    </a:solidFill>
                  </a:rPr>
                  <a:t>K</a:t>
                </a:r>
                <a:r>
                  <a:rPr lang="en-US" sz="2800" baseline="-25000" dirty="0">
                    <a:solidFill>
                      <a:srgbClr val="C00000"/>
                    </a:solidFill>
                  </a:rPr>
                  <a:t>c</a:t>
                </a:r>
                <a:r>
                  <a:rPr lang="en-US" sz="2800" dirty="0">
                    <a:solidFill>
                      <a:srgbClr val="C00000"/>
                    </a:solidFill>
                  </a:rPr>
                  <a:t> = </a:t>
                </a:r>
                <a:r>
                  <a:rPr lang="en-US" sz="2800" dirty="0" err="1">
                    <a:solidFill>
                      <a:srgbClr val="C00000"/>
                    </a:solidFill>
                  </a:rPr>
                  <a:t>K</a:t>
                </a:r>
                <a:r>
                  <a:rPr lang="en-US" sz="2800" baseline="-25000" dirty="0" err="1">
                    <a:solidFill>
                      <a:srgbClr val="C00000"/>
                    </a:solidFill>
                  </a:rPr>
                  <a:t>p</a:t>
                </a:r>
                <a:r>
                  <a:rPr lang="en-US" sz="2800" dirty="0">
                    <a:solidFill>
                      <a:srgbClr val="C00000"/>
                    </a:solidFill>
                  </a:rPr>
                  <a:t>.(RT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solidFill>
                              <a:srgbClr val="C0000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rgbClr val="C00000"/>
                    </a:solidFill>
                  </a:rPr>
                  <a:t> = 10</a:t>
                </a:r>
                <a:r>
                  <a:rPr lang="en-US" sz="2800" baseline="30000" dirty="0">
                    <a:solidFill>
                      <a:srgbClr val="C00000"/>
                    </a:solidFill>
                  </a:rPr>
                  <a:t>-4</a:t>
                </a:r>
                <a:r>
                  <a:rPr lang="en-US" sz="2800" dirty="0">
                    <a:solidFill>
                      <a:srgbClr val="C00000"/>
                    </a:solidFill>
                  </a:rPr>
                  <a:t>.(0,082.293)</a:t>
                </a:r>
                <a:r>
                  <a:rPr lang="en-US" sz="2800" baseline="30000" dirty="0">
                    <a:solidFill>
                      <a:srgbClr val="C00000"/>
                    </a:solidFill>
                  </a:rPr>
                  <a:t>-3</a:t>
                </a:r>
                <a:r>
                  <a:rPr lang="en-US" sz="2800" dirty="0">
                    <a:solidFill>
                      <a:srgbClr val="C00000"/>
                    </a:solidFill>
                  </a:rPr>
                  <a:t> = 7,2.10</a:t>
                </a:r>
                <a:r>
                  <a:rPr lang="en-US" sz="2800" baseline="30000" dirty="0">
                    <a:solidFill>
                      <a:srgbClr val="C00000"/>
                    </a:solidFill>
                  </a:rPr>
                  <a:t>-9 </a:t>
                </a:r>
                <a:r>
                  <a:rPr lang="en-US" sz="2800" dirty="0">
                    <a:solidFill>
                      <a:srgbClr val="C00000"/>
                    </a:solidFill>
                  </a:rPr>
                  <a:t>(ở 20</a:t>
                </a:r>
                <a:r>
                  <a:rPr lang="en-US" sz="2800" baseline="30000" dirty="0">
                    <a:solidFill>
                      <a:srgbClr val="C00000"/>
                    </a:solidFill>
                  </a:rPr>
                  <a:t>0</a:t>
                </a:r>
                <a:r>
                  <a:rPr lang="en-US" sz="2800" dirty="0">
                    <a:solidFill>
                      <a:srgbClr val="C00000"/>
                    </a:solidFill>
                  </a:rPr>
                  <a:t>C)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3DA9949-1B30-41A7-9DA5-1D733D4662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009" y="5210253"/>
                <a:ext cx="8915400" cy="809965"/>
              </a:xfrm>
              <a:prstGeom prst="rect">
                <a:avLst/>
              </a:prstGeom>
              <a:blipFill>
                <a:blip r:embed="rId4"/>
                <a:stretch>
                  <a:fillRect l="-1436" t="-7519" r="-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6808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/>
      <p:bldP spid="3" grpId="0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8723" name="Rectangle 3">
                <a:extLst>
                  <a:ext uri="{FF2B5EF4-FFF2-40B4-BE49-F238E27FC236}">
                    <a16:creationId xmlns:a16="http://schemas.microsoft.com/office/drawing/2014/main" xmlns="" id="{6EB0828B-4946-4AC0-9724-A22154D0DF8B}"/>
                  </a:ext>
                </a:extLst>
              </p:cNvPr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0" y="252413"/>
                <a:ext cx="9296400" cy="1957384"/>
              </a:xfrm>
            </p:spPr>
            <p:txBody>
              <a:bodyPr lIns="90488" tIns="44450" rIns="90488" bIns="44450"/>
              <a:lstStyle/>
              <a:p>
                <a:pPr eaLnBrk="1" hangingPunct="1">
                  <a:lnSpc>
                    <a:spcPct val="110000"/>
                  </a:lnSpc>
                  <a:buFontTx/>
                  <a:buNone/>
                  <a:defRPr/>
                </a:pPr>
                <a:r>
                  <a:rPr lang="en-US" sz="3000" b="1" dirty="0">
                    <a:solidFill>
                      <a:srgbClr val="FF0000"/>
                    </a:solidFill>
                  </a:rPr>
                  <a:t> HẰNG SỐ CÂN BẰNG CỦA PHẢN ỨNG </a:t>
                </a:r>
                <a:r>
                  <a:rPr lang="en-US" b="1" dirty="0">
                    <a:solidFill>
                      <a:srgbClr val="FF0000"/>
                    </a:solidFill>
                  </a:rPr>
                  <a:t>TỔNG</a:t>
                </a:r>
              </a:p>
              <a:p>
                <a:pPr eaLnBrk="1" hangingPunct="1">
                  <a:lnSpc>
                    <a:spcPct val="110000"/>
                  </a:lnSpc>
                  <a:buFontTx/>
                  <a:buNone/>
                  <a:defRPr/>
                </a:pPr>
                <a:r>
                  <a:rPr lang="en-US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   </a:t>
                </a:r>
                <a:r>
                  <a:rPr lang="en-US" b="1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S(r)     +   O</a:t>
                </a:r>
                <a:r>
                  <a:rPr lang="en-US" b="1" baseline="-25000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2</a:t>
                </a:r>
                <a:r>
                  <a:rPr lang="en-US" b="1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(k)      </a:t>
                </a:r>
                <a:r>
                  <a:rPr lang="en-US" altLang="en-US" b="1" dirty="0"/>
                  <a:t>⇌</a:t>
                </a:r>
                <a:r>
                  <a:rPr lang="en-US" b="1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   SO</a:t>
                </a:r>
                <a:r>
                  <a:rPr lang="en-US" b="1" baseline="-25000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2</a:t>
                </a:r>
                <a:r>
                  <a:rPr lang="en-US" b="1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(k); </a:t>
                </a:r>
                <a:r>
                  <a:rPr lang="en-US" dirty="0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 </a:t>
                </a:r>
                <a:r>
                  <a:rPr lang="en-US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K</a:t>
                </a:r>
                <a:r>
                  <a:rPr lang="en-US" b="1" baseline="-25000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1</a:t>
                </a:r>
                <a:r>
                  <a:rPr lang="en-US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 </a:t>
                </a:r>
                <a:r>
                  <a:rPr lang="en-US" b="1" dirty="0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400" b="1" i="1" smtClean="0"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4400" b="1" i="1" smtClean="0"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4400" b="1" i="1" smtClean="0"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4400" b="1" i="1" smtClean="0"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𝑺𝑶</m:t>
                            </m:r>
                          </m:e>
                          <m:sub>
                            <m:r>
                              <a:rPr lang="en-US" sz="4400" b="1" i="1" smtClean="0"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sz="4400" b="1" i="1" smtClean="0"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</a:rPr>
                          <m:t>] </m:t>
                        </m:r>
                      </m:num>
                      <m:den>
                        <m:sSub>
                          <m:sSubPr>
                            <m:ctrlPr>
                              <a:rPr lang="en-US" sz="4400" b="1" i="1" smtClean="0"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4400" b="1" i="1" smtClean="0"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4400" b="1" i="1" smtClean="0"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𝑶</m:t>
                            </m:r>
                          </m:e>
                          <m:sub>
                            <m:r>
                              <a:rPr lang="en-US" sz="4400" b="1" i="1" smtClean="0"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sz="4400" b="1" i="1" smtClean="0"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</a:rPr>
                          <m:t>]</m:t>
                        </m:r>
                      </m:den>
                    </m:f>
                  </m:oMath>
                </a14:m>
                <a:r>
                  <a:rPr lang="en-US" sz="4400" b="1" dirty="0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 </a:t>
                </a:r>
              </a:p>
              <a:p>
                <a:pPr eaLnBrk="1" hangingPunct="1">
                  <a:lnSpc>
                    <a:spcPct val="200000"/>
                  </a:lnSpc>
                  <a:buFontTx/>
                  <a:buNone/>
                  <a:defRPr/>
                </a:pPr>
                <a:r>
                  <a:rPr lang="en-US" sz="2800" b="1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 </a:t>
                </a:r>
                <a:endParaRPr 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  <a:p>
                <a:pPr eaLnBrk="1" hangingPunct="1">
                  <a:lnSpc>
                    <a:spcPct val="200000"/>
                  </a:lnSpc>
                  <a:buFontTx/>
                  <a:buNone/>
                  <a:defRPr/>
                </a:pPr>
                <a:endParaRPr 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58723" name="Rectangle 3">
                <a:extLst>
                  <a:ext uri="{FF2B5EF4-FFF2-40B4-BE49-F238E27FC236}">
                    <a16:creationId xmlns:a16="http://schemas.microsoft.com/office/drawing/2014/main" id="{6EB0828B-4946-4AC0-9724-A22154D0DF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0" y="252413"/>
                <a:ext cx="9296400" cy="1957384"/>
              </a:xfrm>
              <a:blipFill>
                <a:blip r:embed="rId3"/>
                <a:stretch>
                  <a:fillRect l="-459" t="-3738" b="-37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DE4F7C9-AB1C-4A33-93C5-1D3D49398899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sz="half" idx="2"/>
          </p:nvPr>
        </p:nvSpPr>
        <p:spPr>
          <a:xfrm>
            <a:off x="685800" y="4065970"/>
            <a:ext cx="6757923" cy="2087563"/>
          </a:xfrm>
          <a:blipFill>
            <a:blip r:embed="rId4"/>
            <a:stretch>
              <a:fillRect l="-2347"/>
            </a:stretch>
          </a:blipFill>
        </p:spPr>
        <p:txBody>
          <a:bodyPr/>
          <a:lstStyle/>
          <a:p>
            <a:pPr>
              <a:defRPr/>
            </a:pPr>
            <a:r>
              <a:rPr lang="en-US" dirty="0">
                <a:noFill/>
              </a:rPr>
              <a:t>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="" id="{36ADEC4F-00AB-4D6B-B208-5FDB3374AF90}"/>
                  </a:ext>
                </a:extLst>
              </p:cNvPr>
              <p:cNvSpPr txBox="1"/>
              <p:nvPr/>
            </p:nvSpPr>
            <p:spPr>
              <a:xfrm>
                <a:off x="304800" y="2228292"/>
                <a:ext cx="8991600" cy="11021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b="1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SO</a:t>
                </a:r>
                <a:r>
                  <a:rPr lang="en-US" sz="3200" b="1" baseline="-25000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2</a:t>
                </a:r>
                <a:r>
                  <a:rPr lang="en-US" sz="3200" b="1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(k) + 1/2 O</a:t>
                </a:r>
                <a:r>
                  <a:rPr lang="en-US" sz="3200" b="1" baseline="-25000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2</a:t>
                </a:r>
                <a:r>
                  <a:rPr lang="en-US" sz="3200" b="1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(k)  </a:t>
                </a:r>
                <a:r>
                  <a:rPr lang="en-US" altLang="en-US" sz="3200" b="1" dirty="0"/>
                  <a:t>⇌</a:t>
                </a:r>
                <a:r>
                  <a:rPr lang="en-US" sz="3200" b="1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CHM17SSB" charset="0"/>
                  </a:rPr>
                  <a:t>   </a:t>
                </a:r>
                <a:r>
                  <a:rPr lang="en-US" sz="3200" b="1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SO</a:t>
                </a:r>
                <a:r>
                  <a:rPr lang="en-US" sz="3200" b="1" baseline="-25000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3</a:t>
                </a:r>
                <a:r>
                  <a:rPr lang="en-US" sz="3200" b="1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(k); </a:t>
                </a:r>
                <a:r>
                  <a:rPr lang="en-US" sz="3200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K</a:t>
                </a:r>
                <a:r>
                  <a:rPr lang="en-US" sz="3200" b="1" baseline="-25000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2</a:t>
                </a:r>
                <a:r>
                  <a:rPr lang="en-US" sz="3200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 </a:t>
                </a:r>
                <a:r>
                  <a:rPr lang="en-US" sz="3200" b="1" dirty="0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b="1" i="1"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3200" b="1" i="1"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3200" b="1" i="1"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3200" b="1" i="1"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𝑺𝑶</m:t>
                            </m:r>
                          </m:e>
                          <m:sub>
                            <m:r>
                              <a:rPr lang="en-US" sz="3200" b="1" i="1"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  <m:r>
                          <a:rPr lang="en-US" sz="3200" b="1" i="1"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sSub>
                          <m:sSubPr>
                            <m:ctrlPr>
                              <a:rPr lang="en-US" sz="3200" b="1" i="1"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3200" b="1" i="1"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  [</m:t>
                            </m:r>
                            <m:r>
                              <a:rPr lang="en-US" sz="3200" b="1" i="1"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𝑺𝑶</m:t>
                            </m:r>
                          </m:e>
                          <m:sub>
                            <m:r>
                              <a:rPr lang="en-US" sz="3200" b="1" i="1"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sSub>
                          <m:sSubPr>
                            <m:ctrlPr>
                              <a:rPr lang="en-US" sz="3200" b="1" i="1"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3200" b="1" i="1"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][</m:t>
                            </m:r>
                            <m:r>
                              <a:rPr lang="en-US" sz="3200" b="1" i="1"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𝑶</m:t>
                            </m:r>
                          </m:e>
                          <m:sub>
                            <m:r>
                              <a:rPr lang="en-US" sz="3200" b="1" i="1"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sSup>
                          <m:sSupPr>
                            <m:ctrlPr>
                              <a:rPr lang="en-US" sz="3200" b="1" i="1"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3200" b="1" i="1"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3200" b="1" i="1">
                                    <a:effectLst>
                                      <a:outerShdw blurRad="38100" dist="38100" dir="2700000" algn="tl">
                                        <a:srgbClr val="C0C0C0"/>
                                      </a:outerShdw>
                                    </a:effectLst>
                                    <a:latin typeface="Cambria Math"/>
                                  </a:rPr>
                                </m:ctrlPr>
                              </m:sSubPr>
                              <m:e>
                                <m:f>
                                  <m:fPr>
                                    <m:ctrlPr>
                                      <a:rPr lang="en-US" sz="3200" b="1" i="1">
                                        <a:effectLst>
                                          <a:outerShdw blurRad="38100" dist="38100" dir="2700000" algn="tl">
                                            <a:srgbClr val="C0C0C0"/>
                                          </a:outerShdw>
                                        </a:effectLst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3200" b="1" i="1">
                                        <a:effectLst>
                                          <a:outerShdw blurRad="38100" dist="38100" dir="2700000" algn="tl">
                                            <a:srgbClr val="C0C0C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3200" b="1" i="1">
                                        <a:effectLst>
                                          <a:outerShdw blurRad="38100" dist="38100" dir="2700000" algn="tl">
                                            <a:srgbClr val="C0C0C0"/>
                                          </a:outerShdw>
                                        </a:effectLst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</m:e>
                              <m:sub/>
                            </m:sSub>
                          </m:sup>
                        </m:sSup>
                      </m:den>
                    </m:f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6ADEC4F-00AB-4D6B-B208-5FDB3374AF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2228292"/>
                <a:ext cx="8991600" cy="1102161"/>
              </a:xfrm>
              <a:prstGeom prst="rect">
                <a:avLst/>
              </a:prstGeom>
              <a:blipFill>
                <a:blip r:embed="rId5"/>
                <a:stretch>
                  <a:fillRect l="-18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2CF3ECA4-8069-4A7B-9F15-3E45C1B16F7A}"/>
              </a:ext>
            </a:extLst>
          </p:cNvPr>
          <p:cNvSpPr txBox="1"/>
          <p:nvPr/>
        </p:nvSpPr>
        <p:spPr>
          <a:xfrm>
            <a:off x="266700" y="3429000"/>
            <a:ext cx="86106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S(r)    +   3/2 O</a:t>
            </a:r>
            <a:r>
              <a:rPr lang="en-US" sz="3200" b="1" baseline="-250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(k)  </a:t>
            </a:r>
            <a:r>
              <a:rPr lang="en-US" altLang="en-US" sz="3200" b="1" dirty="0"/>
              <a:t>⇌</a:t>
            </a:r>
            <a:r>
              <a:rPr 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HM17SSB" charset="0"/>
              </a:rPr>
              <a:t> </a:t>
            </a:r>
            <a:r>
              <a:rPr 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SO</a:t>
            </a:r>
            <a:r>
              <a:rPr lang="en-US" sz="3200" b="1" baseline="-250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3</a:t>
            </a:r>
            <a:r>
              <a:rPr 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(k) ; 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K</a:t>
            </a:r>
            <a:r>
              <a:rPr lang="en-US" sz="3200" b="1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3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=  ????</a:t>
            </a:r>
          </a:p>
          <a:p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xmlns="" id="{4F1A719E-FBDE-478D-BFC9-380175495BD6}"/>
              </a:ext>
            </a:extLst>
          </p:cNvPr>
          <p:cNvCxnSpPr/>
          <p:nvPr/>
        </p:nvCxnSpPr>
        <p:spPr>
          <a:xfrm>
            <a:off x="304800" y="3124200"/>
            <a:ext cx="54102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xmlns="" id="{9D30775E-5E4E-4F22-86D5-BADB93E642FF}"/>
              </a:ext>
            </a:extLst>
          </p:cNvPr>
          <p:cNvSpPr/>
          <p:nvPr/>
        </p:nvSpPr>
        <p:spPr>
          <a:xfrm>
            <a:off x="685800" y="1435618"/>
            <a:ext cx="533400" cy="584870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6BC7AE73-0083-4E5F-AA59-877CF0D8E5A8}"/>
              </a:ext>
            </a:extLst>
          </p:cNvPr>
          <p:cNvSpPr/>
          <p:nvPr/>
        </p:nvSpPr>
        <p:spPr>
          <a:xfrm>
            <a:off x="609600" y="3455050"/>
            <a:ext cx="533400" cy="584870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2" grpId="0"/>
      <p:bldP spid="4" grpId="0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BF70C433-E0E9-4768-A6C7-FEF7B5874E6E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sz="half" idx="2"/>
          </p:nvPr>
        </p:nvSpPr>
        <p:spPr>
          <a:xfrm>
            <a:off x="239697" y="381000"/>
            <a:ext cx="8915400" cy="5105400"/>
          </a:xfrm>
          <a:blipFill>
            <a:blip r:embed="rId2"/>
            <a:stretch>
              <a:fillRect l="-1709" t="-1553"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xmlns="" id="{CC1D832F-ED10-4198-AB89-1BEE5D5C7954}"/>
              </a:ext>
            </a:extLst>
          </p:cNvPr>
          <p:cNvCxnSpPr>
            <a:cxnSpLocks/>
          </p:cNvCxnSpPr>
          <p:nvPr/>
        </p:nvCxnSpPr>
        <p:spPr>
          <a:xfrm>
            <a:off x="239697" y="2209800"/>
            <a:ext cx="715170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xmlns="" id="{7990EF9E-65A8-42CC-9046-5967A781C5BF}"/>
              </a:ext>
            </a:extLst>
          </p:cNvPr>
          <p:cNvSpPr/>
          <p:nvPr/>
        </p:nvSpPr>
        <p:spPr>
          <a:xfrm>
            <a:off x="2119618" y="228600"/>
            <a:ext cx="856726" cy="838200"/>
          </a:xfrm>
          <a:prstGeom prst="ellipse">
            <a:avLst/>
          </a:prstGeom>
          <a:noFill/>
          <a:ln w="31750"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4A5D42B6-BDB6-4C89-8655-5873901B02AA}"/>
              </a:ext>
            </a:extLst>
          </p:cNvPr>
          <p:cNvSpPr/>
          <p:nvPr/>
        </p:nvSpPr>
        <p:spPr>
          <a:xfrm>
            <a:off x="2133600" y="2383871"/>
            <a:ext cx="1097560" cy="838200"/>
          </a:xfrm>
          <a:prstGeom prst="ellipse">
            <a:avLst/>
          </a:prstGeom>
          <a:noFill/>
          <a:ln w="31750"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3F2D340A-A0EE-46D6-8F09-0F7CB28DB72E}"/>
              </a:ext>
            </a:extLst>
          </p:cNvPr>
          <p:cNvSpPr/>
          <p:nvPr/>
        </p:nvSpPr>
        <p:spPr>
          <a:xfrm>
            <a:off x="2362200" y="1219200"/>
            <a:ext cx="932926" cy="838200"/>
          </a:xfrm>
          <a:prstGeom prst="ellipse">
            <a:avLst/>
          </a:prstGeom>
          <a:noFill/>
          <a:ln w="31750"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xmlns="" id="{FD413BEE-9523-497F-B1DF-EC764AD924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457200"/>
            <a:ext cx="9067800" cy="1283289"/>
          </a:xfrm>
        </p:spPr>
        <p:txBody>
          <a:bodyPr/>
          <a:lstStyle/>
          <a:p>
            <a:pPr algn="l" eaLnBrk="1" hangingPunct="1"/>
            <a:r>
              <a:rPr lang="en-US" altLang="en-US" sz="3200" b="1" dirty="0">
                <a:solidFill>
                  <a:srgbClr val="0000FF"/>
                </a:solidFill>
              </a:rPr>
              <a:t>Mg(OH)</a:t>
            </a:r>
            <a:r>
              <a:rPr lang="en-US" altLang="en-US" sz="3200" b="1" baseline="-25000" dirty="0">
                <a:solidFill>
                  <a:srgbClr val="0000FF"/>
                </a:solidFill>
              </a:rPr>
              <a:t>2 </a:t>
            </a:r>
            <a:r>
              <a:rPr lang="en-US" altLang="en-US" sz="3200" b="1" dirty="0">
                <a:solidFill>
                  <a:srgbClr val="0000FF"/>
                </a:solidFill>
              </a:rPr>
              <a:t>(r)    </a:t>
            </a:r>
            <a:r>
              <a:rPr lang="en-US" altLang="en-US" sz="3200" b="1" dirty="0">
                <a:solidFill>
                  <a:srgbClr val="0000FF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⇌    Mg</a:t>
            </a:r>
            <a:r>
              <a:rPr lang="en-US" altLang="en-US" sz="3200" b="1" baseline="30000" dirty="0">
                <a:solidFill>
                  <a:srgbClr val="0000FF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2+</a:t>
            </a:r>
            <a:r>
              <a:rPr lang="en-US" altLang="en-US" sz="3200" b="1" dirty="0">
                <a:solidFill>
                  <a:srgbClr val="0000FF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(dd)   +    2OH</a:t>
            </a:r>
            <a:r>
              <a:rPr lang="en-US" altLang="en-US" sz="3200" b="1" baseline="30000" dirty="0">
                <a:solidFill>
                  <a:srgbClr val="0000FF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-</a:t>
            </a:r>
            <a:r>
              <a:rPr lang="en-US" altLang="en-US" sz="3200" b="1" dirty="0">
                <a:solidFill>
                  <a:srgbClr val="0000FF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(dd)</a:t>
            </a:r>
            <a:br>
              <a:rPr lang="en-US" altLang="en-US" sz="3200" b="1" dirty="0">
                <a:solidFill>
                  <a:srgbClr val="0000FF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en-US" altLang="en-US" sz="3200" b="1" dirty="0">
                <a:solidFill>
                  <a:srgbClr val="0000FF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/>
            </a:r>
            <a:br>
              <a:rPr lang="en-US" altLang="en-US" sz="3200" b="1" dirty="0">
                <a:solidFill>
                  <a:srgbClr val="0000FF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en-US" altLang="en-US" sz="32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K = [Mg</a:t>
            </a:r>
            <a:r>
              <a:rPr lang="en-US" altLang="en-US" sz="3200" baseline="30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2+</a:t>
            </a:r>
            <a:r>
              <a:rPr lang="en-US" altLang="en-US" sz="32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]</a:t>
            </a:r>
            <a:r>
              <a:rPr lang="en-US" altLang="en-US" sz="3200" baseline="-25000" dirty="0" err="1">
                <a:ea typeface="Arial Unicode MS" panose="020B0604020202020204" pitchFamily="34" charset="-128"/>
                <a:cs typeface="Arial Unicode MS" panose="020B0604020202020204" pitchFamily="34" charset="-128"/>
              </a:rPr>
              <a:t>cb</a:t>
            </a:r>
            <a:r>
              <a:rPr lang="en-US" altLang="en-US" sz="32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 .[OH</a:t>
            </a:r>
            <a:r>
              <a:rPr lang="en-US" altLang="en-US" sz="3200" baseline="30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-</a:t>
            </a:r>
            <a:r>
              <a:rPr lang="en-US" altLang="en-US" sz="32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]</a:t>
            </a:r>
            <a:r>
              <a:rPr lang="en-US" altLang="en-US" sz="3200" baseline="30000" dirty="0" smtClean="0">
                <a:ea typeface="Arial Unicode MS" panose="020B0604020202020204" pitchFamily="34" charset="-128"/>
                <a:cs typeface="Arial Unicode MS" panose="020B0604020202020204" pitchFamily="34" charset="-128"/>
              </a:rPr>
              <a:t>2</a:t>
            </a:r>
            <a:r>
              <a:rPr lang="en-US" altLang="en-US" sz="3200" baseline="-25000" dirty="0" smtClean="0">
                <a:ea typeface="Arial Unicode MS" panose="020B0604020202020204" pitchFamily="34" charset="-128"/>
                <a:cs typeface="Arial Unicode MS" panose="020B0604020202020204" pitchFamily="34" charset="-128"/>
              </a:rPr>
              <a:t>cb</a:t>
            </a:r>
            <a:r>
              <a:rPr lang="en-US" altLang="en-US" sz="3200" dirty="0" smtClean="0">
                <a:ea typeface="Arial Unicode MS" panose="020B0604020202020204" pitchFamily="34" charset="-128"/>
                <a:cs typeface="Arial Unicode MS" panose="020B0604020202020204" pitchFamily="34" charset="-128"/>
              </a:rPr>
              <a:t>= </a:t>
            </a:r>
            <a:r>
              <a:rPr lang="en-US" altLang="en-US" sz="3200" dirty="0" err="1">
                <a:ea typeface="Arial Unicode MS" panose="020B0604020202020204" pitchFamily="34" charset="-128"/>
                <a:cs typeface="Arial Unicode MS" panose="020B0604020202020204" pitchFamily="34" charset="-128"/>
              </a:rPr>
              <a:t>T</a:t>
            </a:r>
            <a:r>
              <a:rPr lang="en-US" altLang="en-US" sz="3200" baseline="-25000" dirty="0" err="1"/>
              <a:t>Mg</a:t>
            </a:r>
            <a:r>
              <a:rPr lang="en-US" altLang="en-US" sz="3200" baseline="-25000" dirty="0"/>
              <a:t>(OH)2 </a:t>
            </a:r>
            <a:r>
              <a:rPr lang="en-US" altLang="en-US" sz="3200" b="1" dirty="0" err="1" smtClean="0">
                <a:solidFill>
                  <a:srgbClr val="FF0000"/>
                </a:solidFill>
              </a:rPr>
              <a:t>Tích</a:t>
            </a:r>
            <a:r>
              <a:rPr lang="en-US" altLang="en-US" sz="3200" b="1" dirty="0" smtClean="0">
                <a:solidFill>
                  <a:srgbClr val="FF0000"/>
                </a:solidFill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</a:rPr>
              <a:t>số</a:t>
            </a:r>
            <a:r>
              <a:rPr lang="en-US" altLang="en-US" sz="3200" b="1" dirty="0">
                <a:solidFill>
                  <a:srgbClr val="FF0000"/>
                </a:solidFill>
              </a:rPr>
              <a:t> </a:t>
            </a:r>
            <a:r>
              <a:rPr lang="en-US" altLang="en-US" sz="3200" b="1" dirty="0" smtClean="0">
                <a:solidFill>
                  <a:srgbClr val="FF0000"/>
                </a:solidFill>
              </a:rPr>
              <a:t>tan</a:t>
            </a:r>
            <a:br>
              <a:rPr lang="en-US" altLang="en-US" sz="3200" b="1" dirty="0" smtClean="0">
                <a:solidFill>
                  <a:srgbClr val="FF0000"/>
                </a:solidFill>
              </a:rPr>
            </a:br>
            <a:r>
              <a:rPr lang="en-US" altLang="en-US" sz="3200" b="1" dirty="0">
                <a:solidFill>
                  <a:srgbClr val="FF0000"/>
                </a:solidFill>
              </a:rPr>
              <a:t> </a:t>
            </a:r>
            <a:r>
              <a:rPr lang="en-US" altLang="en-US" sz="3200" b="1" dirty="0" smtClean="0">
                <a:solidFill>
                  <a:srgbClr val="FF0000"/>
                </a:solidFill>
              </a:rPr>
              <a:t>                                                    </a:t>
            </a:r>
            <a:r>
              <a:rPr lang="en-US" altLang="en-US" sz="3200" b="1" dirty="0" err="1" smtClean="0">
                <a:solidFill>
                  <a:srgbClr val="FF0000"/>
                </a:solidFill>
              </a:rPr>
              <a:t>pT</a:t>
            </a:r>
            <a:r>
              <a:rPr lang="en-US" altLang="en-US" sz="3200" b="1" dirty="0" smtClean="0">
                <a:solidFill>
                  <a:srgbClr val="FF0000"/>
                </a:solidFill>
              </a:rPr>
              <a:t> = - </a:t>
            </a:r>
            <a:r>
              <a:rPr lang="en-US" altLang="en-US" sz="3200" b="1" dirty="0" err="1" smtClean="0">
                <a:solidFill>
                  <a:srgbClr val="FF0000"/>
                </a:solidFill>
              </a:rPr>
              <a:t>lgT</a:t>
            </a:r>
            <a:endParaRPr lang="en-US" altLang="en-US" sz="3200" b="1" baseline="-25000" dirty="0">
              <a:solidFill>
                <a:srgbClr val="FF0000"/>
              </a:solidFill>
            </a:endParaRP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xmlns="" id="{F58F0CA2-BAE0-4D93-8D89-AA37C20EBE4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3675" y="1985963"/>
            <a:ext cx="8950325" cy="749578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b="1" dirty="0">
                <a:solidFill>
                  <a:srgbClr val="0000FF"/>
                </a:solidFill>
                <a:latin typeface="+mj-lt"/>
                <a:cs typeface="Times New Roman" panose="02020603050405020304" pitchFamily="18" charset="0"/>
              </a:rPr>
              <a:t>CH</a:t>
            </a:r>
            <a:r>
              <a:rPr lang="en-US" altLang="en-US" b="1" baseline="-25000" dirty="0">
                <a:solidFill>
                  <a:srgbClr val="0000FF"/>
                </a:solidFill>
                <a:latin typeface="+mj-lt"/>
                <a:cs typeface="Times New Roman" panose="02020603050405020304" pitchFamily="18" charset="0"/>
              </a:rPr>
              <a:t>3</a:t>
            </a:r>
            <a:r>
              <a:rPr lang="en-US" altLang="en-US" b="1" dirty="0">
                <a:solidFill>
                  <a:srgbClr val="0000FF"/>
                </a:solidFill>
                <a:latin typeface="+mj-lt"/>
                <a:cs typeface="Times New Roman" panose="02020603050405020304" pitchFamily="18" charset="0"/>
              </a:rPr>
              <a:t>COOH(dd) + H</a:t>
            </a:r>
            <a:r>
              <a:rPr lang="en-US" altLang="en-US" b="1" baseline="-25000" dirty="0">
                <a:solidFill>
                  <a:srgbClr val="0000FF"/>
                </a:solidFill>
                <a:latin typeface="+mj-lt"/>
                <a:cs typeface="Times New Roman" panose="02020603050405020304" pitchFamily="18" charset="0"/>
              </a:rPr>
              <a:t>2</a:t>
            </a:r>
            <a:r>
              <a:rPr lang="en-US" altLang="en-US" b="1" dirty="0">
                <a:solidFill>
                  <a:srgbClr val="0000FF"/>
                </a:solidFill>
                <a:latin typeface="+mj-lt"/>
                <a:cs typeface="Times New Roman" panose="02020603050405020304" pitchFamily="18" charset="0"/>
              </a:rPr>
              <a:t>O </a:t>
            </a:r>
            <a:r>
              <a:rPr lang="en-US" altLang="en-US" b="1" dirty="0">
                <a:solidFill>
                  <a:srgbClr val="0000FF"/>
                </a:solidFill>
                <a:latin typeface="+mj-lt"/>
                <a:ea typeface="Arial Unicode MS" panose="020B0604020202020204" pitchFamily="34" charset="-128"/>
                <a:cs typeface="Times New Roman" panose="02020603050405020304" pitchFamily="18" charset="0"/>
              </a:rPr>
              <a:t>⇌ CH</a:t>
            </a:r>
            <a:r>
              <a:rPr lang="en-US" altLang="en-US" b="1" baseline="-25000" dirty="0">
                <a:solidFill>
                  <a:srgbClr val="0000FF"/>
                </a:solidFill>
                <a:latin typeface="+mj-lt"/>
                <a:ea typeface="Arial Unicode MS" panose="020B0604020202020204" pitchFamily="34" charset="-128"/>
                <a:cs typeface="Times New Roman" panose="02020603050405020304" pitchFamily="18" charset="0"/>
              </a:rPr>
              <a:t>3</a:t>
            </a:r>
            <a:r>
              <a:rPr lang="en-US" altLang="en-US" b="1" dirty="0">
                <a:solidFill>
                  <a:srgbClr val="0000FF"/>
                </a:solidFill>
                <a:latin typeface="+mj-lt"/>
                <a:ea typeface="Arial Unicode MS" panose="020B0604020202020204" pitchFamily="34" charset="-128"/>
                <a:cs typeface="Times New Roman" panose="02020603050405020304" pitchFamily="18" charset="0"/>
              </a:rPr>
              <a:t>COO</a:t>
            </a:r>
            <a:r>
              <a:rPr lang="en-US" altLang="en-US" b="1" baseline="30000" dirty="0">
                <a:solidFill>
                  <a:srgbClr val="0000FF"/>
                </a:solidFill>
                <a:latin typeface="+mj-lt"/>
                <a:ea typeface="Arial Unicode MS" panose="020B0604020202020204" pitchFamily="34" charset="-128"/>
                <a:cs typeface="Times New Roman" panose="02020603050405020304" pitchFamily="18" charset="0"/>
              </a:rPr>
              <a:t>-</a:t>
            </a:r>
            <a:r>
              <a:rPr lang="en-US" altLang="en-US" b="1" dirty="0">
                <a:solidFill>
                  <a:srgbClr val="0000FF"/>
                </a:solidFill>
                <a:latin typeface="+mj-lt"/>
                <a:ea typeface="Arial Unicode MS" panose="020B0604020202020204" pitchFamily="34" charset="-128"/>
                <a:cs typeface="Times New Roman" panose="02020603050405020304" pitchFamily="18" charset="0"/>
              </a:rPr>
              <a:t> (dd) + H</a:t>
            </a:r>
            <a:r>
              <a:rPr lang="en-US" altLang="en-US" b="1" baseline="-25000" dirty="0">
                <a:solidFill>
                  <a:srgbClr val="0000FF"/>
                </a:solidFill>
                <a:latin typeface="+mj-lt"/>
                <a:ea typeface="Arial Unicode MS" panose="020B0604020202020204" pitchFamily="34" charset="-128"/>
                <a:cs typeface="Times New Roman" panose="02020603050405020304" pitchFamily="18" charset="0"/>
              </a:rPr>
              <a:t>3</a:t>
            </a:r>
            <a:r>
              <a:rPr lang="en-US" altLang="en-US" b="1" dirty="0">
                <a:solidFill>
                  <a:srgbClr val="0000FF"/>
                </a:solidFill>
                <a:latin typeface="+mj-lt"/>
                <a:ea typeface="Arial Unicode MS" panose="020B0604020202020204" pitchFamily="34" charset="-128"/>
                <a:cs typeface="Times New Roman" panose="02020603050405020304" pitchFamily="18" charset="0"/>
              </a:rPr>
              <a:t>O</a:t>
            </a:r>
            <a:r>
              <a:rPr lang="en-US" altLang="en-US" b="1" baseline="30000" dirty="0">
                <a:solidFill>
                  <a:srgbClr val="0000FF"/>
                </a:solidFill>
                <a:latin typeface="+mj-lt"/>
                <a:ea typeface="Arial Unicode MS" panose="020B0604020202020204" pitchFamily="34" charset="-128"/>
                <a:cs typeface="Times New Roman" panose="02020603050405020304" pitchFamily="18" charset="0"/>
              </a:rPr>
              <a:t>+</a:t>
            </a:r>
          </a:p>
          <a:p>
            <a:pPr eaLnBrk="1" hangingPunct="1">
              <a:buFontTx/>
              <a:buNone/>
            </a:pPr>
            <a:r>
              <a:rPr lang="en-US" altLang="en-US" baseline="300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   </a:t>
            </a:r>
          </a:p>
        </p:txBody>
      </p:sp>
      <p:graphicFrame>
        <p:nvGraphicFramePr>
          <p:cNvPr id="30724" name="Object 4">
            <a:extLst>
              <a:ext uri="{FF2B5EF4-FFF2-40B4-BE49-F238E27FC236}">
                <a16:creationId xmlns:a16="http://schemas.microsoft.com/office/drawing/2014/main" xmlns="" id="{CA44BB1C-5968-44E8-AAC9-4C202A8199F8}"/>
              </a:ext>
            </a:extLst>
          </p:cNvPr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008524902"/>
              </p:ext>
            </p:extLst>
          </p:nvPr>
        </p:nvGraphicFramePr>
        <p:xfrm>
          <a:off x="304800" y="2735541"/>
          <a:ext cx="3950980" cy="12293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9" name="Equation" r:id="rId4" imgW="1549400" imgH="457200" progId="Equation.3">
                  <p:embed/>
                </p:oleObj>
              </mc:Choice>
              <mc:Fallback>
                <p:oleObj name="Equation" r:id="rId4" imgW="1549400" imgH="457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735541"/>
                        <a:ext cx="3950980" cy="12293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5" name="Text Box 6">
            <a:extLst>
              <a:ext uri="{FF2B5EF4-FFF2-40B4-BE49-F238E27FC236}">
                <a16:creationId xmlns:a16="http://schemas.microsoft.com/office/drawing/2014/main" xmlns="" id="{3773BDC6-72E5-452B-A95E-A1E72D3EF3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0540" y="2609432"/>
            <a:ext cx="4999345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b="1" dirty="0" err="1">
                <a:solidFill>
                  <a:srgbClr val="006600"/>
                </a:solidFill>
                <a:latin typeface="+mj-lt"/>
                <a:cs typeface="Times New Roman" panose="02020603050405020304" pitchFamily="18" charset="0"/>
              </a:rPr>
              <a:t>Hằng</a:t>
            </a:r>
            <a:r>
              <a:rPr lang="en-US" altLang="en-US" b="1" dirty="0">
                <a:solidFill>
                  <a:srgbClr val="00660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srgbClr val="006600"/>
                </a:solidFill>
                <a:latin typeface="+mj-lt"/>
                <a:cs typeface="Times New Roman" panose="02020603050405020304" pitchFamily="18" charset="0"/>
              </a:rPr>
              <a:t>số</a:t>
            </a:r>
            <a:r>
              <a:rPr lang="en-US" altLang="en-US" b="1" dirty="0">
                <a:solidFill>
                  <a:srgbClr val="00660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vi-VN" altLang="en-US" b="1" dirty="0">
                <a:solidFill>
                  <a:srgbClr val="006600"/>
                </a:solidFill>
                <a:latin typeface="+mj-lt"/>
                <a:cs typeface="Times New Roman" panose="02020603050405020304" pitchFamily="18" charset="0"/>
              </a:rPr>
              <a:t>điện </a:t>
            </a:r>
            <a:r>
              <a:rPr lang="en-US" altLang="en-US" b="1" dirty="0" err="1">
                <a:solidFill>
                  <a:srgbClr val="006600"/>
                </a:solidFill>
                <a:latin typeface="+mj-lt"/>
                <a:cs typeface="Times New Roman" panose="02020603050405020304" pitchFamily="18" charset="0"/>
              </a:rPr>
              <a:t>ly</a:t>
            </a:r>
            <a:r>
              <a:rPr lang="en-US" altLang="en-US" b="1" dirty="0">
                <a:solidFill>
                  <a:srgbClr val="00660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srgbClr val="006600"/>
                </a:solidFill>
                <a:latin typeface="+mj-lt"/>
                <a:cs typeface="Times New Roman" panose="02020603050405020304" pitchFamily="18" charset="0"/>
              </a:rPr>
              <a:t>của</a:t>
            </a:r>
            <a:r>
              <a:rPr lang="en-US" altLang="en-US" b="1" dirty="0">
                <a:solidFill>
                  <a:srgbClr val="00660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altLang="en-US" b="1" dirty="0" err="1" smtClean="0">
                <a:solidFill>
                  <a:srgbClr val="006600"/>
                </a:solidFill>
                <a:latin typeface="+mj-lt"/>
                <a:cs typeface="Times New Roman" panose="02020603050405020304" pitchFamily="18" charset="0"/>
              </a:rPr>
              <a:t>axit</a:t>
            </a:r>
            <a:endParaRPr lang="en-US" altLang="en-US" b="1" dirty="0" smtClean="0">
              <a:solidFill>
                <a:srgbClr val="006600"/>
              </a:solidFill>
              <a:latin typeface="+mj-lt"/>
              <a:cs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b="1" dirty="0" smtClean="0">
                <a:solidFill>
                  <a:srgbClr val="006600"/>
                </a:solidFill>
                <a:latin typeface="+mj-lt"/>
                <a:cs typeface="Times New Roman" panose="02020603050405020304" pitchFamily="18" charset="0"/>
              </a:rPr>
              <a:t>           </a:t>
            </a:r>
            <a:r>
              <a:rPr lang="en-US" altLang="en-US" b="1" dirty="0" err="1" smtClean="0">
                <a:solidFill>
                  <a:srgbClr val="006600"/>
                </a:solidFill>
                <a:latin typeface="+mj-lt"/>
                <a:cs typeface="Times New Roman" panose="02020603050405020304" pitchFamily="18" charset="0"/>
              </a:rPr>
              <a:t>pK</a:t>
            </a:r>
            <a:r>
              <a:rPr lang="en-US" altLang="en-US" b="1" baseline="-25000" dirty="0" err="1" smtClean="0">
                <a:solidFill>
                  <a:srgbClr val="006600"/>
                </a:solidFill>
                <a:latin typeface="+mj-lt"/>
                <a:cs typeface="Times New Roman" panose="02020603050405020304" pitchFamily="18" charset="0"/>
              </a:rPr>
              <a:t>a</a:t>
            </a:r>
            <a:r>
              <a:rPr lang="en-US" altLang="en-US" b="1" dirty="0" smtClean="0">
                <a:solidFill>
                  <a:srgbClr val="006600"/>
                </a:solidFill>
                <a:latin typeface="+mj-lt"/>
                <a:cs typeface="Times New Roman" panose="02020603050405020304" pitchFamily="18" charset="0"/>
              </a:rPr>
              <a:t> = - </a:t>
            </a:r>
            <a:r>
              <a:rPr lang="en-US" altLang="en-US" b="1" dirty="0" err="1" smtClean="0">
                <a:solidFill>
                  <a:srgbClr val="006600"/>
                </a:solidFill>
                <a:latin typeface="+mj-lt"/>
                <a:cs typeface="Times New Roman" panose="02020603050405020304" pitchFamily="18" charset="0"/>
              </a:rPr>
              <a:t>lgK</a:t>
            </a:r>
            <a:r>
              <a:rPr lang="en-US" altLang="en-US" b="1" baseline="-25000" dirty="0" err="1" smtClean="0">
                <a:solidFill>
                  <a:srgbClr val="006600"/>
                </a:solidFill>
                <a:latin typeface="+mj-lt"/>
                <a:cs typeface="Times New Roman" panose="02020603050405020304" pitchFamily="18" charset="0"/>
              </a:rPr>
              <a:t>a</a:t>
            </a:r>
            <a:endParaRPr lang="en-US" altLang="en-US" b="1" dirty="0">
              <a:solidFill>
                <a:srgbClr val="006600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0726" name="Text Box 7">
            <a:extLst>
              <a:ext uri="{FF2B5EF4-FFF2-40B4-BE49-F238E27FC236}">
                <a16:creationId xmlns:a16="http://schemas.microsoft.com/office/drawing/2014/main" xmlns="" id="{BF79BC15-5894-4CEB-B200-B21761058E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" y="4090988"/>
            <a:ext cx="8458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b="1" dirty="0">
                <a:solidFill>
                  <a:srgbClr val="0000FF"/>
                </a:solidFill>
                <a:latin typeface="+mj-lt"/>
                <a:cs typeface="Times New Roman" panose="02020603050405020304" pitchFamily="18" charset="0"/>
              </a:rPr>
              <a:t>NH</a:t>
            </a:r>
            <a:r>
              <a:rPr lang="en-US" altLang="en-US" b="1" baseline="-25000" dirty="0">
                <a:solidFill>
                  <a:srgbClr val="0000FF"/>
                </a:solidFill>
                <a:latin typeface="+mj-lt"/>
                <a:cs typeface="Times New Roman" panose="02020603050405020304" pitchFamily="18" charset="0"/>
              </a:rPr>
              <a:t>4</a:t>
            </a:r>
            <a:r>
              <a:rPr lang="en-US" altLang="en-US" b="1" dirty="0">
                <a:solidFill>
                  <a:srgbClr val="0000FF"/>
                </a:solidFill>
                <a:latin typeface="+mj-lt"/>
                <a:cs typeface="Times New Roman" panose="02020603050405020304" pitchFamily="18" charset="0"/>
              </a:rPr>
              <a:t>OH (dd) ⇌ NH</a:t>
            </a:r>
            <a:r>
              <a:rPr lang="en-US" altLang="en-US" b="1" baseline="-25000" dirty="0">
                <a:solidFill>
                  <a:srgbClr val="0000FF"/>
                </a:solidFill>
                <a:latin typeface="+mj-lt"/>
                <a:cs typeface="Times New Roman" panose="02020603050405020304" pitchFamily="18" charset="0"/>
              </a:rPr>
              <a:t>4</a:t>
            </a:r>
            <a:r>
              <a:rPr lang="en-US" altLang="en-US" b="1" baseline="30000" dirty="0">
                <a:solidFill>
                  <a:srgbClr val="0000FF"/>
                </a:solidFill>
                <a:latin typeface="+mj-lt"/>
                <a:cs typeface="Times New Roman" panose="02020603050405020304" pitchFamily="18" charset="0"/>
              </a:rPr>
              <a:t>+</a:t>
            </a:r>
            <a:r>
              <a:rPr lang="en-US" altLang="en-US" b="1" dirty="0">
                <a:solidFill>
                  <a:srgbClr val="0000FF"/>
                </a:solidFill>
                <a:latin typeface="+mj-lt"/>
                <a:cs typeface="Times New Roman" panose="02020603050405020304" pitchFamily="18" charset="0"/>
              </a:rPr>
              <a:t> (dd)  +  OH</a:t>
            </a:r>
            <a:r>
              <a:rPr lang="en-US" altLang="en-US" b="1" baseline="30000" dirty="0">
                <a:solidFill>
                  <a:srgbClr val="0000FF"/>
                </a:solidFill>
                <a:latin typeface="+mj-lt"/>
                <a:cs typeface="Times New Roman" panose="02020603050405020304" pitchFamily="18" charset="0"/>
              </a:rPr>
              <a:t>-</a:t>
            </a:r>
            <a:r>
              <a:rPr lang="en-US" altLang="en-US" b="1" dirty="0">
                <a:solidFill>
                  <a:srgbClr val="0000FF"/>
                </a:solidFill>
                <a:latin typeface="+mj-lt"/>
                <a:cs typeface="Times New Roman" panose="02020603050405020304" pitchFamily="18" charset="0"/>
              </a:rPr>
              <a:t>(dd)</a:t>
            </a:r>
          </a:p>
        </p:txBody>
      </p:sp>
      <p:graphicFrame>
        <p:nvGraphicFramePr>
          <p:cNvPr id="30727" name="Object 8">
            <a:extLst>
              <a:ext uri="{FF2B5EF4-FFF2-40B4-BE49-F238E27FC236}">
                <a16:creationId xmlns:a16="http://schemas.microsoft.com/office/drawing/2014/main" xmlns="" id="{C44C4D72-DCB2-4A00-9E12-D94F57293AB8}"/>
              </a:ext>
            </a:extLst>
          </p:cNvPr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2632570079"/>
              </p:ext>
            </p:extLst>
          </p:nvPr>
        </p:nvGraphicFramePr>
        <p:xfrm>
          <a:off x="329725" y="4901474"/>
          <a:ext cx="3281363" cy="13469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0" name="Equation" r:id="rId6" imgW="1143000" imgH="457200" progId="Equation.3">
                  <p:embed/>
                </p:oleObj>
              </mc:Choice>
              <mc:Fallback>
                <p:oleObj name="Equation" r:id="rId6" imgW="1143000" imgH="457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725" y="4901474"/>
                        <a:ext cx="3281363" cy="13469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8" name="Text Box 11">
            <a:extLst>
              <a:ext uri="{FF2B5EF4-FFF2-40B4-BE49-F238E27FC236}">
                <a16:creationId xmlns:a16="http://schemas.microsoft.com/office/drawing/2014/main" xmlns="" id="{BDD410A5-CFA9-43F3-A734-8678D605A6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4876800"/>
            <a:ext cx="521970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b="1" dirty="0" err="1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Hằng</a:t>
            </a:r>
            <a:r>
              <a:rPr lang="en-US" altLang="en-US" b="1" dirty="0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số</a:t>
            </a:r>
            <a:r>
              <a:rPr lang="en-US" altLang="en-US" b="1" dirty="0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điện</a:t>
            </a:r>
            <a:r>
              <a:rPr lang="en-US" altLang="en-US" b="1" dirty="0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ly</a:t>
            </a:r>
            <a:r>
              <a:rPr lang="en-US" altLang="en-US" b="1" dirty="0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của</a:t>
            </a:r>
            <a:r>
              <a:rPr lang="en-US" altLang="en-US" b="1" dirty="0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altLang="en-US" b="1" dirty="0" smtClean="0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base</a:t>
            </a:r>
          </a:p>
          <a:p>
            <a:pPr eaLnBrk="1" hangingPunct="1">
              <a:spcBef>
                <a:spcPct val="50000"/>
              </a:spcBef>
              <a:buNone/>
            </a:pPr>
            <a:r>
              <a:rPr lang="en-US" altLang="en-US" b="1" dirty="0" smtClean="0">
                <a:solidFill>
                  <a:srgbClr val="C00000"/>
                </a:solidFill>
                <a:cs typeface="Times New Roman" panose="02020603050405020304" pitchFamily="18" charset="0"/>
              </a:rPr>
              <a:t>            </a:t>
            </a:r>
            <a:r>
              <a:rPr lang="en-US" altLang="en-US" b="1" dirty="0" err="1" smtClean="0">
                <a:solidFill>
                  <a:srgbClr val="C00000"/>
                </a:solidFill>
                <a:cs typeface="Times New Roman" panose="02020603050405020304" pitchFamily="18" charset="0"/>
              </a:rPr>
              <a:t>pK</a:t>
            </a:r>
            <a:r>
              <a:rPr lang="en-US" altLang="en-US" b="1" baseline="-25000" dirty="0" err="1" smtClean="0">
                <a:solidFill>
                  <a:srgbClr val="C00000"/>
                </a:solidFill>
                <a:cs typeface="Times New Roman" panose="02020603050405020304" pitchFamily="18" charset="0"/>
              </a:rPr>
              <a:t>b</a:t>
            </a:r>
            <a:r>
              <a:rPr lang="en-US" altLang="en-US" b="1" dirty="0" smtClean="0">
                <a:solidFill>
                  <a:srgbClr val="C0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b="1" dirty="0">
                <a:solidFill>
                  <a:srgbClr val="C00000"/>
                </a:solidFill>
                <a:cs typeface="Times New Roman" panose="02020603050405020304" pitchFamily="18" charset="0"/>
              </a:rPr>
              <a:t>= - </a:t>
            </a:r>
            <a:r>
              <a:rPr lang="en-US" altLang="en-US" b="1" dirty="0" err="1" smtClean="0">
                <a:solidFill>
                  <a:srgbClr val="C00000"/>
                </a:solidFill>
                <a:cs typeface="Times New Roman" panose="02020603050405020304" pitchFamily="18" charset="0"/>
              </a:rPr>
              <a:t>lgK</a:t>
            </a:r>
            <a:r>
              <a:rPr lang="en-US" altLang="en-US" b="1" baseline="-25000" dirty="0" err="1">
                <a:solidFill>
                  <a:srgbClr val="C00000"/>
                </a:solidFill>
                <a:cs typeface="Times New Roman" panose="02020603050405020304" pitchFamily="18" charset="0"/>
              </a:rPr>
              <a:t>b</a:t>
            </a:r>
            <a:endParaRPr lang="en-US" altLang="en-US" b="1" dirty="0">
              <a:solidFill>
                <a:srgbClr val="C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42284EF8-B220-49B5-B4AE-F5DF0F7BB992}"/>
              </a:ext>
            </a:extLst>
          </p:cNvPr>
          <p:cNvSpPr/>
          <p:nvPr/>
        </p:nvSpPr>
        <p:spPr>
          <a:xfrm>
            <a:off x="1828800" y="76200"/>
            <a:ext cx="620394" cy="659850"/>
          </a:xfrm>
          <a:prstGeom prst="ellipse">
            <a:avLst/>
          </a:prstGeom>
          <a:noFill/>
          <a:ln w="31750">
            <a:solidFill>
              <a:srgbClr val="CC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C00FF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D669C559-E876-4152-A3C4-3919BAC41E58}"/>
              </a:ext>
            </a:extLst>
          </p:cNvPr>
          <p:cNvSpPr/>
          <p:nvPr/>
        </p:nvSpPr>
        <p:spPr>
          <a:xfrm>
            <a:off x="3380522" y="1955506"/>
            <a:ext cx="875258" cy="659850"/>
          </a:xfrm>
          <a:prstGeom prst="ellipse">
            <a:avLst/>
          </a:prstGeom>
          <a:noFill/>
          <a:ln w="31750">
            <a:solidFill>
              <a:srgbClr val="CC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C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build="p"/>
      <p:bldP spid="30725" grpId="0"/>
      <p:bldP spid="30726" grpId="0"/>
      <p:bldP spid="30728" grpId="0"/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>
            <a:extLst>
              <a:ext uri="{FF2B5EF4-FFF2-40B4-BE49-F238E27FC236}">
                <a16:creationId xmlns:a16="http://schemas.microsoft.com/office/drawing/2014/main" xmlns="" id="{D4447109-CB38-4787-A751-4ED59ED50C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61224"/>
            <a:ext cx="8229600" cy="1143000"/>
          </a:xfrm>
          <a:effectLst>
            <a:outerShdw dist="53882" dir="2700000" algn="ctr" rotWithShape="0">
              <a:schemeClr val="bg2"/>
            </a:outerShdw>
          </a:effectLst>
        </p:spPr>
        <p:txBody>
          <a:bodyPr lIns="90488" tIns="44450" rIns="90488" bIns="44450"/>
          <a:lstStyle/>
          <a:p>
            <a:pPr eaLnBrk="1" hangingPunct="1">
              <a:defRPr/>
            </a:pPr>
            <a:r>
              <a:rPr lang="en-US" sz="4000" b="1" dirty="0">
                <a:solidFill>
                  <a:srgbClr val="FF0000"/>
                </a:solidFill>
              </a:rPr>
              <a:t>THAY ĐỔI HỆ SỐ TỈ L</a:t>
            </a:r>
            <a:r>
              <a:rPr lang="vi-VN" sz="4000" b="1" dirty="0">
                <a:solidFill>
                  <a:srgbClr val="FF0000"/>
                </a:solidFill>
              </a:rPr>
              <a:t>Ư</a:t>
            </a:r>
            <a:r>
              <a:rPr lang="en-US" sz="4000" b="1" dirty="0">
                <a:solidFill>
                  <a:srgbClr val="FF0000"/>
                </a:solidFill>
              </a:rPr>
              <a:t>ỢNG</a:t>
            </a:r>
          </a:p>
        </p:txBody>
      </p:sp>
      <p:sp>
        <p:nvSpPr>
          <p:cNvPr id="162819" name="Rectangle 3">
            <a:extLst>
              <a:ext uri="{FF2B5EF4-FFF2-40B4-BE49-F238E27FC236}">
                <a16:creationId xmlns:a16="http://schemas.microsoft.com/office/drawing/2014/main" xmlns="" id="{71DC08D6-3ED0-460D-AC69-258856C9B22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065525"/>
            <a:ext cx="9042400" cy="1452705"/>
          </a:xfrm>
        </p:spPr>
        <p:txBody>
          <a:bodyPr lIns="90488" tIns="44450" rIns="90488" bIns="44450"/>
          <a:lstStyle/>
          <a:p>
            <a:pPr eaLnBrk="1" hangingPunct="1">
              <a:lnSpc>
                <a:spcPct val="110000"/>
              </a:lnSpc>
              <a:buFontTx/>
              <a:buNone/>
              <a:defRPr/>
            </a:pP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>
              <a:lnSpc>
                <a:spcPct val="110000"/>
              </a:lnSpc>
              <a:buFontTx/>
              <a:buNone/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	</a:t>
            </a:r>
            <a:r>
              <a:rPr lang="en-US" b="1" dirty="0">
                <a:solidFill>
                  <a:srgbClr val="FF0000"/>
                </a:solidFill>
              </a:rPr>
              <a:t>S (r)  +   3/2 O</a:t>
            </a:r>
            <a:r>
              <a:rPr lang="en-US" b="1" baseline="-25000" dirty="0">
                <a:solidFill>
                  <a:srgbClr val="FF0000"/>
                </a:solidFill>
              </a:rPr>
              <a:t>2</a:t>
            </a:r>
            <a:r>
              <a:rPr lang="en-US" b="1" dirty="0">
                <a:solidFill>
                  <a:srgbClr val="FF0000"/>
                </a:solidFill>
              </a:rPr>
              <a:t>(k)   </a:t>
            </a:r>
            <a:r>
              <a:rPr lang="en-US" altLang="en-US" b="1" dirty="0">
                <a:solidFill>
                  <a:srgbClr val="FF0000"/>
                </a:solidFill>
              </a:rPr>
              <a:t>⇌</a:t>
            </a:r>
            <a:r>
              <a:rPr lang="en-US" b="1" dirty="0">
                <a:solidFill>
                  <a:srgbClr val="FF0000"/>
                </a:solidFill>
              </a:rPr>
              <a:t>     SO</a:t>
            </a:r>
            <a:r>
              <a:rPr lang="en-US" b="1" baseline="-25000" dirty="0">
                <a:solidFill>
                  <a:srgbClr val="FF0000"/>
                </a:solidFill>
              </a:rPr>
              <a:t>3</a:t>
            </a:r>
            <a:r>
              <a:rPr lang="en-US" b="1" dirty="0">
                <a:solidFill>
                  <a:srgbClr val="FF0000"/>
                </a:solidFill>
              </a:rPr>
              <a:t>(k)</a:t>
            </a:r>
          </a:p>
          <a:p>
            <a:pPr eaLnBrk="1" hangingPunct="1">
              <a:lnSpc>
                <a:spcPct val="110000"/>
              </a:lnSpc>
              <a:buFontTx/>
              <a:buNone/>
              <a:defRPr/>
            </a:pPr>
            <a:endParaRPr lang="en-US" sz="28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110000"/>
              </a:lnSpc>
              <a:buFontTx/>
              <a:buNone/>
              <a:defRPr/>
            </a:pPr>
            <a:r>
              <a:rPr lang="en-US" sz="28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</a:t>
            </a:r>
          </a:p>
          <a:p>
            <a:pPr eaLnBrk="1" hangingPunct="1">
              <a:lnSpc>
                <a:spcPct val="110000"/>
              </a:lnSpc>
              <a:buFontTx/>
              <a:buNone/>
              <a:defRPr/>
            </a:pPr>
            <a:r>
              <a:rPr 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</a:t>
            </a:r>
          </a:p>
          <a:p>
            <a:pPr eaLnBrk="1" hangingPunct="1">
              <a:lnSpc>
                <a:spcPct val="110000"/>
              </a:lnSpc>
              <a:buFontTx/>
              <a:buNone/>
              <a:defRPr/>
            </a:pPr>
            <a:r>
              <a:rPr 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</a:t>
            </a:r>
            <a:endParaRPr lang="en-US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62478EC-5755-442F-A341-CABCD85283C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sz="quarter" idx="2"/>
          </p:nvPr>
        </p:nvSpPr>
        <p:spPr>
          <a:xfrm>
            <a:off x="2552700" y="2799989"/>
            <a:ext cx="4038600" cy="1142995"/>
          </a:xfrm>
          <a:blipFill>
            <a:blip r:embed="rId3"/>
            <a:stretch>
              <a:fillRect l="-4683"/>
            </a:stretch>
          </a:blipFill>
        </p:spPr>
        <p:txBody>
          <a:bodyPr/>
          <a:lstStyle/>
          <a:p>
            <a:pPr>
              <a:defRPr/>
            </a:pPr>
            <a:r>
              <a:rPr lang="en-US" dirty="0">
                <a:noFill/>
              </a:rPr>
              <a:t> 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19D5D0C1-E5F5-435A-B3C2-98B0564CC698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sz="quarter" idx="3"/>
          </p:nvPr>
        </p:nvSpPr>
        <p:spPr>
          <a:xfrm>
            <a:off x="1542063" y="5148092"/>
            <a:ext cx="6593273" cy="1319670"/>
          </a:xfrm>
          <a:blipFill>
            <a:blip r:embed="rId4"/>
            <a:stretch>
              <a:fillRect l="-2865"/>
            </a:stretch>
          </a:blipFill>
        </p:spPr>
        <p:txBody>
          <a:bodyPr/>
          <a:lstStyle/>
          <a:p>
            <a:pPr>
              <a:defRPr/>
            </a:pPr>
            <a:r>
              <a:rPr lang="en-US" dirty="0">
                <a:noFill/>
              </a:rPr>
              <a:t>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75CA6D2-5B7A-4D43-A2A4-A1C57A4CFB96}"/>
              </a:ext>
            </a:extLst>
          </p:cNvPr>
          <p:cNvSpPr txBox="1"/>
          <p:nvPr/>
        </p:nvSpPr>
        <p:spPr>
          <a:xfrm>
            <a:off x="1828800" y="4038600"/>
            <a:ext cx="6515100" cy="1452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110000"/>
              </a:lnSpc>
              <a:buFontTx/>
              <a:buNone/>
              <a:defRPr/>
            </a:pPr>
            <a:r>
              <a:rPr lang="en-US" sz="32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 S (r)  +  3 O</a:t>
            </a:r>
            <a:r>
              <a:rPr lang="en-US" sz="3200" b="1" baseline="-250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sz="32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(k)    </a:t>
            </a:r>
            <a:r>
              <a:rPr lang="en-US" altLang="en-US" sz="3200" b="1" dirty="0">
                <a:solidFill>
                  <a:srgbClr val="006600"/>
                </a:solidFill>
              </a:rPr>
              <a:t>⇌</a:t>
            </a:r>
            <a:r>
              <a:rPr lang="en-US" sz="32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HM17SSB" charset="0"/>
              </a:rPr>
              <a:t>   </a:t>
            </a:r>
            <a:r>
              <a:rPr lang="en-US" sz="32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 SO</a:t>
            </a:r>
            <a:r>
              <a:rPr lang="en-US" sz="3200" b="1" baseline="-250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3</a:t>
            </a:r>
            <a:r>
              <a:rPr lang="en-US" sz="32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(k)</a:t>
            </a:r>
          </a:p>
          <a:p>
            <a:pPr eaLnBrk="1" hangingPunct="1">
              <a:lnSpc>
                <a:spcPct val="110000"/>
              </a:lnSpc>
              <a:buFontTx/>
              <a:buNone/>
              <a:defRPr/>
            </a:pPr>
            <a:r>
              <a:rPr lang="en-US" sz="32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  <a:p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1F942828-0232-4F6E-9417-4E3B50774103}"/>
              </a:ext>
            </a:extLst>
          </p:cNvPr>
          <p:cNvSpPr/>
          <p:nvPr/>
        </p:nvSpPr>
        <p:spPr>
          <a:xfrm>
            <a:off x="1600200" y="1687071"/>
            <a:ext cx="620394" cy="659850"/>
          </a:xfrm>
          <a:prstGeom prst="ellipse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C00FF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04C2A115-4467-4779-B787-025666A30849}"/>
              </a:ext>
            </a:extLst>
          </p:cNvPr>
          <p:cNvSpPr/>
          <p:nvPr/>
        </p:nvSpPr>
        <p:spPr>
          <a:xfrm>
            <a:off x="2572040" y="4038600"/>
            <a:ext cx="620394" cy="659850"/>
          </a:xfrm>
          <a:prstGeom prst="ellipse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C00FF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  <p:bldP spid="2" grpId="0"/>
      <p:bldP spid="7" grpId="0" animBg="1"/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>
            <a:extLst>
              <a:ext uri="{FF2B5EF4-FFF2-40B4-BE49-F238E27FC236}">
                <a16:creationId xmlns:a16="http://schemas.microsoft.com/office/drawing/2014/main" xmlns="" id="{0C3BB6F6-AA72-467A-85BC-0AA579511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0600" y="241300"/>
            <a:ext cx="7162800" cy="1143000"/>
          </a:xfrm>
          <a:effectLst>
            <a:outerShdw dist="53882" dir="2700000" algn="ctr" rotWithShape="0">
              <a:schemeClr val="bg2"/>
            </a:outerShdw>
          </a:effectLst>
        </p:spPr>
        <p:txBody>
          <a:bodyPr lIns="90488" tIns="44450" rIns="90488" bIns="44450"/>
          <a:lstStyle/>
          <a:p>
            <a:pPr eaLnBrk="1" hangingPunct="1">
              <a:defRPr/>
            </a:pPr>
            <a:r>
              <a:rPr 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ĐỔI CHIỀU PHẢN ỨNG</a:t>
            </a:r>
          </a:p>
        </p:txBody>
      </p:sp>
      <p:sp>
        <p:nvSpPr>
          <p:cNvPr id="171011" name="Rectangle 3">
            <a:extLst>
              <a:ext uri="{FF2B5EF4-FFF2-40B4-BE49-F238E27FC236}">
                <a16:creationId xmlns:a16="http://schemas.microsoft.com/office/drawing/2014/main" xmlns="" id="{AF1FB625-276E-45F4-93A2-C0F7DC48A6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40014"/>
            <a:ext cx="7924800" cy="2641227"/>
          </a:xfrm>
        </p:spPr>
        <p:txBody>
          <a:bodyPr lIns="90488" tIns="44450" rIns="90488" bIns="44450"/>
          <a:lstStyle/>
          <a:p>
            <a:pPr eaLnBrk="1" hangingPunct="1">
              <a:lnSpc>
                <a:spcPct val="110000"/>
              </a:lnSpc>
              <a:buFontTx/>
              <a:buNone/>
              <a:defRPr/>
            </a:pPr>
            <a:endParaRPr lang="en-US" sz="36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>
              <a:lnSpc>
                <a:spcPct val="110000"/>
              </a:lnSpc>
              <a:buFontTx/>
              <a:buNone/>
              <a:defRPr/>
            </a:pPr>
            <a:r>
              <a:rPr 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 (r)  +   O</a:t>
            </a:r>
            <a:r>
              <a:rPr lang="en-US" b="1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(k)  	</a:t>
            </a:r>
            <a:r>
              <a:rPr lang="en-US" altLang="en-US" b="1" dirty="0"/>
              <a:t> ⇌</a:t>
            </a:r>
            <a:r>
              <a:rPr 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HM17SSB" charset="0"/>
              </a:rPr>
              <a:t>    </a:t>
            </a:r>
            <a:r>
              <a:rPr 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SO</a:t>
            </a:r>
            <a:r>
              <a:rPr lang="en-US" b="1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(k)</a:t>
            </a:r>
          </a:p>
          <a:p>
            <a:pPr eaLnBrk="1" hangingPunct="1">
              <a:lnSpc>
                <a:spcPct val="110000"/>
              </a:lnSpc>
              <a:buFontTx/>
              <a:buNone/>
              <a:defRPr/>
            </a:pPr>
            <a:endParaRPr lang="en-US" sz="3600" baseline="-25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>
              <a:lnSpc>
                <a:spcPct val="110000"/>
              </a:lnSpc>
              <a:buFontTx/>
              <a:buNone/>
              <a:defRPr/>
            </a:pPr>
            <a:endParaRPr 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>
              <a:lnSpc>
                <a:spcPct val="110000"/>
              </a:lnSpc>
              <a:buFontTx/>
              <a:buNone/>
              <a:defRPr/>
            </a:pPr>
            <a:endParaRPr 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>
              <a:lnSpc>
                <a:spcPct val="110000"/>
              </a:lnSpc>
              <a:buFontTx/>
              <a:buNone/>
              <a:defRPr/>
            </a:pPr>
            <a:r>
              <a:rPr 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</p:txBody>
      </p:sp>
      <p:sp>
        <p:nvSpPr>
          <p:cNvPr id="37896" name="Text Box 12">
            <a:extLst>
              <a:ext uri="{FF2B5EF4-FFF2-40B4-BE49-F238E27FC236}">
                <a16:creationId xmlns:a16="http://schemas.microsoft.com/office/drawing/2014/main" xmlns="" id="{46BF1238-52DD-496F-AE47-F9710E18BBF0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5181600" y="3446369"/>
            <a:ext cx="3886200" cy="1122102"/>
          </a:xfrm>
          <a:prstGeom prst="rect">
            <a:avLst/>
          </a:prstGeom>
          <a:blipFill>
            <a:blip r:embed="rId3"/>
            <a:stretch>
              <a:fillRect l="-5486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13" name="Text Box 12">
            <a:extLst>
              <a:ext uri="{FF2B5EF4-FFF2-40B4-BE49-F238E27FC236}">
                <a16:creationId xmlns:a16="http://schemas.microsoft.com/office/drawing/2014/main" xmlns="" id="{F554E599-13D0-4D51-94E2-E8B67539A241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1650260" y="5108712"/>
            <a:ext cx="3733800" cy="1091453"/>
          </a:xfrm>
          <a:prstGeom prst="rect">
            <a:avLst/>
          </a:prstGeom>
          <a:blipFill>
            <a:blip r:embed="rId4"/>
            <a:stretch>
              <a:fillRect l="-5882" b="-1117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14" name="Text Box 12">
            <a:extLst>
              <a:ext uri="{FF2B5EF4-FFF2-40B4-BE49-F238E27FC236}">
                <a16:creationId xmlns:a16="http://schemas.microsoft.com/office/drawing/2014/main" xmlns="" id="{357673B7-57E4-46AC-9608-5BE8BA2B7535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1650260" y="2789788"/>
            <a:ext cx="3657600" cy="1091453"/>
          </a:xfrm>
          <a:prstGeom prst="rect">
            <a:avLst/>
          </a:prstGeom>
          <a:blipFill>
            <a:blip r:embed="rId5"/>
            <a:stretch>
              <a:fillRect l="-6000" b="-1117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2B961A7A-782E-4346-83D6-C0DB018EDE24}"/>
              </a:ext>
            </a:extLst>
          </p:cNvPr>
          <p:cNvSpPr txBox="1"/>
          <p:nvPr/>
        </p:nvSpPr>
        <p:spPr>
          <a:xfrm>
            <a:off x="457200" y="4359749"/>
            <a:ext cx="52578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SO</a:t>
            </a:r>
            <a:r>
              <a:rPr lang="en-US" sz="3200" b="1" baseline="-250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sz="32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(k)   </a:t>
            </a:r>
            <a:r>
              <a:rPr lang="en-US" altLang="en-US" sz="3200" b="1" dirty="0">
                <a:solidFill>
                  <a:srgbClr val="006600"/>
                </a:solidFill>
              </a:rPr>
              <a:t>⇌</a:t>
            </a:r>
            <a:r>
              <a:rPr lang="en-US" sz="32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HM17SSB" charset="0"/>
              </a:rPr>
              <a:t>    </a:t>
            </a:r>
            <a:r>
              <a:rPr lang="en-US" sz="32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 (r)  +  O</a:t>
            </a:r>
            <a:r>
              <a:rPr lang="en-US" sz="3200" b="1" baseline="-2500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sz="32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(k)</a:t>
            </a:r>
          </a:p>
          <a:p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F98C7A54-2018-49C5-8E0B-07BD630FF964}"/>
              </a:ext>
            </a:extLst>
          </p:cNvPr>
          <p:cNvSpPr/>
          <p:nvPr/>
        </p:nvSpPr>
        <p:spPr>
          <a:xfrm>
            <a:off x="838200" y="1900777"/>
            <a:ext cx="620394" cy="659850"/>
          </a:xfrm>
          <a:prstGeom prst="ellipse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C00FF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4FA64979-8737-40D4-8A79-A6AADFA5F5AD}"/>
              </a:ext>
            </a:extLst>
          </p:cNvPr>
          <p:cNvSpPr/>
          <p:nvPr/>
        </p:nvSpPr>
        <p:spPr>
          <a:xfrm>
            <a:off x="3168863" y="4359749"/>
            <a:ext cx="620394" cy="659850"/>
          </a:xfrm>
          <a:prstGeom prst="ellipse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C00FF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6" grpId="0" animBg="1"/>
      <p:bldP spid="13" grpId="0" animBg="1"/>
      <p:bldP spid="14" grpId="0" animBg="1"/>
      <p:bldP spid="2" grpId="0"/>
      <p:bldP spid="8" grpId="0" animBg="1"/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6">
            <a:extLst>
              <a:ext uri="{FF2B5EF4-FFF2-40B4-BE49-F238E27FC236}">
                <a16:creationId xmlns:a16="http://schemas.microsoft.com/office/drawing/2014/main" xmlns="" id="{8AE82F38-FF1D-4385-890C-36AFA55F91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88392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b="1" dirty="0" err="1">
                <a:solidFill>
                  <a:srgbClr val="FF0000"/>
                </a:solidFill>
              </a:rPr>
              <a:t>CuS</a:t>
            </a:r>
            <a:r>
              <a:rPr lang="en-US" altLang="en-US" b="1" dirty="0">
                <a:solidFill>
                  <a:srgbClr val="FF0000"/>
                </a:solidFill>
              </a:rPr>
              <a:t>(r)  +  2H</a:t>
            </a:r>
            <a:r>
              <a:rPr lang="en-US" altLang="en-US" b="1" baseline="30000" dirty="0">
                <a:solidFill>
                  <a:srgbClr val="FF0000"/>
                </a:solidFill>
              </a:rPr>
              <a:t>+</a:t>
            </a:r>
            <a:r>
              <a:rPr lang="en-US" altLang="en-US" b="1" dirty="0">
                <a:solidFill>
                  <a:srgbClr val="FF0000"/>
                </a:solidFill>
              </a:rPr>
              <a:t>(dd) ⇌  Cu</a:t>
            </a:r>
            <a:r>
              <a:rPr lang="en-US" altLang="en-US" b="1" baseline="30000" dirty="0">
                <a:solidFill>
                  <a:srgbClr val="FF0000"/>
                </a:solidFill>
              </a:rPr>
              <a:t>2+</a:t>
            </a:r>
            <a:r>
              <a:rPr lang="en-US" altLang="en-US" b="1" dirty="0">
                <a:solidFill>
                  <a:srgbClr val="FF0000"/>
                </a:solidFill>
              </a:rPr>
              <a:t>(dd) + H</a:t>
            </a:r>
            <a:r>
              <a:rPr lang="en-US" altLang="en-US" b="1" baseline="-25000" dirty="0">
                <a:solidFill>
                  <a:srgbClr val="FF0000"/>
                </a:solidFill>
              </a:rPr>
              <a:t>2</a:t>
            </a:r>
            <a:r>
              <a:rPr lang="en-US" altLang="en-US" b="1" dirty="0">
                <a:solidFill>
                  <a:srgbClr val="FF0000"/>
                </a:solidFill>
              </a:rPr>
              <a:t>S(dd); K?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89DB406C-44E9-40CE-8BC1-D2745F7AFDCB}"/>
              </a:ext>
            </a:extLst>
          </p:cNvPr>
          <p:cNvSpPr/>
          <p:nvPr/>
        </p:nvSpPr>
        <p:spPr>
          <a:xfrm>
            <a:off x="609600" y="1148269"/>
            <a:ext cx="68948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3200" b="1" dirty="0" err="1">
                <a:solidFill>
                  <a:srgbClr val="0000FF"/>
                </a:solidFill>
              </a:rPr>
              <a:t>CuS</a:t>
            </a:r>
            <a:r>
              <a:rPr lang="en-US" altLang="en-US" sz="3200" b="1" dirty="0">
                <a:solidFill>
                  <a:srgbClr val="0000FF"/>
                </a:solidFill>
              </a:rPr>
              <a:t>(r) ⇌ Cu</a:t>
            </a:r>
            <a:r>
              <a:rPr lang="en-US" altLang="en-US" sz="3200" b="1" baseline="30000" dirty="0">
                <a:solidFill>
                  <a:srgbClr val="0000FF"/>
                </a:solidFill>
              </a:rPr>
              <a:t>2+</a:t>
            </a:r>
            <a:r>
              <a:rPr lang="en-US" altLang="en-US" sz="3200" b="1" dirty="0">
                <a:solidFill>
                  <a:srgbClr val="0000FF"/>
                </a:solidFill>
              </a:rPr>
              <a:t>(dd)   +  S</a:t>
            </a:r>
            <a:r>
              <a:rPr lang="en-US" altLang="en-US" sz="3200" b="1" baseline="30000" dirty="0">
                <a:solidFill>
                  <a:srgbClr val="0000FF"/>
                </a:solidFill>
              </a:rPr>
              <a:t>2-</a:t>
            </a:r>
            <a:r>
              <a:rPr lang="en-US" altLang="en-US" sz="3200" b="1" dirty="0">
                <a:solidFill>
                  <a:srgbClr val="0000FF"/>
                </a:solidFill>
              </a:rPr>
              <a:t>(dd) ; </a:t>
            </a:r>
            <a:r>
              <a:rPr lang="en-US" altLang="en-US" sz="3200" b="1" dirty="0" err="1">
                <a:solidFill>
                  <a:srgbClr val="0000FF"/>
                </a:solidFill>
              </a:rPr>
              <a:t>T</a:t>
            </a:r>
            <a:r>
              <a:rPr lang="en-US" altLang="en-US" sz="3200" b="1" baseline="-25000" dirty="0" err="1">
                <a:solidFill>
                  <a:srgbClr val="0000FF"/>
                </a:solidFill>
              </a:rPr>
              <a:t>CuS</a:t>
            </a:r>
            <a:endParaRPr lang="en-US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C2152BF3-3A3D-4AA8-B9B8-E5B3BFCFCB05}"/>
              </a:ext>
            </a:extLst>
          </p:cNvPr>
          <p:cNvSpPr txBox="1"/>
          <p:nvPr/>
        </p:nvSpPr>
        <p:spPr>
          <a:xfrm>
            <a:off x="381000" y="1981200"/>
            <a:ext cx="8763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200" b="1" dirty="0">
                <a:solidFill>
                  <a:srgbClr val="0000FF"/>
                </a:solidFill>
              </a:rPr>
              <a:t>H</a:t>
            </a:r>
            <a:r>
              <a:rPr lang="en-US" altLang="en-US" sz="3200" b="1" baseline="-25000" dirty="0">
                <a:solidFill>
                  <a:srgbClr val="0000FF"/>
                </a:solidFill>
              </a:rPr>
              <a:t>2</a:t>
            </a:r>
            <a:r>
              <a:rPr lang="en-US" altLang="en-US" sz="3200" b="1" dirty="0">
                <a:solidFill>
                  <a:srgbClr val="0000FF"/>
                </a:solidFill>
              </a:rPr>
              <a:t>S (dd) ⇌  2H</a:t>
            </a:r>
            <a:r>
              <a:rPr lang="en-US" altLang="en-US" sz="3200" b="1" baseline="30000" dirty="0">
                <a:solidFill>
                  <a:srgbClr val="0000FF"/>
                </a:solidFill>
              </a:rPr>
              <a:t>+</a:t>
            </a:r>
            <a:r>
              <a:rPr lang="en-US" altLang="en-US" sz="3200" b="1" dirty="0">
                <a:solidFill>
                  <a:srgbClr val="0000FF"/>
                </a:solidFill>
              </a:rPr>
              <a:t>(dd)     +   S</a:t>
            </a:r>
            <a:r>
              <a:rPr lang="en-US" altLang="en-US" sz="3200" b="1" baseline="30000" dirty="0">
                <a:solidFill>
                  <a:srgbClr val="0000FF"/>
                </a:solidFill>
              </a:rPr>
              <a:t>2-</a:t>
            </a:r>
            <a:r>
              <a:rPr lang="en-US" altLang="en-US" sz="3200" b="1" dirty="0">
                <a:solidFill>
                  <a:srgbClr val="0000FF"/>
                </a:solidFill>
              </a:rPr>
              <a:t>(dd) ; K</a:t>
            </a:r>
            <a:r>
              <a:rPr lang="en-US" altLang="en-US" sz="3200" b="1" baseline="-25000" dirty="0">
                <a:solidFill>
                  <a:srgbClr val="0000FF"/>
                </a:solidFill>
              </a:rPr>
              <a:t>a1</a:t>
            </a:r>
            <a:r>
              <a:rPr lang="en-US" altLang="en-US" sz="3200" b="1" dirty="0">
                <a:solidFill>
                  <a:srgbClr val="0000FF"/>
                </a:solidFill>
              </a:rPr>
              <a:t> .K</a:t>
            </a:r>
            <a:r>
              <a:rPr lang="en-US" altLang="en-US" sz="3200" b="1" baseline="-25000" dirty="0">
                <a:solidFill>
                  <a:srgbClr val="0000FF"/>
                </a:solidFill>
              </a:rPr>
              <a:t>a2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056DBF11-C900-4962-9390-C50D0C863F88}"/>
                  </a:ext>
                </a:extLst>
              </p:cNvPr>
              <p:cNvSpPr txBox="1"/>
              <p:nvPr/>
            </p:nvSpPr>
            <p:spPr>
              <a:xfrm>
                <a:off x="152400" y="1926237"/>
                <a:ext cx="9007136" cy="93705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altLang="en-US" sz="3200" b="1" dirty="0">
                    <a:solidFill>
                      <a:srgbClr val="0000FF"/>
                    </a:solidFill>
                  </a:rPr>
                  <a:t>2H</a:t>
                </a:r>
                <a:r>
                  <a:rPr lang="en-US" altLang="en-US" sz="3200" b="1" baseline="30000" dirty="0">
                    <a:solidFill>
                      <a:srgbClr val="0000FF"/>
                    </a:solidFill>
                  </a:rPr>
                  <a:t>+</a:t>
                </a:r>
                <a:r>
                  <a:rPr lang="en-US" altLang="en-US" sz="3200" b="1" dirty="0">
                    <a:solidFill>
                      <a:srgbClr val="0000FF"/>
                    </a:solidFill>
                  </a:rPr>
                  <a:t>(dd)   +  S</a:t>
                </a:r>
                <a:r>
                  <a:rPr lang="en-US" altLang="en-US" sz="3200" b="1" baseline="30000" dirty="0">
                    <a:solidFill>
                      <a:srgbClr val="0000FF"/>
                    </a:solidFill>
                  </a:rPr>
                  <a:t>2-</a:t>
                </a:r>
                <a:r>
                  <a:rPr lang="en-US" altLang="en-US" sz="3200" b="1" dirty="0">
                    <a:solidFill>
                      <a:srgbClr val="0000FF"/>
                    </a:solidFill>
                  </a:rPr>
                  <a:t>(dd)   ⇌      H</a:t>
                </a:r>
                <a:r>
                  <a:rPr lang="en-US" altLang="en-US" sz="3200" b="1" baseline="-25000" dirty="0">
                    <a:solidFill>
                      <a:srgbClr val="0000FF"/>
                    </a:solidFill>
                  </a:rPr>
                  <a:t>2</a:t>
                </a:r>
                <a:r>
                  <a:rPr lang="en-US" altLang="en-US" sz="3200" b="1" dirty="0">
                    <a:solidFill>
                      <a:srgbClr val="0000FF"/>
                    </a:solidFill>
                  </a:rPr>
                  <a:t>S (dd)  ;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3200" b="1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en-US" sz="32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sSub>
                          <m:sSubPr>
                            <m:ctrlPr>
                              <a:rPr lang="en-US" altLang="en-US" sz="3200" b="1" i="1" smtClean="0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32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𝑲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en-US" sz="3200" b="1" i="1" smtClean="0">
                                    <a:solidFill>
                                      <a:srgbClr val="0000FF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3200" b="1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  <m:sub>
                                <m:r>
                                  <a:rPr lang="en-US" altLang="en-US" sz="3200" b="1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sub>
                        </m:sSub>
                        <m:sSub>
                          <m:sSubPr>
                            <m:ctrlPr>
                              <a:rPr lang="en-US" altLang="en-US" sz="3200" b="1" i="1" smtClean="0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32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𝑲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en-US" sz="3200" b="1" i="1" smtClean="0">
                                    <a:solidFill>
                                      <a:srgbClr val="0000FF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3200" b="1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  <m:sub>
                                <m:r>
                                  <a:rPr lang="en-US" altLang="en-US" sz="3200" b="1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sub>
                        </m:sSub>
                      </m:den>
                    </m:f>
                  </m:oMath>
                </a14:m>
                <a:r>
                  <a:rPr lang="en-US" altLang="en-US" b="1" dirty="0">
                    <a:solidFill>
                      <a:srgbClr val="0000FF"/>
                    </a:solidFill>
                  </a:rPr>
                  <a:t>  </a:t>
                </a:r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56DBF11-C900-4962-9390-C50D0C863F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1926237"/>
                <a:ext cx="9007136" cy="937051"/>
              </a:xfrm>
              <a:prstGeom prst="rect">
                <a:avLst/>
              </a:prstGeom>
              <a:blipFill>
                <a:blip r:embed="rId2"/>
                <a:stretch>
                  <a:fillRect l="-16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00DCF504-8ED0-4A94-B8F1-1F55734C6F6A}"/>
              </a:ext>
            </a:extLst>
          </p:cNvPr>
          <p:cNvCxnSpPr>
            <a:cxnSpLocks/>
          </p:cNvCxnSpPr>
          <p:nvPr/>
        </p:nvCxnSpPr>
        <p:spPr>
          <a:xfrm>
            <a:off x="304800" y="3733800"/>
            <a:ext cx="67818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Box 6">
            <a:extLst>
              <a:ext uri="{FF2B5EF4-FFF2-40B4-BE49-F238E27FC236}">
                <a16:creationId xmlns:a16="http://schemas.microsoft.com/office/drawing/2014/main" xmlns="" id="{95F02F27-5406-49B7-ACCE-0E482AB507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3775736"/>
            <a:ext cx="883920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b="1" dirty="0" err="1">
                <a:solidFill>
                  <a:srgbClr val="CC00FF"/>
                </a:solidFill>
              </a:rPr>
              <a:t>CuS</a:t>
            </a:r>
            <a:r>
              <a:rPr lang="en-US" altLang="en-US" b="1" dirty="0">
                <a:solidFill>
                  <a:srgbClr val="CC00FF"/>
                </a:solidFill>
              </a:rPr>
              <a:t>(r)  +  2H</a:t>
            </a:r>
            <a:r>
              <a:rPr lang="en-US" altLang="en-US" b="1" baseline="30000" dirty="0">
                <a:solidFill>
                  <a:srgbClr val="CC00FF"/>
                </a:solidFill>
              </a:rPr>
              <a:t>+</a:t>
            </a:r>
            <a:r>
              <a:rPr lang="en-US" altLang="en-US" b="1" dirty="0">
                <a:solidFill>
                  <a:srgbClr val="CC00FF"/>
                </a:solidFill>
              </a:rPr>
              <a:t>(dd) ⇌  Cu</a:t>
            </a:r>
            <a:r>
              <a:rPr lang="en-US" altLang="en-US" b="1" baseline="30000" dirty="0">
                <a:solidFill>
                  <a:srgbClr val="CC00FF"/>
                </a:solidFill>
              </a:rPr>
              <a:t>2+</a:t>
            </a:r>
            <a:r>
              <a:rPr lang="en-US" altLang="en-US" b="1" dirty="0">
                <a:solidFill>
                  <a:srgbClr val="CC00FF"/>
                </a:solidFill>
              </a:rPr>
              <a:t>(dd) + H</a:t>
            </a:r>
            <a:r>
              <a:rPr lang="en-US" altLang="en-US" b="1" baseline="-25000" dirty="0">
                <a:solidFill>
                  <a:srgbClr val="CC00FF"/>
                </a:solidFill>
              </a:rPr>
              <a:t>2</a:t>
            </a:r>
            <a:r>
              <a:rPr lang="en-US" altLang="en-US" b="1" dirty="0">
                <a:solidFill>
                  <a:srgbClr val="CC00FF"/>
                </a:solidFill>
              </a:rPr>
              <a:t>S(dd);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b="1" dirty="0">
                <a:solidFill>
                  <a:srgbClr val="FF0000"/>
                </a:solidFill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10">
                <a:extLst>
                  <a:ext uri="{FF2B5EF4-FFF2-40B4-BE49-F238E27FC236}">
                    <a16:creationId xmlns:a16="http://schemas.microsoft.com/office/drawing/2014/main" xmlns="" id="{58299677-2BEA-4055-854D-957EC45C5E31}"/>
                  </a:ext>
                </a:extLst>
              </p:cNvPr>
              <p:cNvSpPr txBox="1"/>
              <p:nvPr/>
            </p:nvSpPr>
            <p:spPr bwMode="auto">
              <a:xfrm>
                <a:off x="1676400" y="4437455"/>
                <a:ext cx="6553200" cy="10858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3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𝑲</m:t>
                      </m:r>
                      <m:r>
                        <a:rPr lang="en-US" sz="3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6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6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3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3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𝑪𝒖𝑺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36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3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𝑲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3600" b="1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sz="36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sz="3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sSub>
                            <m:sSubPr>
                              <m:ctrlPr>
                                <a:rPr lang="en-US" sz="36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3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𝑲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3600" b="1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sz="36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sz="3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36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3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b>
                              <m:r>
                                <a:rPr lang="en-US" sz="3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sz="3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en-US" sz="3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3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Object 10">
                <a:extLst>
                  <a:ext uri="{FF2B5EF4-FFF2-40B4-BE49-F238E27FC236}">
                    <a16:creationId xmlns:a16="http://schemas.microsoft.com/office/drawing/2014/main" id="{58299677-2BEA-4055-854D-957EC45C5E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76400" y="4437455"/>
                <a:ext cx="6553200" cy="1085850"/>
              </a:xfrm>
              <a:prstGeom prst="rect">
                <a:avLst/>
              </a:prstGeom>
              <a:blipFill>
                <a:blip r:embed="rId3"/>
                <a:stretch>
                  <a:fillRect b="-1348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4832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  <p:bldP spid="14" grpId="0"/>
      <p:bldP spid="1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xmlns="" id="{E48AC9B5-4D46-45DF-97DB-FEA948344C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1963" y="185738"/>
            <a:ext cx="8229600" cy="1325562"/>
          </a:xfrm>
        </p:spPr>
        <p:txBody>
          <a:bodyPr/>
          <a:lstStyle/>
          <a:p>
            <a:r>
              <a:rPr lang="en-US" altLang="en-US" sz="3200" b="1">
                <a:solidFill>
                  <a:srgbClr val="FF0000"/>
                </a:solidFill>
              </a:rPr>
              <a:t>HẰNG SỐ CÂN BẰNG CỦA P</a:t>
            </a:r>
            <a:r>
              <a:rPr lang="vi-VN" altLang="en-US" sz="3200" b="1">
                <a:solidFill>
                  <a:srgbClr val="FF0000"/>
                </a:solidFill>
              </a:rPr>
              <a:t>Ư</a:t>
            </a:r>
            <a:r>
              <a:rPr lang="en-US" altLang="en-US" sz="3200" b="1">
                <a:solidFill>
                  <a:srgbClr val="FF0000"/>
                </a:solidFill>
              </a:rPr>
              <a:t> TRAO ĐỔI </a:t>
            </a:r>
            <a:br>
              <a:rPr lang="en-US" altLang="en-US" sz="3200" b="1">
                <a:solidFill>
                  <a:srgbClr val="FF0000"/>
                </a:solidFill>
              </a:rPr>
            </a:br>
            <a:endParaRPr lang="en-US" altLang="en-US" sz="3200" b="1">
              <a:solidFill>
                <a:srgbClr val="FF0000"/>
              </a:solidFill>
            </a:endParaRPr>
          </a:p>
        </p:txBody>
      </p:sp>
      <p:graphicFrame>
        <p:nvGraphicFramePr>
          <p:cNvPr id="36867" name="Object 4">
            <a:extLst>
              <a:ext uri="{FF2B5EF4-FFF2-40B4-BE49-F238E27FC236}">
                <a16:creationId xmlns:a16="http://schemas.microsoft.com/office/drawing/2014/main" xmlns="" id="{7B00783A-A713-4842-A2C1-8889AD36990F}"/>
              </a:ext>
            </a:extLst>
          </p:cNvPr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291123517"/>
              </p:ext>
            </p:extLst>
          </p:nvPr>
        </p:nvGraphicFramePr>
        <p:xfrm>
          <a:off x="228601" y="935038"/>
          <a:ext cx="335280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21" name="Equation" r:id="rId3" imgW="1091726" imgH="520474" progId="Equation.3">
                  <p:embed/>
                </p:oleObj>
              </mc:Choice>
              <mc:Fallback>
                <p:oleObj name="Equation" r:id="rId3" imgW="1091726" imgH="520474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1" y="935038"/>
                        <a:ext cx="3352800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8" name="Text Box 6">
            <a:extLst>
              <a:ext uri="{FF2B5EF4-FFF2-40B4-BE49-F238E27FC236}">
                <a16:creationId xmlns:a16="http://schemas.microsoft.com/office/drawing/2014/main" xmlns="" id="{4E59092A-0E66-4EB8-A46C-0A02CEBD62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901950"/>
            <a:ext cx="7924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b="1" dirty="0" err="1">
                <a:solidFill>
                  <a:srgbClr val="0000FF"/>
                </a:solidFill>
              </a:rPr>
              <a:t>CuS</a:t>
            </a:r>
            <a:r>
              <a:rPr lang="en-US" altLang="en-US" sz="2800" b="1" dirty="0">
                <a:solidFill>
                  <a:srgbClr val="0000FF"/>
                </a:solidFill>
              </a:rPr>
              <a:t>(r)  +  2H</a:t>
            </a:r>
            <a:r>
              <a:rPr lang="en-US" altLang="en-US" sz="2800" b="1" baseline="30000" dirty="0">
                <a:solidFill>
                  <a:srgbClr val="0000FF"/>
                </a:solidFill>
              </a:rPr>
              <a:t>+</a:t>
            </a:r>
            <a:r>
              <a:rPr lang="en-US" altLang="en-US" sz="2800" b="1" dirty="0">
                <a:solidFill>
                  <a:srgbClr val="0000FF"/>
                </a:solidFill>
              </a:rPr>
              <a:t> (dd) ⇌  Cu</a:t>
            </a:r>
            <a:r>
              <a:rPr lang="en-US" altLang="en-US" sz="2800" b="1" baseline="30000" dirty="0">
                <a:solidFill>
                  <a:srgbClr val="0000FF"/>
                </a:solidFill>
              </a:rPr>
              <a:t>2+</a:t>
            </a:r>
            <a:r>
              <a:rPr lang="en-US" altLang="en-US" sz="2800" b="1" dirty="0">
                <a:solidFill>
                  <a:srgbClr val="0000FF"/>
                </a:solidFill>
              </a:rPr>
              <a:t> (dd)    +  H</a:t>
            </a:r>
            <a:r>
              <a:rPr lang="en-US" altLang="en-US" sz="2800" b="1" baseline="-25000" dirty="0">
                <a:solidFill>
                  <a:srgbClr val="0000FF"/>
                </a:solidFill>
              </a:rPr>
              <a:t>2</a:t>
            </a:r>
            <a:r>
              <a:rPr lang="en-US" altLang="en-US" sz="2800" b="1" dirty="0">
                <a:solidFill>
                  <a:srgbClr val="0000FF"/>
                </a:solidFill>
              </a:rPr>
              <a:t>S (dd)</a:t>
            </a:r>
          </a:p>
        </p:txBody>
      </p:sp>
      <p:sp>
        <p:nvSpPr>
          <p:cNvPr id="36869" name="Text Box 7">
            <a:extLst>
              <a:ext uri="{FF2B5EF4-FFF2-40B4-BE49-F238E27FC236}">
                <a16:creationId xmlns:a16="http://schemas.microsoft.com/office/drawing/2014/main" xmlns="" id="{DAFE8CBE-6F04-44D2-B720-1791F5CF2B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713" y="3419475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b="1" dirty="0" err="1">
                <a:solidFill>
                  <a:srgbClr val="FF0000"/>
                </a:solidFill>
              </a:rPr>
              <a:t>T</a:t>
            </a:r>
            <a:r>
              <a:rPr lang="en-US" altLang="en-US" sz="2800" b="1" baseline="-25000" dirty="0" err="1">
                <a:solidFill>
                  <a:srgbClr val="FF0000"/>
                </a:solidFill>
              </a:rPr>
              <a:t>cuS</a:t>
            </a:r>
            <a:endParaRPr lang="en-US" altLang="en-US" sz="2800" b="1" dirty="0">
              <a:solidFill>
                <a:srgbClr val="FF0000"/>
              </a:solidFill>
            </a:endParaRPr>
          </a:p>
        </p:txBody>
      </p:sp>
      <p:sp>
        <p:nvSpPr>
          <p:cNvPr id="36870" name="Text Box 8">
            <a:extLst>
              <a:ext uri="{FF2B5EF4-FFF2-40B4-BE49-F238E27FC236}">
                <a16:creationId xmlns:a16="http://schemas.microsoft.com/office/drawing/2014/main" xmlns="" id="{A99867A5-1EF5-4E7F-98E4-1D7BEE007F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3421063"/>
            <a:ext cx="2286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b="1" dirty="0">
                <a:solidFill>
                  <a:srgbClr val="FF0000"/>
                </a:solidFill>
              </a:rPr>
              <a:t>K</a:t>
            </a:r>
            <a:r>
              <a:rPr lang="en-US" altLang="en-US" sz="2800" b="1" baseline="-25000" dirty="0">
                <a:solidFill>
                  <a:srgbClr val="FF0000"/>
                </a:solidFill>
              </a:rPr>
              <a:t>a1</a:t>
            </a:r>
            <a:r>
              <a:rPr lang="en-US" altLang="en-US" sz="2800" b="1" dirty="0">
                <a:solidFill>
                  <a:srgbClr val="FF0000"/>
                </a:solidFill>
              </a:rPr>
              <a:t>.K</a:t>
            </a:r>
            <a:r>
              <a:rPr lang="en-US" altLang="en-US" sz="2800" b="1" baseline="-25000" dirty="0">
                <a:solidFill>
                  <a:srgbClr val="FF0000"/>
                </a:solidFill>
              </a:rPr>
              <a:t>a2 </a:t>
            </a:r>
            <a:r>
              <a:rPr lang="en-US" altLang="en-US" sz="2800" b="1" dirty="0">
                <a:solidFill>
                  <a:srgbClr val="FF0000"/>
                </a:solidFill>
              </a:rPr>
              <a:t>(H</a:t>
            </a:r>
            <a:r>
              <a:rPr lang="en-US" altLang="en-US" sz="2800" b="1" baseline="-25000" dirty="0">
                <a:solidFill>
                  <a:srgbClr val="FF0000"/>
                </a:solidFill>
              </a:rPr>
              <a:t>2</a:t>
            </a:r>
            <a:r>
              <a:rPr lang="en-US" altLang="en-US" sz="2800" b="1" dirty="0">
                <a:solidFill>
                  <a:srgbClr val="FF0000"/>
                </a:solidFill>
              </a:rPr>
              <a:t>S)</a:t>
            </a:r>
          </a:p>
        </p:txBody>
      </p:sp>
      <p:sp>
        <p:nvSpPr>
          <p:cNvPr id="36871" name="Text Box 9">
            <a:extLst>
              <a:ext uri="{FF2B5EF4-FFF2-40B4-BE49-F238E27FC236}">
                <a16:creationId xmlns:a16="http://schemas.microsoft.com/office/drawing/2014/main" xmlns="" id="{3FF92658-84A5-42A4-90D6-4E42026FFE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4724400"/>
            <a:ext cx="5715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2800"/>
          </a:p>
        </p:txBody>
      </p:sp>
      <p:graphicFrame>
        <p:nvGraphicFramePr>
          <p:cNvPr id="36872" name="Object 10">
            <a:extLst>
              <a:ext uri="{FF2B5EF4-FFF2-40B4-BE49-F238E27FC236}">
                <a16:creationId xmlns:a16="http://schemas.microsoft.com/office/drawing/2014/main" xmlns="" id="{3AC95492-EE3E-4C59-ABAA-DD41BC95CFFA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2362200" y="3763963"/>
          <a:ext cx="4038600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22" name="Equation" r:id="rId5" imgW="1701800" imgH="457200" progId="Equation.3">
                  <p:embed/>
                </p:oleObj>
              </mc:Choice>
              <mc:Fallback>
                <p:oleObj name="Equation" r:id="rId5" imgW="1701800" imgH="4572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3763963"/>
                        <a:ext cx="4038600" cy="108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3" name="Text Box 12">
            <a:extLst>
              <a:ext uri="{FF2B5EF4-FFF2-40B4-BE49-F238E27FC236}">
                <a16:creationId xmlns:a16="http://schemas.microsoft.com/office/drawing/2014/main" xmlns="" id="{815C6AE2-D8FA-4D63-81C0-31C1199A89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981575"/>
            <a:ext cx="8991600" cy="1169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dirty="0">
                <a:solidFill>
                  <a:srgbClr val="9933FF"/>
                </a:solidFill>
                <a:cs typeface="Arial" panose="020B0604020202020204" pitchFamily="34" charset="0"/>
              </a:rPr>
              <a:t>              </a:t>
            </a:r>
            <a:r>
              <a:rPr lang="en-US" altLang="en-US" sz="2800" dirty="0">
                <a:solidFill>
                  <a:srgbClr val="CC00FF"/>
                </a:solidFill>
                <a:cs typeface="Arial" panose="020B0604020202020204" pitchFamily="34" charset="0"/>
              </a:rPr>
              <a:t>∆G</a:t>
            </a:r>
            <a:r>
              <a:rPr lang="en-US" altLang="en-US" sz="2800" baseline="30000" dirty="0">
                <a:solidFill>
                  <a:srgbClr val="CC00FF"/>
                </a:solidFill>
                <a:cs typeface="Arial" panose="020B0604020202020204" pitchFamily="34" charset="0"/>
              </a:rPr>
              <a:t>0</a:t>
            </a:r>
            <a:r>
              <a:rPr lang="en-US" altLang="en-US" sz="2800" baseline="-25000" dirty="0">
                <a:solidFill>
                  <a:srgbClr val="CC00FF"/>
                </a:solidFill>
                <a:cs typeface="Arial" panose="020B0604020202020204" pitchFamily="34" charset="0"/>
              </a:rPr>
              <a:t>298</a:t>
            </a:r>
            <a:r>
              <a:rPr lang="en-US" altLang="en-US" sz="2800" dirty="0">
                <a:solidFill>
                  <a:srgbClr val="CC00FF"/>
                </a:solidFill>
                <a:cs typeface="Arial" panose="020B0604020202020204" pitchFamily="34" charset="0"/>
              </a:rPr>
              <a:t>= -</a:t>
            </a:r>
            <a:r>
              <a:rPr lang="en-US" altLang="en-US" sz="2800" dirty="0" err="1">
                <a:solidFill>
                  <a:srgbClr val="CC00FF"/>
                </a:solidFill>
                <a:cs typeface="Arial" panose="020B0604020202020204" pitchFamily="34" charset="0"/>
              </a:rPr>
              <a:t>RTlnK</a:t>
            </a:r>
            <a:r>
              <a:rPr lang="en-US" altLang="en-US" sz="2800" dirty="0">
                <a:solidFill>
                  <a:srgbClr val="CC00FF"/>
                </a:solidFill>
                <a:cs typeface="Arial" panose="020B0604020202020204" pitchFamily="34" charset="0"/>
              </a:rPr>
              <a:t> =  +164,328kJ &gt; +40 kJ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dirty="0">
                <a:solidFill>
                  <a:srgbClr val="C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 dirty="0">
                <a:solidFill>
                  <a:srgbClr val="C00000"/>
                </a:solidFill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</a:rPr>
              <a:t>Pư</a:t>
            </a:r>
            <a:r>
              <a:rPr lang="en-US" altLang="en-US" sz="2800" dirty="0">
                <a:solidFill>
                  <a:srgbClr val="C00000"/>
                </a:solidFill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</a:rPr>
              <a:t>có</a:t>
            </a:r>
            <a:r>
              <a:rPr lang="en-US" altLang="en-US" sz="2800" dirty="0">
                <a:solidFill>
                  <a:srgbClr val="C00000"/>
                </a:solidFill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</a:rPr>
              <a:t>khả</a:t>
            </a:r>
            <a:r>
              <a:rPr lang="en-US" altLang="en-US" sz="2800" dirty="0">
                <a:solidFill>
                  <a:srgbClr val="C00000"/>
                </a:solidFill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</a:rPr>
              <a:t>năng</a:t>
            </a:r>
            <a:r>
              <a:rPr lang="en-US" altLang="en-US" sz="2800" dirty="0">
                <a:solidFill>
                  <a:srgbClr val="C00000"/>
                </a:solidFill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  <a:cs typeface="Arial" panose="020B0604020202020204" pitchFamily="34" charset="0"/>
              </a:rPr>
              <a:t>tự</a:t>
            </a:r>
            <a:r>
              <a:rPr lang="en-US" altLang="en-US" sz="2800" dirty="0">
                <a:solidFill>
                  <a:srgbClr val="C00000"/>
                </a:solidFill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  <a:cs typeface="Arial" panose="020B0604020202020204" pitchFamily="34" charset="0"/>
              </a:rPr>
              <a:t>phát</a:t>
            </a:r>
            <a:r>
              <a:rPr lang="en-US" altLang="en-US" sz="2800" dirty="0">
                <a:solidFill>
                  <a:srgbClr val="C00000"/>
                </a:solidFill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  <a:cs typeface="Arial" panose="020B0604020202020204" pitchFamily="34" charset="0"/>
              </a:rPr>
              <a:t>hoàn</a:t>
            </a:r>
            <a:r>
              <a:rPr lang="en-US" altLang="en-US" sz="2800" dirty="0">
                <a:solidFill>
                  <a:srgbClr val="C00000"/>
                </a:solidFill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  <a:cs typeface="Arial" panose="020B0604020202020204" pitchFamily="34" charset="0"/>
              </a:rPr>
              <a:t>toàn</a:t>
            </a:r>
            <a:r>
              <a:rPr lang="en-US" altLang="en-US" sz="2800" dirty="0">
                <a:solidFill>
                  <a:srgbClr val="C00000"/>
                </a:solidFill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  <a:cs typeface="Arial" panose="020B0604020202020204" pitchFamily="34" charset="0"/>
              </a:rPr>
              <a:t>theo</a:t>
            </a:r>
            <a:r>
              <a:rPr lang="en-US" altLang="en-US" sz="2800" dirty="0">
                <a:solidFill>
                  <a:srgbClr val="C00000"/>
                </a:solidFill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  <a:cs typeface="Arial" panose="020B0604020202020204" pitchFamily="34" charset="0"/>
              </a:rPr>
              <a:t>chiều</a:t>
            </a:r>
            <a:r>
              <a:rPr lang="en-US" altLang="en-US" sz="2800" dirty="0">
                <a:solidFill>
                  <a:srgbClr val="C00000"/>
                </a:solidFill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  <a:cs typeface="Arial" panose="020B0604020202020204" pitchFamily="34" charset="0"/>
              </a:rPr>
              <a:t>nghịch</a:t>
            </a:r>
            <a:r>
              <a:rPr lang="en-US" altLang="en-US" sz="2800" dirty="0">
                <a:solidFill>
                  <a:srgbClr val="C00000"/>
                </a:solidFill>
                <a:cs typeface="Arial" panose="020B0604020202020204" pitchFamily="34" charset="0"/>
              </a:rPr>
              <a:t>.</a:t>
            </a:r>
          </a:p>
        </p:txBody>
      </p:sp>
      <p:sp>
        <p:nvSpPr>
          <p:cNvPr id="36874" name="Text Box 8">
            <a:extLst>
              <a:ext uri="{FF2B5EF4-FFF2-40B4-BE49-F238E27FC236}">
                <a16:creationId xmlns:a16="http://schemas.microsoft.com/office/drawing/2014/main" xmlns="" id="{4B7E13CD-2F01-46A4-92C9-548773D91E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929043"/>
            <a:ext cx="6019800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i="1" dirty="0" err="1">
                <a:solidFill>
                  <a:srgbClr val="006600"/>
                </a:solidFill>
              </a:rPr>
              <a:t>Pư</a:t>
            </a:r>
            <a:r>
              <a:rPr lang="en-US" altLang="en-US" sz="2800" i="1" dirty="0">
                <a:solidFill>
                  <a:srgbClr val="006600"/>
                </a:solidFill>
              </a:rPr>
              <a:t> </a:t>
            </a:r>
            <a:r>
              <a:rPr lang="en-US" altLang="en-US" sz="2800" i="1" dirty="0" err="1">
                <a:solidFill>
                  <a:srgbClr val="006600"/>
                </a:solidFill>
              </a:rPr>
              <a:t>có</a:t>
            </a:r>
            <a:r>
              <a:rPr lang="en-US" altLang="en-US" sz="2800" i="1" dirty="0">
                <a:solidFill>
                  <a:srgbClr val="006600"/>
                </a:solidFill>
              </a:rPr>
              <a:t> ion đ</a:t>
            </a:r>
            <a:r>
              <a:rPr lang="vi-VN" altLang="en-US" sz="2800" i="1" dirty="0">
                <a:solidFill>
                  <a:srgbClr val="006600"/>
                </a:solidFill>
              </a:rPr>
              <a:t>ơ</a:t>
            </a:r>
            <a:r>
              <a:rPr lang="en-US" altLang="en-US" sz="2800" i="1" dirty="0">
                <a:solidFill>
                  <a:srgbClr val="006600"/>
                </a:solidFill>
              </a:rPr>
              <a:t>n </a:t>
            </a:r>
            <a:r>
              <a:rPr lang="en-US" altLang="en-US" sz="2800" i="1" dirty="0" err="1">
                <a:solidFill>
                  <a:srgbClr val="006600"/>
                </a:solidFill>
              </a:rPr>
              <a:t>giản</a:t>
            </a:r>
            <a:r>
              <a:rPr lang="en-US" altLang="en-US" sz="2800" i="1" dirty="0">
                <a:solidFill>
                  <a:srgbClr val="006600"/>
                </a:solidFill>
              </a:rPr>
              <a:t>, </a:t>
            </a:r>
            <a:r>
              <a:rPr lang="en-US" altLang="en-US" sz="2800" i="1" dirty="0" err="1">
                <a:solidFill>
                  <a:srgbClr val="006600"/>
                </a:solidFill>
              </a:rPr>
              <a:t>axit</a:t>
            </a:r>
            <a:r>
              <a:rPr lang="en-US" altLang="en-US" sz="2800" i="1" dirty="0">
                <a:solidFill>
                  <a:srgbClr val="006600"/>
                </a:solidFill>
              </a:rPr>
              <a:t>, base, </a:t>
            </a:r>
            <a:r>
              <a:rPr lang="en-US" altLang="en-US" sz="2800" i="1" dirty="0" err="1">
                <a:solidFill>
                  <a:srgbClr val="006600"/>
                </a:solidFill>
              </a:rPr>
              <a:t>đly</a:t>
            </a:r>
            <a:r>
              <a:rPr lang="en-US" altLang="en-US" sz="2800" i="1" dirty="0">
                <a:solidFill>
                  <a:srgbClr val="006600"/>
                </a:solidFill>
              </a:rPr>
              <a:t> </a:t>
            </a:r>
            <a:r>
              <a:rPr lang="en-US" altLang="en-US" sz="2800" i="1" dirty="0" err="1">
                <a:solidFill>
                  <a:srgbClr val="006600"/>
                </a:solidFill>
              </a:rPr>
              <a:t>khó</a:t>
            </a:r>
            <a:r>
              <a:rPr lang="en-US" altLang="en-US" sz="2800" i="1" dirty="0">
                <a:solidFill>
                  <a:srgbClr val="006600"/>
                </a:solidFill>
              </a:rPr>
              <a:t> tan, H</a:t>
            </a:r>
            <a:r>
              <a:rPr lang="en-US" altLang="en-US" sz="2800" i="1" baseline="-25000" dirty="0">
                <a:solidFill>
                  <a:srgbClr val="006600"/>
                </a:solidFill>
              </a:rPr>
              <a:t>2</a:t>
            </a:r>
            <a:r>
              <a:rPr lang="en-US" altLang="en-US" sz="2800" i="1" dirty="0">
                <a:solidFill>
                  <a:srgbClr val="006600"/>
                </a:solidFill>
              </a:rPr>
              <a:t>O,không </a:t>
            </a:r>
            <a:r>
              <a:rPr lang="en-US" altLang="en-US" sz="2800" i="1" dirty="0" err="1">
                <a:solidFill>
                  <a:srgbClr val="006600"/>
                </a:solidFill>
              </a:rPr>
              <a:t>có</a:t>
            </a:r>
            <a:r>
              <a:rPr lang="en-US" altLang="en-US" sz="2800" i="1" dirty="0">
                <a:solidFill>
                  <a:srgbClr val="006600"/>
                </a:solidFill>
              </a:rPr>
              <a:t> </a:t>
            </a:r>
            <a:r>
              <a:rPr lang="en-US" altLang="en-US" sz="2800" i="1" dirty="0" err="1">
                <a:solidFill>
                  <a:srgbClr val="006600"/>
                </a:solidFill>
              </a:rPr>
              <a:t>chất</a:t>
            </a:r>
            <a:r>
              <a:rPr lang="en-US" altLang="en-US" sz="2800" i="1" dirty="0">
                <a:solidFill>
                  <a:srgbClr val="006600"/>
                </a:solidFill>
              </a:rPr>
              <a:t> </a:t>
            </a:r>
            <a:r>
              <a:rPr lang="en-US" altLang="en-US" sz="2800" i="1" dirty="0" err="1">
                <a:solidFill>
                  <a:srgbClr val="006600"/>
                </a:solidFill>
              </a:rPr>
              <a:t>khí</a:t>
            </a:r>
            <a:r>
              <a:rPr lang="en-US" altLang="en-US" sz="2800" i="1" dirty="0">
                <a:solidFill>
                  <a:srgbClr val="006600"/>
                </a:solidFill>
              </a:rPr>
              <a:t>.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i="1" dirty="0">
                <a:solidFill>
                  <a:srgbClr val="006600"/>
                </a:solidFill>
              </a:rPr>
              <a:t>K = K</a:t>
            </a:r>
            <a:r>
              <a:rPr lang="en-US" altLang="en-US" sz="2800" i="1" baseline="-25000" dirty="0">
                <a:solidFill>
                  <a:srgbClr val="006600"/>
                </a:solidFill>
              </a:rPr>
              <a:t>a ,</a:t>
            </a:r>
            <a:r>
              <a:rPr lang="en-US" altLang="en-US" sz="2800" i="1" dirty="0">
                <a:solidFill>
                  <a:srgbClr val="006600"/>
                </a:solidFill>
              </a:rPr>
              <a:t> </a:t>
            </a:r>
            <a:r>
              <a:rPr lang="en-US" altLang="en-US" sz="2800" i="1" dirty="0" err="1">
                <a:solidFill>
                  <a:srgbClr val="006600"/>
                </a:solidFill>
              </a:rPr>
              <a:t>K</a:t>
            </a:r>
            <a:r>
              <a:rPr lang="en-US" altLang="en-US" sz="2800" i="1" baseline="-25000" dirty="0" err="1">
                <a:solidFill>
                  <a:srgbClr val="006600"/>
                </a:solidFill>
              </a:rPr>
              <a:t>b</a:t>
            </a:r>
            <a:r>
              <a:rPr lang="en-US" altLang="en-US" sz="2800" i="1" dirty="0">
                <a:solidFill>
                  <a:srgbClr val="006600"/>
                </a:solidFill>
              </a:rPr>
              <a:t> , </a:t>
            </a:r>
            <a:r>
              <a:rPr lang="en-US" altLang="en-US" sz="2800" i="1" dirty="0" err="1">
                <a:solidFill>
                  <a:srgbClr val="006600"/>
                </a:solidFill>
              </a:rPr>
              <a:t>K</a:t>
            </a:r>
            <a:r>
              <a:rPr lang="en-US" altLang="en-US" sz="2800" i="1" baseline="-25000" dirty="0" err="1">
                <a:solidFill>
                  <a:srgbClr val="006600"/>
                </a:solidFill>
              </a:rPr>
              <a:t>n</a:t>
            </a:r>
            <a:r>
              <a:rPr lang="en-US" altLang="en-US" sz="2800" i="1" dirty="0">
                <a:solidFill>
                  <a:srgbClr val="006600"/>
                </a:solidFill>
              </a:rPr>
              <a:t> ,T</a:t>
            </a:r>
            <a:r>
              <a:rPr lang="en-US" altLang="en-US" sz="2800" i="1" baseline="-25000" dirty="0">
                <a:solidFill>
                  <a:srgbClr val="006600"/>
                </a:solidFill>
              </a:rPr>
              <a:t> </a:t>
            </a:r>
            <a:r>
              <a:rPr lang="en-US" altLang="en-US" sz="2800" i="1" dirty="0">
                <a:solidFill>
                  <a:srgbClr val="006600"/>
                </a:solidFill>
              </a:rPr>
              <a:t>..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9" grpId="0"/>
      <p:bldP spid="36870" grpId="0"/>
      <p:bldP spid="3687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F9A3161-F155-421F-B21B-42DDF62A45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" y="609600"/>
            <a:ext cx="9067800" cy="1216241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 err="1">
                <a:solidFill>
                  <a:srgbClr val="CC00FF"/>
                </a:solidFill>
              </a:rPr>
              <a:t>Thiết</a:t>
            </a:r>
            <a:r>
              <a:rPr lang="en-US" dirty="0">
                <a:solidFill>
                  <a:srgbClr val="CC00FF"/>
                </a:solidFill>
              </a:rPr>
              <a:t> </a:t>
            </a:r>
            <a:r>
              <a:rPr lang="en-US" dirty="0" err="1">
                <a:solidFill>
                  <a:srgbClr val="CC00FF"/>
                </a:solidFill>
              </a:rPr>
              <a:t>lập</a:t>
            </a:r>
            <a:r>
              <a:rPr lang="en-US" dirty="0">
                <a:solidFill>
                  <a:srgbClr val="CC00FF"/>
                </a:solidFill>
              </a:rPr>
              <a:t> </a:t>
            </a:r>
            <a:r>
              <a:rPr lang="en-US" dirty="0" err="1">
                <a:solidFill>
                  <a:srgbClr val="CC00FF"/>
                </a:solidFill>
              </a:rPr>
              <a:t>biểu</a:t>
            </a:r>
            <a:r>
              <a:rPr lang="en-US" dirty="0">
                <a:solidFill>
                  <a:srgbClr val="CC00FF"/>
                </a:solidFill>
              </a:rPr>
              <a:t> </a:t>
            </a:r>
            <a:r>
              <a:rPr lang="en-US" dirty="0" err="1">
                <a:solidFill>
                  <a:srgbClr val="CC00FF"/>
                </a:solidFill>
              </a:rPr>
              <a:t>thức</a:t>
            </a:r>
            <a:r>
              <a:rPr lang="en-US" dirty="0">
                <a:solidFill>
                  <a:srgbClr val="CC00FF"/>
                </a:solidFill>
              </a:rPr>
              <a:t> </a:t>
            </a:r>
            <a:r>
              <a:rPr lang="en-US" dirty="0" err="1">
                <a:solidFill>
                  <a:srgbClr val="CC00FF"/>
                </a:solidFill>
              </a:rPr>
              <a:t>hằng</a:t>
            </a:r>
            <a:r>
              <a:rPr lang="en-US" dirty="0">
                <a:solidFill>
                  <a:srgbClr val="CC00FF"/>
                </a:solidFill>
              </a:rPr>
              <a:t> </a:t>
            </a:r>
            <a:r>
              <a:rPr lang="en-US" dirty="0" err="1">
                <a:solidFill>
                  <a:srgbClr val="CC00FF"/>
                </a:solidFill>
              </a:rPr>
              <a:t>số</a:t>
            </a:r>
            <a:r>
              <a:rPr lang="en-US" dirty="0">
                <a:solidFill>
                  <a:srgbClr val="CC00FF"/>
                </a:solidFill>
              </a:rPr>
              <a:t> </a:t>
            </a:r>
            <a:r>
              <a:rPr lang="en-US" dirty="0" err="1">
                <a:solidFill>
                  <a:srgbClr val="CC00FF"/>
                </a:solidFill>
              </a:rPr>
              <a:t>cân</a:t>
            </a:r>
            <a:r>
              <a:rPr lang="en-US" dirty="0">
                <a:solidFill>
                  <a:srgbClr val="CC00FF"/>
                </a:solidFill>
              </a:rPr>
              <a:t> </a:t>
            </a:r>
            <a:r>
              <a:rPr lang="en-US" dirty="0" err="1">
                <a:solidFill>
                  <a:srgbClr val="CC00FF"/>
                </a:solidFill>
              </a:rPr>
              <a:t>bằng</a:t>
            </a:r>
            <a:r>
              <a:rPr lang="en-US" dirty="0">
                <a:solidFill>
                  <a:srgbClr val="CC00FF"/>
                </a:solidFill>
              </a:rPr>
              <a:t> </a:t>
            </a:r>
            <a:r>
              <a:rPr lang="en-US" dirty="0" err="1">
                <a:solidFill>
                  <a:srgbClr val="CC00FF"/>
                </a:solidFill>
              </a:rPr>
              <a:t>của</a:t>
            </a:r>
            <a:r>
              <a:rPr lang="en-US" dirty="0">
                <a:solidFill>
                  <a:srgbClr val="CC00FF"/>
                </a:solidFill>
              </a:rPr>
              <a:t> p</a:t>
            </a:r>
            <a:r>
              <a:rPr lang="vi-VN" dirty="0">
                <a:solidFill>
                  <a:srgbClr val="CC00FF"/>
                </a:solidFill>
              </a:rPr>
              <a:t>ư</a:t>
            </a:r>
            <a:r>
              <a:rPr lang="en-US" dirty="0">
                <a:solidFill>
                  <a:srgbClr val="CC00FF"/>
                </a:solidFill>
              </a:rPr>
              <a:t>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0000FF"/>
                </a:solidFill>
              </a:rPr>
              <a:t>NH</a:t>
            </a:r>
            <a:r>
              <a:rPr lang="en-US" sz="2400" baseline="-25000" dirty="0">
                <a:solidFill>
                  <a:srgbClr val="0000FF"/>
                </a:solidFill>
              </a:rPr>
              <a:t>4</a:t>
            </a:r>
            <a:r>
              <a:rPr lang="en-US" sz="2400" dirty="0">
                <a:solidFill>
                  <a:srgbClr val="FF0000"/>
                </a:solidFill>
              </a:rPr>
              <a:t>Cl</a:t>
            </a:r>
            <a:r>
              <a:rPr lang="en-US" sz="2400" dirty="0"/>
              <a:t>(dd)+ </a:t>
            </a:r>
            <a:r>
              <a:rPr lang="en-US" sz="2400" dirty="0">
                <a:solidFill>
                  <a:srgbClr val="0000FF"/>
                </a:solidFill>
              </a:rPr>
              <a:t>Na</a:t>
            </a:r>
            <a:r>
              <a:rPr lang="en-US" sz="2400" baseline="-25000" dirty="0">
                <a:solidFill>
                  <a:srgbClr val="0000FF"/>
                </a:solidFill>
              </a:rPr>
              <a:t>2</a:t>
            </a:r>
            <a:r>
              <a:rPr lang="en-US" sz="2400" dirty="0">
                <a:solidFill>
                  <a:srgbClr val="FF0000"/>
                </a:solidFill>
              </a:rPr>
              <a:t>S</a:t>
            </a:r>
            <a:r>
              <a:rPr lang="en-US" sz="2400" dirty="0"/>
              <a:t>(dd)+ H</a:t>
            </a:r>
            <a:r>
              <a:rPr lang="en-US" sz="2400" baseline="-25000" dirty="0"/>
              <a:t>2</a:t>
            </a:r>
            <a:r>
              <a:rPr lang="en-US" sz="2400" dirty="0"/>
              <a:t>O = NH</a:t>
            </a:r>
            <a:r>
              <a:rPr lang="en-US" sz="2400" baseline="-25000" dirty="0"/>
              <a:t>4</a:t>
            </a:r>
            <a:r>
              <a:rPr lang="en-US" sz="2400" dirty="0"/>
              <a:t>OH(dd)+ </a:t>
            </a:r>
            <a:r>
              <a:rPr lang="en-US" sz="2400" dirty="0" err="1">
                <a:solidFill>
                  <a:srgbClr val="0000FF"/>
                </a:solidFill>
              </a:rPr>
              <a:t>Na</a:t>
            </a:r>
            <a:r>
              <a:rPr lang="en-US" sz="2400" dirty="0" err="1">
                <a:solidFill>
                  <a:srgbClr val="FF0000"/>
                </a:solidFill>
              </a:rPr>
              <a:t>HS</a:t>
            </a:r>
            <a:r>
              <a:rPr lang="en-US" sz="2400" dirty="0"/>
              <a:t>(dd)+ </a:t>
            </a:r>
            <a:r>
              <a:rPr lang="en-US" sz="2400" dirty="0">
                <a:solidFill>
                  <a:srgbClr val="0000FF"/>
                </a:solidFill>
              </a:rPr>
              <a:t>Na</a:t>
            </a:r>
            <a:r>
              <a:rPr lang="en-US" sz="2400" dirty="0">
                <a:solidFill>
                  <a:srgbClr val="FF0000"/>
                </a:solidFill>
              </a:rPr>
              <a:t>Cl</a:t>
            </a:r>
            <a:r>
              <a:rPr lang="en-US" sz="2400" dirty="0"/>
              <a:t>(dd)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19B413B0-46AB-4A4B-ADC4-43F009D5B7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4800" y="2209800"/>
            <a:ext cx="8115300" cy="691717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</a:rPr>
              <a:t>NH</a:t>
            </a:r>
            <a:r>
              <a:rPr lang="en-US" baseline="-25000" dirty="0">
                <a:solidFill>
                  <a:srgbClr val="0000FF"/>
                </a:solidFill>
              </a:rPr>
              <a:t>4</a:t>
            </a:r>
            <a:r>
              <a:rPr lang="en-US" baseline="30000" dirty="0">
                <a:solidFill>
                  <a:srgbClr val="0000FF"/>
                </a:solidFill>
              </a:rPr>
              <a:t>+</a:t>
            </a:r>
            <a:r>
              <a:rPr lang="en-US" dirty="0"/>
              <a:t>(dd)+ </a:t>
            </a:r>
            <a:r>
              <a:rPr lang="en-US" dirty="0">
                <a:solidFill>
                  <a:srgbClr val="FF0000"/>
                </a:solidFill>
              </a:rPr>
              <a:t>S</a:t>
            </a:r>
            <a:r>
              <a:rPr lang="en-US" baseline="30000" dirty="0">
                <a:solidFill>
                  <a:srgbClr val="FF0000"/>
                </a:solidFill>
              </a:rPr>
              <a:t>2-</a:t>
            </a:r>
            <a:r>
              <a:rPr lang="en-US" dirty="0"/>
              <a:t>(dd)+ H</a:t>
            </a:r>
            <a:r>
              <a:rPr lang="en-US" baseline="-25000" dirty="0"/>
              <a:t>2</a:t>
            </a:r>
            <a:r>
              <a:rPr lang="en-US" dirty="0"/>
              <a:t>O = NH</a:t>
            </a:r>
            <a:r>
              <a:rPr lang="en-US" baseline="-25000" dirty="0"/>
              <a:t>4</a:t>
            </a:r>
            <a:r>
              <a:rPr lang="en-US" dirty="0"/>
              <a:t>OH(dd)+ </a:t>
            </a:r>
            <a:r>
              <a:rPr lang="en-US" dirty="0">
                <a:solidFill>
                  <a:srgbClr val="FF0000"/>
                </a:solidFill>
              </a:rPr>
              <a:t>HS</a:t>
            </a:r>
            <a:r>
              <a:rPr lang="en-US" baseline="30000" dirty="0">
                <a:solidFill>
                  <a:srgbClr val="FF0000"/>
                </a:solidFill>
              </a:rPr>
              <a:t>-</a:t>
            </a:r>
            <a:r>
              <a:rPr lang="en-US" dirty="0"/>
              <a:t>(dd)</a:t>
            </a:r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2B9F2676-8E70-4223-90E6-D758939F6D91}"/>
                  </a:ext>
                </a:extLst>
              </p:cNvPr>
              <p:cNvSpPr txBox="1"/>
              <p:nvPr/>
            </p:nvSpPr>
            <p:spPr>
              <a:xfrm>
                <a:off x="1676400" y="3657600"/>
                <a:ext cx="6629400" cy="10400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>
                    <a:solidFill>
                      <a:srgbClr val="C00000"/>
                    </a:solidFill>
                  </a:rPr>
                  <a:t>K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b="1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3600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3600" b="1" i="1">
                                    <a:solidFill>
                                      <a:srgbClr val="C0000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3600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𝑲</m:t>
                                </m:r>
                              </m:e>
                              <m:sub>
                                <m:r>
                                  <a:rPr lang="en-US" sz="3600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sub>
                            </m:sSub>
                            <m:r>
                              <a:rPr lang="en-US" sz="3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   </m:t>
                            </m:r>
                          </m:e>
                          <m:sub>
                            <m:r>
                              <a:rPr lang="en-US" sz="3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3600" b="1" i="1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36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𝑲</m:t>
                            </m:r>
                          </m:e>
                          <m:sub>
                            <m:r>
                              <a:rPr lang="en-US" sz="36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  <m:r>
                              <a:rPr lang="en-US" sz="36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3600" b="1" i="1">
                                    <a:solidFill>
                                      <a:srgbClr val="C0000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3600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𝑵𝑯</m:t>
                                </m:r>
                              </m:e>
                              <m:sub>
                                <m:r>
                                  <a:rPr lang="en-US" sz="3600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  <m:r>
                              <a:rPr lang="en-US" sz="36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𝑶𝑯</m:t>
                            </m:r>
                          </m:sub>
                        </m:sSub>
                        <m:sSub>
                          <m:sSubPr>
                            <m:ctrlPr>
                              <a:rPr lang="en-US" sz="3600" b="1" i="1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36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sz="36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𝑲</m:t>
                            </m:r>
                          </m:e>
                          <m:sub>
                            <m:r>
                              <a:rPr lang="en-US" sz="36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sz="3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sz="36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3600" b="1" i="1">
                                    <a:solidFill>
                                      <a:srgbClr val="C0000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3600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𝑯</m:t>
                                </m:r>
                              </m:e>
                              <m:sub>
                                <m:r>
                                  <a:rPr lang="en-US" sz="3600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sz="36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𝑺</m:t>
                            </m:r>
                          </m:sub>
                        </m:sSub>
                      </m:den>
                    </m:f>
                  </m:oMath>
                </a14:m>
                <a:endParaRPr lang="en-US" sz="36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2B9F2676-8E70-4223-90E6-D758939F6D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400" y="3657600"/>
                <a:ext cx="6629400" cy="1040028"/>
              </a:xfrm>
              <a:prstGeom prst="rect">
                <a:avLst/>
              </a:prstGeom>
              <a:blipFill rotWithShape="1">
                <a:blip r:embed="rId2"/>
                <a:stretch>
                  <a:fillRect l="-27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3489960" y="2743199"/>
            <a:ext cx="60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dirty="0" smtClean="0">
                <a:solidFill>
                  <a:srgbClr val="C00000"/>
                </a:solidFill>
              </a:rPr>
              <a:t>K</a:t>
            </a:r>
            <a:r>
              <a:rPr lang="vi-VN" sz="3200" baseline="-25000" dirty="0" smtClean="0">
                <a:solidFill>
                  <a:srgbClr val="C00000"/>
                </a:solidFill>
              </a:rPr>
              <a:t>n</a:t>
            </a: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29400" y="2743200"/>
            <a:ext cx="91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dirty="0" smtClean="0">
                <a:solidFill>
                  <a:srgbClr val="C00000"/>
                </a:solidFill>
              </a:rPr>
              <a:t>K</a:t>
            </a:r>
            <a:r>
              <a:rPr lang="vi-VN" sz="3200" baseline="-25000" dirty="0" smtClean="0">
                <a:solidFill>
                  <a:srgbClr val="C00000"/>
                </a:solidFill>
              </a:rPr>
              <a:t>a2</a:t>
            </a:r>
            <a:endParaRPr lang="en-US" sz="3200" baseline="-25000" dirty="0">
              <a:solidFill>
                <a:srgbClr val="C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800600" y="2743200"/>
            <a:ext cx="60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dirty="0" smtClean="0">
                <a:solidFill>
                  <a:srgbClr val="C00000"/>
                </a:solidFill>
              </a:rPr>
              <a:t>K</a:t>
            </a:r>
            <a:r>
              <a:rPr lang="vi-VN" sz="3200" baseline="-25000" dirty="0">
                <a:solidFill>
                  <a:srgbClr val="C00000"/>
                </a:solidFill>
              </a:rPr>
              <a:t>b</a:t>
            </a:r>
            <a:endParaRPr lang="en-US" sz="3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454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/>
      <p:bldP spid="2" grpId="0"/>
      <p:bldP spid="6" grpId="0"/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B2DA8F1-E031-4722-949E-C55DAD177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60" y="1066800"/>
            <a:ext cx="8991600" cy="1143000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en-US" sz="3200" dirty="0" err="1">
                <a:solidFill>
                  <a:srgbClr val="CC00FF"/>
                </a:solidFill>
              </a:rPr>
              <a:t>Thiết</a:t>
            </a:r>
            <a:r>
              <a:rPr lang="en-US" sz="3200" dirty="0">
                <a:solidFill>
                  <a:srgbClr val="CC00FF"/>
                </a:solidFill>
              </a:rPr>
              <a:t> </a:t>
            </a:r>
            <a:r>
              <a:rPr lang="en-US" sz="3200" dirty="0" err="1">
                <a:solidFill>
                  <a:srgbClr val="CC00FF"/>
                </a:solidFill>
              </a:rPr>
              <a:t>lập</a:t>
            </a:r>
            <a:r>
              <a:rPr lang="en-US" sz="3200" dirty="0">
                <a:solidFill>
                  <a:srgbClr val="CC00FF"/>
                </a:solidFill>
              </a:rPr>
              <a:t> </a:t>
            </a:r>
            <a:r>
              <a:rPr lang="en-US" sz="3200" dirty="0" err="1">
                <a:solidFill>
                  <a:srgbClr val="CC00FF"/>
                </a:solidFill>
              </a:rPr>
              <a:t>biểu</a:t>
            </a:r>
            <a:r>
              <a:rPr lang="en-US" sz="3200" dirty="0">
                <a:solidFill>
                  <a:srgbClr val="CC00FF"/>
                </a:solidFill>
              </a:rPr>
              <a:t> </a:t>
            </a:r>
            <a:r>
              <a:rPr lang="en-US" sz="3200" dirty="0" err="1">
                <a:solidFill>
                  <a:srgbClr val="CC00FF"/>
                </a:solidFill>
              </a:rPr>
              <a:t>thức</a:t>
            </a:r>
            <a:r>
              <a:rPr lang="en-US" sz="3200" dirty="0">
                <a:solidFill>
                  <a:srgbClr val="CC00FF"/>
                </a:solidFill>
              </a:rPr>
              <a:t> </a:t>
            </a:r>
            <a:r>
              <a:rPr lang="en-US" sz="3200" dirty="0" err="1">
                <a:solidFill>
                  <a:srgbClr val="CC00FF"/>
                </a:solidFill>
              </a:rPr>
              <a:t>hằng</a:t>
            </a:r>
            <a:r>
              <a:rPr lang="en-US" sz="3200" dirty="0">
                <a:solidFill>
                  <a:srgbClr val="CC00FF"/>
                </a:solidFill>
              </a:rPr>
              <a:t> </a:t>
            </a:r>
            <a:r>
              <a:rPr lang="en-US" sz="3200" dirty="0" err="1">
                <a:solidFill>
                  <a:srgbClr val="CC00FF"/>
                </a:solidFill>
              </a:rPr>
              <a:t>số</a:t>
            </a:r>
            <a:r>
              <a:rPr lang="en-US" sz="3200" dirty="0">
                <a:solidFill>
                  <a:srgbClr val="CC00FF"/>
                </a:solidFill>
              </a:rPr>
              <a:t> </a:t>
            </a:r>
            <a:r>
              <a:rPr lang="en-US" sz="3200" dirty="0" err="1">
                <a:solidFill>
                  <a:srgbClr val="CC00FF"/>
                </a:solidFill>
              </a:rPr>
              <a:t>cân</a:t>
            </a:r>
            <a:r>
              <a:rPr lang="en-US" sz="3200" dirty="0">
                <a:solidFill>
                  <a:srgbClr val="CC00FF"/>
                </a:solidFill>
              </a:rPr>
              <a:t> </a:t>
            </a:r>
            <a:r>
              <a:rPr lang="en-US" sz="3200" dirty="0" err="1">
                <a:solidFill>
                  <a:srgbClr val="CC00FF"/>
                </a:solidFill>
              </a:rPr>
              <a:t>bằng</a:t>
            </a:r>
            <a:r>
              <a:rPr lang="en-US" sz="3200" dirty="0">
                <a:solidFill>
                  <a:srgbClr val="CC00FF"/>
                </a:solidFill>
              </a:rPr>
              <a:t> </a:t>
            </a:r>
            <a:r>
              <a:rPr lang="en-US" sz="3200" dirty="0" err="1">
                <a:solidFill>
                  <a:srgbClr val="CC00FF"/>
                </a:solidFill>
              </a:rPr>
              <a:t>của</a:t>
            </a:r>
            <a:r>
              <a:rPr lang="en-US" sz="3200" dirty="0">
                <a:solidFill>
                  <a:srgbClr val="CC00FF"/>
                </a:solidFill>
              </a:rPr>
              <a:t> p</a:t>
            </a:r>
            <a:r>
              <a:rPr lang="vi-VN" sz="3200" dirty="0">
                <a:solidFill>
                  <a:srgbClr val="CC00FF"/>
                </a:solidFill>
              </a:rPr>
              <a:t>ư</a:t>
            </a:r>
            <a:r>
              <a:rPr lang="en-US" sz="3200" dirty="0">
                <a:solidFill>
                  <a:srgbClr val="CC00FF"/>
                </a:solidFill>
              </a:rPr>
              <a:t>:</a:t>
            </a:r>
            <a:br>
              <a:rPr lang="en-US" sz="3200" dirty="0">
                <a:solidFill>
                  <a:srgbClr val="CC00FF"/>
                </a:solidFill>
              </a:rPr>
            </a:br>
            <a:r>
              <a:rPr lang="vi-VN" sz="3000" dirty="0"/>
              <a:t>2</a:t>
            </a:r>
            <a:r>
              <a:rPr lang="vi-VN" sz="3000" dirty="0">
                <a:solidFill>
                  <a:srgbClr val="FF0000"/>
                </a:solidFill>
              </a:rPr>
              <a:t>Na</a:t>
            </a:r>
            <a:r>
              <a:rPr lang="vi-VN" sz="3000" dirty="0">
                <a:solidFill>
                  <a:srgbClr val="0000FF"/>
                </a:solidFill>
              </a:rPr>
              <a:t>H</a:t>
            </a:r>
            <a:r>
              <a:rPr lang="vi-VN" sz="3000" baseline="-25000" dirty="0">
                <a:solidFill>
                  <a:srgbClr val="0000FF"/>
                </a:solidFill>
              </a:rPr>
              <a:t>2</a:t>
            </a:r>
            <a:r>
              <a:rPr lang="vi-VN" sz="3000" dirty="0">
                <a:solidFill>
                  <a:srgbClr val="0000FF"/>
                </a:solidFill>
              </a:rPr>
              <a:t>PO</a:t>
            </a:r>
            <a:r>
              <a:rPr lang="vi-VN" sz="3000" baseline="-25000" dirty="0">
                <a:solidFill>
                  <a:srgbClr val="0000FF"/>
                </a:solidFill>
              </a:rPr>
              <a:t>4</a:t>
            </a:r>
            <a:r>
              <a:rPr lang="vi-VN" sz="3000" dirty="0"/>
              <a:t>(dd) + 3</a:t>
            </a:r>
            <a:r>
              <a:rPr lang="vi-VN" sz="3000" dirty="0">
                <a:solidFill>
                  <a:srgbClr val="FF0000"/>
                </a:solidFill>
              </a:rPr>
              <a:t>Ca</a:t>
            </a:r>
            <a:r>
              <a:rPr lang="vi-VN" sz="3000" dirty="0"/>
              <a:t>(</a:t>
            </a:r>
            <a:r>
              <a:rPr lang="vi-VN" sz="3000" dirty="0">
                <a:solidFill>
                  <a:srgbClr val="0000FF"/>
                </a:solidFill>
              </a:rPr>
              <a:t>CH</a:t>
            </a:r>
            <a:r>
              <a:rPr lang="vi-VN" sz="3000" baseline="-25000" dirty="0">
                <a:solidFill>
                  <a:srgbClr val="0000FF"/>
                </a:solidFill>
              </a:rPr>
              <a:t>3</a:t>
            </a:r>
            <a:r>
              <a:rPr lang="vi-VN" sz="3000" dirty="0">
                <a:solidFill>
                  <a:srgbClr val="0000FF"/>
                </a:solidFill>
              </a:rPr>
              <a:t>COO</a:t>
            </a:r>
            <a:r>
              <a:rPr lang="vi-VN" sz="3000" dirty="0"/>
              <a:t>)</a:t>
            </a:r>
            <a:r>
              <a:rPr lang="vi-VN" sz="3000" baseline="-25000" dirty="0"/>
              <a:t>2</a:t>
            </a:r>
            <a:r>
              <a:rPr lang="vi-VN" sz="3000" dirty="0"/>
              <a:t>(dd) ⇄ Ca</a:t>
            </a:r>
            <a:r>
              <a:rPr lang="vi-VN" sz="3000" baseline="-25000" dirty="0"/>
              <a:t>3</a:t>
            </a:r>
            <a:r>
              <a:rPr lang="vi-VN" sz="3000" dirty="0"/>
              <a:t>(PO</a:t>
            </a:r>
            <a:r>
              <a:rPr lang="vi-VN" sz="3000" baseline="-25000" dirty="0"/>
              <a:t>4</a:t>
            </a:r>
            <a:r>
              <a:rPr lang="vi-VN" sz="3000" dirty="0"/>
              <a:t>)</a:t>
            </a:r>
            <a:r>
              <a:rPr lang="vi-VN" sz="3000" baseline="-25000" dirty="0"/>
              <a:t>2</a:t>
            </a:r>
            <a:r>
              <a:rPr lang="vi-VN" sz="3000" dirty="0"/>
              <a:t>(r) + 2</a:t>
            </a:r>
            <a:r>
              <a:rPr lang="vi-VN" sz="3000" dirty="0">
                <a:solidFill>
                  <a:srgbClr val="FF0000"/>
                </a:solidFill>
              </a:rPr>
              <a:t>Na</a:t>
            </a:r>
            <a:r>
              <a:rPr lang="vi-VN" sz="3000" dirty="0">
                <a:solidFill>
                  <a:srgbClr val="0000FF"/>
                </a:solidFill>
              </a:rPr>
              <a:t>CH</a:t>
            </a:r>
            <a:r>
              <a:rPr lang="vi-VN" sz="3000" baseline="-25000" dirty="0">
                <a:solidFill>
                  <a:srgbClr val="0000FF"/>
                </a:solidFill>
              </a:rPr>
              <a:t>3</a:t>
            </a:r>
            <a:r>
              <a:rPr lang="vi-VN" sz="3000" dirty="0">
                <a:solidFill>
                  <a:srgbClr val="0000FF"/>
                </a:solidFill>
              </a:rPr>
              <a:t>COO</a:t>
            </a:r>
            <a:r>
              <a:rPr lang="vi-VN" sz="3000" dirty="0"/>
              <a:t>(dd) + 4CH</a:t>
            </a:r>
            <a:r>
              <a:rPr lang="vi-VN" sz="3000" baseline="-25000" dirty="0"/>
              <a:t>3</a:t>
            </a:r>
            <a:r>
              <a:rPr lang="vi-VN" sz="3000" dirty="0"/>
              <a:t>COOH(dd)</a:t>
            </a:r>
            <a:r>
              <a:rPr lang="en-US" sz="3000" dirty="0"/>
              <a:t/>
            </a:r>
            <a:br>
              <a:rPr lang="en-US" sz="3000" dirty="0"/>
            </a:br>
            <a:endParaRPr lang="en-US" sz="3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591A48A-9981-4690-8AC6-EFC9EDA57F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51460" y="2982562"/>
            <a:ext cx="8686800" cy="1706563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vi-VN" dirty="0"/>
              <a:t>2</a:t>
            </a:r>
            <a:r>
              <a:rPr lang="vi-VN" dirty="0">
                <a:solidFill>
                  <a:srgbClr val="0000FF"/>
                </a:solidFill>
              </a:rPr>
              <a:t>H</a:t>
            </a:r>
            <a:r>
              <a:rPr lang="vi-VN" baseline="-25000" dirty="0">
                <a:solidFill>
                  <a:srgbClr val="0000FF"/>
                </a:solidFill>
              </a:rPr>
              <a:t>2</a:t>
            </a:r>
            <a:r>
              <a:rPr lang="vi-VN" dirty="0">
                <a:solidFill>
                  <a:srgbClr val="0000FF"/>
                </a:solidFill>
              </a:rPr>
              <a:t>PO</a:t>
            </a:r>
            <a:r>
              <a:rPr lang="vi-VN" baseline="-25000" dirty="0">
                <a:solidFill>
                  <a:srgbClr val="0000FF"/>
                </a:solidFill>
              </a:rPr>
              <a:t>4</a:t>
            </a:r>
            <a:r>
              <a:rPr lang="vi-VN" baseline="30000" dirty="0">
                <a:solidFill>
                  <a:srgbClr val="0000FF"/>
                </a:solidFill>
              </a:rPr>
              <a:t>-</a:t>
            </a:r>
            <a:r>
              <a:rPr lang="vi-VN" dirty="0"/>
              <a:t>(dd) + 3</a:t>
            </a:r>
            <a:r>
              <a:rPr lang="vi-VN" dirty="0">
                <a:solidFill>
                  <a:srgbClr val="FF0000"/>
                </a:solidFill>
              </a:rPr>
              <a:t>Ca</a:t>
            </a:r>
            <a:r>
              <a:rPr lang="en-US" baseline="30000" dirty="0">
                <a:solidFill>
                  <a:srgbClr val="FF0000"/>
                </a:solidFill>
              </a:rPr>
              <a:t>2+</a:t>
            </a:r>
            <a:r>
              <a:rPr lang="en-US" dirty="0">
                <a:solidFill>
                  <a:srgbClr val="FF0000"/>
                </a:solidFill>
              </a:rPr>
              <a:t>(dd) + 4</a:t>
            </a:r>
            <a:r>
              <a:rPr lang="vi-VN" dirty="0">
                <a:solidFill>
                  <a:srgbClr val="0000FF"/>
                </a:solidFill>
              </a:rPr>
              <a:t>CH</a:t>
            </a:r>
            <a:r>
              <a:rPr lang="vi-VN" baseline="-25000" dirty="0">
                <a:solidFill>
                  <a:srgbClr val="0000FF"/>
                </a:solidFill>
              </a:rPr>
              <a:t>3</a:t>
            </a:r>
            <a:r>
              <a:rPr lang="vi-VN" dirty="0">
                <a:solidFill>
                  <a:srgbClr val="0000FF"/>
                </a:solidFill>
              </a:rPr>
              <a:t>COO</a:t>
            </a:r>
            <a:r>
              <a:rPr lang="en-US" baseline="30000" dirty="0">
                <a:solidFill>
                  <a:srgbClr val="0000FF"/>
                </a:solidFill>
              </a:rPr>
              <a:t>-</a:t>
            </a:r>
            <a:r>
              <a:rPr lang="vi-VN" dirty="0"/>
              <a:t>(dd) ⇄</a:t>
            </a:r>
            <a:endParaRPr 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dirty="0" smtClean="0"/>
              <a:t> </a:t>
            </a:r>
            <a:r>
              <a:rPr lang="vi-VN" dirty="0"/>
              <a:t>Ca</a:t>
            </a:r>
            <a:r>
              <a:rPr lang="vi-VN" baseline="-25000" dirty="0"/>
              <a:t>3</a:t>
            </a:r>
            <a:r>
              <a:rPr lang="vi-VN" dirty="0"/>
              <a:t>(PO</a:t>
            </a:r>
            <a:r>
              <a:rPr lang="vi-VN" baseline="-25000" dirty="0"/>
              <a:t>4</a:t>
            </a:r>
            <a:r>
              <a:rPr lang="vi-VN" dirty="0"/>
              <a:t>)</a:t>
            </a:r>
            <a:r>
              <a:rPr lang="vi-VN" baseline="-25000" dirty="0"/>
              <a:t>2</a:t>
            </a:r>
            <a:r>
              <a:rPr lang="vi-VN" dirty="0"/>
              <a:t>(r) + 4CH</a:t>
            </a:r>
            <a:r>
              <a:rPr lang="vi-VN" baseline="-25000" dirty="0"/>
              <a:t>3</a:t>
            </a:r>
            <a:r>
              <a:rPr lang="vi-VN" dirty="0"/>
              <a:t>COOH(dd)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5452C7D-9355-47A8-B21E-79F5E774CC1A}"/>
              </a:ext>
            </a:extLst>
          </p:cNvPr>
          <p:cNvPicPr/>
          <p:nvPr/>
        </p:nvPicPr>
        <p:blipFill>
          <a:blip r:embed="rId2" cstate="print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4628167"/>
            <a:ext cx="5143499" cy="157638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342900" y="4267200"/>
            <a:ext cx="2362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 smtClean="0">
                <a:solidFill>
                  <a:srgbClr val="C00000"/>
                </a:solidFill>
              </a:rPr>
              <a:t>T(Ca</a:t>
            </a:r>
            <a:r>
              <a:rPr lang="vi-VN" sz="2800" baseline="-25000" dirty="0" smtClean="0">
                <a:solidFill>
                  <a:srgbClr val="C00000"/>
                </a:solidFill>
              </a:rPr>
              <a:t>3</a:t>
            </a:r>
            <a:r>
              <a:rPr lang="vi-VN" sz="2800" dirty="0" smtClean="0">
                <a:solidFill>
                  <a:srgbClr val="C00000"/>
                </a:solidFill>
              </a:rPr>
              <a:t>PO</a:t>
            </a:r>
            <a:r>
              <a:rPr lang="vi-VN" sz="2800" baseline="-25000" dirty="0" smtClean="0">
                <a:solidFill>
                  <a:srgbClr val="C00000"/>
                </a:solidFill>
              </a:rPr>
              <a:t>4</a:t>
            </a:r>
            <a:r>
              <a:rPr lang="vi-VN" sz="2800" dirty="0" smtClean="0">
                <a:solidFill>
                  <a:srgbClr val="C00000"/>
                </a:solidFill>
              </a:rPr>
              <a:t>)</a:t>
            </a:r>
            <a:endParaRPr lang="en-US" sz="2800" baseline="-25000" dirty="0">
              <a:solidFill>
                <a:srgbClr val="C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8600" y="2667000"/>
            <a:ext cx="2362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 smtClean="0">
                <a:solidFill>
                  <a:srgbClr val="C00000"/>
                </a:solidFill>
              </a:rPr>
              <a:t>(K</a:t>
            </a:r>
            <a:r>
              <a:rPr lang="vi-VN" sz="2800" baseline="-25000" dirty="0" smtClean="0">
                <a:solidFill>
                  <a:srgbClr val="C00000"/>
                </a:solidFill>
              </a:rPr>
              <a:t>a2 </a:t>
            </a:r>
            <a:r>
              <a:rPr lang="vi-VN" sz="2800" dirty="0" smtClean="0">
                <a:solidFill>
                  <a:srgbClr val="C00000"/>
                </a:solidFill>
              </a:rPr>
              <a:t>. K</a:t>
            </a:r>
            <a:r>
              <a:rPr lang="vi-VN" sz="2800" baseline="-25000" dirty="0" smtClean="0">
                <a:solidFill>
                  <a:srgbClr val="C00000"/>
                </a:solidFill>
              </a:rPr>
              <a:t>a3</a:t>
            </a:r>
            <a:r>
              <a:rPr lang="vi-VN" sz="2800" dirty="0" smtClean="0">
                <a:solidFill>
                  <a:srgbClr val="C00000"/>
                </a:solidFill>
              </a:rPr>
              <a:t>)</a:t>
            </a:r>
            <a:r>
              <a:rPr lang="vi-VN" sz="2800" baseline="30000" dirty="0" smtClean="0">
                <a:solidFill>
                  <a:srgbClr val="C00000"/>
                </a:solidFill>
              </a:rPr>
              <a:t>2</a:t>
            </a:r>
            <a:endParaRPr lang="en-US" sz="2800" baseline="-25000" dirty="0">
              <a:solidFill>
                <a:srgbClr val="C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19400" y="4267200"/>
            <a:ext cx="2362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 smtClean="0">
                <a:solidFill>
                  <a:srgbClr val="C00000"/>
                </a:solidFill>
              </a:rPr>
              <a:t>(K</a:t>
            </a:r>
            <a:r>
              <a:rPr lang="vi-VN" sz="2800" baseline="-25000" dirty="0" smtClean="0">
                <a:solidFill>
                  <a:srgbClr val="C00000"/>
                </a:solidFill>
              </a:rPr>
              <a:t>a</a:t>
            </a:r>
            <a:r>
              <a:rPr lang="vi-VN" sz="2800" dirty="0" smtClean="0">
                <a:solidFill>
                  <a:srgbClr val="C00000"/>
                </a:solidFill>
              </a:rPr>
              <a:t>)</a:t>
            </a:r>
            <a:r>
              <a:rPr lang="vi-VN" sz="2800" baseline="30000" dirty="0" smtClean="0">
                <a:solidFill>
                  <a:srgbClr val="C00000"/>
                </a:solidFill>
              </a:rPr>
              <a:t>4</a:t>
            </a:r>
            <a:endParaRPr lang="en-US" sz="2800" baseline="-25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9392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/>
      <p:bldP spid="7" grpId="0"/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xmlns="" id="{800733E3-4C30-4560-B202-3AFB8FEBBDC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763" y="117475"/>
            <a:ext cx="9144000" cy="1554163"/>
          </a:xfrm>
        </p:spPr>
        <p:txBody>
          <a:bodyPr/>
          <a:lstStyle/>
          <a:p>
            <a:pPr algn="l" eaLnBrk="1" hangingPunct="1"/>
            <a:r>
              <a:rPr lang="en-US" altLang="en-US" sz="3200" b="1" dirty="0">
                <a:solidFill>
                  <a:srgbClr val="0000FF"/>
                </a:solidFill>
              </a:rPr>
              <a:t>QUAN HỆ GIỮA HẰNG SỐ CÂN BẰNG VÀ </a:t>
            </a:r>
            <a:r>
              <a:rPr lang="en-US" altLang="en-US" sz="3200" b="1" dirty="0">
                <a:solidFill>
                  <a:srgbClr val="0000FF"/>
                </a:solidFill>
                <a:sym typeface="Symbol" panose="05050102010706020507" pitchFamily="18" charset="2"/>
              </a:rPr>
              <a:t>G</a:t>
            </a:r>
            <a:br>
              <a:rPr lang="en-US" altLang="en-US" sz="3200" b="1" dirty="0">
                <a:solidFill>
                  <a:srgbClr val="0000FF"/>
                </a:solidFill>
                <a:sym typeface="Symbol" panose="05050102010706020507" pitchFamily="18" charset="2"/>
              </a:rPr>
            </a:br>
            <a:r>
              <a:rPr lang="en-US" altLang="en-US" sz="3200" b="1" dirty="0">
                <a:solidFill>
                  <a:srgbClr val="0000FF"/>
                </a:solidFill>
                <a:sym typeface="Symbol" panose="05050102010706020507" pitchFamily="18" charset="2"/>
              </a:rPr>
              <a:t>  </a:t>
            </a:r>
            <a:r>
              <a:rPr lang="en-US" altLang="en-US" sz="2800" b="1" dirty="0" err="1">
                <a:solidFill>
                  <a:schemeClr val="tx1"/>
                </a:solidFill>
              </a:rPr>
              <a:t>Phản</a:t>
            </a:r>
            <a:r>
              <a:rPr lang="en-US" altLang="en-US" sz="2800" b="1" dirty="0">
                <a:solidFill>
                  <a:schemeClr val="tx1"/>
                </a:solidFill>
              </a:rPr>
              <a:t> </a:t>
            </a:r>
            <a:r>
              <a:rPr lang="en-US" altLang="en-US" sz="2800" b="1" dirty="0" err="1">
                <a:solidFill>
                  <a:schemeClr val="tx1"/>
                </a:solidFill>
              </a:rPr>
              <a:t>ứng</a:t>
            </a:r>
            <a:r>
              <a:rPr lang="en-US" altLang="en-US" sz="2800" b="1" dirty="0">
                <a:solidFill>
                  <a:schemeClr val="tx1"/>
                </a:solidFill>
              </a:rPr>
              <a:t> </a:t>
            </a:r>
            <a:r>
              <a:rPr lang="en-US" altLang="en-US" sz="2800" b="1" dirty="0" err="1">
                <a:solidFill>
                  <a:schemeClr val="tx1"/>
                </a:solidFill>
              </a:rPr>
              <a:t>dị</a:t>
            </a:r>
            <a:r>
              <a:rPr lang="en-US" altLang="en-US" sz="2800" b="1" dirty="0">
                <a:solidFill>
                  <a:schemeClr val="tx1"/>
                </a:solidFill>
              </a:rPr>
              <a:t> </a:t>
            </a:r>
            <a:r>
              <a:rPr lang="en-US" altLang="en-US" sz="2800" b="1" dirty="0" err="1">
                <a:solidFill>
                  <a:schemeClr val="tx1"/>
                </a:solidFill>
              </a:rPr>
              <a:t>pha</a:t>
            </a:r>
            <a:r>
              <a:rPr lang="en-US" altLang="en-US" sz="2800" b="1" dirty="0">
                <a:solidFill>
                  <a:schemeClr val="tx1"/>
                </a:solidFill>
              </a:rPr>
              <a:t> : </a:t>
            </a:r>
            <a:r>
              <a:rPr lang="en-US" altLang="en-US" sz="3200" dirty="0" err="1"/>
              <a:t>a</a:t>
            </a:r>
            <a:r>
              <a:rPr lang="en-US" altLang="en-US" sz="3200" dirty="0" err="1">
                <a:solidFill>
                  <a:srgbClr val="C00000"/>
                </a:solidFill>
              </a:rPr>
              <a:t>A</a:t>
            </a:r>
            <a:r>
              <a:rPr lang="en-US" altLang="en-US" sz="3200" dirty="0"/>
              <a:t>   </a:t>
            </a:r>
            <a:r>
              <a:rPr lang="vi-VN" altLang="en-US" sz="3200" dirty="0" smtClean="0"/>
              <a:t> </a:t>
            </a:r>
            <a:r>
              <a:rPr lang="en-US" altLang="en-US" sz="3200" dirty="0" smtClean="0"/>
              <a:t>+ </a:t>
            </a:r>
            <a:r>
              <a:rPr lang="en-US" altLang="en-US" sz="3200" dirty="0" err="1" smtClean="0"/>
              <a:t>b</a:t>
            </a:r>
            <a:r>
              <a:rPr lang="en-US" altLang="en-US" sz="3200" dirty="0" err="1" smtClean="0">
                <a:solidFill>
                  <a:srgbClr val="C00000"/>
                </a:solidFill>
              </a:rPr>
              <a:t>B</a:t>
            </a:r>
            <a:r>
              <a:rPr lang="en-US" altLang="en-US" sz="3200" dirty="0" smtClean="0"/>
              <a:t>    </a:t>
            </a:r>
            <a:r>
              <a:rPr lang="en-US" altLang="en-US" sz="3200" dirty="0"/>
              <a:t>⇌ </a:t>
            </a:r>
            <a:r>
              <a:rPr lang="en-US" altLang="en-US" sz="3200" dirty="0" err="1" smtClean="0"/>
              <a:t>c</a:t>
            </a:r>
            <a:r>
              <a:rPr lang="en-US" altLang="en-US" sz="3200" dirty="0" err="1" smtClean="0">
                <a:solidFill>
                  <a:srgbClr val="C00000"/>
                </a:solidFill>
              </a:rPr>
              <a:t>C</a:t>
            </a:r>
            <a:r>
              <a:rPr lang="en-US" altLang="en-US" sz="3200" dirty="0" smtClean="0"/>
              <a:t>   </a:t>
            </a:r>
            <a:r>
              <a:rPr lang="vi-VN" altLang="en-US" sz="3200" dirty="0" smtClean="0"/>
              <a:t>   </a:t>
            </a:r>
            <a:r>
              <a:rPr lang="en-US" altLang="en-US" sz="3200" dirty="0" smtClean="0"/>
              <a:t>+ </a:t>
            </a:r>
            <a:r>
              <a:rPr lang="en-US" altLang="en-US" sz="3200" dirty="0" err="1" smtClean="0"/>
              <a:t>d</a:t>
            </a:r>
            <a:r>
              <a:rPr lang="en-US" altLang="en-US" sz="3200" dirty="0" err="1" smtClean="0">
                <a:solidFill>
                  <a:srgbClr val="C00000"/>
                </a:solidFill>
              </a:rPr>
              <a:t>D</a:t>
            </a:r>
            <a:r>
              <a:rPr lang="en-US" altLang="en-US" sz="3200" dirty="0"/>
              <a:t/>
            </a:r>
            <a:br>
              <a:rPr lang="en-US" altLang="en-US" sz="3200" dirty="0"/>
            </a:br>
            <a:endParaRPr lang="en-US" altLang="en-US" sz="3200" dirty="0"/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xmlns="" id="{D4EAD5EC-52B8-4D73-AE31-4FD1B30B8F7B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66700" y="1612901"/>
            <a:ext cx="8077200" cy="3873500"/>
          </a:xfrm>
        </p:spPr>
        <p:txBody>
          <a:bodyPr/>
          <a:lstStyle/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dirty="0"/>
              <a:t>               </a:t>
            </a:r>
          </a:p>
          <a:p>
            <a:pPr eaLnBrk="1" hangingPunct="1"/>
            <a:endParaRPr lang="en-US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895" name="Text Box 13">
                <a:extLst>
                  <a:ext uri="{FF2B5EF4-FFF2-40B4-BE49-F238E27FC236}">
                    <a16:creationId xmlns:a16="http://schemas.microsoft.com/office/drawing/2014/main" xmlns="" id="{323ED121-82F0-40D6-AFAF-A221B692B28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14642" y="2549164"/>
                <a:ext cx="9144000" cy="38742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n-US" altLang="en-US" sz="2800" b="1" dirty="0">
                    <a:solidFill>
                      <a:srgbClr val="CC00FF"/>
                    </a:solidFill>
                  </a:rPr>
                  <a:t>   </a:t>
                </a:r>
                <a:r>
                  <a:rPr lang="en-US" altLang="en-US" sz="2800" b="1" dirty="0" err="1">
                    <a:solidFill>
                      <a:srgbClr val="CC00FF"/>
                    </a:solidFill>
                  </a:rPr>
                  <a:t>Khí</a:t>
                </a:r>
                <a:r>
                  <a:rPr lang="en-US" altLang="en-US" sz="2800" b="1" dirty="0">
                    <a:solidFill>
                      <a:srgbClr val="CC00FF"/>
                    </a:solidFill>
                  </a:rPr>
                  <a:t> </a:t>
                </a:r>
                <a:r>
                  <a:rPr lang="en-US" altLang="en-US" sz="2800" b="1" dirty="0" err="1">
                    <a:solidFill>
                      <a:srgbClr val="CC00FF"/>
                    </a:solidFill>
                  </a:rPr>
                  <a:t>lý</a:t>
                </a:r>
                <a:r>
                  <a:rPr lang="en-US" altLang="en-US" sz="2800" b="1" dirty="0">
                    <a:solidFill>
                      <a:srgbClr val="CC00FF"/>
                    </a:solidFill>
                  </a:rPr>
                  <a:t> </a:t>
                </a:r>
                <a:r>
                  <a:rPr lang="en-US" altLang="en-US" sz="2800" b="1" dirty="0" err="1">
                    <a:solidFill>
                      <a:srgbClr val="CC00FF"/>
                    </a:solidFill>
                  </a:rPr>
                  <a:t>tưởng</a:t>
                </a:r>
                <a:r>
                  <a:rPr lang="en-US" altLang="en-US" sz="2800" b="1" dirty="0">
                    <a:solidFill>
                      <a:srgbClr val="CC00FF"/>
                    </a:solidFill>
                  </a:rPr>
                  <a:t>  </a:t>
                </a:r>
                <a:r>
                  <a:rPr lang="en-US" altLang="en-US" sz="2800" b="1" dirty="0">
                    <a:solidFill>
                      <a:srgbClr val="CC00FF"/>
                    </a:solidFill>
                    <a:cs typeface="Arial" panose="020B0604020202020204" pitchFamily="34" charset="0"/>
                  </a:rPr>
                  <a:t>→</a:t>
                </a:r>
                <a:r>
                  <a:rPr lang="en-US" sz="2800" dirty="0"/>
                  <a:t> </a:t>
                </a:r>
                <a:r>
                  <a:rPr lang="en-US" altLang="en-US" sz="2800" b="1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x</a:t>
                </a:r>
                <a:r>
                  <a:rPr lang="en-US" altLang="en-US" sz="2800" b="1" dirty="0">
                    <a:solidFill>
                      <a:srgbClr val="CC00FF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altLang="en-US" sz="2800" b="1" dirty="0" smtClean="0">
                    <a:solidFill>
                      <a:srgbClr val="CC00FF"/>
                    </a:solidFill>
                    <a:cs typeface="Arial" panose="020B0604020202020204" pitchFamily="34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 smtClean="0">
                            <a:solidFill>
                              <a:srgbClr val="CC00FF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vi-VN" sz="2800" b="1" i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800" b="1" i="0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𝐏</m:t>
                        </m:r>
                        <m:r>
                          <a:rPr lang="en-US" sz="2800" b="1" i="0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b="1" i="0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𝐚𝐭𝐦</m:t>
                        </m:r>
                        <m:r>
                          <a:rPr lang="en-US" sz="2800" b="1" i="0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)]</m:t>
                        </m:r>
                      </m:num>
                      <m:den>
                        <m:sSup>
                          <m:sSupPr>
                            <m:ctrlPr>
                              <a:rPr lang="en-US" sz="2800" b="1" i="1">
                                <a:solidFill>
                                  <a:srgbClr val="CC00FF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vi-VN" sz="2800" b="1" i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2800" b="1" i="0" smtClean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  <m:sup>
                            <m:r>
                              <a:rPr lang="en-US" sz="2800" b="1" i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p>
                        </m:sSup>
                        <m:r>
                          <a:rPr lang="en-US" sz="2800" b="1" i="0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b="1" i="0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𝟏𝐚𝐭𝐦</m:t>
                        </m:r>
                        <m:r>
                          <a:rPr lang="en-US" sz="2800" b="1" i="0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)]</m:t>
                        </m:r>
                      </m:den>
                    </m:f>
                  </m:oMath>
                </a14:m>
                <a:r>
                  <a:rPr lang="en-US" altLang="en-US" sz="2800" b="1" dirty="0">
                    <a:solidFill>
                      <a:srgbClr val="CC00FF"/>
                    </a:solidFill>
                    <a:cs typeface="Arial" panose="020B0604020202020204" pitchFamily="34" charset="0"/>
                  </a:rPr>
                  <a:t> = P </a:t>
                </a:r>
                <a:endParaRPr lang="en-US" altLang="en-US" b="1" dirty="0">
                  <a:solidFill>
                    <a:srgbClr val="CC00FF"/>
                  </a:solidFill>
                  <a:cs typeface="Arial" panose="020B0604020202020204" pitchFamily="34" charset="0"/>
                </a:endParaRPr>
              </a:p>
              <a:p>
                <a:pPr eaLnBrk="1" hangingPunct="1">
                  <a:lnSpc>
                    <a:spcPct val="15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n-US" altLang="en-US" sz="2800" b="1" dirty="0">
                    <a:solidFill>
                      <a:srgbClr val="006600"/>
                    </a:solidFill>
                    <a:cs typeface="Arial" panose="020B0604020202020204" pitchFamily="34" charset="0"/>
                  </a:rPr>
                  <a:t>   Dd </a:t>
                </a:r>
                <a:r>
                  <a:rPr lang="en-US" altLang="en-US" sz="2800" b="1" dirty="0" err="1">
                    <a:solidFill>
                      <a:srgbClr val="006600"/>
                    </a:solidFill>
                    <a:cs typeface="Arial" panose="020B0604020202020204" pitchFamily="34" charset="0"/>
                  </a:rPr>
                  <a:t>lỏng</a:t>
                </a:r>
                <a:r>
                  <a:rPr lang="en-US" altLang="en-US" sz="2800" b="1" dirty="0">
                    <a:solidFill>
                      <a:srgbClr val="006600"/>
                    </a:solidFill>
                    <a:cs typeface="Arial" panose="020B0604020202020204" pitchFamily="34" charset="0"/>
                  </a:rPr>
                  <a:t>, </a:t>
                </a:r>
                <a:r>
                  <a:rPr lang="en-US" altLang="en-US" sz="2800" b="1" dirty="0" err="1">
                    <a:solidFill>
                      <a:srgbClr val="006600"/>
                    </a:solidFill>
                    <a:cs typeface="Arial" panose="020B0604020202020204" pitchFamily="34" charset="0"/>
                  </a:rPr>
                  <a:t>loãng</a:t>
                </a:r>
                <a:r>
                  <a:rPr lang="en-US" altLang="en-US" sz="2800" b="1" dirty="0">
                    <a:solidFill>
                      <a:srgbClr val="006600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altLang="en-US" sz="2800" b="1" dirty="0">
                    <a:solidFill>
                      <a:srgbClr val="006600"/>
                    </a:solidFill>
                  </a:rPr>
                  <a:t>→</a:t>
                </a:r>
                <a:r>
                  <a:rPr lang="en-US" altLang="en-US" sz="1800" b="1" dirty="0">
                    <a:solidFill>
                      <a:srgbClr val="006600"/>
                    </a:solidFill>
                  </a:rPr>
                  <a:t> </a:t>
                </a:r>
                <a:r>
                  <a:rPr lang="en-US" altLang="en-US" sz="2800" b="1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x</a:t>
                </a:r>
                <a:r>
                  <a:rPr lang="en-US" altLang="en-US" sz="2800" b="1" dirty="0">
                    <a:solidFill>
                      <a:srgbClr val="006600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altLang="en-US" sz="2800" b="1" dirty="0" smtClean="0">
                    <a:solidFill>
                      <a:srgbClr val="006600"/>
                    </a:solidFill>
                    <a:cs typeface="Arial" panose="020B0604020202020204" pitchFamily="34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 smtClean="0">
                            <a:solidFill>
                              <a:srgbClr val="00660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vi-VN" sz="2800" b="1" i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800" b="1" i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𝐂</m:t>
                        </m:r>
                        <m:r>
                          <a:rPr lang="en-US" sz="2800" b="1" i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b="1" i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𝐌</m:t>
                        </m:r>
                        <m:r>
                          <a:rPr lang="en-US" sz="2800" b="1" i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)]</m:t>
                        </m:r>
                      </m:num>
                      <m:den>
                        <m:sSup>
                          <m:sSupPr>
                            <m:ctrlPr>
                              <a:rPr lang="en-US" sz="2800" b="1" i="1">
                                <a:solidFill>
                                  <a:srgbClr val="006600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vi-VN" sz="2800" b="1" i="0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2800" b="1" i="0" smtClean="0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p>
                            <m:r>
                              <a:rPr lang="en-US" sz="2800" b="1" i="0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p>
                        </m:sSup>
                        <m:r>
                          <a:rPr lang="en-US" sz="2800" b="1" i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b="1" i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𝟏𝐌</m:t>
                        </m:r>
                        <m:r>
                          <a:rPr lang="en-US" sz="2800" b="1" i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)]</m:t>
                        </m:r>
                      </m:den>
                    </m:f>
                    <m:r>
                      <a:rPr lang="vi-VN" sz="2800" b="1" i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2800" b="1" dirty="0">
                    <a:solidFill>
                      <a:srgbClr val="006600"/>
                    </a:solidFill>
                    <a:cs typeface="Arial" panose="020B0604020202020204" pitchFamily="34" charset="0"/>
                  </a:rPr>
                  <a:t>= C </a:t>
                </a:r>
                <a:endParaRPr lang="en-US" altLang="en-US" b="1" dirty="0">
                  <a:solidFill>
                    <a:srgbClr val="006600"/>
                  </a:solidFill>
                  <a:cs typeface="Arial" panose="020B0604020202020204" pitchFamily="34" charset="0"/>
                </a:endParaRPr>
              </a:p>
              <a:p>
                <a:pPr eaLnBrk="1" hangingPunct="1">
                  <a:lnSpc>
                    <a:spcPct val="15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n-US" altLang="en-US" sz="2800" b="1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  </a:t>
                </a:r>
                <a:r>
                  <a:rPr lang="en-US" altLang="en-US" sz="2800" b="1" dirty="0" err="1">
                    <a:solidFill>
                      <a:srgbClr val="FF0000"/>
                    </a:solidFill>
                    <a:cs typeface="Arial" panose="020B0604020202020204" pitchFamily="34" charset="0"/>
                  </a:rPr>
                  <a:t>Rắn</a:t>
                </a:r>
                <a:r>
                  <a:rPr lang="en-US" altLang="en-US" sz="2800" b="1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altLang="en-US" sz="2800" b="1" baseline="-25000" dirty="0" err="1">
                    <a:solidFill>
                      <a:srgbClr val="FF0000"/>
                    </a:solidFill>
                    <a:cs typeface="Arial" panose="020B0604020202020204" pitchFamily="34" charset="0"/>
                  </a:rPr>
                  <a:t>nc</a:t>
                </a:r>
                <a:r>
                  <a:rPr lang="en-US" altLang="en-US" sz="2800" b="1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, </a:t>
                </a:r>
                <a:r>
                  <a:rPr lang="en-US" altLang="en-US" sz="2800" b="1" dirty="0" err="1">
                    <a:solidFill>
                      <a:srgbClr val="FF0000"/>
                    </a:solidFill>
                    <a:cs typeface="Arial" panose="020B0604020202020204" pitchFamily="34" charset="0"/>
                  </a:rPr>
                  <a:t>lỏng</a:t>
                </a:r>
                <a:r>
                  <a:rPr lang="en-US" altLang="en-US" sz="2800" b="1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altLang="en-US" sz="2800" b="1" baseline="-25000" dirty="0" err="1">
                    <a:solidFill>
                      <a:srgbClr val="FF0000"/>
                    </a:solidFill>
                    <a:cs typeface="Arial" panose="020B0604020202020204" pitchFamily="34" charset="0"/>
                  </a:rPr>
                  <a:t>nc</a:t>
                </a:r>
                <a:r>
                  <a:rPr lang="en-US" altLang="en-US" sz="2800" b="1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, dung </a:t>
                </a:r>
                <a:r>
                  <a:rPr lang="en-US" altLang="en-US" sz="2800" b="1" dirty="0" err="1">
                    <a:solidFill>
                      <a:srgbClr val="FF0000"/>
                    </a:solidFill>
                    <a:cs typeface="Arial" panose="020B0604020202020204" pitchFamily="34" charset="0"/>
                  </a:rPr>
                  <a:t>môi</a:t>
                </a:r>
                <a:r>
                  <a:rPr lang="en-US" altLang="en-US" sz="2800" b="1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  </a:t>
                </a:r>
                <a:r>
                  <a:rPr lang="en-US" altLang="en-US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→ </a:t>
                </a:r>
                <a:r>
                  <a:rPr lang="en-US" altLang="en-US" sz="2800" b="1" dirty="0">
                    <a:solidFill>
                      <a:srgbClr val="FF0000"/>
                    </a:solidFill>
                  </a:rPr>
                  <a:t>X </a:t>
                </a:r>
                <a14:m>
                  <m:oMath xmlns:m="http://schemas.openxmlformats.org/officeDocument/2006/math">
                    <m:r>
                      <a:rPr lang="en-US" sz="2800" b="1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sSup>
                          <m:sSupPr>
                            <m:ctrlPr>
                              <a:rPr lang="en-US" sz="2800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]</m:t>
                        </m:r>
                      </m:den>
                    </m:f>
                  </m:oMath>
                </a14:m>
                <a:r>
                  <a:rPr lang="en-US" altLang="en-US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 = 1 </a:t>
                </a:r>
                <a:endParaRPr lang="en-US" altLang="en-US" sz="2800" b="1" dirty="0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7895" name="Text Box 13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323ED121-82F0-40D6-AFAF-A221B692B2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-14642" y="2549164"/>
                <a:ext cx="9144000" cy="3874266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="" id="{D2BFFA59-3A56-457D-A0A8-A7F90C4FFBA1}"/>
                  </a:ext>
                </a:extLst>
              </p:cNvPr>
              <p:cNvSpPr txBox="1"/>
              <p:nvPr/>
            </p:nvSpPr>
            <p:spPr>
              <a:xfrm>
                <a:off x="4487" y="1687071"/>
                <a:ext cx="9029219" cy="106351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no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i="1" smtClean="0">
                            <a:solidFill>
                              <a:srgbClr val="0000FF"/>
                            </a:solidFill>
                            <a:latin typeface="Cambria Math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sSubSup>
                          <m:sSubSupPr>
                            <m:ctrlPr>
                              <a:rPr lang="en-US" sz="3200" i="1" smtClean="0">
                                <a:solidFill>
                                  <a:srgbClr val="0000FF"/>
                                </a:solidFill>
                                <a:latin typeface="Cambria Math"/>
                                <a:sym typeface="Symbol" panose="05050102010706020507" pitchFamily="18" charset="2"/>
                              </a:rPr>
                            </m:ctrlPr>
                          </m:sSubSupPr>
                          <m:e>
                            <m:r>
                              <m:rPr>
                                <m:nor/>
                              </m:rPr>
                              <a:rPr lang="en-US" sz="3200">
                                <a:solidFill>
                                  <a:srgbClr val="0000FF"/>
                                </a:solidFill>
                                <a:latin typeface="Cambria Math"/>
                                <a:sym typeface="Symbol" panose="05050102010706020507" pitchFamily="18" charset="2"/>
                              </a:rPr>
                              <m:t> </m:t>
                            </m:r>
                            <m:r>
                              <a:rPr lang="en-US" sz="32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∆</m:t>
                            </m:r>
                            <m:r>
                              <m:rPr>
                                <m:sty m:val="p"/>
                              </m:rPr>
                              <a:rPr lang="en-US" sz="32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G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32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T</m:t>
                            </m:r>
                          </m:sub>
                          <m:sup/>
                        </m:sSubSup>
                        <m:r>
                          <m:rPr>
                            <m:nor/>
                          </m:rPr>
                          <a:rPr lang="en-US" sz="3200" b="0" i="0" smtClean="0">
                            <a:solidFill>
                              <a:srgbClr val="0000FF"/>
                            </a:solidFill>
                            <a:latin typeface="Cambria Math"/>
                            <a:sym typeface="Symbol" panose="05050102010706020507" pitchFamily="18" charset="2"/>
                          </a:rPr>
                          <m:t>  </m:t>
                        </m:r>
                        <m:r>
                          <m:rPr>
                            <m:nor/>
                          </m:rPr>
                          <a:rPr lang="en-US" sz="3200" baseline="-25000" dirty="0">
                            <a:solidFill>
                              <a:srgbClr val="0000FF"/>
                            </a:solidFill>
                            <a:sym typeface="Symbol" panose="05050102010706020507" pitchFamily="18" charset="2"/>
                          </a:rPr>
                          <m:t>=</m:t>
                        </m:r>
                        <m:r>
                          <a:rPr lang="en-US" sz="3200" b="0" i="0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 </m:t>
                        </m:r>
                        <m:r>
                          <a:rPr lang="en-US" sz="3200" b="0" i="0" dirty="0" smtClean="0">
                            <a:solidFill>
                              <a:srgbClr val="0000FF"/>
                            </a:solidFill>
                            <a:latin typeface="Cambria Math"/>
                            <a:sym typeface="Symbol" panose="05050102010706020507" pitchFamily="18" charset="2"/>
                          </a:rPr>
                          <m:t>  </m:t>
                        </m:r>
                        <m:r>
                          <a:rPr lang="en-US" sz="3200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∆</m:t>
                        </m:r>
                        <m:r>
                          <m:rPr>
                            <m:sty m:val="p"/>
                          </m:rPr>
                          <a:rPr lang="en-US" sz="3200" b="0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3200" b="0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T</m:t>
                        </m:r>
                      </m:sub>
                      <m:sup>
                        <m:r>
                          <a:rPr lang="en-US" sz="3200" b="0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sz="3200" dirty="0">
                    <a:solidFill>
                      <a:srgbClr val="0000FF"/>
                    </a:solidFill>
                  </a:rPr>
                  <a:t> + </a:t>
                </a:r>
                <a:r>
                  <a:rPr lang="en-US" sz="3200" dirty="0" err="1">
                    <a:solidFill>
                      <a:srgbClr val="0000FF"/>
                    </a:solidFill>
                  </a:rPr>
                  <a:t>RTln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320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32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320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sz="32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e>
                              <m:sup>
                                <m:r>
                                  <a:rPr lang="en-US" sz="32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sz="320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sz="3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e>
                              <m:sup>
                                <m:r>
                                  <a:rPr lang="en-US" sz="32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sz="320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sz="32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e>
                              <m:sup>
                                <m:r>
                                  <a:rPr lang="en-US" sz="32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sz="320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sz="3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e>
                              <m:sup>
                                <m:r>
                                  <a:rPr lang="en-US" sz="32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lang="en-US" sz="3200" baseline="-25000" dirty="0" smtClean="0">
                    <a:solidFill>
                      <a:srgbClr val="FF0000"/>
                    </a:solidFill>
                    <a:sym typeface="Symbol" panose="05050102010706020507" pitchFamily="18" charset="2"/>
                  </a:rPr>
                  <a:t></a:t>
                </a:r>
                <a:r>
                  <a:rPr lang="vi-VN" sz="3200" dirty="0" smtClean="0">
                    <a:solidFill>
                      <a:srgbClr val="FF0000"/>
                    </a:solidFill>
                    <a:sym typeface="Symbol" panose="05050102010706020507" pitchFamily="18" charset="2"/>
                  </a:rPr>
                  <a:t> </a:t>
                </a:r>
                <a:r>
                  <a:rPr lang="en-US" sz="3200" dirty="0" smtClean="0">
                    <a:solidFill>
                      <a:srgbClr val="FF0000"/>
                    </a:solidFill>
                    <a:sym typeface="Symbol" panose="05050102010706020507" pitchFamily="18" charset="2"/>
                  </a:rPr>
                  <a:t> </a:t>
                </a:r>
                <a:endParaRPr lang="en-US" sz="3200" baseline="-25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D2BFFA59-3A56-457D-A0A8-A7F90C4FFB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7" y="1687071"/>
                <a:ext cx="9029219" cy="106351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3CDB8ADF-2A03-449B-81A6-645850B75972}"/>
              </a:ext>
            </a:extLst>
          </p:cNvPr>
          <p:cNvSpPr txBox="1"/>
          <p:nvPr/>
        </p:nvSpPr>
        <p:spPr>
          <a:xfrm>
            <a:off x="7254521" y="3370116"/>
            <a:ext cx="150393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Không</a:t>
            </a:r>
            <a:r>
              <a:rPr lang="en-US" sz="2800" dirty="0"/>
              <a:t> </a:t>
            </a:r>
            <a:r>
              <a:rPr lang="en-US" sz="2800" dirty="0" err="1"/>
              <a:t>có</a:t>
            </a:r>
            <a:r>
              <a:rPr lang="en-US" sz="2800" dirty="0"/>
              <a:t> </a:t>
            </a:r>
            <a:r>
              <a:rPr lang="en-US" sz="2800" dirty="0" err="1"/>
              <a:t>thứ</a:t>
            </a:r>
            <a:r>
              <a:rPr lang="en-US" sz="2800" dirty="0"/>
              <a:t> </a:t>
            </a:r>
            <a:r>
              <a:rPr lang="en-US" sz="2800" dirty="0" err="1"/>
              <a:t>nguyên</a:t>
            </a:r>
            <a:endParaRPr lang="en-US" sz="28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xmlns="" id="{2D32A901-AE4D-49E4-829F-01C9BB905049}"/>
              </a:ext>
            </a:extLst>
          </p:cNvPr>
          <p:cNvCxnSpPr>
            <a:cxnSpLocks/>
          </p:cNvCxnSpPr>
          <p:nvPr/>
        </p:nvCxnSpPr>
        <p:spPr>
          <a:xfrm flipH="1" flipV="1">
            <a:off x="6824814" y="2819400"/>
            <a:ext cx="674126" cy="6096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ADF972DA-4FE4-48E6-A318-AA4FF663B15D}"/>
              </a:ext>
            </a:extLst>
          </p:cNvPr>
          <p:cNvSpPr txBox="1"/>
          <p:nvPr/>
        </p:nvSpPr>
        <p:spPr>
          <a:xfrm>
            <a:off x="6394962" y="2384518"/>
            <a:ext cx="25555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2800" b="1" dirty="0" smtClean="0">
                <a:solidFill>
                  <a:srgbClr val="FF0000"/>
                </a:solidFill>
              </a:rPr>
              <a:t>(Q</a:t>
            </a:r>
            <a:r>
              <a:rPr lang="vi-VN" sz="2800" b="1" baseline="-25000" dirty="0">
                <a:solidFill>
                  <a:srgbClr val="FF0000"/>
                </a:solidFill>
                <a:sym typeface="Symbol"/>
              </a:rPr>
              <a:t> </a:t>
            </a:r>
            <a:r>
              <a:rPr lang="vi-VN" sz="2800" b="1" dirty="0">
                <a:solidFill>
                  <a:srgbClr val="FF0000"/>
                </a:solidFill>
                <a:sym typeface="Symbol"/>
              </a:rPr>
              <a:t>:</a:t>
            </a:r>
            <a:r>
              <a:rPr lang="vi-VN" sz="2800" b="1" dirty="0" smtClean="0">
                <a:solidFill>
                  <a:srgbClr val="FF0000"/>
                </a:solidFill>
              </a:rPr>
              <a:t>T</a:t>
            </a:r>
            <a:r>
              <a:rPr lang="en-US" sz="2800" b="1" dirty="0" smtClean="0">
                <a:solidFill>
                  <a:srgbClr val="FF0000"/>
                </a:solidFill>
              </a:rPr>
              <a:t>Ỉ SỐ PƯ</a:t>
            </a:r>
            <a:r>
              <a:rPr lang="vi-VN" sz="2800" b="1" dirty="0" smtClean="0">
                <a:solidFill>
                  <a:srgbClr val="FF0000"/>
                </a:solidFill>
              </a:rPr>
              <a:t>)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xmlns="" id="{7F24463A-B9C2-4C59-AE52-AF3EE4917FE7}"/>
              </a:ext>
            </a:extLst>
          </p:cNvPr>
          <p:cNvSpPr/>
          <p:nvPr/>
        </p:nvSpPr>
        <p:spPr>
          <a:xfrm>
            <a:off x="6713219" y="3004909"/>
            <a:ext cx="303877" cy="3380651"/>
          </a:xfrm>
          <a:prstGeom prst="righ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81000" y="2396828"/>
            <a:ext cx="24079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 smtClean="0">
                <a:solidFill>
                  <a:srgbClr val="FF0000"/>
                </a:solidFill>
              </a:rPr>
              <a:t>X: </a:t>
            </a:r>
            <a:r>
              <a:rPr lang="vi-VN" sz="2800" b="1" i="1" dirty="0" smtClean="0">
                <a:solidFill>
                  <a:srgbClr val="FF0000"/>
                </a:solidFill>
              </a:rPr>
              <a:t>A, B, C, D</a:t>
            </a:r>
            <a:endParaRPr lang="en-US" sz="2800" b="1" i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560324" y="1810001"/>
                <a:ext cx="3669276" cy="8817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 smtClean="0">
                    <a:solidFill>
                      <a:srgbClr val="0000FF"/>
                    </a:solidFill>
                    <a:sym typeface="Symbol" panose="05050102010706020507" pitchFamily="18" charset="2"/>
                  </a:rPr>
                  <a:t>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i="1">
                            <a:solidFill>
                              <a:srgbClr val="0000FF"/>
                            </a:solidFill>
                            <a:latin typeface="Cambria Math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en-US" sz="3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∆</m:t>
                        </m:r>
                        <m:r>
                          <m:rPr>
                            <m:sty m:val="p"/>
                          </m:rPr>
                          <a:rPr lang="en-US" sz="3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3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T</m:t>
                        </m:r>
                      </m:sub>
                      <m:sup>
                        <m:r>
                          <a:rPr lang="en-US" sz="3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sz="3200" dirty="0">
                    <a:solidFill>
                      <a:srgbClr val="0000FF"/>
                    </a:solidFill>
                  </a:rPr>
                  <a:t> + </a:t>
                </a:r>
                <a:r>
                  <a:rPr lang="en-US" sz="3200" dirty="0" err="1">
                    <a:solidFill>
                      <a:srgbClr val="0000FF"/>
                    </a:solidFill>
                  </a:rPr>
                  <a:t>RTln</a:t>
                </a:r>
                <a:r>
                  <a:rPr lang="en-US" sz="3200" dirty="0" err="1">
                    <a:solidFill>
                      <a:srgbClr val="FF0000"/>
                    </a:solidFill>
                  </a:rPr>
                  <a:t>Q</a:t>
                </a:r>
                <a:r>
                  <a:rPr lang="en-US" sz="3200" baseline="-25000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</a:t>
                </a:r>
                <a:endParaRPr lang="en-US" sz="3200" baseline="-250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0324" y="1810001"/>
                <a:ext cx="3669276" cy="881780"/>
              </a:xfrm>
              <a:prstGeom prst="rect">
                <a:avLst/>
              </a:prstGeom>
              <a:blipFill rotWithShape="1">
                <a:blip r:embed="rId6"/>
                <a:stretch>
                  <a:fillRect l="-4153" t="-7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2">
                <a:extLst>
                  <a:ext uri="{FF2B5EF4-FFF2-40B4-BE49-F238E27FC236}">
                    <a16:creationId xmlns:a16="http://schemas.microsoft.com/office/drawing/2014/main" xmlns="" id="{800733E3-4C30-4560-B202-3AFB8FEBBD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10753" y="-4251"/>
                <a:ext cx="9144000" cy="137585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  <a:lvl2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itchFamily="34" charset="0"/>
                  </a:defRPr>
                </a:lvl2pPr>
                <a:lvl3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itchFamily="34" charset="0"/>
                  </a:defRPr>
                </a:lvl3pPr>
                <a:lvl4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itchFamily="34" charset="0"/>
                  </a:defRPr>
                </a:lvl4pPr>
                <a:lvl5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itchFamily="34" charset="0"/>
                  </a:defRPr>
                </a:lvl5pPr>
                <a:lvl6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itchFamily="34" charset="0"/>
                  </a:defRPr>
                </a:lvl6pPr>
                <a:lvl7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itchFamily="34" charset="0"/>
                  </a:defRPr>
                </a:lvl7pPr>
                <a:lvl8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itchFamily="34" charset="0"/>
                  </a:defRPr>
                </a:lvl8pPr>
                <a:lvl9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itchFamily="34" charset="0"/>
                  </a:defRPr>
                </a:lvl9pPr>
              </a:lstStyle>
              <a:p>
                <a:pPr algn="l" eaLnBrk="1" hangingPunct="1"/>
                <a:r>
                  <a:rPr lang="vi-VN" altLang="en-US" sz="3200" dirty="0" smtClean="0"/>
                  <a:t> </a:t>
                </a:r>
                <a:r>
                  <a:rPr lang="vi-VN" altLang="en-US" sz="2800" dirty="0" smtClean="0"/>
                  <a:t>2</a:t>
                </a:r>
                <a:r>
                  <a:rPr lang="en-US" altLang="en-US" sz="2800" dirty="0" smtClean="0">
                    <a:solidFill>
                      <a:srgbClr val="0000FF"/>
                    </a:solidFill>
                  </a:rPr>
                  <a:t>A</a:t>
                </a:r>
                <a:r>
                  <a:rPr lang="vi-VN" altLang="en-US" sz="2800" dirty="0" smtClean="0">
                    <a:solidFill>
                      <a:srgbClr val="0000FF"/>
                    </a:solidFill>
                  </a:rPr>
                  <a:t>(dd)</a:t>
                </a:r>
                <a:r>
                  <a:rPr lang="en-US" altLang="en-US" sz="2800" dirty="0" smtClean="0">
                    <a:solidFill>
                      <a:srgbClr val="0000FF"/>
                    </a:solidFill>
                  </a:rPr>
                  <a:t> </a:t>
                </a:r>
                <a:r>
                  <a:rPr lang="en-US" altLang="en-US" sz="2800" dirty="0" smtClean="0"/>
                  <a:t>+ </a:t>
                </a:r>
                <a:r>
                  <a:rPr lang="vi-VN" altLang="en-US" sz="2800" dirty="0" smtClean="0"/>
                  <a:t>3</a:t>
                </a:r>
                <a:r>
                  <a:rPr lang="en-US" altLang="en-US" sz="2800" dirty="0" smtClean="0">
                    <a:solidFill>
                      <a:srgbClr val="0000FF"/>
                    </a:solidFill>
                  </a:rPr>
                  <a:t>B</a:t>
                </a:r>
                <a:r>
                  <a:rPr lang="vi-VN" altLang="en-US" sz="2800" dirty="0" smtClean="0">
                    <a:solidFill>
                      <a:srgbClr val="0000FF"/>
                    </a:solidFill>
                  </a:rPr>
                  <a:t>(khí)</a:t>
                </a:r>
                <a:r>
                  <a:rPr lang="en-US" altLang="en-US" sz="2800" dirty="0" smtClean="0">
                    <a:solidFill>
                      <a:srgbClr val="0000FF"/>
                    </a:solidFill>
                  </a:rPr>
                  <a:t>   </a:t>
                </a:r>
                <a:r>
                  <a:rPr lang="en-US" altLang="en-US" sz="2800" dirty="0" smtClean="0"/>
                  <a:t>⇌   </a:t>
                </a:r>
                <a:r>
                  <a:rPr lang="en-US" altLang="en-US" sz="2800" dirty="0" smtClean="0">
                    <a:solidFill>
                      <a:srgbClr val="0000FF"/>
                    </a:solidFill>
                  </a:rPr>
                  <a:t>C</a:t>
                </a:r>
                <a:r>
                  <a:rPr lang="vi-VN" altLang="en-US" sz="2800" dirty="0" smtClean="0">
                    <a:solidFill>
                      <a:srgbClr val="0000FF"/>
                    </a:solidFill>
                  </a:rPr>
                  <a:t>(rắn)</a:t>
                </a:r>
                <a:r>
                  <a:rPr lang="en-US" altLang="en-US" sz="2800" dirty="0" smtClean="0">
                    <a:solidFill>
                      <a:srgbClr val="0000FF"/>
                    </a:solidFill>
                  </a:rPr>
                  <a:t> </a:t>
                </a:r>
                <a:r>
                  <a:rPr lang="en-US" altLang="en-US" sz="2800" dirty="0" smtClean="0"/>
                  <a:t>+ </a:t>
                </a:r>
                <a:r>
                  <a:rPr lang="vi-VN" altLang="en-US" sz="2800" dirty="0" smtClean="0"/>
                  <a:t> 2</a:t>
                </a:r>
                <a:r>
                  <a:rPr lang="en-US" altLang="en-US" sz="2800" dirty="0" smtClean="0">
                    <a:solidFill>
                      <a:srgbClr val="0000FF"/>
                    </a:solidFill>
                  </a:rPr>
                  <a:t>D</a:t>
                </a:r>
                <a:r>
                  <a:rPr lang="vi-VN" altLang="en-US" sz="2800" dirty="0" smtClean="0">
                    <a:solidFill>
                      <a:srgbClr val="0000FF"/>
                    </a:solidFill>
                  </a:rPr>
                  <a:t>(dd)</a:t>
                </a:r>
                <a:r>
                  <a:rPr lang="en-US" altLang="en-US" sz="2800" dirty="0" smtClean="0">
                    <a:solidFill>
                      <a:srgbClr val="0000FF"/>
                    </a:solidFill>
                  </a:rPr>
                  <a:t> ;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2800" i="1">
                            <a:latin typeface="Cambria Math"/>
                          </a:rPr>
                          <m:t>∆</m:t>
                        </m:r>
                        <m:r>
                          <a:rPr lang="en-US" sz="2800" b="0" i="1" smtClean="0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</a:rPr>
                          <m:t>1000</m:t>
                        </m:r>
                      </m:sub>
                      <m:sup>
                        <m:r>
                          <a:rPr lang="en-US" sz="2800" i="1">
                            <a:latin typeface="Cambria Math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sz="2800" dirty="0" smtClean="0"/>
                  <a:t>= -10kJ</a:t>
                </a:r>
                <a:r>
                  <a:rPr lang="en-US" altLang="en-US" sz="2800" dirty="0" smtClean="0">
                    <a:solidFill>
                      <a:srgbClr val="0000FF"/>
                    </a:solidFill>
                  </a:rPr>
                  <a:t/>
                </a:r>
                <a:br>
                  <a:rPr lang="en-US" altLang="en-US" sz="2800" dirty="0" smtClean="0">
                    <a:solidFill>
                      <a:srgbClr val="0000FF"/>
                    </a:solidFill>
                  </a:rPr>
                </a:br>
                <a:r>
                  <a:rPr lang="vi-VN" altLang="en-US" sz="2800" dirty="0" smtClean="0"/>
                  <a:t> 0,1M       0,1atm                     0,01M</a:t>
                </a:r>
                <a:endParaRPr lang="en-US" altLang="en-US" sz="2800" dirty="0"/>
              </a:p>
            </p:txBody>
          </p:sp>
        </mc:Choice>
        <mc:Fallback xmlns="">
          <p:sp>
            <p:nvSpPr>
              <p:cNvPr id="18" name="Rectangle 2">
                <a:extLst>
                  <a:ext uri="{FF2B5EF4-FFF2-40B4-BE49-F238E27FC236}">
                    <a16:creationId xmlns:a16="http://schemas.microsoft.com/office/drawing/2014/main" xmlns="" id="{800733E3-4C30-4560-B202-3AFB8FEBBD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-10753" y="-4251"/>
                <a:ext cx="9144000" cy="1375851"/>
              </a:xfrm>
              <a:prstGeom prst="rect">
                <a:avLst/>
              </a:prstGeom>
              <a:blipFill rotWithShape="1">
                <a:blip r:embed="rId7"/>
                <a:stretch>
                  <a:fillRect l="-267"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487" y="1106530"/>
                <a:ext cx="9147731" cy="696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vi-VN" sz="2400" dirty="0" smtClean="0">
                    <a:solidFill>
                      <a:srgbClr val="CC6600"/>
                    </a:solidFill>
                  </a:rPr>
                  <a:t>Q</a:t>
                </a:r>
                <a:r>
                  <a:rPr lang="vi-VN" sz="2400" baseline="-25000" dirty="0" smtClean="0">
                    <a:solidFill>
                      <a:srgbClr val="CC6600"/>
                    </a:solidFill>
                    <a:sym typeface="Symbol"/>
                  </a:rPr>
                  <a:t> </a:t>
                </a:r>
                <a:r>
                  <a:rPr lang="vi-VN" sz="2400" dirty="0" smtClean="0">
                    <a:solidFill>
                      <a:srgbClr val="CC6600"/>
                    </a:solidFill>
                    <a:sym typeface="Symbol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sz="2400" i="1" smtClean="0">
                            <a:solidFill>
                              <a:srgbClr val="CC6600"/>
                            </a:solidFill>
                            <a:latin typeface="Cambria Math"/>
                            <a:sym typeface="Symbol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vi-VN" sz="2400" i="1" smtClean="0">
                                <a:solidFill>
                                  <a:srgbClr val="CC6600"/>
                                </a:solidFill>
                                <a:latin typeface="Cambria Math"/>
                                <a:sym typeface="Symbol"/>
                              </a:rPr>
                            </m:ctrlPr>
                          </m:sSupPr>
                          <m:e>
                            <m:r>
                              <a:rPr lang="vi-VN" sz="2400" b="0" i="1" smtClean="0">
                                <a:solidFill>
                                  <a:srgbClr val="CC6600"/>
                                </a:solidFill>
                                <a:latin typeface="Cambria Math"/>
                                <a:sym typeface="Symbol"/>
                              </a:rPr>
                              <m:t>0,01</m:t>
                            </m:r>
                          </m:e>
                          <m:sup>
                            <m:r>
                              <a:rPr lang="vi-VN" sz="2400" b="0" i="1" smtClean="0">
                                <a:solidFill>
                                  <a:srgbClr val="CC6600"/>
                                </a:solidFill>
                                <a:latin typeface="Cambria Math"/>
                                <a:sym typeface="Symbol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vi-VN" sz="2400" i="1" smtClean="0">
                                <a:solidFill>
                                  <a:srgbClr val="CC6600"/>
                                </a:solidFill>
                                <a:latin typeface="Cambria Math"/>
                                <a:sym typeface="Symbol"/>
                              </a:rPr>
                            </m:ctrlPr>
                          </m:sSupPr>
                          <m:e>
                            <m:r>
                              <a:rPr lang="vi-VN" sz="2400" b="0" i="1" smtClean="0">
                                <a:solidFill>
                                  <a:srgbClr val="CC6600"/>
                                </a:solidFill>
                                <a:latin typeface="Cambria Math"/>
                                <a:sym typeface="Symbol"/>
                              </a:rPr>
                              <m:t>0,1</m:t>
                            </m:r>
                          </m:e>
                          <m:sup>
                            <m:r>
                              <a:rPr lang="vi-VN" sz="2400" b="0" i="1" smtClean="0">
                                <a:solidFill>
                                  <a:srgbClr val="CC6600"/>
                                </a:solidFill>
                                <a:latin typeface="Cambria Math"/>
                                <a:sym typeface="Symbol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vi-VN" sz="2400" i="1" smtClean="0">
                                <a:solidFill>
                                  <a:srgbClr val="CC6600"/>
                                </a:solidFill>
                                <a:latin typeface="Cambria Math"/>
                                <a:sym typeface="Symbol"/>
                              </a:rPr>
                            </m:ctrlPr>
                          </m:sSupPr>
                          <m:e>
                            <m:r>
                              <a:rPr lang="vi-VN" sz="2400" b="0" i="1" smtClean="0">
                                <a:solidFill>
                                  <a:srgbClr val="CC6600"/>
                                </a:solidFill>
                                <a:latin typeface="Cambria Math"/>
                                <a:sym typeface="Symbol"/>
                              </a:rPr>
                              <m:t>.0,1</m:t>
                            </m:r>
                          </m:e>
                          <m:sup>
                            <m:r>
                              <a:rPr lang="vi-VN" sz="2400" b="0" i="1" smtClean="0">
                                <a:solidFill>
                                  <a:srgbClr val="CC6600"/>
                                </a:solidFill>
                                <a:latin typeface="Cambria Math"/>
                                <a:sym typeface="Symbol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400" dirty="0" smtClean="0">
                    <a:solidFill>
                      <a:srgbClr val="CC6600"/>
                    </a:solidFill>
                  </a:rPr>
                  <a:t> =10 </a:t>
                </a:r>
                <a:r>
                  <a:rPr lang="en-US" sz="2400" dirty="0" smtClean="0">
                    <a:solidFill>
                      <a:srgbClr val="CC6600"/>
                    </a:solidFill>
                    <a:sym typeface="Symbol"/>
                  </a:rPr>
                  <a:t>G</a:t>
                </a:r>
                <a:r>
                  <a:rPr lang="en-US" sz="2400" baseline="-25000" dirty="0" smtClean="0">
                    <a:solidFill>
                      <a:srgbClr val="CC6600"/>
                    </a:solidFill>
                    <a:sym typeface="Symbol"/>
                  </a:rPr>
                  <a:t>1000</a:t>
                </a:r>
                <a:r>
                  <a:rPr lang="en-US" sz="2400" dirty="0" smtClean="0">
                    <a:solidFill>
                      <a:srgbClr val="CC6600"/>
                    </a:solidFill>
                    <a:sym typeface="Symbol"/>
                  </a:rPr>
                  <a:t> = -10 + 8,314.10</a:t>
                </a:r>
                <a:r>
                  <a:rPr lang="en-US" sz="2400" baseline="30000" dirty="0" smtClean="0">
                    <a:solidFill>
                      <a:srgbClr val="CC6600"/>
                    </a:solidFill>
                    <a:sym typeface="Symbol"/>
                  </a:rPr>
                  <a:t>-3</a:t>
                </a:r>
                <a:r>
                  <a:rPr lang="en-US" sz="2400" dirty="0" smtClean="0">
                    <a:solidFill>
                      <a:srgbClr val="CC6600"/>
                    </a:solidFill>
                    <a:sym typeface="Symbol"/>
                  </a:rPr>
                  <a:t>.10</a:t>
                </a:r>
                <a:r>
                  <a:rPr lang="en-US" sz="2400" baseline="30000" dirty="0" smtClean="0">
                    <a:solidFill>
                      <a:srgbClr val="CC6600"/>
                    </a:solidFill>
                    <a:sym typeface="Symbol"/>
                  </a:rPr>
                  <a:t>3</a:t>
                </a:r>
                <a:r>
                  <a:rPr lang="en-US" sz="2400" dirty="0" smtClean="0">
                    <a:solidFill>
                      <a:srgbClr val="CC6600"/>
                    </a:solidFill>
                    <a:sym typeface="Symbol"/>
                  </a:rPr>
                  <a:t>.ln10 = 9,14 kJ &gt; 0</a:t>
                </a:r>
                <a:endParaRPr lang="en-US" sz="2400" dirty="0">
                  <a:solidFill>
                    <a:srgbClr val="CC66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7" y="1106530"/>
                <a:ext cx="9147731" cy="696666"/>
              </a:xfrm>
              <a:prstGeom prst="rect">
                <a:avLst/>
              </a:prstGeom>
              <a:blipFill rotWithShape="1">
                <a:blip r:embed="rId8"/>
                <a:stretch>
                  <a:fillRect l="-1067" r="-333" b="-35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Left Arrow 4"/>
          <p:cNvSpPr/>
          <p:nvPr/>
        </p:nvSpPr>
        <p:spPr>
          <a:xfrm>
            <a:off x="2971800" y="304800"/>
            <a:ext cx="640080" cy="457200"/>
          </a:xfrm>
          <a:prstGeom prst="leftArrow">
            <a:avLst/>
          </a:prstGeom>
          <a:solidFill>
            <a:srgbClr val="CC00FF"/>
          </a:solidFill>
          <a:ln>
            <a:solidFill>
              <a:srgbClr val="CC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380999" y="3612947"/>
            <a:ext cx="4372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CC00FF"/>
                </a:solidFill>
              </a:rPr>
              <a:t>P(</a:t>
            </a:r>
            <a:r>
              <a:rPr lang="en-US" sz="2400" dirty="0" err="1" smtClean="0">
                <a:solidFill>
                  <a:srgbClr val="CC00FF"/>
                </a:solidFill>
              </a:rPr>
              <a:t>atm</a:t>
            </a:r>
            <a:r>
              <a:rPr lang="en-US" sz="2400" dirty="0" smtClean="0">
                <a:solidFill>
                  <a:srgbClr val="CC00FF"/>
                </a:solidFill>
              </a:rPr>
              <a:t>): </a:t>
            </a:r>
            <a:r>
              <a:rPr lang="en-US" sz="2400" dirty="0" err="1" smtClean="0">
                <a:solidFill>
                  <a:srgbClr val="CC00FF"/>
                </a:solidFill>
              </a:rPr>
              <a:t>áp</a:t>
            </a:r>
            <a:r>
              <a:rPr lang="en-US" sz="2400" dirty="0" smtClean="0">
                <a:solidFill>
                  <a:srgbClr val="CC00FF"/>
                </a:solidFill>
              </a:rPr>
              <a:t> </a:t>
            </a:r>
            <a:r>
              <a:rPr lang="en-US" sz="2400" dirty="0" err="1" smtClean="0">
                <a:solidFill>
                  <a:srgbClr val="CC00FF"/>
                </a:solidFill>
              </a:rPr>
              <a:t>suất</a:t>
            </a:r>
            <a:r>
              <a:rPr lang="en-US" sz="2400" dirty="0" smtClean="0">
                <a:solidFill>
                  <a:srgbClr val="CC00FF"/>
                </a:solidFill>
              </a:rPr>
              <a:t> </a:t>
            </a:r>
            <a:r>
              <a:rPr lang="en-US" sz="2400" dirty="0" err="1" smtClean="0">
                <a:solidFill>
                  <a:srgbClr val="CC00FF"/>
                </a:solidFill>
              </a:rPr>
              <a:t>tại</a:t>
            </a:r>
            <a:r>
              <a:rPr lang="en-US" sz="2400" dirty="0" smtClean="0">
                <a:solidFill>
                  <a:srgbClr val="CC00FF"/>
                </a:solidFill>
              </a:rPr>
              <a:t> </a:t>
            </a:r>
            <a:r>
              <a:rPr lang="en-US" sz="2400" dirty="0" err="1" smtClean="0">
                <a:solidFill>
                  <a:srgbClr val="CC00FF"/>
                </a:solidFill>
              </a:rPr>
              <a:t>thời</a:t>
            </a:r>
            <a:r>
              <a:rPr lang="en-US" sz="2400" dirty="0" smtClean="0">
                <a:solidFill>
                  <a:srgbClr val="CC00FF"/>
                </a:solidFill>
              </a:rPr>
              <a:t> </a:t>
            </a:r>
            <a:r>
              <a:rPr lang="en-US" sz="2400" dirty="0" err="1" smtClean="0">
                <a:solidFill>
                  <a:srgbClr val="CC00FF"/>
                </a:solidFill>
              </a:rPr>
              <a:t>điểm</a:t>
            </a:r>
            <a:r>
              <a:rPr lang="en-US" sz="2400" dirty="0" smtClean="0">
                <a:solidFill>
                  <a:srgbClr val="CC00FF"/>
                </a:solidFill>
              </a:rPr>
              <a:t> </a:t>
            </a:r>
            <a:r>
              <a:rPr lang="en-US" sz="2400" dirty="0" smtClean="0">
                <a:solidFill>
                  <a:srgbClr val="CC00FF"/>
                </a:solidFill>
                <a:sym typeface="Symbol"/>
              </a:rPr>
              <a:t>.</a:t>
            </a:r>
            <a:endParaRPr lang="en-US" sz="2400" dirty="0">
              <a:solidFill>
                <a:srgbClr val="CC00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81000" y="5026967"/>
            <a:ext cx="4372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006600"/>
                </a:solidFill>
              </a:rPr>
              <a:t>C(M): </a:t>
            </a:r>
            <a:r>
              <a:rPr lang="en-US" sz="2400" dirty="0" err="1" smtClean="0">
                <a:solidFill>
                  <a:srgbClr val="006600"/>
                </a:solidFill>
              </a:rPr>
              <a:t>nồng</a:t>
            </a:r>
            <a:r>
              <a:rPr lang="en-US" sz="2400" dirty="0" smtClean="0">
                <a:solidFill>
                  <a:srgbClr val="006600"/>
                </a:solidFill>
              </a:rPr>
              <a:t> </a:t>
            </a:r>
            <a:r>
              <a:rPr lang="en-US" sz="2400" dirty="0" err="1" smtClean="0">
                <a:solidFill>
                  <a:srgbClr val="006600"/>
                </a:solidFill>
              </a:rPr>
              <a:t>độ</a:t>
            </a:r>
            <a:r>
              <a:rPr lang="en-US" sz="2400" dirty="0" smtClean="0">
                <a:solidFill>
                  <a:srgbClr val="006600"/>
                </a:solidFill>
              </a:rPr>
              <a:t> </a:t>
            </a:r>
            <a:r>
              <a:rPr lang="en-US" sz="2400" dirty="0" err="1" smtClean="0">
                <a:solidFill>
                  <a:srgbClr val="006600"/>
                </a:solidFill>
              </a:rPr>
              <a:t>tại</a:t>
            </a:r>
            <a:r>
              <a:rPr lang="en-US" sz="2400" dirty="0" smtClean="0">
                <a:solidFill>
                  <a:srgbClr val="006600"/>
                </a:solidFill>
              </a:rPr>
              <a:t> </a:t>
            </a:r>
            <a:r>
              <a:rPr lang="en-US" sz="2400" dirty="0" err="1" smtClean="0">
                <a:solidFill>
                  <a:srgbClr val="006600"/>
                </a:solidFill>
              </a:rPr>
              <a:t>thời</a:t>
            </a:r>
            <a:r>
              <a:rPr lang="en-US" sz="2400" dirty="0" smtClean="0">
                <a:solidFill>
                  <a:srgbClr val="006600"/>
                </a:solidFill>
              </a:rPr>
              <a:t> </a:t>
            </a:r>
            <a:r>
              <a:rPr lang="en-US" sz="2400" dirty="0" err="1" smtClean="0">
                <a:solidFill>
                  <a:srgbClr val="006600"/>
                </a:solidFill>
              </a:rPr>
              <a:t>điểm</a:t>
            </a:r>
            <a:r>
              <a:rPr lang="en-US" sz="2400" dirty="0" smtClean="0">
                <a:solidFill>
                  <a:srgbClr val="006600"/>
                </a:solidFill>
              </a:rPr>
              <a:t> </a:t>
            </a:r>
            <a:r>
              <a:rPr lang="en-US" sz="2400" dirty="0" smtClean="0">
                <a:solidFill>
                  <a:srgbClr val="006600"/>
                </a:solidFill>
                <a:sym typeface="Symbol"/>
              </a:rPr>
              <a:t>.</a:t>
            </a:r>
            <a:endParaRPr lang="en-US" sz="2400" dirty="0">
              <a:solidFill>
                <a:srgbClr val="0066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5" grpId="0"/>
      <p:bldP spid="7" grpId="0" animBg="1"/>
      <p:bldP spid="8" grpId="0"/>
      <p:bldP spid="4" grpId="0"/>
      <p:bldP spid="12" grpId="0" animBg="1"/>
      <p:bldP spid="2" grpId="0"/>
      <p:bldP spid="3" grpId="0"/>
      <p:bldP spid="18" grpId="0" animBg="1"/>
      <p:bldP spid="6" grpId="0"/>
      <p:bldP spid="5" grpId="0" animBg="1"/>
      <p:bldP spid="9" grpId="0"/>
      <p:bldP spid="1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xmlns="" id="{800733E3-4C30-4560-B202-3AFB8FEBBDC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763" y="117475"/>
            <a:ext cx="9144000" cy="1554163"/>
          </a:xfrm>
        </p:spPr>
        <p:txBody>
          <a:bodyPr/>
          <a:lstStyle/>
          <a:p>
            <a:pPr algn="l" eaLnBrk="1" hangingPunct="1"/>
            <a:r>
              <a:rPr lang="en-US" altLang="en-US" sz="3200" b="1" dirty="0">
                <a:solidFill>
                  <a:srgbClr val="0000FF"/>
                </a:solidFill>
              </a:rPr>
              <a:t>QUAN HỆ GIỮA HẰNG SỐ CÂN BẰNG VÀ </a:t>
            </a:r>
            <a:r>
              <a:rPr lang="en-US" altLang="en-US" sz="3200" b="1" dirty="0">
                <a:solidFill>
                  <a:srgbClr val="0000FF"/>
                </a:solidFill>
                <a:sym typeface="Symbol" panose="05050102010706020507" pitchFamily="18" charset="2"/>
              </a:rPr>
              <a:t>G</a:t>
            </a:r>
            <a:br>
              <a:rPr lang="en-US" altLang="en-US" sz="3200" b="1" dirty="0">
                <a:solidFill>
                  <a:srgbClr val="0000FF"/>
                </a:solidFill>
                <a:sym typeface="Symbol" panose="05050102010706020507" pitchFamily="18" charset="2"/>
              </a:rPr>
            </a:br>
            <a:r>
              <a:rPr lang="vi-VN" altLang="en-US" sz="3200" b="1" dirty="0" smtClean="0">
                <a:solidFill>
                  <a:srgbClr val="0000FF"/>
                </a:solidFill>
                <a:sym typeface="Symbol" panose="05050102010706020507" pitchFamily="18" charset="2"/>
              </a:rPr>
              <a:t>         </a:t>
            </a:r>
            <a:r>
              <a:rPr lang="en-US" altLang="en-US" sz="2800" b="1" dirty="0" err="1" smtClean="0">
                <a:solidFill>
                  <a:schemeClr val="tx1"/>
                </a:solidFill>
              </a:rPr>
              <a:t>Phản</a:t>
            </a:r>
            <a:r>
              <a:rPr lang="en-US" altLang="en-US" sz="2800" b="1" dirty="0" smtClean="0">
                <a:solidFill>
                  <a:schemeClr val="tx1"/>
                </a:solidFill>
              </a:rPr>
              <a:t> </a:t>
            </a:r>
            <a:r>
              <a:rPr lang="en-US" altLang="en-US" sz="2800" b="1" dirty="0" err="1">
                <a:solidFill>
                  <a:schemeClr val="tx1"/>
                </a:solidFill>
              </a:rPr>
              <a:t>ứng</a:t>
            </a:r>
            <a:r>
              <a:rPr lang="en-US" altLang="en-US" sz="2800" b="1" dirty="0">
                <a:solidFill>
                  <a:schemeClr val="tx1"/>
                </a:solidFill>
              </a:rPr>
              <a:t> </a:t>
            </a:r>
            <a:r>
              <a:rPr lang="en-US" altLang="en-US" sz="2800" b="1" dirty="0" smtClean="0">
                <a:solidFill>
                  <a:schemeClr val="tx1"/>
                </a:solidFill>
              </a:rPr>
              <a:t> </a:t>
            </a:r>
            <a:r>
              <a:rPr lang="en-US" altLang="en-US" sz="2800" b="1" dirty="0">
                <a:solidFill>
                  <a:schemeClr val="tx1"/>
                </a:solidFill>
              </a:rPr>
              <a:t>: </a:t>
            </a:r>
            <a:r>
              <a:rPr lang="en-US" altLang="en-US" sz="3200" dirty="0" err="1"/>
              <a:t>a</a:t>
            </a:r>
            <a:r>
              <a:rPr lang="en-US" altLang="en-US" sz="3200" dirty="0" err="1">
                <a:solidFill>
                  <a:srgbClr val="FF0000"/>
                </a:solidFill>
              </a:rPr>
              <a:t>A</a:t>
            </a:r>
            <a:r>
              <a:rPr lang="en-US" altLang="en-US" sz="3200" dirty="0"/>
              <a:t>   +   </a:t>
            </a:r>
            <a:r>
              <a:rPr lang="en-US" altLang="en-US" sz="3200" dirty="0" err="1"/>
              <a:t>b</a:t>
            </a:r>
            <a:r>
              <a:rPr lang="en-US" altLang="en-US" sz="3200" dirty="0" err="1">
                <a:solidFill>
                  <a:srgbClr val="FF0000"/>
                </a:solidFill>
              </a:rPr>
              <a:t>B</a:t>
            </a:r>
            <a:r>
              <a:rPr lang="en-US" altLang="en-US" sz="3200" dirty="0"/>
              <a:t>    ⇌    </a:t>
            </a:r>
            <a:r>
              <a:rPr lang="en-US" altLang="en-US" sz="3200" dirty="0" err="1"/>
              <a:t>c</a:t>
            </a:r>
            <a:r>
              <a:rPr lang="en-US" altLang="en-US" sz="3200" dirty="0" err="1">
                <a:solidFill>
                  <a:srgbClr val="FF0000"/>
                </a:solidFill>
              </a:rPr>
              <a:t>C</a:t>
            </a:r>
            <a:r>
              <a:rPr lang="en-US" altLang="en-US" sz="3200" dirty="0"/>
              <a:t>    +    </a:t>
            </a:r>
            <a:r>
              <a:rPr lang="en-US" altLang="en-US" sz="3200" dirty="0" err="1"/>
              <a:t>d</a:t>
            </a:r>
            <a:r>
              <a:rPr lang="en-US" altLang="en-US" sz="3200" dirty="0" err="1">
                <a:solidFill>
                  <a:srgbClr val="FF0000"/>
                </a:solidFill>
              </a:rPr>
              <a:t>D</a:t>
            </a:r>
            <a:r>
              <a:rPr lang="en-US" altLang="en-US" sz="3200" dirty="0"/>
              <a:t/>
            </a:r>
            <a:br>
              <a:rPr lang="en-US" altLang="en-US" sz="3200" dirty="0"/>
            </a:br>
            <a:endParaRPr lang="en-US" altLang="en-US" sz="3200" dirty="0"/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xmlns="" id="{D4EAD5EC-52B8-4D73-AE31-4FD1B30B8F7B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66700" y="1612900"/>
            <a:ext cx="8077200" cy="4525963"/>
          </a:xfrm>
        </p:spPr>
        <p:txBody>
          <a:bodyPr/>
          <a:lstStyle/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dirty="0"/>
              <a:t>               </a:t>
            </a:r>
          </a:p>
          <a:p>
            <a:pPr eaLnBrk="1" hangingPunct="1"/>
            <a:endParaRPr lang="en-US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894" name="Object 12">
                <a:extLst>
                  <a:ext uri="{FF2B5EF4-FFF2-40B4-BE49-F238E27FC236}">
                    <a16:creationId xmlns:a16="http://schemas.microsoft.com/office/drawing/2014/main" xmlns="" id="{D244C64D-8C86-4DBE-9178-19B98D2CC593}"/>
                  </a:ext>
                </a:extLst>
              </p:cNvPr>
              <p:cNvSpPr txBox="1"/>
              <p:nvPr/>
            </p:nvSpPr>
            <p:spPr bwMode="auto">
              <a:xfrm>
                <a:off x="4114800" y="3493290"/>
                <a:ext cx="5203214" cy="213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36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sz="3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6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vi-VN" sz="3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   </m:t>
                          </m:r>
                          <m: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𝑐𝑏</m:t>
                          </m:r>
                        </m:sub>
                      </m:sSub>
                      <m:r>
                        <a:rPr lang="en-US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6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36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3600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3600" i="1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p>
                                      <m:r>
                                        <a:rPr lang="en-US" sz="3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  <m:r>
                                        <a:rPr lang="en-US" sz="3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sup>
                                  </m:sSup>
                                  <m:r>
                                    <a:rPr lang="en-US" sz="3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sSup>
                                    <m:sSupPr>
                                      <m:ctrlPr>
                                        <a:rPr lang="en-US" sz="3600" i="1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p>
                                      <m:r>
                                        <a:rPr lang="en-US" sz="3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  <m:r>
                                        <a:rPr lang="en-US" sz="3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sz="3600" i="1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p>
                                      <m:r>
                                        <a:rPr lang="en-US" sz="3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en-US" sz="3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sup>
                                  </m:sSup>
                                  <m:r>
                                    <a:rPr lang="en-US" sz="3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sSup>
                                    <m:sSupPr>
                                      <m:ctrlPr>
                                        <a:rPr lang="en-US" sz="3600" i="1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p>
                                      <m:r>
                                        <a:rPr lang="en-US" sz="3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  <m:r>
                                        <a:rPr lang="en-US" sz="3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𝑐𝑏</m:t>
                          </m:r>
                        </m:sub>
                      </m:sSub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37894" name="Object 12">
                <a:extLst>
                  <a:ext uri="{FF2B5EF4-FFF2-40B4-BE49-F238E27FC236}">
                    <a16:creationId xmlns:a16="http://schemas.microsoft.com/office/drawing/2014/main" id="{D244C64D-8C86-4DBE-9178-19B98D2CC5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14800" y="3493290"/>
                <a:ext cx="5203214" cy="21336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2">
            <a:extLst>
              <a:ext uri="{FF2B5EF4-FFF2-40B4-BE49-F238E27FC236}">
                <a16:creationId xmlns:a16="http://schemas.microsoft.com/office/drawing/2014/main" xmlns="" id="{E86B1B8B-C994-4B78-933C-750239DDFE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658" y="2452008"/>
            <a:ext cx="908923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pPr algn="l" eaLnBrk="1" hangingPunct="1">
              <a:defRPr/>
            </a:pPr>
            <a:r>
              <a:rPr lang="en-US" altLang="en-US" sz="3200" kern="0" dirty="0" err="1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Khi</a:t>
            </a:r>
            <a:r>
              <a:rPr lang="en-US" altLang="en-US" sz="3200" kern="0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3200" kern="0" dirty="0" err="1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cân</a:t>
            </a:r>
            <a:r>
              <a:rPr lang="en-US" altLang="en-US" sz="3200" kern="0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3200" kern="0" dirty="0" err="1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bằng</a:t>
            </a:r>
            <a:r>
              <a:rPr lang="en-US" altLang="en-US" sz="3200" kern="0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: </a:t>
            </a:r>
          </a:p>
          <a:p>
            <a:pPr algn="l" eaLnBrk="1" hangingPunct="1">
              <a:defRPr/>
            </a:pPr>
            <a:r>
              <a:rPr lang="en-US" altLang="en-US" sz="3200" kern="0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∆G</a:t>
            </a:r>
            <a:r>
              <a:rPr lang="en-US" altLang="en-US" sz="3200" kern="0" baseline="-25000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T</a:t>
            </a:r>
            <a:r>
              <a:rPr lang="en-US" altLang="en-US" sz="3200" kern="0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 = 0 </a:t>
            </a:r>
            <a:r>
              <a:rPr lang="en-US" altLang="en-US" sz="3200" kern="0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en-US" sz="3200" kern="0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 ∆G</a:t>
            </a:r>
            <a:r>
              <a:rPr lang="en-US" altLang="en-US" sz="3200" kern="0" baseline="30000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0</a:t>
            </a:r>
            <a:r>
              <a:rPr lang="en-US" altLang="en-US" sz="3200" kern="0" baseline="-25000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T</a:t>
            </a:r>
            <a:r>
              <a:rPr lang="en-US" altLang="en-US" sz="3200" kern="0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 = -</a:t>
            </a:r>
            <a:r>
              <a:rPr lang="en-US" altLang="en-US" sz="3200" kern="0" dirty="0" err="1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RTln</a:t>
            </a:r>
            <a:r>
              <a:rPr lang="en-US" altLang="en-US" sz="3200" kern="0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(Q)</a:t>
            </a:r>
            <a:r>
              <a:rPr lang="en-US" altLang="en-US" sz="3200" kern="0" baseline="-25000" dirty="0" err="1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cb</a:t>
            </a:r>
            <a:r>
              <a:rPr lang="en-US" altLang="en-US" sz="3200" kern="0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 = -</a:t>
            </a:r>
            <a:r>
              <a:rPr lang="en-US" altLang="en-US" sz="3200" kern="0" dirty="0" err="1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RTlnK</a:t>
            </a:r>
            <a:endParaRPr lang="en-US" altLang="en-US" sz="3200" kern="0" dirty="0">
              <a:solidFill>
                <a:srgbClr val="0000FF"/>
              </a:solidFill>
              <a:latin typeface="+mn-lt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10">
                <a:extLst>
                  <a:ext uri="{FF2B5EF4-FFF2-40B4-BE49-F238E27FC236}">
                    <a16:creationId xmlns:a16="http://schemas.microsoft.com/office/drawing/2014/main" xmlns="" id="{1819BCF8-4008-4199-AC9F-6D1266A1B42F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83580" y="3332947"/>
                <a:ext cx="3225735" cy="16748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92500"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>
                  <a:buFontTx/>
                  <a:buNone/>
                </a:pPr>
                <a:r>
                  <a:rPr lang="vi-VN" kern="0" dirty="0">
                    <a:solidFill>
                      <a:srgbClr val="006600"/>
                    </a:solidFill>
                  </a:rPr>
                  <a:t>Tỉ số pư:</a:t>
                </a:r>
                <a:endParaRPr lang="en-US" kern="0" dirty="0">
                  <a:solidFill>
                    <a:srgbClr val="006600"/>
                  </a:solidFill>
                </a:endParaRPr>
              </a:p>
              <a:p>
                <a:pPr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0" smtClean="0">
                          <a:solidFill>
                            <a:srgbClr val="0066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vi-VN" b="0" i="1" kern="0" smtClean="0">
                          <a:solidFill>
                            <a:srgbClr val="0066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kern="0" smtClean="0">
                          <a:solidFill>
                            <a:srgbClr val="0066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kern="0">
                              <a:solidFill>
                                <a:srgbClr val="0066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kern="0">
                                  <a:solidFill>
                                    <a:srgbClr val="00660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 kern="0">
                                      <a:solidFill>
                                        <a:srgbClr val="006600"/>
                                      </a:solidFill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i="1" kern="0">
                                          <a:solidFill>
                                            <a:srgbClr val="006600"/>
                                          </a:solidFill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 kern="0" smtClean="0">
                                          <a:solidFill>
                                            <a:srgbClr val="0066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p>
                                      <m:r>
                                        <a:rPr lang="en-US" i="1" kern="0">
                                          <a:solidFill>
                                            <a:srgbClr val="0066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  <m:r>
                                        <a:rPr lang="en-US" i="1" kern="0" smtClean="0">
                                          <a:solidFill>
                                            <a:srgbClr val="0066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sup>
                                  </m:sSup>
                                  <m:r>
                                    <a:rPr lang="en-US" i="1" kern="0" smtClean="0">
                                      <a:solidFill>
                                        <a:srgbClr val="006600"/>
                                      </a:solidFill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sSup>
                                    <m:sSupPr>
                                      <m:ctrlPr>
                                        <a:rPr lang="en-US" i="1" kern="0">
                                          <a:solidFill>
                                            <a:srgbClr val="006600"/>
                                          </a:solidFill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 kern="0" smtClean="0">
                                          <a:solidFill>
                                            <a:srgbClr val="0066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p>
                                      <m:r>
                                        <a:rPr lang="en-US" i="1" kern="0" smtClean="0">
                                          <a:solidFill>
                                            <a:srgbClr val="0066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  <m:r>
                                        <a:rPr lang="en-US" i="1" kern="0">
                                          <a:solidFill>
                                            <a:srgbClr val="0066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i="1" kern="0">
                                          <a:solidFill>
                                            <a:srgbClr val="006600"/>
                                          </a:solidFill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 kern="0" smtClean="0">
                                          <a:solidFill>
                                            <a:srgbClr val="0066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p>
                                      <m:r>
                                        <a:rPr lang="en-US" i="1" kern="0" smtClean="0">
                                          <a:solidFill>
                                            <a:srgbClr val="0066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en-US" i="1" kern="0">
                                          <a:solidFill>
                                            <a:srgbClr val="0066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sup>
                                  </m:sSup>
                                  <m:r>
                                    <a:rPr lang="en-US" i="1" kern="0" smtClean="0">
                                      <a:solidFill>
                                        <a:srgbClr val="006600"/>
                                      </a:solidFill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sSup>
                                    <m:sSupPr>
                                      <m:ctrlPr>
                                        <a:rPr lang="en-US" i="1" kern="0" smtClean="0">
                                          <a:solidFill>
                                            <a:srgbClr val="006600"/>
                                          </a:solidFill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 kern="0" smtClean="0">
                                          <a:solidFill>
                                            <a:srgbClr val="0066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p>
                                      <m:r>
                                        <a:rPr lang="en-US" i="1" kern="0" smtClean="0">
                                          <a:solidFill>
                                            <a:srgbClr val="0066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  <m:r>
                                        <a:rPr lang="en-US" i="1" kern="0">
                                          <a:solidFill>
                                            <a:srgbClr val="0066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i="1" kern="0">
                              <a:solidFill>
                                <a:srgbClr val="0066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sub>
                      </m:sSub>
                    </m:oMath>
                  </m:oMathPara>
                </a14:m>
                <a:endParaRPr lang="en-US" kern="0" dirty="0"/>
              </a:p>
            </p:txBody>
          </p:sp>
        </mc:Choice>
        <mc:Fallback xmlns="">
          <p:sp>
            <p:nvSpPr>
              <p:cNvPr id="18" name="Object 10">
                <a:extLst>
                  <a:ext uri="{FF2B5EF4-FFF2-40B4-BE49-F238E27FC236}">
                    <a16:creationId xmlns:a16="http://schemas.microsoft.com/office/drawing/2014/main" id="{1819BCF8-4008-4199-AC9F-6D1266A1B4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3580" y="3332947"/>
                <a:ext cx="3225735" cy="1674840"/>
              </a:xfrm>
              <a:prstGeom prst="rect">
                <a:avLst/>
              </a:prstGeom>
              <a:blipFill>
                <a:blip r:embed="rId7"/>
                <a:stretch>
                  <a:fillRect l="-4348" t="-474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xmlns="" id="{A5DE4C4B-04C9-4D49-84DF-852D31B87898}"/>
                  </a:ext>
                </a:extLst>
              </p:cNvPr>
              <p:cNvSpPr txBox="1"/>
              <p:nvPr/>
            </p:nvSpPr>
            <p:spPr>
              <a:xfrm>
                <a:off x="318886" y="1287378"/>
                <a:ext cx="8983888" cy="137160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i="1" smtClean="0">
                            <a:latin typeface="Cambria Math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sz="2800" dirty="0">
                            <a:sym typeface="Symbol" panose="05050102010706020507" pitchFamily="18" charset="2"/>
                          </a:rPr>
                          <m:t></m:t>
                        </m:r>
                        <m:r>
                          <m:rPr>
                            <m:nor/>
                          </m:rPr>
                          <a:rPr lang="en-US" sz="2800" b="0" i="0" dirty="0" smtClean="0">
                            <a:sym typeface="Symbol" panose="05050102010706020507" pitchFamily="18" charset="2"/>
                          </a:rPr>
                          <m:t>G</m:t>
                        </m:r>
                        <m:r>
                          <m:rPr>
                            <m:nor/>
                          </m:rPr>
                          <a:rPr lang="en-US" sz="2800" b="0" i="0" baseline="-25000" dirty="0" smtClean="0">
                            <a:sym typeface="Symbol" panose="05050102010706020507" pitchFamily="18" charset="2"/>
                          </a:rPr>
                          <m:t>T</m:t>
                        </m:r>
                        <m:r>
                          <m:rPr>
                            <m:nor/>
                          </m:rPr>
                          <a:rPr lang="en-US" sz="2800" dirty="0">
                            <a:sym typeface="Symbol" panose="05050102010706020507" pitchFamily="18" charset="2"/>
                          </a:rPr>
                          <m:t> =</m:t>
                        </m:r>
                        <m:r>
                          <a:rPr lang="en-US" sz="2800" b="0" i="0" dirty="0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 </m:t>
                        </m:r>
                        <m:r>
                          <a:rPr lang="en-US" sz="280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∆</m:t>
                        </m:r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T</m:t>
                        </m:r>
                      </m:sub>
                      <m:sup>
                        <m:r>
                          <a:rPr lang="en-US" sz="2800" b="0" i="0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sz="2800" dirty="0"/>
                  <a:t> + </a:t>
                </a:r>
                <a:r>
                  <a:rPr lang="en-US" sz="2800" dirty="0" err="1"/>
                  <a:t>RTln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800" i="1" smtClean="0">
                            <a:latin typeface="Cambria Math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800" i="1">
                                <a:latin typeface="Cambria Math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800" i="1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p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sz="2800" i="1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p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sz="2800" i="1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sz="2800" i="1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p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lang="en-US" sz="2800" baseline="-25000" dirty="0">
                    <a:sym typeface="Symbol" panose="05050102010706020507" pitchFamily="18" charset="2"/>
                  </a:rPr>
                  <a:t></a:t>
                </a:r>
                <a:r>
                  <a:rPr lang="en-US" sz="2800" dirty="0">
                    <a:sym typeface="Symbol" panose="05050102010706020507" pitchFamily="18" charset="2"/>
                  </a:rPr>
                  <a:t> 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i="1">
                            <a:latin typeface="Cambria Math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en-US" sz="2800" i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∆</m:t>
                        </m:r>
                        <m:r>
                          <m:rPr>
                            <m:sty m:val="p"/>
                          </m:rPr>
                          <a:rPr lang="en-US" sz="2800" i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 i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T</m:t>
                        </m:r>
                      </m:sub>
                      <m:sup>
                        <m:r>
                          <a:rPr lang="en-US" sz="2800" i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sz="2800" dirty="0"/>
                  <a:t> + </a:t>
                </a:r>
                <a:r>
                  <a:rPr lang="en-US" sz="2800" dirty="0" err="1"/>
                  <a:t>RTlnQ</a:t>
                </a:r>
                <a:r>
                  <a:rPr lang="en-US" sz="2800" baseline="-25000" dirty="0" smtClean="0">
                    <a:sym typeface="Symbol" panose="05050102010706020507" pitchFamily="18" charset="2"/>
                  </a:rPr>
                  <a:t></a:t>
                </a:r>
                <a:endParaRPr lang="en-US" sz="2800" baseline="-25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A5DE4C4B-04C9-4D49-84DF-852D31B878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886" y="1287378"/>
                <a:ext cx="8983888" cy="1371600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9129D322-AD9A-4FAC-A883-3FD91884D9C9}"/>
              </a:ext>
            </a:extLst>
          </p:cNvPr>
          <p:cNvSpPr txBox="1"/>
          <p:nvPr/>
        </p:nvSpPr>
        <p:spPr>
          <a:xfrm>
            <a:off x="4495800" y="4263049"/>
            <a:ext cx="3810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</a:rPr>
              <a:t>P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7ED16BA7-6CE5-40C2-8C1E-A572564C22D5}"/>
              </a:ext>
            </a:extLst>
          </p:cNvPr>
          <p:cNvSpPr txBox="1"/>
          <p:nvPr/>
        </p:nvSpPr>
        <p:spPr>
          <a:xfrm>
            <a:off x="5551213" y="4291408"/>
            <a:ext cx="3810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</a:rPr>
              <a:t>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xmlns="" id="{7EFCE00D-BF56-4B26-A454-8B4129B68203}"/>
                  </a:ext>
                </a:extLst>
              </p:cNvPr>
              <p:cNvSpPr txBox="1"/>
              <p:nvPr/>
            </p:nvSpPr>
            <p:spPr>
              <a:xfrm>
                <a:off x="7087039" y="3539328"/>
                <a:ext cx="1387937" cy="12620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3200" b="1" i="1" smtClean="0">
                                  <a:solidFill>
                                    <a:srgbClr val="0000FF"/>
                                  </a:solidFill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sz="3200" b="1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</m:e>
                            <m:sub>
                              <m:r>
                                <a:rPr lang="en-US" sz="3200" b="1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𝐂</m:t>
                              </m:r>
                            </m:sub>
                            <m:sup>
                              <m:r>
                                <a:rPr lang="en-US" sz="3200" b="1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𝐜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3200" b="1" i="1" smtClean="0">
                                  <a:solidFill>
                                    <a:srgbClr val="0000FF"/>
                                  </a:solidFill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sz="3200" b="1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3200" b="1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</m:e>
                            <m:sub>
                              <m:r>
                                <a:rPr lang="en-US" sz="3200" b="1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𝐃</m:t>
                              </m:r>
                            </m:sub>
                            <m:sup>
                              <m:r>
                                <a:rPr lang="en-US" sz="3200" b="1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𝐝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sz="3200" b="1" i="1" smtClean="0">
                                  <a:solidFill>
                                    <a:srgbClr val="0000FF"/>
                                  </a:solidFill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sz="3200" b="1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</m:e>
                            <m:sub>
                              <m:r>
                                <a:rPr lang="en-US" sz="3200" b="1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𝐀</m:t>
                              </m:r>
                            </m:sub>
                            <m:sup>
                              <m:r>
                                <a:rPr lang="en-US" sz="3200" b="1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3200" b="1" i="1" smtClean="0">
                                  <a:solidFill>
                                    <a:srgbClr val="0000FF"/>
                                  </a:solidFill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sz="3200" b="1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3200" b="1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</m:e>
                            <m:sub>
                              <m:r>
                                <a:rPr lang="en-US" sz="3200" b="1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𝐁</m:t>
                              </m:r>
                            </m:sub>
                            <m:sup>
                              <m:r>
                                <a:rPr lang="en-US" sz="3200" b="1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EFCE00D-BF56-4B26-A454-8B4129B682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7039" y="3539328"/>
                <a:ext cx="1387937" cy="12620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C8ACC26-65C0-4679-A483-3D5DFF89AB59}"/>
              </a:ext>
            </a:extLst>
          </p:cNvPr>
          <p:cNvSpPr txBox="1"/>
          <p:nvPr/>
        </p:nvSpPr>
        <p:spPr>
          <a:xfrm>
            <a:off x="5117029" y="856967"/>
            <a:ext cx="304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k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381373C5-A3E2-4CDC-904A-7142C7D7275D}"/>
              </a:ext>
            </a:extLst>
          </p:cNvPr>
          <p:cNvSpPr txBox="1"/>
          <p:nvPr/>
        </p:nvSpPr>
        <p:spPr>
          <a:xfrm>
            <a:off x="3700687" y="847475"/>
            <a:ext cx="304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k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FFA1825F-F22C-45E1-AD71-B6750E2546F0}"/>
              </a:ext>
            </a:extLst>
          </p:cNvPr>
          <p:cNvSpPr txBox="1"/>
          <p:nvPr/>
        </p:nvSpPr>
        <p:spPr>
          <a:xfrm>
            <a:off x="8508021" y="861227"/>
            <a:ext cx="304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k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4F4B29CA-E457-4DC3-A2E2-64D0E06E1FAE}"/>
              </a:ext>
            </a:extLst>
          </p:cNvPr>
          <p:cNvSpPr txBox="1"/>
          <p:nvPr/>
        </p:nvSpPr>
        <p:spPr>
          <a:xfrm>
            <a:off x="6840208" y="861227"/>
            <a:ext cx="304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3BAF037A-897C-49CB-879B-2BC59C9C1F39}"/>
              </a:ext>
            </a:extLst>
          </p:cNvPr>
          <p:cNvSpPr txBox="1"/>
          <p:nvPr/>
        </p:nvSpPr>
        <p:spPr>
          <a:xfrm>
            <a:off x="3739131" y="918046"/>
            <a:ext cx="46583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C00FF"/>
                </a:solidFill>
              </a:rPr>
              <a:t>dd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BEC2F7FC-4730-4E20-907C-565218575CF1}"/>
              </a:ext>
            </a:extLst>
          </p:cNvPr>
          <p:cNvSpPr txBox="1"/>
          <p:nvPr/>
        </p:nvSpPr>
        <p:spPr>
          <a:xfrm>
            <a:off x="5135583" y="961171"/>
            <a:ext cx="46583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C00FF"/>
                </a:solidFill>
              </a:rPr>
              <a:t>dd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EA8DA66B-9509-4F51-A6DE-88C4CD875850}"/>
              </a:ext>
            </a:extLst>
          </p:cNvPr>
          <p:cNvSpPr txBox="1"/>
          <p:nvPr/>
        </p:nvSpPr>
        <p:spPr>
          <a:xfrm>
            <a:off x="6924726" y="932547"/>
            <a:ext cx="46583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C00FF"/>
                </a:solidFill>
              </a:rPr>
              <a:t>dd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33ADAA2B-23B6-45EC-AA03-C5BCEE0C4C94}"/>
              </a:ext>
            </a:extLst>
          </p:cNvPr>
          <p:cNvSpPr txBox="1"/>
          <p:nvPr/>
        </p:nvSpPr>
        <p:spPr>
          <a:xfrm>
            <a:off x="8579899" y="897502"/>
            <a:ext cx="46583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C00FF"/>
                </a:solidFill>
              </a:rPr>
              <a:t>dd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F6C8017A-D31E-4001-8A62-0F066D563B88}"/>
              </a:ext>
            </a:extLst>
          </p:cNvPr>
          <p:cNvSpPr txBox="1"/>
          <p:nvPr/>
        </p:nvSpPr>
        <p:spPr>
          <a:xfrm>
            <a:off x="4456892" y="4302623"/>
            <a:ext cx="3810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C00FF"/>
                </a:solidFill>
              </a:rPr>
              <a:t>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251EB9E-A9C4-4B31-A492-84CD2431CF21}"/>
              </a:ext>
            </a:extLst>
          </p:cNvPr>
          <p:cNvSpPr txBox="1"/>
          <p:nvPr/>
        </p:nvSpPr>
        <p:spPr>
          <a:xfrm>
            <a:off x="5577220" y="4364300"/>
            <a:ext cx="3810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C00FF"/>
                </a:solidFill>
              </a:rPr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="" id="{6F7536E1-FB5B-43A9-B1DF-208E99619EA8}"/>
                  </a:ext>
                </a:extLst>
              </p:cNvPr>
              <p:cNvSpPr txBox="1"/>
              <p:nvPr/>
            </p:nvSpPr>
            <p:spPr>
              <a:xfrm>
                <a:off x="7061032" y="3579518"/>
                <a:ext cx="1413944" cy="126945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200" b="1" i="1" smtClean="0">
                              <a:solidFill>
                                <a:srgbClr val="CC00FF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3200" b="1" i="1" smtClean="0">
                                  <a:solidFill>
                                    <a:srgbClr val="CC00FF"/>
                                  </a:solidFill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sz="3200" b="1" i="0" smtClean="0">
                                  <a:solidFill>
                                    <a:srgbClr val="CC00FF"/>
                                  </a:solidFill>
                                  <a:latin typeface="Cambria Math" panose="02040503050406030204" pitchFamily="18" charset="0"/>
                                </a:rPr>
                                <m:t>𝐂</m:t>
                              </m:r>
                            </m:e>
                            <m:sub>
                              <m:r>
                                <a:rPr lang="en-US" sz="3200" b="1" i="0" smtClean="0">
                                  <a:solidFill>
                                    <a:srgbClr val="CC00FF"/>
                                  </a:solidFill>
                                  <a:latin typeface="Cambria Math" panose="02040503050406030204" pitchFamily="18" charset="0"/>
                                </a:rPr>
                                <m:t>𝐂</m:t>
                              </m:r>
                            </m:sub>
                            <m:sup>
                              <m:r>
                                <a:rPr lang="en-US" sz="3200" b="1" i="0" smtClean="0">
                                  <a:solidFill>
                                    <a:srgbClr val="CC00FF"/>
                                  </a:solidFill>
                                  <a:latin typeface="Cambria Math" panose="02040503050406030204" pitchFamily="18" charset="0"/>
                                </a:rPr>
                                <m:t>𝐜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3200" b="1" i="1" smtClean="0">
                                  <a:solidFill>
                                    <a:srgbClr val="CC00FF"/>
                                  </a:solidFill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sz="3200" b="1" i="0" smtClean="0">
                                  <a:solidFill>
                                    <a:srgbClr val="CC00FF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3200" b="1" i="0" smtClean="0">
                                  <a:solidFill>
                                    <a:srgbClr val="CC00FF"/>
                                  </a:solidFill>
                                  <a:latin typeface="Cambria Math" panose="02040503050406030204" pitchFamily="18" charset="0"/>
                                </a:rPr>
                                <m:t>𝐂</m:t>
                              </m:r>
                            </m:e>
                            <m:sub>
                              <m:r>
                                <a:rPr lang="en-US" sz="3200" b="1" i="0" smtClean="0">
                                  <a:solidFill>
                                    <a:srgbClr val="CC00FF"/>
                                  </a:solidFill>
                                  <a:latin typeface="Cambria Math" panose="02040503050406030204" pitchFamily="18" charset="0"/>
                                </a:rPr>
                                <m:t>𝐃</m:t>
                              </m:r>
                            </m:sub>
                            <m:sup>
                              <m:r>
                                <a:rPr lang="en-US" sz="3200" b="1" i="0" smtClean="0">
                                  <a:solidFill>
                                    <a:srgbClr val="CC00FF"/>
                                  </a:solidFill>
                                  <a:latin typeface="Cambria Math" panose="02040503050406030204" pitchFamily="18" charset="0"/>
                                </a:rPr>
                                <m:t>𝐝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sz="3200" b="1" i="1" smtClean="0">
                                  <a:solidFill>
                                    <a:srgbClr val="CC00FF"/>
                                  </a:solidFill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sz="3200" b="1" i="0" smtClean="0">
                                  <a:solidFill>
                                    <a:srgbClr val="CC00FF"/>
                                  </a:solidFill>
                                  <a:latin typeface="Cambria Math" panose="02040503050406030204" pitchFamily="18" charset="0"/>
                                </a:rPr>
                                <m:t>𝐂</m:t>
                              </m:r>
                            </m:e>
                            <m:sub>
                              <m:r>
                                <a:rPr lang="en-US" sz="3200" b="1" i="0" smtClean="0">
                                  <a:solidFill>
                                    <a:srgbClr val="CC00FF"/>
                                  </a:solidFill>
                                  <a:latin typeface="Cambria Math" panose="02040503050406030204" pitchFamily="18" charset="0"/>
                                </a:rPr>
                                <m:t>𝐀</m:t>
                              </m:r>
                            </m:sub>
                            <m:sup>
                              <m:r>
                                <a:rPr lang="en-US" sz="3200" b="1" i="0" smtClean="0">
                                  <a:solidFill>
                                    <a:srgbClr val="CC00FF"/>
                                  </a:solidFill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3200" b="1" i="1" smtClean="0">
                                  <a:solidFill>
                                    <a:srgbClr val="CC00FF"/>
                                  </a:solidFill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sz="3200" b="1" i="0" smtClean="0">
                                  <a:solidFill>
                                    <a:srgbClr val="CC00FF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3200" b="1" i="0" smtClean="0">
                                  <a:solidFill>
                                    <a:srgbClr val="CC00FF"/>
                                  </a:solidFill>
                                  <a:latin typeface="Cambria Math" panose="02040503050406030204" pitchFamily="18" charset="0"/>
                                </a:rPr>
                                <m:t>𝐂</m:t>
                              </m:r>
                            </m:e>
                            <m:sub>
                              <m:r>
                                <a:rPr lang="en-US" sz="3200" b="1" i="0" smtClean="0">
                                  <a:solidFill>
                                    <a:srgbClr val="CC00FF"/>
                                  </a:solidFill>
                                  <a:latin typeface="Cambria Math" panose="02040503050406030204" pitchFamily="18" charset="0"/>
                                </a:rPr>
                                <m:t>𝐁</m:t>
                              </m:r>
                            </m:sub>
                            <m:sup>
                              <m:r>
                                <a:rPr lang="en-US" sz="3200" b="1" i="0" smtClean="0">
                                  <a:solidFill>
                                    <a:srgbClr val="CC00FF"/>
                                  </a:solidFill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F7536E1-FB5B-43A9-B1DF-208E99619E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1032" y="3579518"/>
                <a:ext cx="1413944" cy="126945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xmlns="" id="{87660714-2AA7-46B7-9661-6BA56D09B258}"/>
                  </a:ext>
                </a:extLst>
              </p:cNvPr>
              <p:cNvSpPr txBox="1"/>
              <p:nvPr/>
            </p:nvSpPr>
            <p:spPr>
              <a:xfrm>
                <a:off x="1901392" y="3745710"/>
                <a:ext cx="1158939" cy="12620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3200" b="1" i="1" smtClean="0">
                                  <a:solidFill>
                                    <a:srgbClr val="0000FF"/>
                                  </a:solidFill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sz="3200" b="1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</m:e>
                            <m:sub>
                              <m:r>
                                <a:rPr lang="en-US" sz="3200" b="1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𝐂</m:t>
                              </m:r>
                            </m:sub>
                            <m:sup>
                              <m:r>
                                <a:rPr lang="en-US" sz="3200" b="1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𝐜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3200" b="1" i="1" smtClean="0">
                                  <a:solidFill>
                                    <a:srgbClr val="0000FF"/>
                                  </a:solidFill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sz="3200" b="1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3200" b="1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</m:e>
                            <m:sub>
                              <m:r>
                                <a:rPr lang="en-US" sz="3200" b="1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𝐃</m:t>
                              </m:r>
                            </m:sub>
                            <m:sup>
                              <m:r>
                                <a:rPr lang="en-US" sz="3200" b="1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𝐝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sz="3200" b="1" i="1" smtClean="0">
                                  <a:solidFill>
                                    <a:srgbClr val="0000FF"/>
                                  </a:solidFill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sz="3200" b="1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</m:e>
                            <m:sub>
                              <m:r>
                                <a:rPr lang="en-US" sz="3200" b="1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𝐀</m:t>
                              </m:r>
                            </m:sub>
                            <m:sup>
                              <m:r>
                                <a:rPr lang="en-US" sz="3200" b="1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3200" b="1" i="1" smtClean="0">
                                  <a:solidFill>
                                    <a:srgbClr val="0000FF"/>
                                  </a:solidFill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sz="3200" b="1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3200" b="1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</m:e>
                            <m:sub>
                              <m:r>
                                <a:rPr lang="en-US" sz="3200" b="1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𝐁</m:t>
                              </m:r>
                            </m:sub>
                            <m:sup>
                              <m:r>
                                <a:rPr lang="en-US" sz="3200" b="1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7660714-2AA7-46B7-9661-6BA56D09B2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1392" y="3745710"/>
                <a:ext cx="1158939" cy="12620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3BFDEEC4-1F32-4227-95F5-75130E552E8F}"/>
              </a:ext>
            </a:extLst>
          </p:cNvPr>
          <p:cNvSpPr txBox="1"/>
          <p:nvPr/>
        </p:nvSpPr>
        <p:spPr>
          <a:xfrm>
            <a:off x="1103653" y="4450331"/>
            <a:ext cx="3810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</a:rPr>
              <a:t>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xmlns="" id="{7BE79883-CF9B-400F-8183-3D00903E5E85}"/>
                  </a:ext>
                </a:extLst>
              </p:cNvPr>
              <p:cNvSpPr txBox="1"/>
              <p:nvPr/>
            </p:nvSpPr>
            <p:spPr>
              <a:xfrm>
                <a:off x="1905505" y="3784554"/>
                <a:ext cx="1154826" cy="126945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200" b="1" i="1" smtClean="0">
                              <a:solidFill>
                                <a:srgbClr val="CC00FF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3200" b="1" i="1" smtClean="0">
                                  <a:solidFill>
                                    <a:srgbClr val="CC00FF"/>
                                  </a:solidFill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sz="3200" b="1" i="0" smtClean="0">
                                  <a:solidFill>
                                    <a:srgbClr val="CC00FF"/>
                                  </a:solidFill>
                                  <a:latin typeface="Cambria Math" panose="02040503050406030204" pitchFamily="18" charset="0"/>
                                </a:rPr>
                                <m:t>𝐂</m:t>
                              </m:r>
                            </m:e>
                            <m:sub>
                              <m:r>
                                <a:rPr lang="en-US" sz="3200" b="1" i="0" smtClean="0">
                                  <a:solidFill>
                                    <a:srgbClr val="CC00FF"/>
                                  </a:solidFill>
                                  <a:latin typeface="Cambria Math" panose="02040503050406030204" pitchFamily="18" charset="0"/>
                                </a:rPr>
                                <m:t>𝐂</m:t>
                              </m:r>
                            </m:sub>
                            <m:sup>
                              <m:r>
                                <a:rPr lang="en-US" sz="3200" b="1" i="0" smtClean="0">
                                  <a:solidFill>
                                    <a:srgbClr val="CC00FF"/>
                                  </a:solidFill>
                                  <a:latin typeface="Cambria Math" panose="02040503050406030204" pitchFamily="18" charset="0"/>
                                </a:rPr>
                                <m:t>𝐜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3200" b="1" i="1" smtClean="0">
                                  <a:solidFill>
                                    <a:srgbClr val="CC00FF"/>
                                  </a:solidFill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sz="3200" b="1" i="0" smtClean="0">
                                  <a:solidFill>
                                    <a:srgbClr val="CC00FF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3200" b="1" i="0" smtClean="0">
                                  <a:solidFill>
                                    <a:srgbClr val="CC00FF"/>
                                  </a:solidFill>
                                  <a:latin typeface="Cambria Math" panose="02040503050406030204" pitchFamily="18" charset="0"/>
                                </a:rPr>
                                <m:t>𝐂</m:t>
                              </m:r>
                            </m:e>
                            <m:sub>
                              <m:r>
                                <a:rPr lang="en-US" sz="3200" b="1" i="0" smtClean="0">
                                  <a:solidFill>
                                    <a:srgbClr val="CC00FF"/>
                                  </a:solidFill>
                                  <a:latin typeface="Cambria Math" panose="02040503050406030204" pitchFamily="18" charset="0"/>
                                </a:rPr>
                                <m:t>𝐃</m:t>
                              </m:r>
                            </m:sub>
                            <m:sup>
                              <m:r>
                                <a:rPr lang="en-US" sz="3200" b="1" i="0" smtClean="0">
                                  <a:solidFill>
                                    <a:srgbClr val="CC00FF"/>
                                  </a:solidFill>
                                  <a:latin typeface="Cambria Math" panose="02040503050406030204" pitchFamily="18" charset="0"/>
                                </a:rPr>
                                <m:t>𝐝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sz="3200" b="1" i="1" smtClean="0">
                                  <a:solidFill>
                                    <a:srgbClr val="CC00FF"/>
                                  </a:solidFill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sz="3200" b="1" i="0" smtClean="0">
                                  <a:solidFill>
                                    <a:srgbClr val="CC00FF"/>
                                  </a:solidFill>
                                  <a:latin typeface="Cambria Math" panose="02040503050406030204" pitchFamily="18" charset="0"/>
                                </a:rPr>
                                <m:t>𝐂</m:t>
                              </m:r>
                            </m:e>
                            <m:sub>
                              <m:r>
                                <a:rPr lang="en-US" sz="3200" b="1" i="0" smtClean="0">
                                  <a:solidFill>
                                    <a:srgbClr val="CC00FF"/>
                                  </a:solidFill>
                                  <a:latin typeface="Cambria Math" panose="02040503050406030204" pitchFamily="18" charset="0"/>
                                </a:rPr>
                                <m:t>𝐀</m:t>
                              </m:r>
                            </m:sub>
                            <m:sup>
                              <m:r>
                                <a:rPr lang="en-US" sz="3200" b="1" i="0" smtClean="0">
                                  <a:solidFill>
                                    <a:srgbClr val="CC00FF"/>
                                  </a:solidFill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3200" b="1" i="1" smtClean="0">
                                  <a:solidFill>
                                    <a:srgbClr val="CC00FF"/>
                                  </a:solidFill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sz="3200" b="1" i="0" smtClean="0">
                                  <a:solidFill>
                                    <a:srgbClr val="CC00FF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3200" b="1" i="0" smtClean="0">
                                  <a:solidFill>
                                    <a:srgbClr val="CC00FF"/>
                                  </a:solidFill>
                                  <a:latin typeface="Cambria Math" panose="02040503050406030204" pitchFamily="18" charset="0"/>
                                </a:rPr>
                                <m:t>𝐂</m:t>
                              </m:r>
                            </m:e>
                            <m:sub>
                              <m:r>
                                <a:rPr lang="en-US" sz="3200" b="1" i="0" smtClean="0">
                                  <a:solidFill>
                                    <a:srgbClr val="CC00FF"/>
                                  </a:solidFill>
                                  <a:latin typeface="Cambria Math" panose="02040503050406030204" pitchFamily="18" charset="0"/>
                                </a:rPr>
                                <m:t>𝐁</m:t>
                              </m:r>
                            </m:sub>
                            <m:sup>
                              <m:r>
                                <a:rPr lang="en-US" sz="3200" b="1" i="0" smtClean="0">
                                  <a:solidFill>
                                    <a:srgbClr val="CC00FF"/>
                                  </a:solidFill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BE79883-CF9B-400F-8183-3D00903E5E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505" y="3784554"/>
                <a:ext cx="1154826" cy="126945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532C3E8C-2739-4EFB-8DF5-04050E64D109}"/>
              </a:ext>
            </a:extLst>
          </p:cNvPr>
          <p:cNvSpPr txBox="1"/>
          <p:nvPr/>
        </p:nvSpPr>
        <p:spPr>
          <a:xfrm>
            <a:off x="1111128" y="4473439"/>
            <a:ext cx="3810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C00FF"/>
                </a:solidFill>
              </a:rPr>
              <a:t>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53139" y="2993911"/>
            <a:ext cx="2069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b="1" dirty="0" smtClean="0">
                <a:solidFill>
                  <a:srgbClr val="0000FF"/>
                </a:solidFill>
              </a:rPr>
              <a:t>P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553139" y="3004256"/>
            <a:ext cx="4572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vi-VN" sz="2400" b="1" dirty="0" smtClean="0">
                <a:solidFill>
                  <a:srgbClr val="0000FF"/>
                </a:solidFill>
              </a:rPr>
              <a:t>C</a:t>
            </a:r>
            <a:endParaRPr lang="en-US" sz="2400" b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840208" y="1330503"/>
                <a:ext cx="1752600" cy="981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vi-VN" sz="2800" dirty="0">
                    <a:sym typeface="Symbol" panose="05050102010706020507" pitchFamily="18" charset="2"/>
                  </a:rPr>
                  <a:t>= </a:t>
                </a:r>
                <a:r>
                  <a:rPr lang="vi-VN" sz="2800" dirty="0" smtClean="0">
                    <a:sym typeface="Symbol" panose="05050102010706020507" pitchFamily="18" charset="2"/>
                  </a:rPr>
                  <a:t>RT</a:t>
                </a:r>
                <a:r>
                  <a:rPr lang="en-US" sz="2800" dirty="0" smtClean="0">
                    <a:sym typeface="Symbol" panose="05050102010706020507" pitchFamily="18" charset="2"/>
                  </a:rPr>
                  <a:t>l</a:t>
                </a:r>
                <a:r>
                  <a:rPr lang="vi-VN" sz="2800" dirty="0" smtClean="0">
                    <a:sym typeface="Symbol" panose="05050102010706020507" pitchFamily="18" charset="2"/>
                  </a:rPr>
                  <a:t>n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sz="2800" i="1">
                            <a:latin typeface="Cambria Math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vi-VN" sz="2800" i="1">
                            <a:latin typeface="Cambria Math"/>
                            <a:sym typeface="Symbol" panose="05050102010706020507" pitchFamily="18" charset="2"/>
                          </a:rPr>
                          <m:t>𝑄</m:t>
                        </m:r>
                      </m:num>
                      <m:den>
                        <m:r>
                          <a:rPr lang="vi-VN" sz="2800" i="1">
                            <a:latin typeface="Cambria Math"/>
                            <a:sym typeface="Symbol" panose="05050102010706020507" pitchFamily="18" charset="2"/>
                          </a:rPr>
                          <m:t>𝐾</m:t>
                        </m:r>
                      </m:den>
                    </m:f>
                  </m:oMath>
                </a14:m>
                <a:endParaRPr lang="en-US" sz="2800" baseline="-250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0208" y="1330503"/>
                <a:ext cx="1752600" cy="981294"/>
              </a:xfrm>
              <a:prstGeom prst="rect">
                <a:avLst/>
              </a:prstGeom>
              <a:blipFill rotWithShape="1">
                <a:blip r:embed="rId13"/>
                <a:stretch>
                  <a:fillRect l="-6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5443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4" grpId="0"/>
      <p:bldP spid="19" grpId="0"/>
      <p:bldP spid="18" grpId="0"/>
      <p:bldP spid="20" grpId="0"/>
      <p:bldP spid="22" grpId="0" animBg="1"/>
      <p:bldP spid="23" grpId="0" animBg="1"/>
      <p:bldP spid="24" grpId="0" animBg="1"/>
      <p:bldP spid="4" grpId="0"/>
      <p:bldP spid="27" grpId="0"/>
      <p:bldP spid="28" grpId="0"/>
      <p:bldP spid="29" grpId="0"/>
      <p:bldP spid="3" grpId="0" animBg="1"/>
      <p:bldP spid="30" grpId="0" animBg="1"/>
      <p:bldP spid="31" grpId="0" animBg="1"/>
      <p:bldP spid="32" grpId="0" animBg="1"/>
      <p:bldP spid="21" grpId="0" animBg="1"/>
      <p:bldP spid="6" grpId="0" animBg="1"/>
      <p:bldP spid="7" grpId="0" animBg="1"/>
      <p:bldP spid="33" grpId="0" animBg="1"/>
      <p:bldP spid="34" grpId="0" animBg="1"/>
      <p:bldP spid="35" grpId="0" animBg="1"/>
      <p:bldP spid="36" grpId="0" animBg="1"/>
      <p:bldP spid="5" grpId="0"/>
      <p:bldP spid="37" grpId="0" animBg="1"/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xmlns="" id="{5780D83C-1408-4BC5-BCE0-D5E619D812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242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9219" name="Object 3">
            <a:extLst>
              <a:ext uri="{FF2B5EF4-FFF2-40B4-BE49-F238E27FC236}">
                <a16:creationId xmlns:a16="http://schemas.microsoft.com/office/drawing/2014/main" xmlns="" id="{661A45D3-24BD-4081-8C87-2973C2BBA3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2377744"/>
              </p:ext>
            </p:extLst>
          </p:nvPr>
        </p:nvGraphicFramePr>
        <p:xfrm>
          <a:off x="685800" y="419101"/>
          <a:ext cx="4876800" cy="15755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70" name="Equation" r:id="rId4" imgW="990170" imgH="393529" progId="Equation.3">
                  <p:embed/>
                </p:oleObj>
              </mc:Choice>
              <mc:Fallback>
                <p:oleObj name="Equation" r:id="rId4" imgW="990170" imgH="393529" progId="Equation.3">
                  <p:embed/>
                  <p:pic>
                    <p:nvPicPr>
                      <p:cNvPr id="9219" name="Object 3">
                        <a:extLst>
                          <a:ext uri="{FF2B5EF4-FFF2-40B4-BE49-F238E27FC236}">
                            <a16:creationId xmlns:a16="http://schemas.microsoft.com/office/drawing/2014/main" xmlns="" id="{661A45D3-24BD-4081-8C87-2973C2BBA3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419101"/>
                        <a:ext cx="4876800" cy="15755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4" name="Rectangle 4">
            <a:extLst>
              <a:ext uri="{FF2B5EF4-FFF2-40B4-BE49-F238E27FC236}">
                <a16:creationId xmlns:a16="http://schemas.microsoft.com/office/drawing/2014/main" xmlns="" id="{3B8AA250-B14D-4C9C-95B0-726F969A2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43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9222" name="Rectangle 6">
            <a:extLst>
              <a:ext uri="{FF2B5EF4-FFF2-40B4-BE49-F238E27FC236}">
                <a16:creationId xmlns:a16="http://schemas.microsoft.com/office/drawing/2014/main" xmlns="" id="{2D438BD1-489D-4C19-974E-E45A42EE59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3441" y="2108993"/>
            <a:ext cx="9144000" cy="2087563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buNone/>
            </a:pPr>
            <a:r>
              <a:rPr lang="en-US" altLang="en-US" sz="3000" dirty="0">
                <a:solidFill>
                  <a:srgbClr val="FF0000"/>
                </a:solidFill>
              </a:rPr>
              <a:t> </a:t>
            </a:r>
            <a:r>
              <a:rPr lang="en-US" altLang="en-US" dirty="0">
                <a:solidFill>
                  <a:srgbClr val="FF0000"/>
                </a:solidFill>
              </a:rPr>
              <a:t>Q &lt; K → </a:t>
            </a: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</a:t>
            </a:r>
            <a:r>
              <a:rPr lang="en-US" altLang="en-US" dirty="0">
                <a:solidFill>
                  <a:srgbClr val="FF0000"/>
                </a:solidFill>
              </a:rPr>
              <a:t>G &lt; 0 → p</a:t>
            </a:r>
            <a:r>
              <a:rPr lang="vi-VN" altLang="en-US" dirty="0">
                <a:solidFill>
                  <a:srgbClr val="FF0000"/>
                </a:solidFill>
              </a:rPr>
              <a:t>ư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xảy</a:t>
            </a:r>
            <a:r>
              <a:rPr lang="en-US" altLang="en-US" dirty="0">
                <a:solidFill>
                  <a:srgbClr val="FF0000"/>
                </a:solidFill>
              </a:rPr>
              <a:t> ra </a:t>
            </a:r>
            <a:r>
              <a:rPr lang="en-US" altLang="en-US" dirty="0" err="1">
                <a:solidFill>
                  <a:srgbClr val="FF0000"/>
                </a:solidFill>
              </a:rPr>
              <a:t>theo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chiều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thuận</a:t>
            </a:r>
            <a:r>
              <a:rPr lang="vi-VN" altLang="en-US" dirty="0">
                <a:solidFill>
                  <a:srgbClr val="FF0000"/>
                </a:solidFill>
              </a:rPr>
              <a:t>.</a:t>
            </a:r>
            <a:endParaRPr lang="en-US" altLang="en-US" dirty="0">
              <a:solidFill>
                <a:srgbClr val="FF0000"/>
              </a:solidFill>
            </a:endParaRPr>
          </a:p>
          <a:p>
            <a:pPr marL="0" indent="0" eaLnBrk="1" hangingPunct="1">
              <a:lnSpc>
                <a:spcPct val="150000"/>
              </a:lnSpc>
              <a:buNone/>
            </a:pPr>
            <a:r>
              <a:rPr lang="en-US" altLang="en-US" dirty="0">
                <a:solidFill>
                  <a:srgbClr val="CC00FF"/>
                </a:solidFill>
              </a:rPr>
              <a:t> Q &gt; K → </a:t>
            </a:r>
            <a:r>
              <a:rPr lang="en-US" altLang="en-US" dirty="0">
                <a:solidFill>
                  <a:srgbClr val="CC00FF"/>
                </a:solidFill>
                <a:sym typeface="Symbol" panose="05050102010706020507" pitchFamily="18" charset="2"/>
              </a:rPr>
              <a:t></a:t>
            </a:r>
            <a:r>
              <a:rPr lang="en-US" altLang="en-US" dirty="0">
                <a:solidFill>
                  <a:srgbClr val="CC00FF"/>
                </a:solidFill>
              </a:rPr>
              <a:t>G &gt; 0 → p</a:t>
            </a:r>
            <a:r>
              <a:rPr lang="vi-VN" altLang="en-US" dirty="0">
                <a:solidFill>
                  <a:srgbClr val="CC00FF"/>
                </a:solidFill>
              </a:rPr>
              <a:t>ư</a:t>
            </a:r>
            <a:r>
              <a:rPr lang="en-US" altLang="en-US" dirty="0">
                <a:solidFill>
                  <a:srgbClr val="CC00FF"/>
                </a:solidFill>
              </a:rPr>
              <a:t> </a:t>
            </a:r>
            <a:r>
              <a:rPr lang="en-US" altLang="en-US" dirty="0" err="1">
                <a:solidFill>
                  <a:srgbClr val="CC00FF"/>
                </a:solidFill>
              </a:rPr>
              <a:t>xảy</a:t>
            </a:r>
            <a:r>
              <a:rPr lang="en-US" altLang="en-US" dirty="0">
                <a:solidFill>
                  <a:srgbClr val="CC00FF"/>
                </a:solidFill>
              </a:rPr>
              <a:t> ra </a:t>
            </a:r>
            <a:r>
              <a:rPr lang="en-US" altLang="en-US" dirty="0" err="1">
                <a:solidFill>
                  <a:srgbClr val="CC00FF"/>
                </a:solidFill>
              </a:rPr>
              <a:t>theo</a:t>
            </a:r>
            <a:r>
              <a:rPr lang="en-US" altLang="en-US" dirty="0">
                <a:solidFill>
                  <a:srgbClr val="CC00FF"/>
                </a:solidFill>
              </a:rPr>
              <a:t> </a:t>
            </a:r>
            <a:r>
              <a:rPr lang="en-US" altLang="en-US" dirty="0" err="1">
                <a:solidFill>
                  <a:srgbClr val="CC00FF"/>
                </a:solidFill>
              </a:rPr>
              <a:t>chiều</a:t>
            </a:r>
            <a:r>
              <a:rPr lang="en-US" altLang="en-US" dirty="0">
                <a:solidFill>
                  <a:srgbClr val="CC00FF"/>
                </a:solidFill>
              </a:rPr>
              <a:t> </a:t>
            </a:r>
            <a:r>
              <a:rPr lang="en-US" altLang="en-US" dirty="0" err="1">
                <a:solidFill>
                  <a:srgbClr val="CC00FF"/>
                </a:solidFill>
              </a:rPr>
              <a:t>nghịch</a:t>
            </a:r>
            <a:r>
              <a:rPr lang="vi-VN" altLang="en-US" dirty="0">
                <a:solidFill>
                  <a:srgbClr val="CC00FF"/>
                </a:solidFill>
              </a:rPr>
              <a:t>.</a:t>
            </a:r>
            <a:endParaRPr lang="en-US" altLang="en-US" dirty="0">
              <a:solidFill>
                <a:srgbClr val="CC00FF"/>
              </a:solidFill>
            </a:endParaRPr>
          </a:p>
          <a:p>
            <a:pPr marL="0" indent="0" eaLnBrk="1" hangingPunct="1">
              <a:lnSpc>
                <a:spcPct val="150000"/>
              </a:lnSpc>
              <a:buNone/>
            </a:pPr>
            <a:r>
              <a:rPr lang="en-US" altLang="en-US" dirty="0">
                <a:solidFill>
                  <a:srgbClr val="0000FF"/>
                </a:solidFill>
              </a:rPr>
              <a:t> Q = K → </a:t>
            </a:r>
            <a:r>
              <a:rPr lang="en-US" altLang="en-US" dirty="0">
                <a:solidFill>
                  <a:srgbClr val="0000FF"/>
                </a:solidFill>
                <a:sym typeface="Symbol" panose="05050102010706020507" pitchFamily="18" charset="2"/>
              </a:rPr>
              <a:t></a:t>
            </a:r>
            <a:r>
              <a:rPr lang="en-US" altLang="en-US" dirty="0">
                <a:solidFill>
                  <a:srgbClr val="0000FF"/>
                </a:solidFill>
              </a:rPr>
              <a:t>G = 0 → </a:t>
            </a:r>
            <a:r>
              <a:rPr lang="en-US" altLang="en-US" dirty="0" err="1">
                <a:solidFill>
                  <a:srgbClr val="0000FF"/>
                </a:solidFill>
              </a:rPr>
              <a:t>hệ</a:t>
            </a:r>
            <a:r>
              <a:rPr lang="en-US" altLang="en-US" dirty="0">
                <a:solidFill>
                  <a:srgbClr val="0000FF"/>
                </a:solidFill>
              </a:rPr>
              <a:t> </a:t>
            </a:r>
            <a:r>
              <a:rPr lang="en-US" altLang="en-US" dirty="0" err="1">
                <a:solidFill>
                  <a:srgbClr val="0000FF"/>
                </a:solidFill>
              </a:rPr>
              <a:t>đạt</a:t>
            </a:r>
            <a:r>
              <a:rPr lang="en-US" altLang="en-US" dirty="0">
                <a:solidFill>
                  <a:srgbClr val="0000FF"/>
                </a:solidFill>
              </a:rPr>
              <a:t> </a:t>
            </a:r>
            <a:r>
              <a:rPr lang="en-US" altLang="en-US" dirty="0" err="1">
                <a:solidFill>
                  <a:srgbClr val="0000FF"/>
                </a:solidFill>
              </a:rPr>
              <a:t>trạng</a:t>
            </a:r>
            <a:r>
              <a:rPr lang="en-US" altLang="en-US" dirty="0">
                <a:solidFill>
                  <a:srgbClr val="0000FF"/>
                </a:solidFill>
              </a:rPr>
              <a:t> </a:t>
            </a:r>
            <a:r>
              <a:rPr lang="en-US" altLang="en-US" dirty="0" err="1">
                <a:solidFill>
                  <a:srgbClr val="0000FF"/>
                </a:solidFill>
              </a:rPr>
              <a:t>thái</a:t>
            </a:r>
            <a:r>
              <a:rPr lang="en-US" altLang="en-US" dirty="0">
                <a:solidFill>
                  <a:srgbClr val="0000FF"/>
                </a:solidFill>
              </a:rPr>
              <a:t> </a:t>
            </a:r>
            <a:r>
              <a:rPr lang="en-US" altLang="en-US" dirty="0" err="1">
                <a:solidFill>
                  <a:srgbClr val="0000FF"/>
                </a:solidFill>
              </a:rPr>
              <a:t>cân</a:t>
            </a:r>
            <a:r>
              <a:rPr lang="en-US" altLang="en-US" dirty="0">
                <a:solidFill>
                  <a:srgbClr val="0000FF"/>
                </a:solidFill>
              </a:rPr>
              <a:t> </a:t>
            </a:r>
            <a:r>
              <a:rPr lang="en-US" altLang="en-US" dirty="0" err="1">
                <a:solidFill>
                  <a:srgbClr val="0000FF"/>
                </a:solidFill>
              </a:rPr>
              <a:t>bằng</a:t>
            </a:r>
            <a:r>
              <a:rPr lang="vi-VN" altLang="en-US" dirty="0">
                <a:solidFill>
                  <a:srgbClr val="0000FF"/>
                </a:solidFill>
              </a:rPr>
              <a:t>.</a:t>
            </a:r>
            <a:endParaRPr lang="en-US" altLang="en-US" dirty="0">
              <a:solidFill>
                <a:srgbClr val="0000FF"/>
              </a:solidFill>
            </a:endParaRPr>
          </a:p>
        </p:txBody>
      </p:sp>
      <p:sp>
        <p:nvSpPr>
          <p:cNvPr id="46087" name="Rectangle 8">
            <a:extLst>
              <a:ext uri="{FF2B5EF4-FFF2-40B4-BE49-F238E27FC236}">
                <a16:creationId xmlns:a16="http://schemas.microsoft.com/office/drawing/2014/main" xmlns="" id="{3E866E4F-0639-48C4-8C23-98812B5985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6088" name="Rectangle 10">
            <a:extLst>
              <a:ext uri="{FF2B5EF4-FFF2-40B4-BE49-F238E27FC236}">
                <a16:creationId xmlns:a16="http://schemas.microsoft.com/office/drawing/2014/main" xmlns="" id="{460D9597-A19D-4276-98BF-9DB5ABF92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670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6089" name="Rectangle 12">
            <a:extLst>
              <a:ext uri="{FF2B5EF4-FFF2-40B4-BE49-F238E27FC236}">
                <a16:creationId xmlns:a16="http://schemas.microsoft.com/office/drawing/2014/main" xmlns="" id="{CE43C97E-848A-4776-A980-90CD3A4922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384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6091" name="Rectangle 14">
            <a:extLst>
              <a:ext uri="{FF2B5EF4-FFF2-40B4-BE49-F238E27FC236}">
                <a16:creationId xmlns:a16="http://schemas.microsoft.com/office/drawing/2014/main" xmlns="" id="{AD8E6A8D-67AC-45D8-96F0-57696933A5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527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89D3E6B-AAFC-4116-8634-53568DD24C6B}"/>
              </a:ext>
            </a:extLst>
          </p:cNvPr>
          <p:cNvSpPr txBox="1"/>
          <p:nvPr/>
        </p:nvSpPr>
        <p:spPr>
          <a:xfrm>
            <a:off x="5943600" y="816114"/>
            <a:ext cx="3048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C00000"/>
                </a:solidFill>
              </a:rPr>
              <a:t>; K </a:t>
            </a:r>
            <a:r>
              <a:rPr lang="en-US" sz="4000" dirty="0" smtClean="0">
                <a:solidFill>
                  <a:srgbClr val="C00000"/>
                </a:solidFill>
              </a:rPr>
              <a:t> =</a:t>
            </a:r>
            <a:r>
              <a:rPr lang="vi-VN" sz="4000" dirty="0" smtClean="0">
                <a:solidFill>
                  <a:srgbClr val="C00000"/>
                </a:solidFill>
              </a:rPr>
              <a:t> </a:t>
            </a:r>
            <a:r>
              <a:rPr lang="en-US" sz="4000" dirty="0" smtClean="0">
                <a:solidFill>
                  <a:srgbClr val="C00000"/>
                </a:solidFill>
              </a:rPr>
              <a:t>(Q  )</a:t>
            </a:r>
            <a:r>
              <a:rPr lang="en-US" sz="4000" baseline="-25000" dirty="0" err="1">
                <a:solidFill>
                  <a:srgbClr val="C00000"/>
                </a:solidFill>
              </a:rPr>
              <a:t>cb</a:t>
            </a:r>
            <a:endParaRPr lang="en-US" sz="4000" dirty="0">
              <a:solidFill>
                <a:srgbClr val="C0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AC461FF3-228C-4179-B9C4-74CE093D04F9}"/>
              </a:ext>
            </a:extLst>
          </p:cNvPr>
          <p:cNvSpPr txBox="1"/>
          <p:nvPr/>
        </p:nvSpPr>
        <p:spPr>
          <a:xfrm>
            <a:off x="6172200" y="1524000"/>
            <a:ext cx="25524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ln = 2,303.lg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40040" y="1139428"/>
            <a:ext cx="1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CC6600"/>
                </a:solidFill>
              </a:rPr>
              <a:t>p</a:t>
            </a:r>
            <a:endParaRPr lang="en-US" sz="2400" dirty="0">
              <a:solidFill>
                <a:srgbClr val="CC66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29400" y="1154668"/>
            <a:ext cx="30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CC6600"/>
                </a:solidFill>
              </a:rPr>
              <a:t>p</a:t>
            </a:r>
            <a:endParaRPr lang="en-US" sz="2400" dirty="0">
              <a:solidFill>
                <a:srgbClr val="CC66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652260" y="1170057"/>
            <a:ext cx="3048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CC6600"/>
                </a:solidFill>
              </a:rPr>
              <a:t>c</a:t>
            </a:r>
            <a:endParaRPr lang="en-US" sz="2400" dirty="0">
              <a:solidFill>
                <a:srgbClr val="CC66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940040" y="1170057"/>
            <a:ext cx="3048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CC6600"/>
                </a:solidFill>
              </a:rPr>
              <a:t>c</a:t>
            </a:r>
            <a:endParaRPr lang="en-US" sz="2400" dirty="0">
              <a:solidFill>
                <a:srgbClr val="CC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324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9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92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92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2" grpId="0" build="p"/>
      <p:bldP spid="2" grpId="0"/>
      <p:bldP spid="11" grpId="0"/>
      <p:bldP spid="3" grpId="0"/>
      <p:bldP spid="13" grpId="0"/>
      <p:bldP spid="4" grpId="0" animBg="1"/>
      <p:bldP spid="1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="" id="{E4F480AD-E8D2-4EF9-86B7-FA2F70A88D1B}"/>
                  </a:ext>
                </a:extLst>
              </p:cNvPr>
              <p:cNvSpPr txBox="1"/>
              <p:nvPr/>
            </p:nvSpPr>
            <p:spPr>
              <a:xfrm>
                <a:off x="304800" y="838200"/>
                <a:ext cx="8534400" cy="18058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3200" b="1" dirty="0">
                    <a:solidFill>
                      <a:srgbClr val="FF0000"/>
                    </a:solidFill>
                  </a:rPr>
                  <a:t>THIẾT LẬP HẰNG SỐ CÂN BẰNG CỦA P</a:t>
                </a:r>
                <a:r>
                  <a:rPr lang="vi-VN" sz="3200" b="1" dirty="0">
                    <a:solidFill>
                      <a:srgbClr val="FF0000"/>
                    </a:solidFill>
                  </a:rPr>
                  <a:t>Ư</a:t>
                </a:r>
                <a:r>
                  <a:rPr lang="en-US" sz="3200" b="1" dirty="0">
                    <a:solidFill>
                      <a:srgbClr val="FF0000"/>
                    </a:solidFill>
                  </a:rPr>
                  <a:t>: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3200" b="1" dirty="0">
                    <a:solidFill>
                      <a:srgbClr val="0000FF"/>
                    </a:solidFill>
                  </a:rPr>
                  <a:t>Ce</a:t>
                </a:r>
                <a:r>
                  <a:rPr lang="en-US" sz="3200" b="1" baseline="30000" dirty="0">
                    <a:solidFill>
                      <a:srgbClr val="0000FF"/>
                    </a:solidFill>
                  </a:rPr>
                  <a:t>4+</a:t>
                </a:r>
                <a:r>
                  <a:rPr lang="en-US" sz="3200" b="1" dirty="0">
                    <a:solidFill>
                      <a:srgbClr val="0000FF"/>
                    </a:solidFill>
                  </a:rPr>
                  <a:t>(dd)  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b="1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sz="32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32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sz="3200" b="1" i="1">
                        <a:solidFill>
                          <a:srgbClr val="9933F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200" b="1" dirty="0">
                    <a:solidFill>
                      <a:srgbClr val="0000FF"/>
                    </a:solidFill>
                  </a:rPr>
                  <a:t>H</a:t>
                </a:r>
                <a:r>
                  <a:rPr lang="en-US" sz="3200" b="1" baseline="-25000" dirty="0">
                    <a:solidFill>
                      <a:srgbClr val="0000FF"/>
                    </a:solidFill>
                  </a:rPr>
                  <a:t>2</a:t>
                </a:r>
                <a:r>
                  <a:rPr lang="en-US" sz="3200" b="1" dirty="0">
                    <a:solidFill>
                      <a:srgbClr val="0000FF"/>
                    </a:solidFill>
                  </a:rPr>
                  <a:t>(k) </a:t>
                </a:r>
                <a:r>
                  <a:rPr lang="en-US" altLang="en-US" sz="3200" b="1" dirty="0">
                    <a:solidFill>
                      <a:srgbClr val="0000FF"/>
                    </a:solidFill>
                  </a:rPr>
                  <a:t>⇌  Ce</a:t>
                </a:r>
                <a:r>
                  <a:rPr lang="en-US" altLang="en-US" sz="3200" b="1" baseline="30000" dirty="0">
                    <a:solidFill>
                      <a:srgbClr val="0000FF"/>
                    </a:solidFill>
                  </a:rPr>
                  <a:t>3+</a:t>
                </a:r>
                <a:r>
                  <a:rPr lang="en-US" altLang="en-US" sz="3200" b="1" dirty="0">
                    <a:solidFill>
                      <a:srgbClr val="0000FF"/>
                    </a:solidFill>
                  </a:rPr>
                  <a:t>(dd)   +  H</a:t>
                </a:r>
                <a:r>
                  <a:rPr lang="en-US" altLang="en-US" sz="3200" b="1" baseline="30000" dirty="0">
                    <a:solidFill>
                      <a:srgbClr val="0000FF"/>
                    </a:solidFill>
                  </a:rPr>
                  <a:t>+</a:t>
                </a:r>
                <a:r>
                  <a:rPr lang="en-US" altLang="en-US" sz="3200" b="1" dirty="0">
                    <a:solidFill>
                      <a:srgbClr val="0000FF"/>
                    </a:solidFill>
                  </a:rPr>
                  <a:t>(dd) </a:t>
                </a:r>
                <a:endParaRPr lang="en-US" sz="3200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4F480AD-E8D2-4EF9-86B7-FA2F70A88D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838200"/>
                <a:ext cx="8534400" cy="1805879"/>
              </a:xfrm>
              <a:prstGeom prst="rect">
                <a:avLst/>
              </a:prstGeom>
              <a:blipFill>
                <a:blip r:embed="rId2"/>
                <a:stretch>
                  <a:fillRect l="-1786" r="-643" b="-37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xmlns="" id="{6CEF29A5-9FB3-4C39-9EC0-5D2C706B3AA5}"/>
                  </a:ext>
                </a:extLst>
              </p:cNvPr>
              <p:cNvSpPr txBox="1"/>
              <p:nvPr/>
            </p:nvSpPr>
            <p:spPr>
              <a:xfrm>
                <a:off x="2362200" y="2902858"/>
                <a:ext cx="5791200" cy="15080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b="1" dirty="0">
                    <a:solidFill>
                      <a:srgbClr val="9933FF"/>
                    </a:solidFill>
                  </a:rPr>
                  <a:t>K </a:t>
                </a:r>
                <a:r>
                  <a:rPr lang="en-US" sz="4000" b="1" dirty="0" smtClean="0">
                    <a:solidFill>
                      <a:srgbClr val="9933FF"/>
                    </a:solidFill>
                  </a:rPr>
                  <a:t>=</a:t>
                </a:r>
                <a:r>
                  <a:rPr lang="en-US" sz="4000" b="1" dirty="0" smtClean="0">
                    <a:solidFill>
                      <a:srgbClr val="9933FF"/>
                    </a:solidFill>
                    <a:sym typeface="Symbol"/>
                  </a:rPr>
                  <a:t></a:t>
                </a:r>
                <a:r>
                  <a:rPr lang="en-US" sz="4000" b="1" dirty="0" smtClean="0">
                    <a:solidFill>
                      <a:srgbClr val="9933FF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000" b="1" i="1" smtClean="0">
                            <a:solidFill>
                              <a:srgbClr val="9933FF"/>
                            </a:solidFill>
                            <a:latin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4000" b="1" i="1" smtClean="0">
                                <a:solidFill>
                                  <a:srgbClr val="9933FF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4000" b="1" i="1" smtClean="0">
                                <a:solidFill>
                                  <a:srgbClr val="9933FF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4000" b="1" i="1" smtClean="0">
                                <a:solidFill>
                                  <a:srgbClr val="9933FF"/>
                                </a:solidFill>
                                <a:latin typeface="Cambria Math" panose="02040503050406030204" pitchFamily="18" charset="0"/>
                              </a:rPr>
                              <m:t>𝑪𝒆</m:t>
                            </m:r>
                          </m:e>
                          <m:sup>
                            <m:r>
                              <a:rPr lang="en-US" sz="4000" b="1" i="1" smtClean="0">
                                <a:solidFill>
                                  <a:srgbClr val="9933FF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US" sz="4000" b="1" i="1" smtClean="0">
                                <a:solidFill>
                                  <a:srgbClr val="9933F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  <m:sSup>
                          <m:sSupPr>
                            <m:ctrlPr>
                              <a:rPr lang="en-US" sz="4000" b="1" i="1" smtClean="0">
                                <a:solidFill>
                                  <a:srgbClr val="9933FF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4000" b="1" i="1" smtClean="0">
                                <a:solidFill>
                                  <a:srgbClr val="9933FF"/>
                                </a:solidFill>
                                <a:latin typeface="Cambria Math" panose="02040503050406030204" pitchFamily="18" charset="0"/>
                              </a:rPr>
                              <m:t>][</m:t>
                            </m:r>
                            <m:r>
                              <a:rPr lang="en-US" sz="4000" b="1" i="1" smtClean="0">
                                <a:solidFill>
                                  <a:srgbClr val="9933FF"/>
                                </a:solidFill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  <m:sup>
                            <m:r>
                              <a:rPr lang="en-US" sz="4000" b="1" i="1" smtClean="0">
                                <a:solidFill>
                                  <a:srgbClr val="9933F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  <m:r>
                          <a:rPr lang="en-US" sz="4000" b="1" i="1" smtClean="0">
                            <a:solidFill>
                              <a:srgbClr val="9933FF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sSup>
                          <m:sSupPr>
                            <m:ctrlPr>
                              <a:rPr lang="en-US" sz="4000" b="1" i="1" smtClean="0">
                                <a:solidFill>
                                  <a:srgbClr val="9933FF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4000" b="1" i="1" smtClean="0">
                                <a:solidFill>
                                  <a:srgbClr val="9933FF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4000" b="1" i="1" smtClean="0">
                                <a:solidFill>
                                  <a:srgbClr val="9933FF"/>
                                </a:solidFill>
                                <a:latin typeface="Cambria Math" panose="02040503050406030204" pitchFamily="18" charset="0"/>
                              </a:rPr>
                              <m:t>𝑪𝒆</m:t>
                            </m:r>
                          </m:e>
                          <m:sup>
                            <m:r>
                              <a:rPr lang="en-US" sz="4000" b="1" i="1" smtClean="0">
                                <a:solidFill>
                                  <a:srgbClr val="9933FF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  <m:r>
                              <a:rPr lang="en-US" sz="4000" b="1" i="1" smtClean="0">
                                <a:solidFill>
                                  <a:srgbClr val="9933F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  <m:r>
                          <a:rPr lang="vi-VN" sz="4000" b="1" i="1" smtClean="0">
                            <a:solidFill>
                              <a:srgbClr val="9933FF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  <m:sSup>
                          <m:sSupPr>
                            <m:ctrlPr>
                              <a:rPr lang="en-US" sz="4000" b="1" i="1">
                                <a:solidFill>
                                  <a:srgbClr val="9933FF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sSubSup>
                              <m:sSubSupPr>
                                <m:ctrlPr>
                                  <a:rPr lang="en-US" sz="4000" b="1" i="1" smtClean="0">
                                    <a:solidFill>
                                      <a:srgbClr val="9933FF"/>
                                    </a:solidFill>
                                    <a:latin typeface="Cambria Math"/>
                                  </a:rPr>
                                </m:ctrlPr>
                              </m:sSubSupPr>
                              <m:e>
                                <m:r>
                                  <a:rPr lang="en-US" sz="4000" b="1" i="1">
                                    <a:solidFill>
                                      <a:srgbClr val="9933FF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sz="4000" b="1" i="1">
                                    <a:solidFill>
                                      <a:srgbClr val="9933FF"/>
                                    </a:solidFill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sz="4000" b="1" i="1">
                                        <a:solidFill>
                                          <a:srgbClr val="9933FF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4000" b="1" i="1">
                                        <a:solidFill>
                                          <a:srgbClr val="9933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𝑯</m:t>
                                    </m:r>
                                  </m:e>
                                  <m:sub>
                                    <m:r>
                                      <a:rPr lang="en-US" sz="4000" b="1" i="1">
                                        <a:solidFill>
                                          <a:srgbClr val="9933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sub>
                              <m:sup/>
                            </m:sSubSup>
                            <m:r>
                              <a:rPr lang="vi-VN" sz="4000" b="1" i="1" smtClean="0">
                                <a:solidFill>
                                  <a:srgbClr val="9933FF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f>
                              <m:fPr>
                                <m:ctrlPr>
                                  <a:rPr lang="en-US" sz="4000" b="1" i="1">
                                    <a:solidFill>
                                      <a:srgbClr val="9933FF"/>
                                    </a:solidFill>
                                    <a:latin typeface="Cambria Math"/>
                                  </a:rPr>
                                </m:ctrlPr>
                              </m:fPr>
                              <m:num>
                                <m:r>
                                  <a:rPr lang="en-US" sz="4000" b="1" i="1">
                                    <a:solidFill>
                                      <a:srgbClr val="9933FF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n-US" sz="4000" b="1" i="1">
                                    <a:solidFill>
                                      <a:srgbClr val="9933FF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</m:sup>
                        </m:sSup>
                      </m:den>
                    </m:f>
                  </m:oMath>
                </a14:m>
                <a:r>
                  <a:rPr lang="en-US" sz="4000" b="1" dirty="0" smtClean="0">
                    <a:solidFill>
                      <a:srgbClr val="9933FF"/>
                    </a:solidFill>
                    <a:sym typeface="Symbol"/>
                  </a:rPr>
                  <a:t></a:t>
                </a:r>
                <a:r>
                  <a:rPr lang="en-US" sz="4000" b="1" baseline="-25000" dirty="0" err="1" smtClean="0">
                    <a:solidFill>
                      <a:srgbClr val="9933FF"/>
                    </a:solidFill>
                    <a:sym typeface="Symbol"/>
                  </a:rPr>
                  <a:t>cb</a:t>
                </a:r>
                <a:endParaRPr lang="en-US" sz="4000" b="1" dirty="0">
                  <a:solidFill>
                    <a:srgbClr val="9933FF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6CEF29A5-9FB3-4C39-9EC0-5D2C706B3A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2902858"/>
                <a:ext cx="5791200" cy="1508042"/>
              </a:xfrm>
              <a:prstGeom prst="rect">
                <a:avLst/>
              </a:prstGeom>
              <a:blipFill rotWithShape="1">
                <a:blip r:embed="rId4"/>
                <a:stretch>
                  <a:fillRect l="-3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5742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6A02A4DD-5C8F-4112-8CE4-C1DC36C27FF4}"/>
              </a:ext>
            </a:extLst>
          </p:cNvPr>
          <p:cNvSpPr txBox="1"/>
          <p:nvPr/>
        </p:nvSpPr>
        <p:spPr>
          <a:xfrm>
            <a:off x="1371600" y="381834"/>
            <a:ext cx="609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b="1" dirty="0">
                <a:solidFill>
                  <a:srgbClr val="0000FF"/>
                </a:solidFill>
              </a:rPr>
              <a:t>A(r)  + 2B(dd) </a:t>
            </a:r>
            <a:r>
              <a:rPr lang="en-US" altLang="en-US" sz="3200" b="1" dirty="0">
                <a:solidFill>
                  <a:srgbClr val="0000FF"/>
                </a:solidFill>
              </a:rPr>
              <a:t> ⇌</a:t>
            </a:r>
            <a:r>
              <a:rPr lang="vi-VN" altLang="en-US" sz="3200" b="1" dirty="0">
                <a:solidFill>
                  <a:srgbClr val="0000FF"/>
                </a:solidFill>
              </a:rPr>
              <a:t>  C(k)  + D(dd) </a:t>
            </a:r>
            <a:r>
              <a:rPr lang="vi-VN" sz="3200" b="1" dirty="0">
                <a:solidFill>
                  <a:srgbClr val="0000FF"/>
                </a:solidFill>
              </a:rPr>
              <a:t> </a:t>
            </a:r>
            <a:endParaRPr lang="en-US" sz="3200" b="1" dirty="0">
              <a:solidFill>
                <a:srgbClr val="0000F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6695CF5B-EFF0-4061-8D22-C7EA5BE4C529}"/>
              </a:ext>
            </a:extLst>
          </p:cNvPr>
          <p:cNvSpPr txBox="1"/>
          <p:nvPr/>
        </p:nvSpPr>
        <p:spPr>
          <a:xfrm>
            <a:off x="990600" y="1215456"/>
            <a:ext cx="7315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dirty="0"/>
              <a:t>Thiết lập biểu thức Q và K</a:t>
            </a:r>
            <a:r>
              <a:rPr lang="vi-VN" sz="3200" baseline="-25000" dirty="0"/>
              <a:t>cb</a:t>
            </a:r>
            <a:r>
              <a:rPr lang="vi-VN" sz="3200" dirty="0"/>
              <a:t> của pư: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xmlns="" id="{B1981A52-DE3D-426B-B274-110BE79A4FD7}"/>
                  </a:ext>
                </a:extLst>
              </p:cNvPr>
              <p:cNvSpPr txBox="1"/>
              <p:nvPr/>
            </p:nvSpPr>
            <p:spPr>
              <a:xfrm>
                <a:off x="1605185" y="1869289"/>
                <a:ext cx="7620000" cy="891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vi-VN" sz="3200" b="1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Q = 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sz="3200" b="1" i="1">
                            <a:solidFill>
                              <a:srgbClr val="FF0000"/>
                            </a:solidFill>
                            <a:latin typeface="Cambria Math"/>
                            <a:sym typeface="Symbol" panose="05050102010706020507" pitchFamily="18" charset="2"/>
                          </a:rPr>
                        </m:ctrlPr>
                      </m:fPr>
                      <m:num>
                        <m:d>
                          <m:dPr>
                            <m:begChr m:val="["/>
                            <m:endChr m:val="]"/>
                            <m:ctrlPr>
                              <a:rPr lang="vi-VN" sz="3200" b="1" i="1">
                                <a:solidFill>
                                  <a:srgbClr val="FF0000"/>
                                </a:solidFill>
                                <a:latin typeface="Cambria Math"/>
                                <a:sym typeface="Symbol" panose="05050102010706020507" pitchFamily="18" charset="2"/>
                              </a:rPr>
                            </m:ctrlPr>
                          </m:dPr>
                          <m:e>
                            <m:r>
                              <a:rPr lang="vi-VN" sz="32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𝑫</m:t>
                            </m:r>
                          </m:e>
                        </m:d>
                        <m:r>
                          <a:rPr lang="vi-VN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.</m:t>
                        </m:r>
                        <m:sSub>
                          <m:sSubPr>
                            <m:ctrlPr>
                              <a:rPr lang="vi-VN" sz="3200" b="1" i="1">
                                <a:solidFill>
                                  <a:srgbClr val="FF0000"/>
                                </a:solidFill>
                                <a:latin typeface="Cambria Math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vi-VN" sz="32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𝑷</m:t>
                            </m:r>
                          </m:e>
                          <m:sub>
                            <m:r>
                              <a:rPr lang="vi-VN" sz="32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𝑪</m:t>
                            </m:r>
                          </m:sub>
                        </m:sSub>
                      </m:num>
                      <m:den>
                        <m:r>
                          <a:rPr lang="vi-VN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[</m:t>
                        </m:r>
                        <m:r>
                          <a:rPr lang="vi-VN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𝑩</m:t>
                        </m:r>
                        <m:sSup>
                          <m:sSupPr>
                            <m:ctrlPr>
                              <a:rPr lang="vi-VN" sz="3200" b="1" i="1">
                                <a:solidFill>
                                  <a:srgbClr val="FF0000"/>
                                </a:solidFill>
                                <a:latin typeface="Cambria Math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a:rPr lang="vi-VN" sz="32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]</m:t>
                            </m:r>
                          </m:e>
                          <m:sup>
                            <m:r>
                              <a:rPr lang="vi-VN" sz="32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r>
                  <a:rPr lang="vi-VN" sz="3200" b="1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</a:t>
                </a:r>
                <a:r>
                  <a:rPr lang="vi-VN" sz="3200" b="1" baseline="-25000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</a:t>
                </a:r>
                <a:r>
                  <a:rPr lang="vi-VN" sz="3200" b="1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    K</a:t>
                </a:r>
                <a:r>
                  <a:rPr lang="vi-VN" sz="3200" b="1" baseline="-25000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cb</a:t>
                </a:r>
                <a:r>
                  <a:rPr lang="vi-VN" sz="3200" b="1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 = 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sz="3200" b="1" i="1">
                            <a:solidFill>
                              <a:srgbClr val="FF0000"/>
                            </a:solidFill>
                            <a:latin typeface="Cambria Math"/>
                            <a:sym typeface="Symbol" panose="05050102010706020507" pitchFamily="18" charset="2"/>
                          </a:rPr>
                        </m:ctrlPr>
                      </m:fPr>
                      <m:num>
                        <m:d>
                          <m:dPr>
                            <m:begChr m:val="["/>
                            <m:endChr m:val="]"/>
                            <m:ctrlPr>
                              <a:rPr lang="vi-VN" sz="3200" b="1" i="1">
                                <a:solidFill>
                                  <a:srgbClr val="FF0000"/>
                                </a:solidFill>
                                <a:latin typeface="Cambria Math"/>
                                <a:sym typeface="Symbol" panose="05050102010706020507" pitchFamily="18" charset="2"/>
                              </a:rPr>
                            </m:ctrlPr>
                          </m:dPr>
                          <m:e>
                            <m:r>
                              <a:rPr lang="vi-VN" sz="32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𝑫</m:t>
                            </m:r>
                          </m:e>
                        </m:d>
                        <m:r>
                          <a:rPr lang="vi-VN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.</m:t>
                        </m:r>
                        <m:sSub>
                          <m:sSubPr>
                            <m:ctrlPr>
                              <a:rPr lang="vi-VN" sz="3200" b="1" i="1">
                                <a:solidFill>
                                  <a:srgbClr val="FF0000"/>
                                </a:solidFill>
                                <a:latin typeface="Cambria Math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vi-VN" sz="32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𝑷</m:t>
                            </m:r>
                          </m:e>
                          <m:sub>
                            <m:r>
                              <a:rPr lang="vi-VN" sz="32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𝑪</m:t>
                            </m:r>
                          </m:sub>
                        </m:sSub>
                      </m:num>
                      <m:den>
                        <m:r>
                          <a:rPr lang="vi-VN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[</m:t>
                        </m:r>
                        <m:r>
                          <a:rPr lang="vi-VN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𝑩</m:t>
                        </m:r>
                        <m:sSup>
                          <m:sSupPr>
                            <m:ctrlPr>
                              <a:rPr lang="vi-VN" sz="3200" b="1" i="1">
                                <a:solidFill>
                                  <a:srgbClr val="FF0000"/>
                                </a:solidFill>
                                <a:latin typeface="Cambria Math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a:rPr lang="vi-VN" sz="32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]</m:t>
                            </m:r>
                          </m:e>
                          <m:sup>
                            <m:r>
                              <a:rPr lang="vi-VN" sz="32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r>
                  <a:rPr lang="vi-VN" sz="3200" b="1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</a:t>
                </a:r>
                <a:r>
                  <a:rPr lang="vi-VN" sz="3200" b="1" baseline="-25000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cb</a:t>
                </a:r>
                <a:endParaRPr lang="en-US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1981A52-DE3D-426B-B274-110BE79A4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5185" y="1869289"/>
                <a:ext cx="7620000" cy="891270"/>
              </a:xfrm>
              <a:prstGeom prst="rect">
                <a:avLst/>
              </a:prstGeom>
              <a:blipFill>
                <a:blip r:embed="rId2"/>
                <a:stretch>
                  <a:fillRect l="-2000" b="-1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746ACA14-097F-46F3-8AFB-4286C336D1AB}"/>
                  </a:ext>
                </a:extLst>
              </p:cNvPr>
              <p:cNvSpPr txBox="1"/>
              <p:nvPr/>
            </p:nvSpPr>
            <p:spPr>
              <a:xfrm>
                <a:off x="36053" y="1206079"/>
                <a:ext cx="9033082" cy="155448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noAutofit/>
              </a:bodyPr>
              <a:lstStyle/>
              <a:p>
                <a:r>
                  <a:rPr lang="vi-VN" sz="3200" dirty="0">
                    <a:solidFill>
                      <a:srgbClr val="0000FF"/>
                    </a:solidFill>
                  </a:rPr>
                  <a:t>Tính HSCB K</a:t>
                </a:r>
                <a:r>
                  <a:rPr lang="vi-VN" sz="3200" baseline="-25000" dirty="0">
                    <a:solidFill>
                      <a:srgbClr val="0000FF"/>
                    </a:solidFill>
                  </a:rPr>
                  <a:t> </a:t>
                </a:r>
                <a:r>
                  <a:rPr lang="vi-VN" sz="3200" dirty="0">
                    <a:solidFill>
                      <a:srgbClr val="0000FF"/>
                    </a:solidFill>
                  </a:rPr>
                  <a:t>ở 298K cho biết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vi-VN" sz="3200" i="1">
                            <a:solidFill>
                              <a:srgbClr val="0000FF"/>
                            </a:solidFill>
                            <a:latin typeface="Cambria Math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vi-VN" sz="3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∆</m:t>
                        </m:r>
                        <m:r>
                          <a:rPr lang="vi-VN" sz="3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𝐺</m:t>
                        </m:r>
                      </m:e>
                      <m:sub>
                        <m:r>
                          <a:rPr lang="vi-VN" sz="3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298</m:t>
                        </m:r>
                        <m:r>
                          <a:rPr lang="vi-VN" sz="32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 </m:t>
                        </m:r>
                        <m:r>
                          <a:rPr lang="vi-VN" sz="32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𝑝</m:t>
                        </m:r>
                        <m:r>
                          <a:rPr lang="vi-VN" sz="32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ư</m:t>
                        </m:r>
                      </m:sub>
                      <m:sup>
                        <m:r>
                          <a:rPr lang="vi-VN" sz="3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vi-VN" sz="3200" dirty="0">
                    <a:solidFill>
                      <a:srgbClr val="0000FF"/>
                    </a:solidFill>
                  </a:rPr>
                  <a:t> = -11,4 kJ</a:t>
                </a:r>
                <a:endParaRPr lang="en-US" sz="32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46ACA14-097F-46F3-8AFB-4286C336D1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53" y="1206079"/>
                <a:ext cx="9033082" cy="1554480"/>
              </a:xfrm>
              <a:prstGeom prst="rect">
                <a:avLst/>
              </a:prstGeom>
              <a:blipFill>
                <a:blip r:embed="rId3"/>
                <a:stretch>
                  <a:fillRect l="-1754" t="-4706" r="-12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xmlns="" id="{9834F16F-AA84-405A-BA9A-C57EA5121D74}"/>
                  </a:ext>
                </a:extLst>
              </p:cNvPr>
              <p:cNvSpPr txBox="1"/>
              <p:nvPr/>
            </p:nvSpPr>
            <p:spPr>
              <a:xfrm>
                <a:off x="135843" y="1841701"/>
                <a:ext cx="9089342" cy="13914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vi-VN" sz="2800" i="1" smtClean="0">
                            <a:solidFill>
                              <a:srgbClr val="CC00FF"/>
                            </a:solidFill>
                            <a:latin typeface="Cambria Math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vi-VN" sz="2800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∆</m:t>
                        </m:r>
                        <m:r>
                          <a:rPr lang="vi-VN" sz="2800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𝐺</m:t>
                        </m:r>
                      </m:e>
                      <m:sub>
                        <m:r>
                          <a:rPr lang="vi-VN" sz="2800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298 </m:t>
                        </m:r>
                        <m:r>
                          <a:rPr lang="vi-VN" sz="2800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𝑝</m:t>
                        </m:r>
                        <m:r>
                          <a:rPr lang="vi-VN" sz="2800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ư</m:t>
                        </m:r>
                      </m:sub>
                      <m:sup>
                        <m:r>
                          <a:rPr lang="vi-VN" sz="2800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vi-VN" sz="2800" dirty="0">
                    <a:solidFill>
                      <a:srgbClr val="CC00FF"/>
                    </a:solidFill>
                  </a:rPr>
                  <a:t> = -RTlnK = -11,4 = -8,314.10</a:t>
                </a:r>
                <a:r>
                  <a:rPr lang="vi-VN" sz="2800" baseline="30000" dirty="0">
                    <a:solidFill>
                      <a:srgbClr val="CC00FF"/>
                    </a:solidFill>
                  </a:rPr>
                  <a:t>-3</a:t>
                </a:r>
                <a:r>
                  <a:rPr lang="vi-VN" sz="2800" dirty="0">
                    <a:solidFill>
                      <a:srgbClr val="CC00FF"/>
                    </a:solidFill>
                  </a:rPr>
                  <a:t>. 298.2,303.lgK </a:t>
                </a:r>
              </a:p>
              <a:p>
                <a:pPr>
                  <a:lnSpc>
                    <a:spcPct val="150000"/>
                  </a:lnSpc>
                </a:pPr>
                <a:r>
                  <a:rPr lang="vi-VN" sz="2800" dirty="0">
                    <a:solidFill>
                      <a:srgbClr val="CC00FF"/>
                    </a:solidFill>
                  </a:rPr>
                  <a:t> </a:t>
                </a:r>
                <a:r>
                  <a:rPr lang="vi-VN" sz="2800" dirty="0">
                    <a:solidFill>
                      <a:srgbClr val="CC00FF"/>
                    </a:solidFill>
                    <a:sym typeface="Symbol" panose="05050102010706020507" pitchFamily="18" charset="2"/>
                  </a:rPr>
                  <a:t> Hằng số cân bằng ở 298K: K = 100</a:t>
                </a:r>
                <a:endParaRPr lang="en-US" sz="2800" dirty="0">
                  <a:solidFill>
                    <a:srgbClr val="CC00FF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834F16F-AA84-405A-BA9A-C57EA5121D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843" y="1841701"/>
                <a:ext cx="9089342" cy="1391471"/>
              </a:xfrm>
              <a:prstGeom prst="rect">
                <a:avLst/>
              </a:prstGeom>
              <a:blipFill>
                <a:blip r:embed="rId4"/>
                <a:stretch>
                  <a:fillRect l="-268" b="-114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4423FF9-8A51-4765-83C9-A2E61AC7228E}"/>
              </a:ext>
            </a:extLst>
          </p:cNvPr>
          <p:cNvSpPr txBox="1"/>
          <p:nvPr/>
        </p:nvSpPr>
        <p:spPr>
          <a:xfrm>
            <a:off x="74865" y="1115644"/>
            <a:ext cx="8859229" cy="211752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vi-VN" sz="2800" dirty="0">
                <a:solidFill>
                  <a:srgbClr val="006600"/>
                </a:solidFill>
              </a:rPr>
              <a:t>Tính tỉ số </a:t>
            </a:r>
            <a:r>
              <a:rPr lang="vi-VN" sz="2800" dirty="0">
                <a:solidFill>
                  <a:srgbClr val="006600"/>
                </a:solidFill>
                <a:sym typeface="Symbol" panose="05050102010706020507" pitchFamily="18" charset="2"/>
              </a:rPr>
              <a:t>pư Q và xác định chiều pư ở 298K. Cho biết:</a:t>
            </a:r>
          </a:p>
          <a:p>
            <a:pPr>
              <a:lnSpc>
                <a:spcPct val="150000"/>
              </a:lnSpc>
            </a:pPr>
            <a:r>
              <a:rPr lang="vi-VN" sz="2800" dirty="0">
                <a:solidFill>
                  <a:srgbClr val="006600"/>
                </a:solidFill>
                <a:sym typeface="Symbol" panose="05050102010706020507" pitchFamily="18" charset="2"/>
              </a:rPr>
              <a:t> [B] = 0,1M; [D] = 0,01M; P</a:t>
            </a:r>
            <a:r>
              <a:rPr lang="vi-VN" sz="2800" baseline="-25000" dirty="0">
                <a:solidFill>
                  <a:srgbClr val="006600"/>
                </a:solidFill>
                <a:sym typeface="Symbol" panose="05050102010706020507" pitchFamily="18" charset="2"/>
              </a:rPr>
              <a:t>C</a:t>
            </a:r>
            <a:r>
              <a:rPr lang="vi-VN" sz="2800" dirty="0">
                <a:solidFill>
                  <a:srgbClr val="006600"/>
                </a:solidFill>
                <a:sym typeface="Symbol" panose="05050102010706020507" pitchFamily="18" charset="2"/>
              </a:rPr>
              <a:t> = 1atm; HSCB K</a:t>
            </a:r>
            <a:r>
              <a:rPr lang="vi-VN" sz="2800" baseline="-25000" dirty="0">
                <a:solidFill>
                  <a:srgbClr val="006600"/>
                </a:solidFill>
                <a:sym typeface="Symbol" panose="05050102010706020507" pitchFamily="18" charset="2"/>
              </a:rPr>
              <a:t>298</a:t>
            </a:r>
            <a:r>
              <a:rPr lang="vi-VN" sz="2800" dirty="0">
                <a:solidFill>
                  <a:srgbClr val="006600"/>
                </a:solidFill>
                <a:sym typeface="Symbol" panose="05050102010706020507" pitchFamily="18" charset="2"/>
              </a:rPr>
              <a:t>= 10</a:t>
            </a:r>
            <a:r>
              <a:rPr lang="vi-VN" sz="2800" baseline="30000" dirty="0">
                <a:solidFill>
                  <a:srgbClr val="006600"/>
                </a:solidFill>
                <a:sym typeface="Symbol" panose="05050102010706020507" pitchFamily="18" charset="2"/>
              </a:rPr>
              <a:t>2</a:t>
            </a:r>
            <a:endParaRPr lang="en-US" sz="2800" dirty="0">
              <a:solidFill>
                <a:srgbClr val="0066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="" id="{12A774B1-00BB-4134-A694-3E5B2D56FCF5}"/>
                  </a:ext>
                </a:extLst>
              </p:cNvPr>
              <p:cNvSpPr txBox="1"/>
              <p:nvPr/>
            </p:nvSpPr>
            <p:spPr>
              <a:xfrm>
                <a:off x="74865" y="2510781"/>
                <a:ext cx="9823033" cy="19956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vi-VN" sz="3200" dirty="0">
                    <a:sym typeface="Symbol" panose="05050102010706020507" pitchFamily="18" charset="2"/>
                  </a:rPr>
                  <a:t>        Q = 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sz="3200" i="1">
                            <a:latin typeface="Cambria Math"/>
                            <a:sym typeface="Symbol" panose="05050102010706020507" pitchFamily="18" charset="2"/>
                          </a:rPr>
                        </m:ctrlPr>
                      </m:fPr>
                      <m:num>
                        <m:d>
                          <m:dPr>
                            <m:begChr m:val="["/>
                            <m:endChr m:val="]"/>
                            <m:ctrlPr>
                              <a:rPr lang="vi-VN" sz="3200" i="1">
                                <a:latin typeface="Cambria Math"/>
                                <a:sym typeface="Symbol" panose="05050102010706020507" pitchFamily="18" charset="2"/>
                              </a:rPr>
                            </m:ctrlPr>
                          </m:dPr>
                          <m:e>
                            <m:r>
                              <a:rPr lang="vi-VN" sz="3200" b="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𝐷</m:t>
                            </m:r>
                          </m:e>
                        </m:d>
                        <m:r>
                          <a:rPr lang="vi-VN" sz="32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.</m:t>
                        </m:r>
                        <m:sSub>
                          <m:sSubPr>
                            <m:ctrlPr>
                              <a:rPr lang="vi-VN" sz="3200" i="1">
                                <a:latin typeface="Cambria Math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vi-VN" sz="3200" i="1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𝑃</m:t>
                            </m:r>
                          </m:e>
                          <m:sub>
                            <m:r>
                              <a:rPr lang="vi-VN" sz="3200" b="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𝐶</m:t>
                            </m:r>
                          </m:sub>
                        </m:sSub>
                      </m:num>
                      <m:den>
                        <m:r>
                          <a:rPr lang="vi-VN" sz="32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[</m:t>
                        </m:r>
                        <m:r>
                          <a:rPr lang="vi-VN" sz="32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𝐵</m:t>
                        </m:r>
                        <m:sSup>
                          <m:sSupPr>
                            <m:ctrlPr>
                              <a:rPr lang="vi-VN" sz="3200" i="1">
                                <a:latin typeface="Cambria Math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a:rPr lang="vi-VN" sz="3200" i="1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]</m:t>
                            </m:r>
                          </m:e>
                          <m:sup>
                            <m:r>
                              <a:rPr lang="vi-VN" sz="3200" i="1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vi-VN" sz="3200" dirty="0">
                    <a:sym typeface="Symbol" panose="05050102010706020507" pitchFamily="18" charset="2"/>
                  </a:rPr>
                  <a:t></a:t>
                </a:r>
                <a:r>
                  <a:rPr lang="vi-VN" sz="3200" baseline="-25000" dirty="0">
                    <a:sym typeface="Symbol" panose="05050102010706020507" pitchFamily="18" charset="2"/>
                  </a:rPr>
                  <a:t></a:t>
                </a:r>
                <a:r>
                  <a:rPr lang="vi-VN" sz="3200" dirty="0">
                    <a:sym typeface="Symbol" panose="05050102010706020507" pitchFamily="18" charset="2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sz="3200" i="1" smtClean="0">
                            <a:latin typeface="Cambria Math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vi-VN" sz="32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0,01.1 </m:t>
                        </m:r>
                      </m:num>
                      <m:den>
                        <m:sSup>
                          <m:sSupPr>
                            <m:ctrlPr>
                              <a:rPr lang="vi-VN" sz="3200" i="1" smtClean="0">
                                <a:latin typeface="Cambria Math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a:rPr lang="vi-VN" sz="3200" b="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[0,1]</m:t>
                            </m:r>
                          </m:e>
                          <m:sup>
                            <m:r>
                              <a:rPr lang="vi-VN" sz="3200" b="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vi-VN" sz="32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=1&lt;</m:t>
                    </m:r>
                    <m:r>
                      <a:rPr lang="vi-VN" sz="32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𝐾</m:t>
                    </m:r>
                    <m:r>
                      <a:rPr lang="vi-VN" sz="32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=100 </m:t>
                    </m:r>
                  </m:oMath>
                </a14:m>
                <a:endParaRPr lang="vi-VN" sz="3200" b="0" dirty="0">
                  <a:sym typeface="Symbol" panose="05050102010706020507" pitchFamily="18" charset="2"/>
                </a:endParaRPr>
              </a:p>
              <a:p>
                <a:r>
                  <a:rPr lang="vi-VN" sz="2800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G</a:t>
                </a:r>
                <a:r>
                  <a:rPr lang="vi-VN" sz="2800" baseline="-25000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298</a:t>
                </a:r>
                <a:r>
                  <a:rPr lang="vi-VN" sz="2800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= RTln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sz="2800" i="1">
                            <a:solidFill>
                              <a:srgbClr val="FF0000"/>
                            </a:solidFill>
                            <a:latin typeface="Cambria Math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vi-V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𝑄</m:t>
                        </m:r>
                        <m: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 </m:t>
                        </m:r>
                      </m:num>
                      <m:den>
                        <m:r>
                          <a:rPr lang="vi-V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𝐾</m:t>
                        </m:r>
                      </m:den>
                    </m:f>
                  </m:oMath>
                </a14:m>
                <a:r>
                  <a:rPr lang="vi-VN" sz="2800" b="1" i="1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 &lt; 0 </a:t>
                </a:r>
                <a:r>
                  <a:rPr lang="vi-VN" sz="2800" i="1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Phản ứng tự phát theo chiều thuận.</a:t>
                </a:r>
                <a:endParaRPr lang="vi-VN" sz="2800" i="1" dirty="0">
                  <a:solidFill>
                    <a:srgbClr val="FF0000"/>
                  </a:solidFill>
                </a:endParaRPr>
              </a:p>
              <a:p>
                <a:endParaRPr lang="en-US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2A774B1-00BB-4134-A694-3E5B2D56FC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65" y="2510781"/>
                <a:ext cx="9823033" cy="1995675"/>
              </a:xfrm>
              <a:prstGeom prst="rect">
                <a:avLst/>
              </a:prstGeom>
              <a:blipFill>
                <a:blip r:embed="rId5"/>
                <a:stretch>
                  <a:fillRect l="-1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="" id="{592652CD-40C2-484E-909C-F0395ACA91BA}"/>
                  </a:ext>
                </a:extLst>
              </p:cNvPr>
              <p:cNvSpPr txBox="1"/>
              <p:nvPr/>
            </p:nvSpPr>
            <p:spPr>
              <a:xfrm>
                <a:off x="176613" y="1215456"/>
                <a:ext cx="8953500" cy="298866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vi-VN" sz="2800" dirty="0">
                    <a:solidFill>
                      <a:srgbClr val="006600"/>
                    </a:solidFill>
                  </a:rPr>
                  <a:t>Tính </a:t>
                </a:r>
                <a:r>
                  <a:rPr lang="vi-VN" sz="2800" dirty="0">
                    <a:solidFill>
                      <a:srgbClr val="006600"/>
                    </a:solidFill>
                    <a:sym typeface="Symbol" panose="05050102010706020507" pitchFamily="18" charset="2"/>
                  </a:rPr>
                  <a:t>G</a:t>
                </a:r>
                <a:r>
                  <a:rPr lang="vi-VN" sz="2800" baseline="-25000" dirty="0">
                    <a:solidFill>
                      <a:srgbClr val="006600"/>
                    </a:solidFill>
                    <a:sym typeface="Symbol" panose="05050102010706020507" pitchFamily="18" charset="2"/>
                  </a:rPr>
                  <a:t>298</a:t>
                </a:r>
                <a:r>
                  <a:rPr lang="vi-VN" sz="2800" dirty="0">
                    <a:solidFill>
                      <a:srgbClr val="006600"/>
                    </a:solidFill>
                    <a:sym typeface="Symbol" panose="05050102010706020507" pitchFamily="18" charset="2"/>
                  </a:rPr>
                  <a:t> của pư, xác định chiều pư. Cho biết:</a:t>
                </a:r>
              </a:p>
              <a:p>
                <a:pPr>
                  <a:lnSpc>
                    <a:spcPct val="150000"/>
                  </a:lnSpc>
                </a:pPr>
                <a:r>
                  <a:rPr lang="vi-VN" sz="2800" dirty="0">
                    <a:solidFill>
                      <a:srgbClr val="006600"/>
                    </a:solidFill>
                    <a:sym typeface="Symbol" panose="05050102010706020507" pitchFamily="18" charset="2"/>
                  </a:rPr>
                  <a:t> [B] = 0,1M; [D] = 0,01M; P</a:t>
                </a:r>
                <a:r>
                  <a:rPr lang="vi-VN" sz="2800" baseline="-25000" dirty="0">
                    <a:solidFill>
                      <a:srgbClr val="006600"/>
                    </a:solidFill>
                    <a:sym typeface="Symbol" panose="05050102010706020507" pitchFamily="18" charset="2"/>
                  </a:rPr>
                  <a:t>C</a:t>
                </a:r>
                <a:r>
                  <a:rPr lang="vi-VN" sz="2800" dirty="0">
                    <a:solidFill>
                      <a:srgbClr val="006600"/>
                    </a:solidFill>
                    <a:sym typeface="Symbol" panose="05050102010706020507" pitchFamily="18" charset="2"/>
                  </a:rPr>
                  <a:t>= 1atm;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vi-VN" sz="2800" i="1" smtClean="0">
                            <a:solidFill>
                              <a:srgbClr val="006600"/>
                            </a:solidFill>
                            <a:latin typeface="Cambria Math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vi-VN" sz="28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∆</m:t>
                        </m:r>
                        <m:r>
                          <a:rPr lang="vi-VN" sz="28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𝐺</m:t>
                        </m:r>
                      </m:e>
                      <m:sub>
                        <m:r>
                          <a:rPr lang="vi-VN" sz="28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298</m:t>
                        </m:r>
                      </m:sub>
                      <m:sup>
                        <m:r>
                          <a:rPr lang="vi-VN" sz="28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vi-VN" sz="2800" dirty="0">
                    <a:solidFill>
                      <a:srgbClr val="006600"/>
                    </a:solidFill>
                    <a:sym typeface="Symbol" panose="05050102010706020507" pitchFamily="18" charset="2"/>
                  </a:rPr>
                  <a:t> = -11,4 kJ</a:t>
                </a:r>
              </a:p>
              <a:p>
                <a:pPr>
                  <a:lnSpc>
                    <a:spcPct val="150000"/>
                  </a:lnSpc>
                </a:pPr>
                <a:endParaRPr lang="en-US" sz="3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92652CD-40C2-484E-909C-F0395ACA91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613" y="1215456"/>
                <a:ext cx="8953500" cy="2988661"/>
              </a:xfrm>
              <a:prstGeom prst="rect">
                <a:avLst/>
              </a:prstGeom>
              <a:blipFill>
                <a:blip r:embed="rId6"/>
                <a:stretch>
                  <a:fillRect l="-14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id="{28E053EA-414E-4E98-9AF4-400841A4F437}"/>
                  </a:ext>
                </a:extLst>
              </p:cNvPr>
              <p:cNvSpPr txBox="1"/>
              <p:nvPr/>
            </p:nvSpPr>
            <p:spPr>
              <a:xfrm>
                <a:off x="1144335" y="2742237"/>
                <a:ext cx="7924800" cy="89127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vi-VN" sz="3200" dirty="0">
                    <a:sym typeface="Symbol" panose="05050102010706020507" pitchFamily="18" charset="2"/>
                  </a:rPr>
                  <a:t>G</a:t>
                </a:r>
                <a:r>
                  <a:rPr lang="vi-VN" sz="3200" baseline="-25000" dirty="0">
                    <a:sym typeface="Symbol" panose="05050102010706020507" pitchFamily="18" charset="2"/>
                  </a:rPr>
                  <a:t>298</a:t>
                </a:r>
                <a:r>
                  <a:rPr lang="vi-VN" sz="3200" dirty="0">
                    <a:sym typeface="Symbol" panose="05050102010706020507" pitchFamily="18" charset="2"/>
                  </a:rPr>
                  <a:t> =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vi-VN" sz="3200" i="1" smtClean="0">
                            <a:latin typeface="Cambria Math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vi-VN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∆</m:t>
                        </m:r>
                        <m:r>
                          <a:rPr lang="vi-V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𝐺</m:t>
                        </m:r>
                      </m:e>
                      <m:sub>
                        <m:r>
                          <a:rPr lang="vi-VN" sz="32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298</m:t>
                        </m:r>
                      </m:sub>
                      <m:sup>
                        <m:r>
                          <a:rPr lang="vi-VN" sz="32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vi-VN" sz="3200" dirty="0">
                    <a:sym typeface="Symbol" panose="05050102010706020507" pitchFamily="18" charset="2"/>
                  </a:rPr>
                  <a:t> + RTln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sz="3200" i="1" smtClean="0">
                            <a:latin typeface="Cambria Math"/>
                            <a:sym typeface="Symbol" panose="05050102010706020507" pitchFamily="18" charset="2"/>
                          </a:rPr>
                        </m:ctrlPr>
                      </m:fPr>
                      <m:num>
                        <m:d>
                          <m:dPr>
                            <m:begChr m:val="["/>
                            <m:endChr m:val="]"/>
                            <m:ctrlPr>
                              <a:rPr lang="vi-VN" sz="3200" b="0" i="1" smtClean="0">
                                <a:latin typeface="Cambria Math"/>
                                <a:sym typeface="Symbol" panose="05050102010706020507" pitchFamily="18" charset="2"/>
                              </a:rPr>
                            </m:ctrlPr>
                          </m:dPr>
                          <m:e>
                            <m:r>
                              <a:rPr lang="vi-VN" sz="3200" b="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𝐷</m:t>
                            </m:r>
                          </m:e>
                        </m:d>
                        <m:sSub>
                          <m:sSubPr>
                            <m:ctrlPr>
                              <a:rPr lang="vi-VN" sz="3200" b="0" i="1" smtClean="0">
                                <a:latin typeface="Cambria Math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vi-VN" sz="3200" b="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𝑃</m:t>
                            </m:r>
                          </m:e>
                          <m:sub>
                            <m:r>
                              <a:rPr lang="vi-VN" sz="3200" b="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𝐶</m:t>
                            </m:r>
                          </m:sub>
                        </m:sSub>
                      </m:num>
                      <m:den>
                        <m:r>
                          <a:rPr lang="vi-VN" sz="32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[</m:t>
                        </m:r>
                        <m:r>
                          <a:rPr lang="vi-VN" sz="32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𝐵</m:t>
                        </m:r>
                        <m:sSup>
                          <m:sSupPr>
                            <m:ctrlPr>
                              <a:rPr lang="vi-VN" sz="3200" b="0" i="1" smtClean="0">
                                <a:latin typeface="Cambria Math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a:rPr lang="vi-VN" sz="3200" b="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]</m:t>
                            </m:r>
                          </m:e>
                          <m:sup>
                            <m:r>
                              <a:rPr lang="vi-VN" sz="3200" b="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vi-VN" sz="3200" dirty="0">
                    <a:sym typeface="Symbol" panose="05050102010706020507" pitchFamily="18" charset="2"/>
                  </a:rPr>
                  <a:t></a:t>
                </a:r>
                <a:r>
                  <a:rPr lang="vi-VN" sz="3200" baseline="-25000" dirty="0">
                    <a:sym typeface="Symbol" panose="05050102010706020507" pitchFamily="18" charset="2"/>
                  </a:rPr>
                  <a:t></a:t>
                </a:r>
                <a:r>
                  <a:rPr lang="vi-VN" sz="3200" dirty="0">
                    <a:sym typeface="Symbol" panose="05050102010706020507" pitchFamily="18" charset="2"/>
                  </a:rPr>
                  <a:t> </a:t>
                </a:r>
                <a:endParaRPr lang="en-US" sz="3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8E053EA-414E-4E98-9AF4-400841A4F4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4335" y="2742237"/>
                <a:ext cx="7924800" cy="891270"/>
              </a:xfrm>
              <a:prstGeom prst="rect">
                <a:avLst/>
              </a:prstGeom>
              <a:blipFill>
                <a:blip r:embed="rId7"/>
                <a:stretch>
                  <a:fillRect l="-2000" b="-1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="" id="{988D453A-8856-4E37-A728-4A7FC84B6941}"/>
                  </a:ext>
                </a:extLst>
              </p:cNvPr>
              <p:cNvSpPr txBox="1"/>
              <p:nvPr/>
            </p:nvSpPr>
            <p:spPr>
              <a:xfrm>
                <a:off x="304800" y="3429000"/>
                <a:ext cx="9018839" cy="31456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vi-VN" sz="3200" dirty="0">
                    <a:solidFill>
                      <a:srgbClr val="0000FF"/>
                    </a:solidFill>
                    <a:sym typeface="Symbol" panose="05050102010706020507" pitchFamily="18" charset="2"/>
                  </a:rPr>
                  <a:t>G</a:t>
                </a:r>
                <a:r>
                  <a:rPr lang="vi-VN" sz="3200" baseline="-25000" dirty="0">
                    <a:solidFill>
                      <a:srgbClr val="0000FF"/>
                    </a:solidFill>
                    <a:sym typeface="Symbol" panose="05050102010706020507" pitchFamily="18" charset="2"/>
                  </a:rPr>
                  <a:t>298</a:t>
                </a:r>
                <a:r>
                  <a:rPr lang="vi-VN" sz="3200" dirty="0">
                    <a:solidFill>
                      <a:srgbClr val="0000FF"/>
                    </a:solidFill>
                    <a:sym typeface="Symbol" panose="05050102010706020507" pitchFamily="18" charset="2"/>
                  </a:rPr>
                  <a:t> = </a:t>
                </a:r>
                <a:r>
                  <a:rPr lang="vi-VN" sz="3200" dirty="0">
                    <a:solidFill>
                      <a:srgbClr val="0000FF"/>
                    </a:solidFill>
                  </a:rPr>
                  <a:t>- 11,4 + </a:t>
                </a:r>
                <a:r>
                  <a:rPr lang="vi-VN" sz="3200" dirty="0">
                    <a:solidFill>
                      <a:srgbClr val="0000FF"/>
                    </a:solidFill>
                    <a:sym typeface="Symbol" panose="05050102010706020507" pitchFamily="18" charset="2"/>
                  </a:rPr>
                  <a:t>8,314</a:t>
                </a:r>
                <a:r>
                  <a:rPr lang="vi-VN" sz="3200" dirty="0">
                    <a:solidFill>
                      <a:srgbClr val="0000FF"/>
                    </a:solidFill>
                  </a:rPr>
                  <a:t>.10</a:t>
                </a:r>
                <a:r>
                  <a:rPr lang="vi-VN" sz="3200" baseline="30000" dirty="0">
                    <a:solidFill>
                      <a:srgbClr val="0000FF"/>
                    </a:solidFill>
                  </a:rPr>
                  <a:t>-3</a:t>
                </a:r>
                <a:r>
                  <a:rPr lang="vi-VN" sz="3200" dirty="0">
                    <a:solidFill>
                      <a:srgbClr val="0000FF"/>
                    </a:solidFill>
                  </a:rPr>
                  <a:t>. 298. 2,303.lg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sz="3200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vi-VN" sz="32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0,01.1</m:t>
                        </m:r>
                      </m:num>
                      <m:den>
                        <m:r>
                          <a:rPr lang="vi-VN" sz="32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[0,1</m:t>
                        </m:r>
                        <m:sSup>
                          <m:sSupPr>
                            <m:ctrlPr>
                              <a:rPr lang="vi-VN" sz="3200" i="1">
                                <a:solidFill>
                                  <a:srgbClr val="0000FF"/>
                                </a:solidFill>
                                <a:latin typeface="Cambria Math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a:rPr lang="vi-VN" sz="3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]</m:t>
                            </m:r>
                          </m:e>
                          <m:sup>
                            <m:r>
                              <a:rPr lang="vi-VN" sz="3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vi-VN" sz="3200" dirty="0">
                    <a:solidFill>
                      <a:srgbClr val="0000FF"/>
                    </a:solidFill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vi-VN" sz="3200" dirty="0">
                    <a:solidFill>
                      <a:srgbClr val="0000FF"/>
                    </a:solidFill>
                    <a:sym typeface="Symbol" panose="05050102010706020507" pitchFamily="18" charset="2"/>
                  </a:rPr>
                  <a:t>G</a:t>
                </a:r>
                <a:r>
                  <a:rPr lang="vi-VN" sz="3200" baseline="-25000" dirty="0">
                    <a:solidFill>
                      <a:srgbClr val="0000FF"/>
                    </a:solidFill>
                    <a:sym typeface="Symbol" panose="05050102010706020507" pitchFamily="18" charset="2"/>
                  </a:rPr>
                  <a:t>298</a:t>
                </a:r>
                <a:r>
                  <a:rPr lang="vi-VN" sz="3200" dirty="0">
                    <a:solidFill>
                      <a:srgbClr val="0000FF"/>
                    </a:solidFill>
                    <a:sym typeface="Symbol" panose="05050102010706020507" pitchFamily="18" charset="2"/>
                  </a:rPr>
                  <a:t> </a:t>
                </a:r>
                <a:r>
                  <a:rPr lang="vi-VN" sz="3200" dirty="0">
                    <a:solidFill>
                      <a:srgbClr val="0000FF"/>
                    </a:solidFill>
                  </a:rPr>
                  <a:t>= -11,4 [kJ] &lt; 0 </a:t>
                </a:r>
                <a:endParaRPr lang="vi-VN" sz="3200" dirty="0"/>
              </a:p>
              <a:p>
                <a:pPr>
                  <a:lnSpc>
                    <a:spcPct val="150000"/>
                  </a:lnSpc>
                </a:pPr>
                <a:r>
                  <a:rPr lang="vi-VN" sz="3200" b="1" i="1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      Phản ứng tự phát theo chiều thuận.</a:t>
                </a:r>
                <a:endParaRPr lang="vi-VN" sz="3200" b="1" i="1" dirty="0">
                  <a:solidFill>
                    <a:srgbClr val="FF0000"/>
                  </a:solidFill>
                </a:endParaRPr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88D453A-8856-4E37-A728-4A7FC84B69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3429000"/>
                <a:ext cx="9018839" cy="3145605"/>
              </a:xfrm>
              <a:prstGeom prst="rect">
                <a:avLst/>
              </a:prstGeom>
              <a:blipFill>
                <a:blip r:embed="rId8"/>
                <a:stretch>
                  <a:fillRect l="-1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8C0E78DC-A5C7-4697-BD02-6FBDD80F5F93}"/>
              </a:ext>
            </a:extLst>
          </p:cNvPr>
          <p:cNvSpPr txBox="1"/>
          <p:nvPr/>
        </p:nvSpPr>
        <p:spPr>
          <a:xfrm>
            <a:off x="-16913" y="1115643"/>
            <a:ext cx="9058719" cy="51206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vi-VN" sz="2800" dirty="0">
                <a:solidFill>
                  <a:srgbClr val="CC00FF"/>
                </a:solidFill>
              </a:rPr>
              <a:t>Tính P</a:t>
            </a:r>
            <a:r>
              <a:rPr lang="vi-VN" sz="2800" baseline="-25000" dirty="0">
                <a:solidFill>
                  <a:srgbClr val="CC00FF"/>
                </a:solidFill>
              </a:rPr>
              <a:t>C</a:t>
            </a:r>
            <a:r>
              <a:rPr lang="vi-VN" sz="2800" dirty="0">
                <a:solidFill>
                  <a:srgbClr val="CC00FF"/>
                </a:solidFill>
              </a:rPr>
              <a:t> để pư tự phát theo chiều nghịch ở 298K. </a:t>
            </a:r>
          </a:p>
          <a:p>
            <a:pPr>
              <a:lnSpc>
                <a:spcPct val="150000"/>
              </a:lnSpc>
            </a:pPr>
            <a:r>
              <a:rPr lang="vi-VN" sz="2800" dirty="0">
                <a:solidFill>
                  <a:srgbClr val="CC00FF"/>
                </a:solidFill>
              </a:rPr>
              <a:t>Cho biết: </a:t>
            </a:r>
            <a:r>
              <a:rPr lang="vi-VN" sz="2800" dirty="0">
                <a:solidFill>
                  <a:srgbClr val="CC00FF"/>
                </a:solidFill>
                <a:sym typeface="Symbol" panose="05050102010706020507" pitchFamily="18" charset="2"/>
              </a:rPr>
              <a:t>[B] = 0,1M; [D] = 0,01M ; K</a:t>
            </a:r>
            <a:r>
              <a:rPr lang="vi-VN" sz="2800" baseline="-25000" dirty="0">
                <a:solidFill>
                  <a:srgbClr val="CC00FF"/>
                </a:solidFill>
                <a:sym typeface="Symbol" panose="05050102010706020507" pitchFamily="18" charset="2"/>
              </a:rPr>
              <a:t>298</a:t>
            </a:r>
            <a:r>
              <a:rPr lang="vi-VN" sz="2800" dirty="0">
                <a:solidFill>
                  <a:srgbClr val="CC00FF"/>
                </a:solidFill>
                <a:sym typeface="Symbol" panose="05050102010706020507" pitchFamily="18" charset="2"/>
              </a:rPr>
              <a:t> = Q</a:t>
            </a:r>
            <a:r>
              <a:rPr lang="vi-VN" sz="2800" baseline="-25000" dirty="0">
                <a:solidFill>
                  <a:srgbClr val="CC00FF"/>
                </a:solidFill>
                <a:sym typeface="Symbol" panose="05050102010706020507" pitchFamily="18" charset="2"/>
              </a:rPr>
              <a:t>cb</a:t>
            </a:r>
            <a:r>
              <a:rPr lang="vi-VN" sz="2800" dirty="0">
                <a:solidFill>
                  <a:srgbClr val="CC00FF"/>
                </a:solidFill>
                <a:sym typeface="Symbol" panose="05050102010706020507" pitchFamily="18" charset="2"/>
              </a:rPr>
              <a:t> =100.</a:t>
            </a:r>
            <a:endParaRPr lang="en-US" sz="2800" dirty="0">
              <a:solidFill>
                <a:srgbClr val="CC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xmlns="" id="{F281620F-9407-4FE9-8B70-DA55FC27EC76}"/>
                  </a:ext>
                </a:extLst>
              </p:cNvPr>
              <p:cNvSpPr txBox="1"/>
              <p:nvPr/>
            </p:nvSpPr>
            <p:spPr>
              <a:xfrm>
                <a:off x="159966" y="2697816"/>
                <a:ext cx="8920207" cy="32842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vi-VN" sz="32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vi-VN" sz="3200" dirty="0" smtClean="0">
                        <a:solidFill>
                          <a:srgbClr val="FF0000"/>
                        </a:solidFill>
                      </a:rPr>
                      <m:t>ư </m:t>
                    </m:r>
                    <m:r>
                      <m:rPr>
                        <m:nor/>
                      </m:rPr>
                      <a:rPr lang="vi-VN" sz="3200" dirty="0" smtClean="0">
                        <a:solidFill>
                          <a:srgbClr val="FF0000"/>
                        </a:solidFill>
                      </a:rPr>
                      <m:t>t</m:t>
                    </m:r>
                    <m:r>
                      <m:rPr>
                        <m:nor/>
                      </m:rPr>
                      <a:rPr lang="vi-VN" sz="3200" dirty="0" smtClean="0">
                        <a:solidFill>
                          <a:srgbClr val="FF0000"/>
                        </a:solidFill>
                      </a:rPr>
                      <m:t>ự </m:t>
                    </m:r>
                    <m:r>
                      <m:rPr>
                        <m:nor/>
                      </m:rPr>
                      <a:rPr lang="vi-VN" sz="3200" dirty="0" smtClean="0">
                        <a:solidFill>
                          <a:srgbClr val="FF0000"/>
                        </a:solidFill>
                      </a:rPr>
                      <m:t>ph</m:t>
                    </m:r>
                    <m:r>
                      <m:rPr>
                        <m:nor/>
                      </m:rPr>
                      <a:rPr lang="vi-VN" sz="3200" dirty="0" smtClean="0">
                        <a:solidFill>
                          <a:srgbClr val="FF0000"/>
                        </a:solidFill>
                      </a:rPr>
                      <m:t>á</m:t>
                    </m:r>
                    <m:r>
                      <m:rPr>
                        <m:nor/>
                      </m:rPr>
                      <a:rPr lang="vi-VN" sz="3200" dirty="0" smtClean="0">
                        <a:solidFill>
                          <a:srgbClr val="FF0000"/>
                        </a:solidFill>
                      </a:rPr>
                      <m:t>t</m:t>
                    </m:r>
                    <m:r>
                      <m:rPr>
                        <m:nor/>
                      </m:rPr>
                      <a:rPr lang="vi-VN" sz="3200" dirty="0" smtClean="0">
                        <a:solidFill>
                          <a:srgbClr val="FF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vi-VN" sz="3200" dirty="0" smtClean="0">
                        <a:solidFill>
                          <a:srgbClr val="FF0000"/>
                        </a:solidFill>
                      </a:rPr>
                      <m:t>theo</m:t>
                    </m:r>
                    <m:r>
                      <m:rPr>
                        <m:nor/>
                      </m:rPr>
                      <a:rPr lang="vi-VN" sz="3200" dirty="0" smtClean="0">
                        <a:solidFill>
                          <a:srgbClr val="FF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vi-VN" sz="3200" dirty="0" smtClean="0">
                        <a:solidFill>
                          <a:srgbClr val="FF0000"/>
                        </a:solidFill>
                      </a:rPr>
                      <m:t>chi</m:t>
                    </m:r>
                    <m:r>
                      <m:rPr>
                        <m:nor/>
                      </m:rPr>
                      <a:rPr lang="vi-VN" sz="3200" dirty="0" smtClean="0">
                        <a:solidFill>
                          <a:srgbClr val="FF0000"/>
                        </a:solidFill>
                      </a:rPr>
                      <m:t>ề</m:t>
                    </m:r>
                    <m:r>
                      <m:rPr>
                        <m:nor/>
                      </m:rPr>
                      <a:rPr lang="vi-VN" sz="3200" dirty="0" smtClean="0">
                        <a:solidFill>
                          <a:srgbClr val="FF0000"/>
                        </a:solidFill>
                      </a:rPr>
                      <m:t>u</m:t>
                    </m:r>
                    <m:r>
                      <m:rPr>
                        <m:nor/>
                      </m:rPr>
                      <a:rPr lang="vi-VN" sz="3200" dirty="0" smtClean="0">
                        <a:solidFill>
                          <a:srgbClr val="FF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vi-VN" sz="3200" dirty="0" smtClean="0">
                        <a:solidFill>
                          <a:srgbClr val="FF0000"/>
                        </a:solidFill>
                      </a:rPr>
                      <m:t>ngh</m:t>
                    </m:r>
                    <m:r>
                      <m:rPr>
                        <m:nor/>
                      </m:rPr>
                      <a:rPr lang="vi-VN" sz="3200" dirty="0" smtClean="0">
                        <a:solidFill>
                          <a:srgbClr val="FF0000"/>
                        </a:solidFill>
                      </a:rPr>
                      <m:t>ị</m:t>
                    </m:r>
                    <m:r>
                      <m:rPr>
                        <m:nor/>
                      </m:rPr>
                      <a:rPr lang="vi-VN" sz="3200" dirty="0" smtClean="0">
                        <a:solidFill>
                          <a:srgbClr val="FF0000"/>
                        </a:solidFill>
                      </a:rPr>
                      <m:t>ch</m:t>
                    </m:r>
                    <m:r>
                      <a:rPr lang="vi-VN" sz="3200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320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m:rPr>
                        <m:sty m:val="p"/>
                      </m:rPr>
                      <a:rPr lang="vi-VN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G</m:t>
                    </m:r>
                    <m:r>
                      <a:rPr lang="vi-VN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vi-VN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RTln</m:t>
                    </m:r>
                    <m:f>
                      <m:fPr>
                        <m:ctrlPr>
                          <a:rPr lang="vi-VN" sz="32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vi-VN" sz="3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Q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vi-VN" sz="3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K</m:t>
                        </m:r>
                      </m:den>
                    </m:f>
                  </m:oMath>
                </a14:m>
                <a:r>
                  <a:rPr lang="vi-VN" sz="3200" dirty="0"/>
                  <a:t> &gt; 0 </a:t>
                </a:r>
                <a14:m>
                  <m:oMath xmlns:m="http://schemas.openxmlformats.org/officeDocument/2006/math">
                    <m:r>
                      <a:rPr lang="vi-VN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                        </m:t>
                    </m:r>
                    <m:r>
                      <a:rPr lang="vi-V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 </m:t>
                    </m:r>
                    <m:f>
                      <m:fPr>
                        <m:ctrlPr>
                          <a:rPr lang="vi-VN" sz="32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vi-VN" sz="32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Q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vi-VN" sz="32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K</m:t>
                        </m:r>
                      </m:den>
                    </m:f>
                    <m:r>
                      <a:rPr lang="vi-VN" sz="32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&gt;1</m:t>
                    </m:r>
                    <m:r>
                      <a:rPr lang="vi-VN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vi-VN" sz="3200" dirty="0"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</m:t>
                    </m:r>
                    <m:r>
                      <m:rPr>
                        <m:nor/>
                      </m:rPr>
                      <a:rPr lang="vi-VN" sz="3200" b="0" dirty="0" smtClean="0"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  </m:t>
                    </m:r>
                    <m:r>
                      <m:rPr>
                        <m:nor/>
                      </m:rPr>
                      <a:rPr lang="vi-VN" sz="3200" dirty="0">
                        <a:ea typeface="Cambria Math" panose="02040503050406030204" pitchFamily="18" charset="0"/>
                      </a:rPr>
                      <m:t>Q</m:t>
                    </m:r>
                    <m:r>
                      <m:rPr>
                        <m:nor/>
                      </m:rPr>
                      <a:rPr lang="vi-VN" sz="3200" dirty="0">
                        <a:ea typeface="Cambria Math" panose="02040503050406030204" pitchFamily="18" charset="0"/>
                      </a:rPr>
                      <m:t> &gt; </m:t>
                    </m:r>
                    <m:r>
                      <m:rPr>
                        <m:nor/>
                      </m:rPr>
                      <a:rPr lang="vi-VN" sz="3200" dirty="0">
                        <a:ea typeface="Cambria Math" panose="02040503050406030204" pitchFamily="18" charset="0"/>
                      </a:rPr>
                      <m:t>K</m:t>
                    </m:r>
                  </m:oMath>
                </a14:m>
                <a:endParaRPr lang="vi-VN" sz="3200" dirty="0"/>
              </a:p>
              <a:p>
                <a:pPr>
                  <a:lnSpc>
                    <a:spcPct val="150000"/>
                  </a:lnSpc>
                </a:pPr>
                <a:r>
                  <a:rPr lang="vi-VN" sz="3200" dirty="0">
                    <a:solidFill>
                      <a:srgbClr val="0000FF"/>
                    </a:solidFill>
                  </a:rPr>
                  <a:t>                     Q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sz="3200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vi-VN" sz="3200" i="1" smtClean="0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vi-VN" sz="32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vi-VN" sz="32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  <m:r>
                          <a:rPr lang="vi-VN" sz="32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.0,01</m:t>
                        </m:r>
                      </m:num>
                      <m:den>
                        <m:sSup>
                          <m:sSupPr>
                            <m:ctrlPr>
                              <a:rPr lang="en-US" sz="3200" b="1" i="1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32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vi-VN" sz="32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vi-VN" sz="32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vi-VN" sz="32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vi-VN" sz="32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a:rPr lang="vi-VN" sz="32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r>
                  <a:rPr lang="vi-VN" sz="3200" dirty="0">
                    <a:solidFill>
                      <a:srgbClr val="0000FF"/>
                    </a:solidFill>
                  </a:rPr>
                  <a:t> &gt; 100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vi-VN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                          </m:t>
                    </m:r>
                    <m:r>
                      <a:rPr lang="vi-VN" sz="3200" b="1" i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 </m:t>
                    </m:r>
                  </m:oMath>
                </a14:m>
                <a:r>
                  <a:rPr lang="vi-VN" sz="3200" b="1" dirty="0">
                    <a:solidFill>
                      <a:srgbClr val="006600"/>
                    </a:solidFill>
                  </a:rPr>
                  <a:t>P</a:t>
                </a:r>
                <a:r>
                  <a:rPr lang="vi-VN" sz="3200" b="1" baseline="-25000" dirty="0">
                    <a:solidFill>
                      <a:srgbClr val="006600"/>
                    </a:solidFill>
                  </a:rPr>
                  <a:t>C</a:t>
                </a:r>
                <a:r>
                  <a:rPr lang="vi-VN" sz="3200" b="1" dirty="0">
                    <a:solidFill>
                      <a:srgbClr val="006600"/>
                    </a:solidFill>
                  </a:rPr>
                  <a:t> &gt; 100 atm</a:t>
                </a:r>
                <a:endParaRPr lang="en-US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281620F-9407-4FE9-8B70-DA55FC27EC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966" y="2697816"/>
                <a:ext cx="8920207" cy="3284232"/>
              </a:xfrm>
              <a:prstGeom prst="rect">
                <a:avLst/>
              </a:prstGeom>
              <a:blipFill>
                <a:blip r:embed="rId9"/>
                <a:stretch>
                  <a:fillRect b="-59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5486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 animBg="1"/>
      <p:bldP spid="15" grpId="0"/>
      <p:bldP spid="3" grpId="0" animBg="1"/>
      <p:bldP spid="7" grpId="0"/>
      <p:bldP spid="13" grpId="0" animBg="1"/>
      <p:bldP spid="6" grpId="0" animBg="1"/>
      <p:bldP spid="9" grpId="0"/>
      <p:bldP spid="16" grpId="0" animBg="1"/>
      <p:bldP spid="1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>
            <a:extLst>
              <a:ext uri="{FF2B5EF4-FFF2-40B4-BE49-F238E27FC236}">
                <a16:creationId xmlns:a16="http://schemas.microsoft.com/office/drawing/2014/main" xmlns="" id="{A4D52681-4A10-4DB7-96D8-810F3A8B07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65088"/>
            <a:ext cx="9144000" cy="1447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800" b="1" dirty="0">
                <a:solidFill>
                  <a:srgbClr val="0000FF"/>
                </a:solidFill>
              </a:rPr>
              <a:t>QUAN HỆ GIỮA </a:t>
            </a:r>
            <a:r>
              <a:rPr lang="en-US" altLang="en-US" sz="2800" b="1" dirty="0" err="1" smtClean="0">
                <a:solidFill>
                  <a:srgbClr val="0000FF"/>
                </a:solidFill>
              </a:rPr>
              <a:t>K</a:t>
            </a:r>
            <a:r>
              <a:rPr lang="en-US" altLang="en-US" sz="2800" b="1" baseline="-25000" dirty="0" err="1" smtClean="0">
                <a:solidFill>
                  <a:srgbClr val="0000FF"/>
                </a:solidFill>
              </a:rPr>
              <a:t>cb</a:t>
            </a:r>
            <a:r>
              <a:rPr lang="en-US" altLang="en-US" sz="2800" b="1" dirty="0" smtClean="0">
                <a:solidFill>
                  <a:srgbClr val="0000FF"/>
                </a:solidFill>
              </a:rPr>
              <a:t> VÀ </a:t>
            </a:r>
            <a:r>
              <a:rPr lang="en-US" altLang="en-US" sz="2800" b="1" dirty="0">
                <a:solidFill>
                  <a:srgbClr val="0000FF"/>
                </a:solidFill>
                <a:sym typeface="Symbol" panose="05050102010706020507" pitchFamily="18" charset="2"/>
              </a:rPr>
              <a:t>G </a:t>
            </a:r>
            <a:r>
              <a:rPr lang="en-US" altLang="en-US" sz="2800" b="1" dirty="0" smtClean="0">
                <a:solidFill>
                  <a:srgbClr val="0000FF"/>
                </a:solidFill>
                <a:sym typeface="Symbol" panose="05050102010706020507" pitchFamily="18" charset="2"/>
              </a:rPr>
              <a:t>CỦA PƯ </a:t>
            </a:r>
            <a:r>
              <a:rPr lang="en-US" altLang="en-US" sz="2800" b="1" dirty="0">
                <a:solidFill>
                  <a:srgbClr val="0000FF"/>
                </a:solidFill>
                <a:sym typeface="Symbol" panose="05050102010706020507" pitchFamily="18" charset="2"/>
              </a:rPr>
              <a:t>ĐỒNG THỂ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800" b="1" dirty="0">
                <a:solidFill>
                  <a:srgbClr val="0000FF"/>
                </a:solidFill>
              </a:rPr>
              <a:t> </a:t>
            </a:r>
            <a:endParaRPr lang="en-US" altLang="en-US" sz="2800" b="1" dirty="0"/>
          </a:p>
          <a:p>
            <a:pPr algn="ctr" eaLnBrk="1" hangingPunct="1">
              <a:lnSpc>
                <a:spcPct val="90000"/>
              </a:lnSpc>
              <a:buFontTx/>
              <a:buNone/>
            </a:pPr>
            <a:endParaRPr lang="en-US" altLang="en-US" sz="3600" b="1" dirty="0"/>
          </a:p>
        </p:txBody>
      </p:sp>
      <p:sp>
        <p:nvSpPr>
          <p:cNvPr id="8196" name="Text Box 4">
            <a:extLst>
              <a:ext uri="{FF2B5EF4-FFF2-40B4-BE49-F238E27FC236}">
                <a16:creationId xmlns:a16="http://schemas.microsoft.com/office/drawing/2014/main" xmlns="" id="{AB38A7EB-6AE4-4EC1-B5F8-8793A46C15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1219200"/>
            <a:ext cx="2590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en-US" altLang="en-US" sz="2400" b="1" dirty="0" err="1">
                <a:solidFill>
                  <a:srgbClr val="FF0000"/>
                </a:solidFill>
              </a:rPr>
              <a:t>Khí</a:t>
            </a:r>
            <a:r>
              <a:rPr lang="en-US" altLang="en-US" sz="2400" b="1" dirty="0">
                <a:solidFill>
                  <a:srgbClr val="FF0000"/>
                </a:solidFill>
              </a:rPr>
              <a:t> </a:t>
            </a:r>
            <a:r>
              <a:rPr lang="en-US" altLang="en-US" sz="2400" b="1" dirty="0" err="1">
                <a:solidFill>
                  <a:srgbClr val="FF0000"/>
                </a:solidFill>
              </a:rPr>
              <a:t>lý</a:t>
            </a:r>
            <a:r>
              <a:rPr lang="en-US" altLang="en-US" sz="2400" b="1" dirty="0">
                <a:solidFill>
                  <a:srgbClr val="FF0000"/>
                </a:solidFill>
              </a:rPr>
              <a:t> </a:t>
            </a:r>
            <a:r>
              <a:rPr lang="en-US" altLang="en-US" sz="2400" b="1" dirty="0" err="1">
                <a:solidFill>
                  <a:srgbClr val="FF0000"/>
                </a:solidFill>
              </a:rPr>
              <a:t>tưởng</a:t>
            </a:r>
            <a:endParaRPr lang="en-US" altLang="en-US" sz="2400" b="1" dirty="0">
              <a:solidFill>
                <a:srgbClr val="FF0000"/>
              </a:solidFill>
            </a:endParaRPr>
          </a:p>
        </p:txBody>
      </p:sp>
      <p:sp>
        <p:nvSpPr>
          <p:cNvPr id="8197" name="Text Box 5">
            <a:extLst>
              <a:ext uri="{FF2B5EF4-FFF2-40B4-BE49-F238E27FC236}">
                <a16:creationId xmlns:a16="http://schemas.microsoft.com/office/drawing/2014/main" xmlns="" id="{FE7C9516-9E8E-4077-B3F7-5E2EA072A4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805" y="624143"/>
            <a:ext cx="7642656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vi-VN" altLang="en-US" sz="2800" dirty="0"/>
              <a:t> </a:t>
            </a:r>
            <a:r>
              <a:rPr lang="en-US" altLang="en-US" sz="2800" dirty="0" err="1"/>
              <a:t>a</a:t>
            </a:r>
            <a:r>
              <a:rPr lang="en-US" altLang="en-US" sz="2800" dirty="0" err="1">
                <a:solidFill>
                  <a:srgbClr val="FF0000"/>
                </a:solidFill>
              </a:rPr>
              <a:t>A</a:t>
            </a:r>
            <a:r>
              <a:rPr lang="en-US" altLang="en-US" sz="2800" dirty="0"/>
              <a:t> </a:t>
            </a:r>
            <a:r>
              <a:rPr lang="vi-VN" altLang="en-US" sz="2800" dirty="0"/>
              <a:t>   </a:t>
            </a:r>
            <a:r>
              <a:rPr lang="en-US" altLang="en-US" sz="2800" dirty="0"/>
              <a:t> </a:t>
            </a:r>
            <a:r>
              <a:rPr lang="vi-VN" altLang="en-US" sz="2800" dirty="0"/>
              <a:t>    </a:t>
            </a:r>
            <a:r>
              <a:rPr lang="en-US" altLang="en-US" sz="2800" dirty="0"/>
              <a:t>+  </a:t>
            </a:r>
            <a:r>
              <a:rPr lang="en-US" altLang="en-US" sz="2800" dirty="0" err="1"/>
              <a:t>b</a:t>
            </a:r>
            <a:r>
              <a:rPr lang="en-US" altLang="en-US" sz="2800" dirty="0" err="1">
                <a:solidFill>
                  <a:srgbClr val="FF0000"/>
                </a:solidFill>
              </a:rPr>
              <a:t>B</a:t>
            </a:r>
            <a:r>
              <a:rPr lang="vi-VN" altLang="en-US" sz="2800" dirty="0">
                <a:solidFill>
                  <a:srgbClr val="FF0000"/>
                </a:solidFill>
              </a:rPr>
              <a:t>     </a:t>
            </a:r>
            <a:r>
              <a:rPr lang="en-US" altLang="en-US" sz="2800" dirty="0"/>
              <a:t> </a:t>
            </a:r>
            <a:r>
              <a:rPr lang="vi-VN" altLang="en-US" sz="2800" dirty="0"/>
              <a:t>   </a:t>
            </a:r>
            <a:r>
              <a:rPr lang="en-US" altLang="en-US" sz="2800" dirty="0"/>
              <a:t> </a:t>
            </a:r>
            <a:r>
              <a:rPr lang="en-US" altLang="en-US" sz="28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⇌</a:t>
            </a:r>
            <a:r>
              <a:rPr lang="en-US" altLang="en-US" sz="2800" dirty="0"/>
              <a:t>  </a:t>
            </a:r>
            <a:r>
              <a:rPr lang="en-US" altLang="en-US" sz="2800" dirty="0" err="1"/>
              <a:t>c</a:t>
            </a:r>
            <a:r>
              <a:rPr lang="en-US" altLang="en-US" sz="2800" dirty="0" err="1">
                <a:solidFill>
                  <a:srgbClr val="FF0000"/>
                </a:solidFill>
              </a:rPr>
              <a:t>C</a:t>
            </a:r>
            <a:r>
              <a:rPr lang="vi-VN" altLang="en-US" sz="2800" dirty="0">
                <a:solidFill>
                  <a:srgbClr val="FF0000"/>
                </a:solidFill>
              </a:rPr>
              <a:t>    </a:t>
            </a:r>
            <a:r>
              <a:rPr lang="en-US" altLang="en-US" sz="2800" dirty="0"/>
              <a:t>  </a:t>
            </a:r>
            <a:r>
              <a:rPr lang="vi-VN" altLang="en-US" sz="2800" dirty="0"/>
              <a:t>    </a:t>
            </a:r>
            <a:r>
              <a:rPr lang="en-US" altLang="en-US" sz="2800" dirty="0"/>
              <a:t>+  </a:t>
            </a:r>
            <a:r>
              <a:rPr lang="en-US" altLang="en-US" sz="2800" dirty="0" err="1"/>
              <a:t>d</a:t>
            </a:r>
            <a:r>
              <a:rPr lang="en-US" altLang="en-US" sz="2800" dirty="0" err="1">
                <a:solidFill>
                  <a:srgbClr val="FF0000"/>
                </a:solidFill>
              </a:rPr>
              <a:t>D</a:t>
            </a:r>
            <a:endParaRPr lang="en-US" altLang="en-US" sz="2800" dirty="0">
              <a:solidFill>
                <a:srgbClr val="FF0000"/>
              </a:solidFill>
            </a:endParaRPr>
          </a:p>
        </p:txBody>
      </p:sp>
      <p:sp>
        <p:nvSpPr>
          <p:cNvPr id="40965" name="Rectangle 6">
            <a:extLst>
              <a:ext uri="{FF2B5EF4-FFF2-40B4-BE49-F238E27FC236}">
                <a16:creationId xmlns:a16="http://schemas.microsoft.com/office/drawing/2014/main" xmlns="" id="{99E0DFD7-E368-4995-8289-8B8EB8D6A9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813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8199" name="Object 7">
            <a:extLst>
              <a:ext uri="{FF2B5EF4-FFF2-40B4-BE49-F238E27FC236}">
                <a16:creationId xmlns:a16="http://schemas.microsoft.com/office/drawing/2014/main" xmlns="" id="{5CD5B5CE-E20E-4AAB-95F8-0D16571B13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0852474"/>
              </p:ext>
            </p:extLst>
          </p:nvPr>
        </p:nvGraphicFramePr>
        <p:xfrm>
          <a:off x="228600" y="2180630"/>
          <a:ext cx="7756525" cy="89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74" name="Equation" r:id="rId4" imgW="4368800" imgH="495300" progId="Equation.3">
                  <p:embed/>
                </p:oleObj>
              </mc:Choice>
              <mc:Fallback>
                <p:oleObj name="Equation" r:id="rId4" imgW="4368800" imgH="4953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180630"/>
                        <a:ext cx="7756525" cy="890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8" name="Rectangle 9">
            <a:extLst>
              <a:ext uri="{FF2B5EF4-FFF2-40B4-BE49-F238E27FC236}">
                <a16:creationId xmlns:a16="http://schemas.microsoft.com/office/drawing/2014/main" xmlns="" id="{6E47F8FD-942B-40F1-9F0B-11AD9F5567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8202" name="Object 10">
            <a:extLst>
              <a:ext uri="{FF2B5EF4-FFF2-40B4-BE49-F238E27FC236}">
                <a16:creationId xmlns:a16="http://schemas.microsoft.com/office/drawing/2014/main" xmlns="" id="{D553D4B5-5531-486D-8EE3-360A1645F9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3724382"/>
              </p:ext>
            </p:extLst>
          </p:nvPr>
        </p:nvGraphicFramePr>
        <p:xfrm>
          <a:off x="222091" y="3096577"/>
          <a:ext cx="5382577" cy="7158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75" name="Equation" r:id="rId6" imgW="2070000" imgH="253800" progId="Equation.3">
                  <p:embed/>
                </p:oleObj>
              </mc:Choice>
              <mc:Fallback>
                <p:oleObj name="Equation" r:id="rId6" imgW="2070000" imgH="2538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091" y="3096577"/>
                        <a:ext cx="5382577" cy="715803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006600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3" name="Text Box 11">
            <a:extLst>
              <a:ext uri="{FF2B5EF4-FFF2-40B4-BE49-F238E27FC236}">
                <a16:creationId xmlns:a16="http://schemas.microsoft.com/office/drawing/2014/main" xmlns="" id="{CC91AB71-4A9F-4BDE-8ADF-C5D8B5A561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3812381"/>
            <a:ext cx="36306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en-US" altLang="en-US" sz="2400" b="1" dirty="0">
                <a:solidFill>
                  <a:srgbClr val="FF0000"/>
                </a:solidFill>
              </a:rPr>
              <a:t>Dung</a:t>
            </a:r>
            <a:r>
              <a:rPr lang="vi-VN" altLang="en-US" sz="2400" b="1" dirty="0">
                <a:solidFill>
                  <a:srgbClr val="FF0000"/>
                </a:solidFill>
              </a:rPr>
              <a:t> </a:t>
            </a:r>
            <a:r>
              <a:rPr lang="en-US" altLang="en-US" sz="2400" b="1" dirty="0" err="1">
                <a:solidFill>
                  <a:srgbClr val="FF0000"/>
                </a:solidFill>
              </a:rPr>
              <a:t>dịch</a:t>
            </a:r>
            <a:r>
              <a:rPr lang="en-US" altLang="en-US" sz="2400" b="1" dirty="0">
                <a:solidFill>
                  <a:srgbClr val="FF0000"/>
                </a:solidFill>
              </a:rPr>
              <a:t> </a:t>
            </a:r>
            <a:r>
              <a:rPr lang="en-US" altLang="en-US" sz="2400" b="1" dirty="0" err="1">
                <a:solidFill>
                  <a:srgbClr val="FF0000"/>
                </a:solidFill>
              </a:rPr>
              <a:t>lỏng</a:t>
            </a:r>
            <a:r>
              <a:rPr lang="en-US" altLang="en-US" sz="2400" b="1" dirty="0">
                <a:solidFill>
                  <a:srgbClr val="FF0000"/>
                </a:solidFill>
              </a:rPr>
              <a:t>,</a:t>
            </a:r>
            <a:r>
              <a:rPr lang="vi-VN" altLang="en-US" sz="2400" b="1" dirty="0">
                <a:solidFill>
                  <a:srgbClr val="FF0000"/>
                </a:solidFill>
              </a:rPr>
              <a:t> </a:t>
            </a:r>
            <a:r>
              <a:rPr lang="en-US" altLang="en-US" sz="2400" b="1" dirty="0" err="1">
                <a:solidFill>
                  <a:srgbClr val="FF0000"/>
                </a:solidFill>
              </a:rPr>
              <a:t>loãng</a:t>
            </a:r>
            <a:endParaRPr lang="en-US" altLang="en-US" sz="2400" b="1" dirty="0">
              <a:solidFill>
                <a:srgbClr val="FF0000"/>
              </a:solidFill>
            </a:endParaRPr>
          </a:p>
        </p:txBody>
      </p:sp>
      <p:sp>
        <p:nvSpPr>
          <p:cNvPr id="40971" name="Rectangle 12">
            <a:extLst>
              <a:ext uri="{FF2B5EF4-FFF2-40B4-BE49-F238E27FC236}">
                <a16:creationId xmlns:a16="http://schemas.microsoft.com/office/drawing/2014/main" xmlns="" id="{ED281CEB-A2FE-4B51-81AC-12BE86C9E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3" y="30813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0974" name="Rectangle 15">
            <a:extLst>
              <a:ext uri="{FF2B5EF4-FFF2-40B4-BE49-F238E27FC236}">
                <a16:creationId xmlns:a16="http://schemas.microsoft.com/office/drawing/2014/main" xmlns="" id="{884AD98A-B36C-498F-8655-30215198AB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8208" name="Object 16">
            <a:extLst>
              <a:ext uri="{FF2B5EF4-FFF2-40B4-BE49-F238E27FC236}">
                <a16:creationId xmlns:a16="http://schemas.microsoft.com/office/drawing/2014/main" xmlns="" id="{1AF5AA45-3528-4ED0-934D-871C3D99C7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1871054"/>
              </p:ext>
            </p:extLst>
          </p:nvPr>
        </p:nvGraphicFramePr>
        <p:xfrm>
          <a:off x="228600" y="5408292"/>
          <a:ext cx="51054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76" name="Equation" r:id="rId8" imgW="2082600" imgH="241200" progId="Equation.3">
                  <p:embed/>
                </p:oleObj>
              </mc:Choice>
              <mc:Fallback>
                <p:oleObj name="Equation" r:id="rId8" imgW="2082600" imgH="2412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5408292"/>
                        <a:ext cx="51054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9" name="Text Box 17">
            <a:extLst>
              <a:ext uri="{FF2B5EF4-FFF2-40B4-BE49-F238E27FC236}">
                <a16:creationId xmlns:a16="http://schemas.microsoft.com/office/drawing/2014/main" xmlns="" id="{3E4B10F0-61B4-45B3-A59D-6381BBD7D6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4042" y="5334000"/>
            <a:ext cx="299067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dirty="0">
                <a:sym typeface="Symbol" panose="05050102010706020507" pitchFamily="18" charset="2"/>
              </a:rPr>
              <a:t> </a:t>
            </a:r>
            <a:r>
              <a:rPr lang="en-US" altLang="en-US" sz="2800" b="1" dirty="0" err="1">
                <a:solidFill>
                  <a:srgbClr val="FF0000"/>
                </a:solidFill>
              </a:rPr>
              <a:t>K</a:t>
            </a:r>
            <a:r>
              <a:rPr lang="en-US" altLang="en-US" sz="2800" b="1" baseline="-25000" dirty="0" err="1">
                <a:solidFill>
                  <a:srgbClr val="FF0000"/>
                </a:solidFill>
              </a:rPr>
              <a:t>c</a:t>
            </a:r>
            <a:r>
              <a:rPr lang="en-US" altLang="en-US" sz="2800" b="1" dirty="0">
                <a:solidFill>
                  <a:srgbClr val="FF0000"/>
                </a:solidFill>
              </a:rPr>
              <a:t> </a:t>
            </a:r>
            <a:r>
              <a:rPr lang="en-US" altLang="en-US" sz="2800" b="1" dirty="0" smtClean="0">
                <a:solidFill>
                  <a:srgbClr val="FF0000"/>
                </a:solidFill>
              </a:rPr>
              <a:t>(T</a:t>
            </a:r>
            <a:r>
              <a:rPr lang="en-US" altLang="en-US" sz="2800" b="1" dirty="0">
                <a:solidFill>
                  <a:srgbClr val="FF0000"/>
                </a:solidFill>
              </a:rPr>
              <a:t>) ; K</a:t>
            </a:r>
            <a:r>
              <a:rPr lang="en-US" altLang="en-US" sz="2800" b="1" baseline="-25000" dirty="0">
                <a:solidFill>
                  <a:srgbClr val="FF0000"/>
                </a:solidFill>
              </a:rPr>
              <a:t>c</a:t>
            </a:r>
            <a:r>
              <a:rPr lang="en-US" altLang="en-US" sz="2800" b="1" dirty="0">
                <a:solidFill>
                  <a:srgbClr val="FF0000"/>
                </a:solidFill>
              </a:rPr>
              <a:t> </a:t>
            </a:r>
            <a:r>
              <a:rPr lang="en-US" alt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 </a:t>
            </a:r>
            <a:r>
              <a:rPr lang="en-US" altLang="en-US" sz="2800" b="1" dirty="0">
                <a:solidFill>
                  <a:srgbClr val="FF0000"/>
                </a:solidFill>
              </a:rPr>
              <a:t>C </a:t>
            </a:r>
          </a:p>
        </p:txBody>
      </p:sp>
      <p:sp>
        <p:nvSpPr>
          <p:cNvPr id="17" name="Text Box 17">
            <a:extLst>
              <a:ext uri="{FF2B5EF4-FFF2-40B4-BE49-F238E27FC236}">
                <a16:creationId xmlns:a16="http://schemas.microsoft.com/office/drawing/2014/main" xmlns="" id="{CEBEFE3C-4839-4C40-BD68-A56042AEC0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9429" y="3096578"/>
            <a:ext cx="342900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dirty="0">
                <a:sym typeface="Symbol" panose="05050102010706020507" pitchFamily="18" charset="2"/>
              </a:rPr>
              <a:t> </a:t>
            </a:r>
            <a:r>
              <a:rPr lang="en-US" altLang="en-US" sz="2800" b="1" dirty="0" err="1">
                <a:solidFill>
                  <a:srgbClr val="FF0000"/>
                </a:solidFill>
                <a:sym typeface="Symbol" panose="05050102010706020507" pitchFamily="18" charset="2"/>
              </a:rPr>
              <a:t>K</a:t>
            </a:r>
            <a:r>
              <a:rPr lang="en-US" altLang="en-US" sz="2800" b="1" baseline="-25000" dirty="0" err="1">
                <a:solidFill>
                  <a:srgbClr val="FF0000"/>
                </a:solidFill>
                <a:sym typeface="Symbol" panose="05050102010706020507" pitchFamily="18" charset="2"/>
              </a:rPr>
              <a:t>p</a:t>
            </a:r>
            <a:r>
              <a:rPr lang="en-US" altLang="en-US" sz="2800" b="1" baseline="-25000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en-US" sz="2800" b="1" dirty="0" smtClean="0">
                <a:solidFill>
                  <a:srgbClr val="FF0000"/>
                </a:solidFill>
                <a:sym typeface="Symbol" panose="05050102010706020507" pitchFamily="18" charset="2"/>
              </a:rPr>
              <a:t>(</a:t>
            </a:r>
            <a:r>
              <a:rPr lang="en-US" alt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T) </a:t>
            </a:r>
            <a:r>
              <a:rPr lang="en-US" altLang="en-US" sz="2800" b="1" dirty="0" smtClean="0">
                <a:solidFill>
                  <a:srgbClr val="FF0000"/>
                </a:solidFill>
                <a:sym typeface="Symbol" panose="05050102010706020507" pitchFamily="18" charset="2"/>
              </a:rPr>
              <a:t>; </a:t>
            </a:r>
            <a:r>
              <a:rPr lang="en-US" altLang="en-US" sz="2800" b="1" dirty="0" err="1">
                <a:solidFill>
                  <a:srgbClr val="FF0000"/>
                </a:solidFill>
              </a:rPr>
              <a:t>K</a:t>
            </a:r>
            <a:r>
              <a:rPr lang="en-US" altLang="en-US" sz="2800" b="1" baseline="-25000" dirty="0" err="1">
                <a:solidFill>
                  <a:srgbClr val="FF0000"/>
                </a:solidFill>
              </a:rPr>
              <a:t>p</a:t>
            </a:r>
            <a:r>
              <a:rPr lang="en-US" altLang="en-US" sz="2800" b="1" dirty="0">
                <a:solidFill>
                  <a:srgbClr val="FF0000"/>
                </a:solidFill>
              </a:rPr>
              <a:t> </a:t>
            </a:r>
            <a:r>
              <a:rPr lang="en-US" altLang="en-US" sz="2800" b="1" dirty="0" smtClean="0">
                <a:solidFill>
                  <a:srgbClr val="FF0000"/>
                </a:solidFill>
                <a:sym typeface="Symbol" panose="05050102010706020507" pitchFamily="18" charset="2"/>
              </a:rPr>
              <a:t> </a:t>
            </a:r>
            <a:r>
              <a:rPr lang="en-US" alt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p</a:t>
            </a:r>
            <a:endParaRPr lang="en-US" altLang="en-US" sz="2800" b="1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EFD6265-3410-4600-8D9E-AEC1EFF1A7BF}"/>
              </a:ext>
            </a:extLst>
          </p:cNvPr>
          <p:cNvSpPr txBox="1"/>
          <p:nvPr/>
        </p:nvSpPr>
        <p:spPr>
          <a:xfrm>
            <a:off x="1447799" y="615480"/>
            <a:ext cx="6635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>
                <a:solidFill>
                  <a:srgbClr val="0000FF"/>
                </a:solidFill>
              </a:rPr>
              <a:t>(k)</a:t>
            </a:r>
            <a:endParaRPr lang="en-US" sz="2800" dirty="0">
              <a:solidFill>
                <a:srgbClr val="0000FF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9BA60F9B-802C-440F-8D11-3D68996A7FB7}"/>
              </a:ext>
            </a:extLst>
          </p:cNvPr>
          <p:cNvSpPr txBox="1"/>
          <p:nvPr/>
        </p:nvSpPr>
        <p:spPr>
          <a:xfrm>
            <a:off x="3169126" y="626190"/>
            <a:ext cx="6635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>
                <a:solidFill>
                  <a:srgbClr val="0000FF"/>
                </a:solidFill>
              </a:rPr>
              <a:t>(k)</a:t>
            </a:r>
            <a:endParaRPr lang="en-US" sz="2800" dirty="0">
              <a:solidFill>
                <a:srgbClr val="0000FF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47A3CBB2-6BE7-4B92-99C1-F0B8277AA3C8}"/>
              </a:ext>
            </a:extLst>
          </p:cNvPr>
          <p:cNvSpPr txBox="1"/>
          <p:nvPr/>
        </p:nvSpPr>
        <p:spPr>
          <a:xfrm>
            <a:off x="6858000" y="600628"/>
            <a:ext cx="6635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>
                <a:solidFill>
                  <a:srgbClr val="0000FF"/>
                </a:solidFill>
              </a:rPr>
              <a:t>(k)</a:t>
            </a:r>
            <a:endParaRPr lang="en-US" sz="2800" dirty="0">
              <a:solidFill>
                <a:srgbClr val="0000FF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5AD47B63-9828-4FD5-B987-144E3F51FF29}"/>
              </a:ext>
            </a:extLst>
          </p:cNvPr>
          <p:cNvSpPr txBox="1"/>
          <p:nvPr/>
        </p:nvSpPr>
        <p:spPr>
          <a:xfrm>
            <a:off x="5105399" y="620036"/>
            <a:ext cx="6635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>
                <a:solidFill>
                  <a:srgbClr val="0000FF"/>
                </a:solidFill>
              </a:rPr>
              <a:t>(k)</a:t>
            </a:r>
            <a:endParaRPr lang="en-US" sz="2800" dirty="0">
              <a:solidFill>
                <a:srgbClr val="0000FF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DEEF54B3-3EA7-48AA-B1F5-D46BAEEDE186}"/>
              </a:ext>
            </a:extLst>
          </p:cNvPr>
          <p:cNvSpPr txBox="1"/>
          <p:nvPr/>
        </p:nvSpPr>
        <p:spPr>
          <a:xfrm>
            <a:off x="3173095" y="624143"/>
            <a:ext cx="85371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vi-VN" sz="2800" dirty="0">
                <a:solidFill>
                  <a:srgbClr val="CC00FF"/>
                </a:solidFill>
              </a:rPr>
              <a:t>(dd)</a:t>
            </a:r>
            <a:endParaRPr lang="en-US" sz="2800" dirty="0">
              <a:solidFill>
                <a:srgbClr val="CC00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FAF8AFFB-9CF5-44F1-9135-A9618BF77652}"/>
              </a:ext>
            </a:extLst>
          </p:cNvPr>
          <p:cNvSpPr txBox="1"/>
          <p:nvPr/>
        </p:nvSpPr>
        <p:spPr>
          <a:xfrm>
            <a:off x="1469072" y="615480"/>
            <a:ext cx="85371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vi-VN" sz="2800" dirty="0">
                <a:solidFill>
                  <a:srgbClr val="CC00FF"/>
                </a:solidFill>
              </a:rPr>
              <a:t>(dd)</a:t>
            </a:r>
            <a:endParaRPr lang="en-US" sz="2800" dirty="0">
              <a:solidFill>
                <a:srgbClr val="CC00FF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0688B932-4B4F-4D1C-8759-0F4962A3E9BD}"/>
              </a:ext>
            </a:extLst>
          </p:cNvPr>
          <p:cNvSpPr txBox="1"/>
          <p:nvPr/>
        </p:nvSpPr>
        <p:spPr>
          <a:xfrm>
            <a:off x="5010330" y="611988"/>
            <a:ext cx="85371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vi-VN" sz="2800" dirty="0">
                <a:solidFill>
                  <a:srgbClr val="CC00FF"/>
                </a:solidFill>
              </a:rPr>
              <a:t>(dd)</a:t>
            </a:r>
            <a:endParaRPr lang="en-US" sz="2800" dirty="0">
              <a:solidFill>
                <a:srgbClr val="CC00FF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3FCB7014-46BF-4936-A313-279BDBAB9D3C}"/>
              </a:ext>
            </a:extLst>
          </p:cNvPr>
          <p:cNvSpPr txBox="1"/>
          <p:nvPr/>
        </p:nvSpPr>
        <p:spPr>
          <a:xfrm>
            <a:off x="6900977" y="600456"/>
            <a:ext cx="85371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vi-VN" sz="2800" dirty="0">
                <a:solidFill>
                  <a:srgbClr val="CC00FF"/>
                </a:solidFill>
              </a:rPr>
              <a:t>(dd)</a:t>
            </a:r>
            <a:endParaRPr lang="en-US" sz="2800" dirty="0">
              <a:solidFill>
                <a:srgbClr val="CC00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33DA2EA-1DCB-46A5-9612-EB697AF2F2CB}"/>
              </a:ext>
            </a:extLst>
          </p:cNvPr>
          <p:cNvSpPr txBox="1"/>
          <p:nvPr/>
        </p:nvSpPr>
        <p:spPr>
          <a:xfrm>
            <a:off x="8382000" y="285831"/>
            <a:ext cx="2739996" cy="68071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endParaRPr lang="en-US" dirty="0"/>
          </a:p>
        </p:txBody>
      </p:sp>
      <p:graphicFrame>
        <p:nvGraphicFramePr>
          <p:cNvPr id="31" name="Object 7">
            <a:extLst>
              <a:ext uri="{FF2B5EF4-FFF2-40B4-BE49-F238E27FC236}">
                <a16:creationId xmlns:a16="http://schemas.microsoft.com/office/drawing/2014/main" xmlns="" id="{2A0E6174-1A0E-4714-BC3E-7902B07B53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766615"/>
              </p:ext>
            </p:extLst>
          </p:nvPr>
        </p:nvGraphicFramePr>
        <p:xfrm>
          <a:off x="2342571" y="1099778"/>
          <a:ext cx="4298362" cy="7290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77" name="Equation" r:id="rId10" imgW="2933640" imgH="495000" progId="Equation.3">
                  <p:embed/>
                </p:oleObj>
              </mc:Choice>
              <mc:Fallback>
                <p:oleObj name="Equation" r:id="rId10" imgW="2933640" imgH="495000" progId="Equation.3">
                  <p:embed/>
                  <p:pic>
                    <p:nvPicPr>
                      <p:cNvPr id="8199" name="Object 7">
                        <a:extLst>
                          <a:ext uri="{FF2B5EF4-FFF2-40B4-BE49-F238E27FC236}">
                            <a16:creationId xmlns:a16="http://schemas.microsoft.com/office/drawing/2014/main" xmlns="" id="{5CD5B5CE-E20E-4AAB-95F8-0D16571B13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2571" y="1099778"/>
                        <a:ext cx="4298362" cy="72902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11">
            <a:extLst>
              <a:ext uri="{FF2B5EF4-FFF2-40B4-BE49-F238E27FC236}">
                <a16:creationId xmlns:a16="http://schemas.microsoft.com/office/drawing/2014/main" xmlns="" id="{3F1237FD-08BE-4CB6-802A-C3FA859F68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0201008"/>
              </p:ext>
            </p:extLst>
          </p:nvPr>
        </p:nvGraphicFramePr>
        <p:xfrm>
          <a:off x="7112545" y="1219200"/>
          <a:ext cx="1629248" cy="5061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78" name="Equation" r:id="rId12" imgW="990170" imgH="266584" progId="Equation.3">
                  <p:embed/>
                </p:oleObj>
              </mc:Choice>
              <mc:Fallback>
                <p:oleObj name="Equation" r:id="rId12" imgW="990170" imgH="266584" progId="Equation.3">
                  <p:embed/>
                  <p:pic>
                    <p:nvPicPr>
                      <p:cNvPr id="7179" name="Object 11">
                        <a:extLst>
                          <a:ext uri="{FF2B5EF4-FFF2-40B4-BE49-F238E27FC236}">
                            <a16:creationId xmlns:a16="http://schemas.microsoft.com/office/drawing/2014/main" xmlns="" id="{A0355268-3323-4896-81F7-14FC1FCB9C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2545" y="1219200"/>
                        <a:ext cx="1629248" cy="506121"/>
                      </a:xfrm>
                      <a:prstGeom prst="rect">
                        <a:avLst/>
                      </a:prstGeom>
                      <a:noFill/>
                      <a:ln w="254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0A85BFA-4FBF-40D9-B299-A7475B5929DA}"/>
              </a:ext>
            </a:extLst>
          </p:cNvPr>
          <p:cNvSpPr txBox="1"/>
          <p:nvPr/>
        </p:nvSpPr>
        <p:spPr>
          <a:xfrm>
            <a:off x="5604669" y="3916582"/>
            <a:ext cx="1723164" cy="105250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33" name="Object 13">
            <a:extLst>
              <a:ext uri="{FF2B5EF4-FFF2-40B4-BE49-F238E27FC236}">
                <a16:creationId xmlns:a16="http://schemas.microsoft.com/office/drawing/2014/main" xmlns="" id="{4F547661-F258-4C89-B30E-37729EF8FD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681901"/>
              </p:ext>
            </p:extLst>
          </p:nvPr>
        </p:nvGraphicFramePr>
        <p:xfrm>
          <a:off x="308293" y="4343400"/>
          <a:ext cx="6369050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79" name="Equation" r:id="rId14" imgW="3619440" imgH="495000" progId="Equation.3">
                  <p:embed/>
                </p:oleObj>
              </mc:Choice>
              <mc:Fallback>
                <p:oleObj name="Equation" r:id="rId14" imgW="3619440" imgH="495000" progId="Equation.3">
                  <p:embed/>
                  <p:pic>
                    <p:nvPicPr>
                      <p:cNvPr id="8205" name="Object 13">
                        <a:extLst>
                          <a:ext uri="{FF2B5EF4-FFF2-40B4-BE49-F238E27FC236}">
                            <a16:creationId xmlns:a16="http://schemas.microsoft.com/office/drawing/2014/main" xmlns="" id="{0CC9C700-5219-466E-BEE6-0380B3E2C9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293" y="4343400"/>
                        <a:ext cx="6369050" cy="8731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800600" y="1676400"/>
            <a:ext cx="3799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C00000"/>
                </a:solidFill>
                <a:sym typeface="Symbol"/>
              </a:rPr>
              <a:t>n = 0  </a:t>
            </a:r>
            <a:r>
              <a:rPr lang="en-US" sz="2400" dirty="0" err="1" smtClean="0">
                <a:solidFill>
                  <a:srgbClr val="C00000"/>
                </a:solidFill>
                <a:sym typeface="Symbol"/>
              </a:rPr>
              <a:t>Q</a:t>
            </a:r>
            <a:r>
              <a:rPr lang="en-US" sz="2400" baseline="-25000" dirty="0" err="1" smtClean="0">
                <a:solidFill>
                  <a:srgbClr val="C00000"/>
                </a:solidFill>
                <a:sym typeface="Symbol"/>
              </a:rPr>
              <a:t>p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 = Q</a:t>
            </a:r>
            <a:r>
              <a:rPr lang="en-US" sz="2400" baseline="-25000" dirty="0" smtClean="0">
                <a:solidFill>
                  <a:srgbClr val="C00000"/>
                </a:solidFill>
                <a:sym typeface="Symbol"/>
              </a:rPr>
              <a:t>c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 ; </a:t>
            </a:r>
            <a:r>
              <a:rPr lang="en-US" sz="2400" dirty="0" err="1" smtClean="0">
                <a:solidFill>
                  <a:srgbClr val="C00000"/>
                </a:solidFill>
                <a:sym typeface="Symbol"/>
              </a:rPr>
              <a:t>K</a:t>
            </a:r>
            <a:r>
              <a:rPr lang="en-US" sz="2400" baseline="-25000" dirty="0" err="1" smtClean="0">
                <a:solidFill>
                  <a:srgbClr val="C00000"/>
                </a:solidFill>
                <a:sym typeface="Symbol"/>
              </a:rPr>
              <a:t>p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 = </a:t>
            </a:r>
            <a:r>
              <a:rPr lang="en-US" sz="2400" dirty="0" err="1" smtClean="0">
                <a:solidFill>
                  <a:srgbClr val="C00000"/>
                </a:solidFill>
                <a:sym typeface="Symbol"/>
              </a:rPr>
              <a:t>K</a:t>
            </a:r>
            <a:r>
              <a:rPr lang="en-US" sz="2400" baseline="-25000" dirty="0" err="1" smtClean="0">
                <a:solidFill>
                  <a:srgbClr val="C00000"/>
                </a:solidFill>
                <a:sym typeface="Symbol"/>
              </a:rPr>
              <a:t>c</a:t>
            </a:r>
            <a:endParaRPr lang="en-US" sz="24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6" grpId="0"/>
      <p:bldP spid="8203" grpId="0"/>
      <p:bldP spid="8209" grpId="0"/>
      <p:bldP spid="17" grpId="0"/>
      <p:bldP spid="2" grpId="0"/>
      <p:bldP spid="19" grpId="0"/>
      <p:bldP spid="20" grpId="0"/>
      <p:bldP spid="21" grpId="0"/>
      <p:bldP spid="22" grpId="0" animBg="1"/>
      <p:bldP spid="23" grpId="0" animBg="1"/>
      <p:bldP spid="24" grpId="0" animBg="1"/>
      <p:bldP spid="25" grpId="0" animBg="1"/>
      <p:bldP spid="5" grpId="0" animBg="1"/>
      <p:bldP spid="6" grpId="0" animBg="1"/>
      <p:bldP spid="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xmlns="" id="{75449956-4940-470F-9A7B-A6C6958085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229600" cy="639763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rgbClr val="FF0000"/>
                </a:solidFill>
              </a:rPr>
              <a:t>NHẬN XÉT </a:t>
            </a:r>
            <a:r>
              <a:rPr lang="en-US" altLang="en-US" sz="3600" b="1" dirty="0" err="1">
                <a:solidFill>
                  <a:srgbClr val="FF0000"/>
                </a:solidFill>
              </a:rPr>
              <a:t>về</a:t>
            </a:r>
            <a:r>
              <a:rPr lang="en-US" altLang="en-US" sz="3600" b="1" dirty="0">
                <a:solidFill>
                  <a:srgbClr val="FF0000"/>
                </a:solidFill>
              </a:rPr>
              <a:t> </a:t>
            </a:r>
            <a:r>
              <a:rPr lang="en-US" altLang="en-US" sz="3600" b="1" dirty="0" err="1">
                <a:solidFill>
                  <a:srgbClr val="FF0000"/>
                </a:solidFill>
              </a:rPr>
              <a:t>K</a:t>
            </a:r>
            <a:r>
              <a:rPr lang="en-US" altLang="en-US" sz="3600" b="1" baseline="-25000" dirty="0" err="1">
                <a:solidFill>
                  <a:srgbClr val="FF0000"/>
                </a:solidFill>
              </a:rPr>
              <a:t>p</a:t>
            </a:r>
            <a:r>
              <a:rPr lang="en-US" altLang="en-US" sz="3600" b="1" dirty="0">
                <a:solidFill>
                  <a:srgbClr val="FF0000"/>
                </a:solidFill>
              </a:rPr>
              <a:t> </a:t>
            </a:r>
            <a:r>
              <a:rPr lang="en-US" altLang="en-US" sz="3600" b="1" dirty="0" err="1">
                <a:solidFill>
                  <a:srgbClr val="FF0000"/>
                </a:solidFill>
              </a:rPr>
              <a:t>và</a:t>
            </a:r>
            <a:r>
              <a:rPr lang="en-US" altLang="en-US" sz="3600" b="1" dirty="0">
                <a:solidFill>
                  <a:srgbClr val="FF0000"/>
                </a:solidFill>
              </a:rPr>
              <a:t> </a:t>
            </a:r>
            <a:r>
              <a:rPr lang="en-US" altLang="en-US" sz="3600" b="1" dirty="0" err="1">
                <a:solidFill>
                  <a:srgbClr val="FF0000"/>
                </a:solidFill>
              </a:rPr>
              <a:t>K</a:t>
            </a:r>
            <a:r>
              <a:rPr lang="en-US" altLang="en-US" sz="3600" b="1" baseline="-25000" dirty="0" err="1">
                <a:solidFill>
                  <a:srgbClr val="FF0000"/>
                </a:solidFill>
              </a:rPr>
              <a:t>c</a:t>
            </a:r>
            <a:endParaRPr lang="en-US" altLang="en-US" sz="3600" b="1" baseline="-25000" dirty="0">
              <a:solidFill>
                <a:srgbClr val="FF0000"/>
              </a:solidFill>
            </a:endParaRP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xmlns="" id="{0D12CE2A-0C16-4026-B4E7-141A592465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437" y="687313"/>
            <a:ext cx="8945563" cy="1371600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buFontTx/>
              <a:buNone/>
            </a:pPr>
            <a:r>
              <a:rPr lang="en-US" altLang="en-US" sz="2800" dirty="0" err="1">
                <a:solidFill>
                  <a:srgbClr val="CC00FF"/>
                </a:solidFill>
              </a:rPr>
              <a:t>Là</a:t>
            </a:r>
            <a:r>
              <a:rPr lang="en-US" altLang="en-US" sz="2800" dirty="0">
                <a:solidFill>
                  <a:srgbClr val="CC00FF"/>
                </a:solidFill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</a:rPr>
              <a:t>hằng</a:t>
            </a:r>
            <a:r>
              <a:rPr lang="en-US" altLang="en-US" sz="2800" dirty="0">
                <a:solidFill>
                  <a:srgbClr val="CC00FF"/>
                </a:solidFill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</a:rPr>
              <a:t>số</a:t>
            </a:r>
            <a:r>
              <a:rPr lang="en-US" altLang="en-US" sz="2800" dirty="0">
                <a:solidFill>
                  <a:srgbClr val="CC00FF"/>
                </a:solidFill>
              </a:rPr>
              <a:t> ở </a:t>
            </a:r>
            <a:r>
              <a:rPr lang="en-US" altLang="en-US" sz="2800" dirty="0" err="1">
                <a:solidFill>
                  <a:srgbClr val="CC00FF"/>
                </a:solidFill>
              </a:rPr>
              <a:t>nhiệt</a:t>
            </a:r>
            <a:r>
              <a:rPr lang="en-US" altLang="en-US" sz="2800" dirty="0">
                <a:solidFill>
                  <a:srgbClr val="CC00FF"/>
                </a:solidFill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</a:rPr>
              <a:t>độ</a:t>
            </a:r>
            <a:r>
              <a:rPr lang="en-US" altLang="en-US" sz="2800" dirty="0">
                <a:solidFill>
                  <a:srgbClr val="CC00FF"/>
                </a:solidFill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</a:rPr>
              <a:t>nhất</a:t>
            </a:r>
            <a:r>
              <a:rPr lang="en-US" altLang="en-US" sz="2800" dirty="0">
                <a:solidFill>
                  <a:srgbClr val="CC00FF"/>
                </a:solidFill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</a:rPr>
              <a:t>định</a:t>
            </a:r>
            <a:r>
              <a:rPr lang="en-US" altLang="en-US" sz="2800" dirty="0">
                <a:solidFill>
                  <a:srgbClr val="CC00FF"/>
                </a:solidFill>
              </a:rPr>
              <a:t>, </a:t>
            </a:r>
            <a:r>
              <a:rPr lang="en-US" altLang="en-US" sz="2800" dirty="0" err="1">
                <a:solidFill>
                  <a:srgbClr val="CC00FF"/>
                </a:solidFill>
              </a:rPr>
              <a:t>chỉ</a:t>
            </a:r>
            <a:r>
              <a:rPr lang="en-US" altLang="en-US" sz="2800" dirty="0">
                <a:solidFill>
                  <a:srgbClr val="CC00FF"/>
                </a:solidFill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</a:rPr>
              <a:t>phụ</a:t>
            </a:r>
            <a:r>
              <a:rPr lang="en-US" altLang="en-US" sz="2800" dirty="0">
                <a:solidFill>
                  <a:srgbClr val="CC00FF"/>
                </a:solidFill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</a:rPr>
              <a:t>thuộc</a:t>
            </a:r>
            <a:r>
              <a:rPr lang="en-US" altLang="en-US" sz="2800" dirty="0">
                <a:solidFill>
                  <a:srgbClr val="CC00FF"/>
                </a:solidFill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</a:rPr>
              <a:t>vào</a:t>
            </a:r>
            <a:r>
              <a:rPr lang="en-US" altLang="en-US" sz="2800" dirty="0">
                <a:solidFill>
                  <a:srgbClr val="CC00FF"/>
                </a:solidFill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</a:rPr>
              <a:t>bản</a:t>
            </a:r>
            <a:r>
              <a:rPr lang="en-US" altLang="en-US" sz="2800" dirty="0">
                <a:solidFill>
                  <a:srgbClr val="CC00FF"/>
                </a:solidFill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</a:rPr>
              <a:t>chất</a:t>
            </a:r>
            <a:r>
              <a:rPr lang="en-US" altLang="en-US" sz="2800" dirty="0">
                <a:solidFill>
                  <a:srgbClr val="CC00FF"/>
                </a:solidFill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</a:rPr>
              <a:t>pư</a:t>
            </a:r>
            <a:r>
              <a:rPr lang="en-US" altLang="en-US" sz="2800" dirty="0">
                <a:solidFill>
                  <a:srgbClr val="CC00FF"/>
                </a:solidFill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</a:rPr>
              <a:t>và</a:t>
            </a:r>
            <a:r>
              <a:rPr lang="en-US" altLang="en-US" sz="2800" dirty="0">
                <a:solidFill>
                  <a:srgbClr val="CC00FF"/>
                </a:solidFill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</a:rPr>
              <a:t>nhiệt</a:t>
            </a:r>
            <a:r>
              <a:rPr lang="en-US" altLang="en-US" sz="2800" dirty="0">
                <a:solidFill>
                  <a:srgbClr val="CC00FF"/>
                </a:solidFill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</a:rPr>
              <a:t>độ</a:t>
            </a:r>
            <a:r>
              <a:rPr lang="en-US" altLang="en-US" sz="2800" dirty="0">
                <a:solidFill>
                  <a:srgbClr val="CC00FF"/>
                </a:solidFill>
              </a:rPr>
              <a:t>, </a:t>
            </a:r>
            <a:r>
              <a:rPr lang="en-US" altLang="en-US" sz="2800" dirty="0" err="1">
                <a:solidFill>
                  <a:srgbClr val="CC00FF"/>
                </a:solidFill>
              </a:rPr>
              <a:t>chứ</a:t>
            </a:r>
            <a:r>
              <a:rPr lang="en-US" altLang="en-US" sz="2800" dirty="0">
                <a:solidFill>
                  <a:srgbClr val="CC00FF"/>
                </a:solidFill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</a:rPr>
              <a:t>không</a:t>
            </a:r>
            <a:r>
              <a:rPr lang="en-US" altLang="en-US" sz="2800" dirty="0">
                <a:solidFill>
                  <a:srgbClr val="CC00FF"/>
                </a:solidFill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</a:rPr>
              <a:t>phụ</a:t>
            </a:r>
            <a:r>
              <a:rPr lang="en-US" altLang="en-US" sz="2800" dirty="0">
                <a:solidFill>
                  <a:srgbClr val="CC00FF"/>
                </a:solidFill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</a:rPr>
              <a:t>thuộc</a:t>
            </a:r>
            <a:r>
              <a:rPr lang="en-US" altLang="en-US" sz="2800" dirty="0">
                <a:solidFill>
                  <a:srgbClr val="CC00FF"/>
                </a:solidFill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</a:rPr>
              <a:t>vào</a:t>
            </a:r>
            <a:r>
              <a:rPr lang="en-US" altLang="en-US" sz="2800" dirty="0">
                <a:solidFill>
                  <a:srgbClr val="CC00FF"/>
                </a:solidFill>
              </a:rPr>
              <a:t> </a:t>
            </a:r>
            <a:r>
              <a:rPr lang="en-US" altLang="en-US" sz="2800" u="sng" dirty="0" err="1">
                <a:solidFill>
                  <a:srgbClr val="CC00FF"/>
                </a:solidFill>
              </a:rPr>
              <a:t>nồng</a:t>
            </a:r>
            <a:r>
              <a:rPr lang="en-US" altLang="en-US" sz="2800" u="sng" dirty="0">
                <a:solidFill>
                  <a:srgbClr val="CC00FF"/>
                </a:solidFill>
              </a:rPr>
              <a:t> </a:t>
            </a:r>
            <a:r>
              <a:rPr lang="en-US" altLang="en-US" sz="2800" u="sng" dirty="0" err="1">
                <a:solidFill>
                  <a:srgbClr val="CC00FF"/>
                </a:solidFill>
              </a:rPr>
              <a:t>độ</a:t>
            </a:r>
            <a:r>
              <a:rPr lang="en-US" altLang="en-US" sz="2800" u="sng" dirty="0">
                <a:solidFill>
                  <a:srgbClr val="CC00FF"/>
                </a:solidFill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</a:rPr>
              <a:t>hoặc</a:t>
            </a:r>
            <a:r>
              <a:rPr lang="en-US" altLang="en-US" sz="2800" dirty="0">
                <a:solidFill>
                  <a:srgbClr val="CC00FF"/>
                </a:solidFill>
              </a:rPr>
              <a:t> </a:t>
            </a:r>
            <a:r>
              <a:rPr lang="en-US" altLang="en-US" sz="2800" u="sng" dirty="0" err="1">
                <a:solidFill>
                  <a:srgbClr val="CC00FF"/>
                </a:solidFill>
              </a:rPr>
              <a:t>áp</a:t>
            </a:r>
            <a:r>
              <a:rPr lang="en-US" altLang="en-US" sz="2800" u="sng" dirty="0">
                <a:solidFill>
                  <a:srgbClr val="CC00FF"/>
                </a:solidFill>
              </a:rPr>
              <a:t> </a:t>
            </a:r>
            <a:r>
              <a:rPr lang="en-US" altLang="en-US" sz="2800" u="sng" dirty="0" err="1">
                <a:solidFill>
                  <a:srgbClr val="CC00FF"/>
                </a:solidFill>
              </a:rPr>
              <a:t>suất</a:t>
            </a:r>
            <a:r>
              <a:rPr lang="en-US" altLang="en-US" sz="2800" u="sng" dirty="0">
                <a:solidFill>
                  <a:srgbClr val="CC00FF"/>
                </a:solidFill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</a:rPr>
              <a:t>riêng</a:t>
            </a:r>
            <a:r>
              <a:rPr lang="en-US" altLang="en-US" sz="2800" dirty="0">
                <a:solidFill>
                  <a:srgbClr val="CC00FF"/>
                </a:solidFill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</a:rPr>
              <a:t>phần</a:t>
            </a:r>
            <a:r>
              <a:rPr lang="en-US" altLang="en-US" sz="2800" dirty="0">
                <a:solidFill>
                  <a:srgbClr val="CC00FF"/>
                </a:solidFill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</a:rPr>
              <a:t>của</a:t>
            </a:r>
            <a:r>
              <a:rPr lang="en-US" altLang="en-US" sz="2800" dirty="0">
                <a:solidFill>
                  <a:srgbClr val="CC00FF"/>
                </a:solidFill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</a:rPr>
              <a:t>chất</a:t>
            </a:r>
            <a:r>
              <a:rPr lang="en-US" altLang="en-US" sz="2800" dirty="0">
                <a:solidFill>
                  <a:srgbClr val="CC00FF"/>
                </a:solidFill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</a:rPr>
              <a:t>pư</a:t>
            </a:r>
            <a:r>
              <a:rPr lang="en-US" altLang="en-US" sz="2800" dirty="0">
                <a:solidFill>
                  <a:srgbClr val="CC00FF"/>
                </a:solidFill>
              </a:rPr>
              <a:t> ở </a:t>
            </a:r>
            <a:r>
              <a:rPr lang="en-US" altLang="en-US" sz="2800" dirty="0" err="1">
                <a:solidFill>
                  <a:srgbClr val="CC00FF"/>
                </a:solidFill>
              </a:rPr>
              <a:t>cân</a:t>
            </a:r>
            <a:r>
              <a:rPr lang="en-US" altLang="en-US" sz="2800" dirty="0">
                <a:solidFill>
                  <a:srgbClr val="CC00FF"/>
                </a:solidFill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</a:rPr>
              <a:t>bằng</a:t>
            </a:r>
            <a:r>
              <a:rPr lang="en-US" altLang="en-US" sz="2800" dirty="0">
                <a:solidFill>
                  <a:srgbClr val="CC00FF"/>
                </a:solidFill>
              </a:rPr>
              <a:t>.</a:t>
            </a:r>
          </a:p>
        </p:txBody>
      </p:sp>
      <p:sp>
        <p:nvSpPr>
          <p:cNvPr id="43012" name="Text Box 4">
            <a:extLst>
              <a:ext uri="{FF2B5EF4-FFF2-40B4-BE49-F238E27FC236}">
                <a16:creationId xmlns:a16="http://schemas.microsoft.com/office/drawing/2014/main" xmlns="" id="{14314EEF-B6B1-4F83-8AA7-A4491895A3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852841"/>
            <a:ext cx="914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dirty="0"/>
              <a:t>  </a:t>
            </a:r>
            <a:r>
              <a:rPr lang="en-US" altLang="en-US" sz="2800" dirty="0" err="1">
                <a:solidFill>
                  <a:srgbClr val="FF0000"/>
                </a:solidFill>
              </a:rPr>
              <a:t>Phụ</a:t>
            </a:r>
            <a:r>
              <a:rPr lang="en-US" altLang="en-US" sz="2800" dirty="0">
                <a:solidFill>
                  <a:srgbClr val="FF0000"/>
                </a:solidFill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</a:rPr>
              <a:t>thuộc</a:t>
            </a:r>
            <a:r>
              <a:rPr lang="en-US" altLang="en-US" sz="2800" dirty="0">
                <a:solidFill>
                  <a:srgbClr val="FF0000"/>
                </a:solidFill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</a:rPr>
              <a:t>vào</a:t>
            </a:r>
            <a:r>
              <a:rPr lang="en-US" altLang="en-US" sz="2800" dirty="0">
                <a:solidFill>
                  <a:srgbClr val="FF0000"/>
                </a:solidFill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</a:rPr>
              <a:t>cách</a:t>
            </a:r>
            <a:r>
              <a:rPr lang="en-US" altLang="en-US" sz="2800" dirty="0">
                <a:solidFill>
                  <a:srgbClr val="FF0000"/>
                </a:solidFill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</a:rPr>
              <a:t>thiết</a:t>
            </a:r>
            <a:r>
              <a:rPr lang="en-US" altLang="en-US" sz="2800" dirty="0">
                <a:solidFill>
                  <a:srgbClr val="FF0000"/>
                </a:solidFill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</a:rPr>
              <a:t>lập</a:t>
            </a:r>
            <a:r>
              <a:rPr lang="en-US" altLang="en-US" sz="2800" dirty="0">
                <a:solidFill>
                  <a:srgbClr val="FF0000"/>
                </a:solidFill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</a:rPr>
              <a:t>các</a:t>
            </a:r>
            <a:r>
              <a:rPr lang="en-US" altLang="en-US" sz="2800" dirty="0">
                <a:solidFill>
                  <a:srgbClr val="FF0000"/>
                </a:solidFill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</a:rPr>
              <a:t>hệ</a:t>
            </a:r>
            <a:r>
              <a:rPr lang="en-US" altLang="en-US" sz="2800" dirty="0">
                <a:solidFill>
                  <a:srgbClr val="FF0000"/>
                </a:solidFill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</a:rPr>
              <a:t>số</a:t>
            </a:r>
            <a:r>
              <a:rPr lang="en-US" altLang="en-US" sz="2800" dirty="0">
                <a:solidFill>
                  <a:srgbClr val="FF0000"/>
                </a:solidFill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</a:rPr>
              <a:t>trong</a:t>
            </a:r>
            <a:r>
              <a:rPr lang="en-US" altLang="en-US" sz="2800" dirty="0">
                <a:solidFill>
                  <a:srgbClr val="FF0000"/>
                </a:solidFill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</a:rPr>
              <a:t>ptpư</a:t>
            </a:r>
            <a:r>
              <a:rPr lang="en-US" altLang="en-US" sz="2800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43013" name="Text Box 5">
            <a:extLst>
              <a:ext uri="{FF2B5EF4-FFF2-40B4-BE49-F238E27FC236}">
                <a16:creationId xmlns:a16="http://schemas.microsoft.com/office/drawing/2014/main" xmlns="" id="{E1462A0A-8D61-4A82-81AE-BB5AD4F338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28600" y="3610200"/>
            <a:ext cx="9144001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dirty="0"/>
              <a:t>    </a:t>
            </a:r>
            <a:r>
              <a:rPr lang="en-US" altLang="en-US" sz="2800" dirty="0" err="1"/>
              <a:t>Hằng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số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cân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bằng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</a:t>
            </a:r>
            <a:r>
              <a:rPr lang="en-US" altLang="en-US" sz="2800" baseline="-25000" dirty="0" err="1"/>
              <a:t>p</a:t>
            </a:r>
            <a:r>
              <a:rPr lang="en-US" altLang="en-US" sz="2800" dirty="0"/>
              <a:t> ,K</a:t>
            </a:r>
            <a:r>
              <a:rPr lang="en-US" altLang="en-US" sz="2800" baseline="-25000" dirty="0"/>
              <a:t>c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thứ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nguyên</a:t>
            </a:r>
            <a:r>
              <a:rPr lang="en-US" altLang="en-US" sz="2800" dirty="0"/>
              <a:t>.</a:t>
            </a:r>
          </a:p>
        </p:txBody>
      </p:sp>
      <p:sp>
        <p:nvSpPr>
          <p:cNvPr id="43014" name="Text Box 6">
            <a:extLst>
              <a:ext uri="{FF2B5EF4-FFF2-40B4-BE49-F238E27FC236}">
                <a16:creationId xmlns:a16="http://schemas.microsoft.com/office/drawing/2014/main" xmlns="" id="{08BCBF1D-6F8D-4A21-9F4F-1CF454959F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410649"/>
            <a:ext cx="914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dirty="0">
                <a:solidFill>
                  <a:srgbClr val="006600"/>
                </a:solidFill>
              </a:rPr>
              <a:t>  </a:t>
            </a:r>
            <a:r>
              <a:rPr lang="en-US" altLang="en-US" sz="2800" dirty="0" err="1">
                <a:solidFill>
                  <a:srgbClr val="006600"/>
                </a:solidFill>
              </a:rPr>
              <a:t>Hằng</a:t>
            </a:r>
            <a:r>
              <a:rPr lang="en-US" altLang="en-US" sz="2800" dirty="0">
                <a:solidFill>
                  <a:srgbClr val="006600"/>
                </a:solidFill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</a:rPr>
              <a:t>số</a:t>
            </a:r>
            <a:r>
              <a:rPr lang="en-US" altLang="en-US" sz="2800" dirty="0">
                <a:solidFill>
                  <a:srgbClr val="006600"/>
                </a:solidFill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</a:rPr>
              <a:t>cân</a:t>
            </a:r>
            <a:r>
              <a:rPr lang="en-US" altLang="en-US" sz="2800" dirty="0">
                <a:solidFill>
                  <a:srgbClr val="006600"/>
                </a:solidFill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</a:rPr>
              <a:t>bằng</a:t>
            </a:r>
            <a:r>
              <a:rPr lang="en-US" altLang="en-US" sz="2800" dirty="0">
                <a:solidFill>
                  <a:srgbClr val="006600"/>
                </a:solidFill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</a:rPr>
              <a:t>không</a:t>
            </a:r>
            <a:r>
              <a:rPr lang="en-US" altLang="en-US" sz="2800" dirty="0">
                <a:solidFill>
                  <a:srgbClr val="006600"/>
                </a:solidFill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</a:rPr>
              <a:t>phụ</a:t>
            </a:r>
            <a:r>
              <a:rPr lang="en-US" altLang="en-US" sz="2800" dirty="0">
                <a:solidFill>
                  <a:srgbClr val="006600"/>
                </a:solidFill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</a:rPr>
              <a:t>thuộc</a:t>
            </a:r>
            <a:r>
              <a:rPr lang="en-US" altLang="en-US" sz="2800" dirty="0">
                <a:solidFill>
                  <a:srgbClr val="006600"/>
                </a:solidFill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</a:rPr>
              <a:t>vào</a:t>
            </a:r>
            <a:r>
              <a:rPr lang="en-US" altLang="en-US" sz="2800" dirty="0">
                <a:solidFill>
                  <a:srgbClr val="006600"/>
                </a:solidFill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</a:rPr>
              <a:t>chất</a:t>
            </a:r>
            <a:r>
              <a:rPr lang="en-US" altLang="en-US" sz="2800" dirty="0">
                <a:solidFill>
                  <a:srgbClr val="006600"/>
                </a:solidFill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</a:rPr>
              <a:t>xúc</a:t>
            </a:r>
            <a:r>
              <a:rPr lang="en-US" altLang="en-US" sz="2800" dirty="0">
                <a:solidFill>
                  <a:srgbClr val="006600"/>
                </a:solidFill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</a:rPr>
              <a:t>tác</a:t>
            </a:r>
            <a:r>
              <a:rPr lang="en-US" altLang="en-US" sz="2800" dirty="0">
                <a:solidFill>
                  <a:srgbClr val="006600"/>
                </a:solidFill>
              </a:rPr>
              <a:t>.</a:t>
            </a:r>
          </a:p>
        </p:txBody>
      </p:sp>
      <p:sp>
        <p:nvSpPr>
          <p:cNvPr id="43015" name="Text Box 7">
            <a:extLst>
              <a:ext uri="{FF2B5EF4-FFF2-40B4-BE49-F238E27FC236}">
                <a16:creationId xmlns:a16="http://schemas.microsoft.com/office/drawing/2014/main" xmlns="" id="{0965AC9B-B5BB-40BF-A38B-AF4F3B7967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5211097"/>
            <a:ext cx="9144000" cy="1169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dirty="0"/>
              <a:t> </a:t>
            </a:r>
            <a:r>
              <a:rPr lang="en-US" altLang="en-US" sz="2800" dirty="0" err="1">
                <a:solidFill>
                  <a:srgbClr val="0000FF"/>
                </a:solidFill>
              </a:rPr>
              <a:t>Hằng</a:t>
            </a:r>
            <a:r>
              <a:rPr lang="en-US" altLang="en-US" sz="2800" dirty="0">
                <a:solidFill>
                  <a:srgbClr val="0000FF"/>
                </a:solidFill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</a:rPr>
              <a:t>số</a:t>
            </a:r>
            <a:r>
              <a:rPr lang="en-US" altLang="en-US" sz="2800" dirty="0">
                <a:solidFill>
                  <a:srgbClr val="0000FF"/>
                </a:solidFill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</a:rPr>
              <a:t>cân</a:t>
            </a:r>
            <a:r>
              <a:rPr lang="en-US" altLang="en-US" sz="2800" dirty="0">
                <a:solidFill>
                  <a:srgbClr val="0000FF"/>
                </a:solidFill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</a:rPr>
              <a:t>bằng</a:t>
            </a:r>
            <a:r>
              <a:rPr lang="en-US" altLang="en-US" sz="2800" dirty="0">
                <a:solidFill>
                  <a:srgbClr val="0000FF"/>
                </a:solidFill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</a:rPr>
              <a:t>có</a:t>
            </a:r>
            <a:r>
              <a:rPr lang="en-US" altLang="en-US" sz="2800" dirty="0">
                <a:solidFill>
                  <a:srgbClr val="0000FF"/>
                </a:solidFill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</a:rPr>
              <a:t>giá</a:t>
            </a:r>
            <a:r>
              <a:rPr lang="en-US" altLang="en-US" sz="2800" dirty="0">
                <a:solidFill>
                  <a:srgbClr val="0000FF"/>
                </a:solidFill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</a:rPr>
              <a:t>trị</a:t>
            </a:r>
            <a:r>
              <a:rPr lang="en-US" altLang="en-US" sz="2800" dirty="0">
                <a:solidFill>
                  <a:srgbClr val="0000FF"/>
                </a:solidFill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</a:rPr>
              <a:t>càng</a:t>
            </a:r>
            <a:r>
              <a:rPr lang="en-US" altLang="en-US" sz="2800" dirty="0">
                <a:solidFill>
                  <a:srgbClr val="0000FF"/>
                </a:solidFill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</a:rPr>
              <a:t>lớn</a:t>
            </a:r>
            <a:r>
              <a:rPr lang="en-US" altLang="en-US" sz="2800" dirty="0">
                <a:solidFill>
                  <a:srgbClr val="0000FF"/>
                </a:solidFill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</a:rPr>
              <a:t>thì</a:t>
            </a:r>
            <a:r>
              <a:rPr lang="en-US" altLang="en-US" sz="2800" dirty="0">
                <a:solidFill>
                  <a:srgbClr val="0000FF"/>
                </a:solidFill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</a:rPr>
              <a:t>hiệu</a:t>
            </a:r>
            <a:r>
              <a:rPr lang="en-US" altLang="en-US" sz="2800" dirty="0">
                <a:solidFill>
                  <a:srgbClr val="0000FF"/>
                </a:solidFill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</a:rPr>
              <a:t>suất</a:t>
            </a:r>
            <a:r>
              <a:rPr lang="en-US" altLang="en-US" sz="2800" dirty="0">
                <a:solidFill>
                  <a:srgbClr val="0000FF"/>
                </a:solidFill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</a:rPr>
              <a:t>pư</a:t>
            </a:r>
            <a:r>
              <a:rPr lang="en-US" altLang="en-US" sz="2800" dirty="0">
                <a:solidFill>
                  <a:srgbClr val="0000FF"/>
                </a:solidFill>
              </a:rPr>
              <a:t>       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dirty="0">
                <a:solidFill>
                  <a:srgbClr val="0000FF"/>
                </a:solidFill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</a:rPr>
              <a:t>càng</a:t>
            </a:r>
            <a:r>
              <a:rPr lang="en-US" altLang="en-US" sz="2800" dirty="0">
                <a:solidFill>
                  <a:srgbClr val="0000FF"/>
                </a:solidFill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</a:rPr>
              <a:t>cao</a:t>
            </a:r>
            <a:r>
              <a:rPr lang="en-US" altLang="en-US" sz="2800" dirty="0">
                <a:solidFill>
                  <a:srgbClr val="0000FF"/>
                </a:solidFill>
              </a:rPr>
              <a:t> →    </a:t>
            </a:r>
            <a:r>
              <a:rPr lang="en-US" altLang="en-US" sz="2800" dirty="0" err="1">
                <a:solidFill>
                  <a:srgbClr val="0000FF"/>
                </a:solidFill>
              </a:rPr>
              <a:t>K</a:t>
            </a:r>
            <a:r>
              <a:rPr lang="en-US" altLang="en-US" sz="2800" baseline="-25000" dirty="0" err="1">
                <a:solidFill>
                  <a:srgbClr val="0000FF"/>
                </a:solidFill>
              </a:rPr>
              <a:t>cb</a:t>
            </a:r>
            <a:r>
              <a:rPr lang="en-US" altLang="en-US" sz="2800" baseline="-25000" dirty="0">
                <a:solidFill>
                  <a:srgbClr val="0000FF"/>
                </a:solidFill>
              </a:rPr>
              <a:t> </a:t>
            </a:r>
            <a:r>
              <a:rPr lang="en-US" altLang="en-US" sz="2800" dirty="0">
                <a:solidFill>
                  <a:srgbClr val="0000FF"/>
                </a:solidFill>
              </a:rPr>
              <a:t>&gt; 10</a:t>
            </a:r>
            <a:r>
              <a:rPr lang="en-US" altLang="en-US" sz="2800" baseline="30000" dirty="0">
                <a:solidFill>
                  <a:srgbClr val="0000FF"/>
                </a:solidFill>
              </a:rPr>
              <a:t>7</a:t>
            </a:r>
            <a:r>
              <a:rPr lang="en-US" altLang="en-US" sz="2800" dirty="0">
                <a:solidFill>
                  <a:srgbClr val="0000FF"/>
                </a:solidFill>
              </a:rPr>
              <a:t> : </a:t>
            </a:r>
            <a:r>
              <a:rPr lang="en-US" altLang="en-US" sz="2800" dirty="0" err="1">
                <a:solidFill>
                  <a:srgbClr val="0000FF"/>
                </a:solidFill>
              </a:rPr>
              <a:t>xem</a:t>
            </a:r>
            <a:r>
              <a:rPr lang="en-US" altLang="en-US" sz="2800" dirty="0">
                <a:solidFill>
                  <a:srgbClr val="0000FF"/>
                </a:solidFill>
              </a:rPr>
              <a:t> p</a:t>
            </a:r>
            <a:r>
              <a:rPr lang="vi-VN" altLang="en-US" sz="2800" dirty="0">
                <a:solidFill>
                  <a:srgbClr val="0000FF"/>
                </a:solidFill>
              </a:rPr>
              <a:t>ư</a:t>
            </a:r>
            <a:r>
              <a:rPr lang="en-US" altLang="en-US" sz="2800" dirty="0">
                <a:solidFill>
                  <a:srgbClr val="0000FF"/>
                </a:solidFill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</a:rPr>
              <a:t>hoàn</a:t>
            </a:r>
            <a:r>
              <a:rPr lang="en-US" altLang="en-US" sz="2800" dirty="0">
                <a:solidFill>
                  <a:srgbClr val="0000FF"/>
                </a:solidFill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</a:rPr>
              <a:t>toàn</a:t>
            </a:r>
            <a:r>
              <a:rPr lang="en-US" altLang="en-US" sz="2800" dirty="0">
                <a:solidFill>
                  <a:srgbClr val="0000FF"/>
                </a:solidFill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2" grpId="0"/>
      <p:bldP spid="43013" grpId="0"/>
      <p:bldP spid="43014" grpId="0"/>
      <p:bldP spid="4301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5" name="Rectangle 3">
            <a:extLst>
              <a:ext uri="{FF2B5EF4-FFF2-40B4-BE49-F238E27FC236}">
                <a16:creationId xmlns:a16="http://schemas.microsoft.com/office/drawing/2014/main" xmlns="" id="{88FF8737-B02D-475F-B3EC-121DD7818E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914400"/>
            <a:ext cx="9191002" cy="5486400"/>
          </a:xfrm>
        </p:spPr>
        <p:txBody>
          <a:bodyPr/>
          <a:lstStyle/>
          <a:p>
            <a:pPr marL="0" indent="0">
              <a:buFontTx/>
              <a:buNone/>
              <a:defRPr/>
            </a:pPr>
            <a:endParaRPr lang="en-US" altLang="en-US" dirty="0">
              <a:solidFill>
                <a:srgbClr val="0000FF"/>
              </a:solidFill>
            </a:endParaRPr>
          </a:p>
          <a:p>
            <a:pPr marL="0" indent="0">
              <a:lnSpc>
                <a:spcPct val="150000"/>
              </a:lnSpc>
              <a:buFontTx/>
              <a:buNone/>
              <a:defRPr/>
            </a:pPr>
            <a:r>
              <a:rPr lang="en-US" altLang="en-US" sz="3000" dirty="0">
                <a:solidFill>
                  <a:srgbClr val="0000FF"/>
                </a:solidFill>
              </a:rPr>
              <a:t>(</a:t>
            </a:r>
            <a:r>
              <a:rPr lang="en-US" altLang="en-US" sz="3000" dirty="0">
                <a:solidFill>
                  <a:srgbClr val="0000FF"/>
                </a:solidFill>
                <a:cs typeface="Arial" panose="020B0604020202020204" pitchFamily="34" charset="0"/>
              </a:rPr>
              <a:t>∆G</a:t>
            </a:r>
            <a:r>
              <a:rPr lang="en-US" altLang="en-US" sz="3000" baseline="30000" dirty="0">
                <a:solidFill>
                  <a:srgbClr val="0000FF"/>
                </a:solidFill>
                <a:cs typeface="Arial" panose="020B0604020202020204" pitchFamily="34" charset="0"/>
              </a:rPr>
              <a:t>0</a:t>
            </a:r>
            <a:r>
              <a:rPr lang="en-US" altLang="en-US" sz="3000" baseline="-25000" dirty="0">
                <a:solidFill>
                  <a:srgbClr val="0000FF"/>
                </a:solidFill>
                <a:cs typeface="Arial" panose="020B0604020202020204" pitchFamily="34" charset="0"/>
              </a:rPr>
              <a:t>298</a:t>
            </a:r>
            <a:r>
              <a:rPr lang="en-US" altLang="en-US" sz="3000" dirty="0">
                <a:solidFill>
                  <a:srgbClr val="0000FF"/>
                </a:solidFill>
                <a:cs typeface="Arial" panose="020B0604020202020204" pitchFamily="34" charset="0"/>
              </a:rPr>
              <a:t>)</a:t>
            </a:r>
            <a:r>
              <a:rPr lang="en-US" altLang="en-US" sz="3000" baseline="-25000" dirty="0" err="1">
                <a:solidFill>
                  <a:srgbClr val="0000FF"/>
                </a:solidFill>
                <a:cs typeface="Arial" panose="020B0604020202020204" pitchFamily="34" charset="0"/>
              </a:rPr>
              <a:t>pư</a:t>
            </a:r>
            <a:r>
              <a:rPr lang="en-US" altLang="en-US" sz="3000" dirty="0">
                <a:solidFill>
                  <a:srgbClr val="0000FF"/>
                </a:solidFill>
                <a:cs typeface="Arial" panose="020B0604020202020204" pitchFamily="34" charset="0"/>
              </a:rPr>
              <a:t> &lt; - 40kJ → K&gt;10</a:t>
            </a:r>
            <a:r>
              <a:rPr lang="en-US" altLang="en-US" sz="3000" baseline="30000" dirty="0">
                <a:solidFill>
                  <a:srgbClr val="0000FF"/>
                </a:solidFill>
                <a:cs typeface="Arial" panose="020B0604020202020204" pitchFamily="34" charset="0"/>
              </a:rPr>
              <a:t>7</a:t>
            </a:r>
            <a:r>
              <a:rPr lang="en-US" altLang="en-US" sz="3000" dirty="0">
                <a:solidFill>
                  <a:srgbClr val="0000FF"/>
                </a:solidFill>
                <a:cs typeface="Arial" panose="020B0604020202020204" pitchFamily="34" charset="0"/>
              </a:rPr>
              <a:t> : </a:t>
            </a:r>
            <a:r>
              <a:rPr lang="en-US" altLang="en-US" sz="3000" dirty="0" err="1">
                <a:solidFill>
                  <a:srgbClr val="0000FF"/>
                </a:solidFill>
                <a:cs typeface="Arial" panose="020B0604020202020204" pitchFamily="34" charset="0"/>
              </a:rPr>
              <a:t>Trong</a:t>
            </a:r>
            <a:r>
              <a:rPr lang="en-US" altLang="en-US" sz="3000" dirty="0">
                <a:solidFill>
                  <a:srgbClr val="0000FF"/>
                </a:solidFill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cs typeface="Arial" panose="020B0604020202020204" pitchFamily="34" charset="0"/>
              </a:rPr>
              <a:t>thực</a:t>
            </a:r>
            <a:r>
              <a:rPr lang="en-US" altLang="en-US" sz="2800" dirty="0">
                <a:solidFill>
                  <a:srgbClr val="0000FF"/>
                </a:solidFill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cs typeface="Arial" panose="020B0604020202020204" pitchFamily="34" charset="0"/>
              </a:rPr>
              <a:t>tế</a:t>
            </a:r>
            <a:r>
              <a:rPr lang="en-US" altLang="en-US" sz="2800" dirty="0">
                <a:solidFill>
                  <a:srgbClr val="0000FF"/>
                </a:solidFill>
                <a:cs typeface="Arial" panose="020B0604020202020204" pitchFamily="34" charset="0"/>
              </a:rPr>
              <a:t>, </a:t>
            </a:r>
            <a:r>
              <a:rPr lang="en-US" altLang="en-US" sz="2800" dirty="0" err="1">
                <a:solidFill>
                  <a:srgbClr val="0000FF"/>
                </a:solidFill>
                <a:cs typeface="Arial" panose="020B0604020202020204" pitchFamily="34" charset="0"/>
              </a:rPr>
              <a:t>phản</a:t>
            </a:r>
            <a:r>
              <a:rPr lang="en-US" altLang="en-US" sz="2800" dirty="0">
                <a:solidFill>
                  <a:srgbClr val="0000FF"/>
                </a:solidFill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cs typeface="Arial" panose="020B0604020202020204" pitchFamily="34" charset="0"/>
              </a:rPr>
              <a:t>ứng</a:t>
            </a:r>
            <a:r>
              <a:rPr lang="en-US" altLang="en-US" sz="2800" dirty="0">
                <a:solidFill>
                  <a:srgbClr val="0000FF"/>
                </a:solidFill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cs typeface="Arial" panose="020B0604020202020204" pitchFamily="34" charset="0"/>
              </a:rPr>
              <a:t>có</a:t>
            </a:r>
            <a:r>
              <a:rPr lang="en-US" altLang="en-US" sz="2800" dirty="0">
                <a:solidFill>
                  <a:srgbClr val="0000FF"/>
                </a:solidFill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cs typeface="Arial" panose="020B0604020202020204" pitchFamily="34" charset="0"/>
              </a:rPr>
              <a:t>thể</a:t>
            </a:r>
            <a:r>
              <a:rPr lang="en-US" altLang="en-US" sz="2800" dirty="0">
                <a:solidFill>
                  <a:srgbClr val="0000FF"/>
                </a:solidFill>
                <a:cs typeface="Arial" panose="020B0604020202020204" pitchFamily="34" charset="0"/>
              </a:rPr>
              <a:t> </a:t>
            </a:r>
            <a:r>
              <a:rPr lang="en-US" altLang="en-US" sz="2800" u="sng" dirty="0" err="1">
                <a:solidFill>
                  <a:srgbClr val="0000FF"/>
                </a:solidFill>
                <a:cs typeface="Arial" panose="020B0604020202020204" pitchFamily="34" charset="0"/>
              </a:rPr>
              <a:t>tự</a:t>
            </a:r>
            <a:r>
              <a:rPr lang="en-US" altLang="en-US" sz="2800" u="sng" dirty="0">
                <a:solidFill>
                  <a:srgbClr val="0000FF"/>
                </a:solidFill>
                <a:cs typeface="Arial" panose="020B0604020202020204" pitchFamily="34" charset="0"/>
              </a:rPr>
              <a:t> </a:t>
            </a:r>
            <a:r>
              <a:rPr lang="en-US" altLang="en-US" sz="2800" u="sng" dirty="0" err="1">
                <a:solidFill>
                  <a:srgbClr val="0000FF"/>
                </a:solidFill>
                <a:cs typeface="Arial" panose="020B0604020202020204" pitchFamily="34" charset="0"/>
              </a:rPr>
              <a:t>phát</a:t>
            </a:r>
            <a:r>
              <a:rPr lang="en-US" altLang="en-US" sz="2800" u="sng" dirty="0">
                <a:solidFill>
                  <a:srgbClr val="0000FF"/>
                </a:solidFill>
                <a:cs typeface="Arial" panose="020B0604020202020204" pitchFamily="34" charset="0"/>
              </a:rPr>
              <a:t> </a:t>
            </a:r>
            <a:r>
              <a:rPr lang="en-US" altLang="en-US" sz="2800" u="sng" dirty="0" err="1">
                <a:solidFill>
                  <a:srgbClr val="0000FF"/>
                </a:solidFill>
                <a:cs typeface="Arial" panose="020B0604020202020204" pitchFamily="34" charset="0"/>
              </a:rPr>
              <a:t>hoàn</a:t>
            </a:r>
            <a:r>
              <a:rPr lang="en-US" altLang="en-US" sz="2800" u="sng" dirty="0">
                <a:solidFill>
                  <a:srgbClr val="0000FF"/>
                </a:solidFill>
                <a:cs typeface="Arial" panose="020B0604020202020204" pitchFamily="34" charset="0"/>
              </a:rPr>
              <a:t> </a:t>
            </a:r>
            <a:r>
              <a:rPr lang="en-US" altLang="en-US" sz="2800" u="sng" dirty="0" err="1">
                <a:solidFill>
                  <a:srgbClr val="0000FF"/>
                </a:solidFill>
                <a:cs typeface="Arial" panose="020B0604020202020204" pitchFamily="34" charset="0"/>
              </a:rPr>
              <a:t>toàn</a:t>
            </a:r>
            <a:r>
              <a:rPr lang="en-US" altLang="en-US" sz="2800" u="sng" dirty="0">
                <a:solidFill>
                  <a:srgbClr val="0000FF"/>
                </a:solidFill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cs typeface="Arial" panose="020B0604020202020204" pitchFamily="34" charset="0"/>
              </a:rPr>
              <a:t>theo</a:t>
            </a:r>
            <a:r>
              <a:rPr lang="en-US" altLang="en-US" sz="2800" dirty="0">
                <a:solidFill>
                  <a:srgbClr val="0000FF"/>
                </a:solidFill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cs typeface="Arial" panose="020B0604020202020204" pitchFamily="34" charset="0"/>
              </a:rPr>
              <a:t>chiều</a:t>
            </a:r>
            <a:r>
              <a:rPr lang="en-US" altLang="en-US" sz="2800" dirty="0">
                <a:solidFill>
                  <a:srgbClr val="0000FF"/>
                </a:solidFill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cs typeface="Arial" panose="020B0604020202020204" pitchFamily="34" charset="0"/>
              </a:rPr>
              <a:t>thuận</a:t>
            </a:r>
            <a:r>
              <a:rPr lang="en-US" altLang="en-US" sz="2800" dirty="0">
                <a:solidFill>
                  <a:srgbClr val="0000FF"/>
                </a:solidFill>
                <a:cs typeface="Arial" panose="020B0604020202020204" pitchFamily="34" charset="0"/>
              </a:rPr>
              <a:t> ở 298K.</a:t>
            </a:r>
            <a:endParaRPr lang="en-US" altLang="en-US" sz="3000" dirty="0">
              <a:solidFill>
                <a:srgbClr val="0000FF"/>
              </a:solidFill>
            </a:endParaRPr>
          </a:p>
          <a:p>
            <a:pPr marL="0" indent="0">
              <a:lnSpc>
                <a:spcPct val="150000"/>
              </a:lnSpc>
              <a:buFontTx/>
              <a:buNone/>
              <a:defRPr/>
            </a:pPr>
            <a:r>
              <a:rPr lang="en-US" altLang="en-US" sz="3000" dirty="0">
                <a:solidFill>
                  <a:srgbClr val="CC00FF"/>
                </a:solidFill>
              </a:rPr>
              <a:t>(</a:t>
            </a:r>
            <a:r>
              <a:rPr lang="en-US" altLang="en-US" sz="3000" dirty="0">
                <a:solidFill>
                  <a:srgbClr val="CC00FF"/>
                </a:solidFill>
                <a:cs typeface="Arial" panose="020B0604020202020204" pitchFamily="34" charset="0"/>
              </a:rPr>
              <a:t>∆G</a:t>
            </a:r>
            <a:r>
              <a:rPr lang="en-US" altLang="en-US" sz="3000" baseline="30000" dirty="0">
                <a:solidFill>
                  <a:srgbClr val="CC00FF"/>
                </a:solidFill>
                <a:cs typeface="Arial" panose="020B0604020202020204" pitchFamily="34" charset="0"/>
              </a:rPr>
              <a:t>0</a:t>
            </a:r>
            <a:r>
              <a:rPr lang="en-US" altLang="en-US" sz="3000" baseline="-25000" dirty="0">
                <a:solidFill>
                  <a:srgbClr val="CC00FF"/>
                </a:solidFill>
                <a:cs typeface="Arial" panose="020B0604020202020204" pitchFamily="34" charset="0"/>
              </a:rPr>
              <a:t>298</a:t>
            </a:r>
            <a:r>
              <a:rPr lang="en-US" altLang="en-US" sz="3000" dirty="0">
                <a:solidFill>
                  <a:srgbClr val="CC00FF"/>
                </a:solidFill>
                <a:cs typeface="Arial" panose="020B0604020202020204" pitchFamily="34" charset="0"/>
              </a:rPr>
              <a:t>)</a:t>
            </a:r>
            <a:r>
              <a:rPr lang="en-US" altLang="en-US" sz="3000" baseline="-25000" dirty="0" err="1">
                <a:solidFill>
                  <a:srgbClr val="CC00FF"/>
                </a:solidFill>
                <a:cs typeface="Arial" panose="020B0604020202020204" pitchFamily="34" charset="0"/>
              </a:rPr>
              <a:t>pư</a:t>
            </a:r>
            <a:r>
              <a:rPr lang="en-US" altLang="en-US" sz="3000" dirty="0">
                <a:solidFill>
                  <a:srgbClr val="CC00FF"/>
                </a:solidFill>
                <a:cs typeface="Arial" panose="020B0604020202020204" pitchFamily="34" charset="0"/>
              </a:rPr>
              <a:t> &gt; +40kJ : </a:t>
            </a:r>
            <a:r>
              <a:rPr lang="en-US" altLang="en-US" sz="3000" dirty="0" err="1">
                <a:solidFill>
                  <a:srgbClr val="CC00FF"/>
                </a:solidFill>
                <a:cs typeface="Arial" panose="020B0604020202020204" pitchFamily="34" charset="0"/>
              </a:rPr>
              <a:t>Trong</a:t>
            </a:r>
            <a:r>
              <a:rPr lang="en-US" altLang="en-US" sz="3000" dirty="0">
                <a:solidFill>
                  <a:srgbClr val="CC00FF"/>
                </a:solidFill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cs typeface="Arial" panose="020B0604020202020204" pitchFamily="34" charset="0"/>
              </a:rPr>
              <a:t>thực</a:t>
            </a:r>
            <a:r>
              <a:rPr lang="en-US" altLang="en-US" sz="2800" dirty="0">
                <a:solidFill>
                  <a:srgbClr val="CC00FF"/>
                </a:solidFill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cs typeface="Arial" panose="020B0604020202020204" pitchFamily="34" charset="0"/>
              </a:rPr>
              <a:t>tế</a:t>
            </a:r>
            <a:r>
              <a:rPr lang="en-US" altLang="en-US" sz="2800" dirty="0">
                <a:solidFill>
                  <a:srgbClr val="CC00FF"/>
                </a:solidFill>
                <a:cs typeface="Arial" panose="020B0604020202020204" pitchFamily="34" charset="0"/>
              </a:rPr>
              <a:t>, </a:t>
            </a:r>
            <a:r>
              <a:rPr lang="en-US" altLang="en-US" sz="2800" dirty="0" err="1">
                <a:solidFill>
                  <a:srgbClr val="CC00FF"/>
                </a:solidFill>
                <a:cs typeface="Arial" panose="020B0604020202020204" pitchFamily="34" charset="0"/>
              </a:rPr>
              <a:t>phản</a:t>
            </a:r>
            <a:r>
              <a:rPr lang="en-US" altLang="en-US" sz="2800" dirty="0">
                <a:solidFill>
                  <a:srgbClr val="CC00FF"/>
                </a:solidFill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cs typeface="Arial" panose="020B0604020202020204" pitchFamily="34" charset="0"/>
              </a:rPr>
              <a:t>ứng</a:t>
            </a:r>
            <a:r>
              <a:rPr lang="en-US" altLang="en-US" sz="2800" dirty="0">
                <a:solidFill>
                  <a:srgbClr val="CC00FF"/>
                </a:solidFill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cs typeface="Arial" panose="020B0604020202020204" pitchFamily="34" charset="0"/>
              </a:rPr>
              <a:t>không</a:t>
            </a:r>
            <a:r>
              <a:rPr lang="en-US" altLang="en-US" sz="2800" dirty="0">
                <a:solidFill>
                  <a:srgbClr val="CC00FF"/>
                </a:solidFill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cs typeface="Arial" panose="020B0604020202020204" pitchFamily="34" charset="0"/>
              </a:rPr>
              <a:t>tự</a:t>
            </a:r>
            <a:r>
              <a:rPr lang="en-US" altLang="en-US" sz="2800" dirty="0">
                <a:solidFill>
                  <a:srgbClr val="CC00FF"/>
                </a:solidFill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cs typeface="Arial" panose="020B0604020202020204" pitchFamily="34" charset="0"/>
              </a:rPr>
              <a:t>phát</a:t>
            </a:r>
            <a:r>
              <a:rPr lang="en-US" altLang="en-US" sz="2800" dirty="0">
                <a:solidFill>
                  <a:srgbClr val="CC00FF"/>
                </a:solidFill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cs typeface="Arial" panose="020B0604020202020204" pitchFamily="34" charset="0"/>
              </a:rPr>
              <a:t>theo</a:t>
            </a:r>
            <a:r>
              <a:rPr lang="en-US" altLang="en-US" sz="2800" dirty="0">
                <a:solidFill>
                  <a:srgbClr val="CC00FF"/>
                </a:solidFill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cs typeface="Arial" panose="020B0604020202020204" pitchFamily="34" charset="0"/>
              </a:rPr>
              <a:t>chiều</a:t>
            </a:r>
            <a:r>
              <a:rPr lang="en-US" altLang="en-US" sz="2800" dirty="0">
                <a:solidFill>
                  <a:srgbClr val="CC00FF"/>
                </a:solidFill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cs typeface="Arial" panose="020B0604020202020204" pitchFamily="34" charset="0"/>
              </a:rPr>
              <a:t>thuận</a:t>
            </a:r>
            <a:r>
              <a:rPr lang="en-US" altLang="en-US" sz="2800" dirty="0">
                <a:solidFill>
                  <a:srgbClr val="CC00FF"/>
                </a:solidFill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cs typeface="Arial" panose="020B0604020202020204" pitchFamily="34" charset="0"/>
              </a:rPr>
              <a:t>nh</a:t>
            </a:r>
            <a:r>
              <a:rPr lang="vi-VN" altLang="en-US" sz="2800" dirty="0">
                <a:solidFill>
                  <a:srgbClr val="CC00FF"/>
                </a:solidFill>
                <a:cs typeface="Arial" panose="020B0604020202020204" pitchFamily="34" charset="0"/>
              </a:rPr>
              <a:t>ư</a:t>
            </a:r>
            <a:r>
              <a:rPr lang="en-US" altLang="en-US" sz="2800" dirty="0">
                <a:solidFill>
                  <a:srgbClr val="CC00FF"/>
                </a:solidFill>
                <a:cs typeface="Arial" panose="020B0604020202020204" pitchFamily="34" charset="0"/>
              </a:rPr>
              <a:t>ng </a:t>
            </a:r>
            <a:r>
              <a:rPr lang="en-US" altLang="en-US" sz="2800" dirty="0" err="1">
                <a:solidFill>
                  <a:srgbClr val="CC00FF"/>
                </a:solidFill>
                <a:cs typeface="Arial" panose="020B0604020202020204" pitchFamily="34" charset="0"/>
              </a:rPr>
              <a:t>có</a:t>
            </a:r>
            <a:r>
              <a:rPr lang="en-US" altLang="en-US" sz="2800" dirty="0">
                <a:solidFill>
                  <a:srgbClr val="CC00FF"/>
                </a:solidFill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cs typeface="Arial" panose="020B0604020202020204" pitchFamily="34" charset="0"/>
              </a:rPr>
              <a:t>thể</a:t>
            </a:r>
            <a:r>
              <a:rPr lang="en-US" altLang="en-US" sz="2800" dirty="0">
                <a:solidFill>
                  <a:srgbClr val="CC00FF"/>
                </a:solidFill>
                <a:cs typeface="Arial" panose="020B0604020202020204" pitchFamily="34" charset="0"/>
              </a:rPr>
              <a:t> </a:t>
            </a:r>
            <a:r>
              <a:rPr lang="en-US" altLang="en-US" sz="2800" u="sng" dirty="0" err="1">
                <a:solidFill>
                  <a:srgbClr val="CC00FF"/>
                </a:solidFill>
                <a:cs typeface="Arial" panose="020B0604020202020204" pitchFamily="34" charset="0"/>
              </a:rPr>
              <a:t>tự</a:t>
            </a:r>
            <a:r>
              <a:rPr lang="en-US" altLang="en-US" sz="2800" u="sng" dirty="0">
                <a:solidFill>
                  <a:srgbClr val="CC00FF"/>
                </a:solidFill>
                <a:cs typeface="Arial" panose="020B0604020202020204" pitchFamily="34" charset="0"/>
              </a:rPr>
              <a:t> </a:t>
            </a:r>
            <a:r>
              <a:rPr lang="en-US" altLang="en-US" sz="2800" u="sng" dirty="0" err="1">
                <a:solidFill>
                  <a:srgbClr val="CC00FF"/>
                </a:solidFill>
                <a:cs typeface="Arial" panose="020B0604020202020204" pitchFamily="34" charset="0"/>
              </a:rPr>
              <a:t>phát</a:t>
            </a:r>
            <a:r>
              <a:rPr lang="en-US" altLang="en-US" sz="2800" u="sng" dirty="0">
                <a:solidFill>
                  <a:srgbClr val="CC00FF"/>
                </a:solidFill>
                <a:cs typeface="Arial" panose="020B0604020202020204" pitchFamily="34" charset="0"/>
              </a:rPr>
              <a:t> </a:t>
            </a:r>
            <a:r>
              <a:rPr lang="en-US" altLang="en-US" sz="2800" u="sng" dirty="0" err="1">
                <a:solidFill>
                  <a:srgbClr val="CC00FF"/>
                </a:solidFill>
                <a:cs typeface="Arial" panose="020B0604020202020204" pitchFamily="34" charset="0"/>
              </a:rPr>
              <a:t>hoàn</a:t>
            </a:r>
            <a:r>
              <a:rPr lang="en-US" altLang="en-US" sz="2800" u="sng" dirty="0">
                <a:solidFill>
                  <a:srgbClr val="CC00FF"/>
                </a:solidFill>
                <a:cs typeface="Arial" panose="020B0604020202020204" pitchFamily="34" charset="0"/>
              </a:rPr>
              <a:t> </a:t>
            </a:r>
            <a:r>
              <a:rPr lang="en-US" altLang="en-US" sz="2800" u="sng" dirty="0" err="1">
                <a:solidFill>
                  <a:srgbClr val="CC00FF"/>
                </a:solidFill>
                <a:cs typeface="Arial" panose="020B0604020202020204" pitchFamily="34" charset="0"/>
              </a:rPr>
              <a:t>toàn</a:t>
            </a:r>
            <a:r>
              <a:rPr lang="en-US" altLang="en-US" sz="2800" dirty="0">
                <a:solidFill>
                  <a:srgbClr val="CC00FF"/>
                </a:solidFill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cs typeface="Arial" panose="020B0604020202020204" pitchFamily="34" charset="0"/>
              </a:rPr>
              <a:t>theo</a:t>
            </a:r>
            <a:r>
              <a:rPr lang="en-US" altLang="en-US" sz="2800" dirty="0">
                <a:solidFill>
                  <a:srgbClr val="CC00FF"/>
                </a:solidFill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cs typeface="Arial" panose="020B0604020202020204" pitchFamily="34" charset="0"/>
              </a:rPr>
              <a:t>chiều</a:t>
            </a:r>
            <a:r>
              <a:rPr lang="en-US" altLang="en-US" sz="2800" dirty="0">
                <a:solidFill>
                  <a:srgbClr val="CC00FF"/>
                </a:solidFill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cs typeface="Arial" panose="020B0604020202020204" pitchFamily="34" charset="0"/>
              </a:rPr>
              <a:t>nghịch</a:t>
            </a:r>
            <a:r>
              <a:rPr lang="en-US" altLang="en-US" sz="2800" dirty="0">
                <a:solidFill>
                  <a:srgbClr val="CC00FF"/>
                </a:solidFill>
                <a:cs typeface="Arial" panose="020B0604020202020204" pitchFamily="34" charset="0"/>
              </a:rPr>
              <a:t> ở 298K.</a:t>
            </a:r>
            <a:r>
              <a:rPr lang="en-US" altLang="en-US" sz="3000" dirty="0">
                <a:solidFill>
                  <a:srgbClr val="CC00FF"/>
                </a:solidFill>
                <a:cs typeface="Arial" panose="020B0604020202020204" pitchFamily="34" charset="0"/>
              </a:rPr>
              <a:t>                                   </a:t>
            </a:r>
          </a:p>
          <a:p>
            <a:pPr marL="0" indent="0">
              <a:lnSpc>
                <a:spcPct val="150000"/>
              </a:lnSpc>
              <a:buFontTx/>
              <a:buNone/>
              <a:defRPr/>
            </a:pPr>
            <a:r>
              <a:rPr lang="en-US" altLang="en-US" sz="3000" dirty="0"/>
              <a:t> </a:t>
            </a:r>
            <a:r>
              <a:rPr lang="en-US" altLang="en-US" sz="3000" dirty="0">
                <a:solidFill>
                  <a:srgbClr val="C00000"/>
                </a:solidFill>
              </a:rPr>
              <a:t>- 40kJ &lt;(</a:t>
            </a:r>
            <a:r>
              <a:rPr lang="en-US" altLang="en-US" sz="3000" dirty="0">
                <a:solidFill>
                  <a:srgbClr val="C00000"/>
                </a:solidFill>
                <a:cs typeface="Arial" panose="020B0604020202020204" pitchFamily="34" charset="0"/>
              </a:rPr>
              <a:t>∆G</a:t>
            </a:r>
            <a:r>
              <a:rPr lang="en-US" altLang="en-US" sz="3000" baseline="30000" dirty="0">
                <a:solidFill>
                  <a:srgbClr val="C00000"/>
                </a:solidFill>
                <a:cs typeface="Arial" panose="020B0604020202020204" pitchFamily="34" charset="0"/>
              </a:rPr>
              <a:t>0</a:t>
            </a:r>
            <a:r>
              <a:rPr lang="en-US" altLang="en-US" sz="3000" baseline="-25000" dirty="0">
                <a:solidFill>
                  <a:srgbClr val="C00000"/>
                </a:solidFill>
                <a:cs typeface="Arial" panose="020B0604020202020204" pitchFamily="34" charset="0"/>
              </a:rPr>
              <a:t>298</a:t>
            </a:r>
            <a:r>
              <a:rPr lang="en-US" altLang="en-US" sz="3000" dirty="0">
                <a:solidFill>
                  <a:srgbClr val="C00000"/>
                </a:solidFill>
                <a:cs typeface="Arial" panose="020B0604020202020204" pitchFamily="34" charset="0"/>
              </a:rPr>
              <a:t>)</a:t>
            </a:r>
            <a:r>
              <a:rPr lang="en-US" altLang="en-US" sz="3000" baseline="-25000" dirty="0" err="1">
                <a:solidFill>
                  <a:srgbClr val="C00000"/>
                </a:solidFill>
                <a:cs typeface="Arial" panose="020B0604020202020204" pitchFamily="34" charset="0"/>
              </a:rPr>
              <a:t>pư</a:t>
            </a:r>
            <a:r>
              <a:rPr lang="en-US" altLang="en-US" sz="3000" dirty="0">
                <a:solidFill>
                  <a:srgbClr val="C00000"/>
                </a:solidFill>
                <a:cs typeface="Arial" panose="020B0604020202020204" pitchFamily="34" charset="0"/>
              </a:rPr>
              <a:t>&lt;+40kJ: </a:t>
            </a:r>
            <a:r>
              <a:rPr lang="en-US" altLang="en-US" sz="3000" dirty="0" err="1">
                <a:solidFill>
                  <a:srgbClr val="C00000"/>
                </a:solidFill>
                <a:cs typeface="Arial" panose="020B0604020202020204" pitchFamily="34" charset="0"/>
              </a:rPr>
              <a:t>Trong</a:t>
            </a:r>
            <a:r>
              <a:rPr lang="en-US" altLang="en-US" sz="3000" dirty="0">
                <a:solidFill>
                  <a:srgbClr val="C00000"/>
                </a:solidFill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  <a:cs typeface="Arial" panose="020B0604020202020204" pitchFamily="34" charset="0"/>
              </a:rPr>
              <a:t>thực</a:t>
            </a:r>
            <a:r>
              <a:rPr lang="en-US" altLang="en-US" sz="2800" dirty="0">
                <a:solidFill>
                  <a:srgbClr val="C00000"/>
                </a:solidFill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  <a:cs typeface="Arial" panose="020B0604020202020204" pitchFamily="34" charset="0"/>
              </a:rPr>
              <a:t>tế</a:t>
            </a:r>
            <a:r>
              <a:rPr lang="en-US" altLang="en-US" sz="2800" dirty="0">
                <a:solidFill>
                  <a:srgbClr val="C00000"/>
                </a:solidFill>
                <a:cs typeface="Arial" panose="020B0604020202020204" pitchFamily="34" charset="0"/>
              </a:rPr>
              <a:t>, </a:t>
            </a:r>
            <a:r>
              <a:rPr lang="en-US" altLang="en-US" sz="2800" dirty="0" err="1">
                <a:solidFill>
                  <a:srgbClr val="C00000"/>
                </a:solidFill>
                <a:cs typeface="Arial" panose="020B0604020202020204" pitchFamily="34" charset="0"/>
              </a:rPr>
              <a:t>phản</a:t>
            </a:r>
            <a:r>
              <a:rPr lang="en-US" altLang="en-US" sz="2800" dirty="0">
                <a:solidFill>
                  <a:srgbClr val="C00000"/>
                </a:solidFill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  <a:cs typeface="Arial" panose="020B0604020202020204" pitchFamily="34" charset="0"/>
              </a:rPr>
              <a:t>ứng</a:t>
            </a:r>
            <a:r>
              <a:rPr lang="en-US" altLang="en-US" sz="2800" dirty="0">
                <a:solidFill>
                  <a:srgbClr val="C00000"/>
                </a:solidFill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  <a:cs typeface="Arial" panose="020B0604020202020204" pitchFamily="34" charset="0"/>
              </a:rPr>
              <a:t>diễn</a:t>
            </a:r>
            <a:r>
              <a:rPr lang="en-US" altLang="en-US" sz="2800" dirty="0">
                <a:solidFill>
                  <a:srgbClr val="C00000"/>
                </a:solidFill>
                <a:cs typeface="Arial" panose="020B0604020202020204" pitchFamily="34" charset="0"/>
              </a:rPr>
              <a:t> ra </a:t>
            </a:r>
            <a:r>
              <a:rPr lang="en-US" altLang="en-US" sz="2800" u="sng" dirty="0" err="1">
                <a:solidFill>
                  <a:srgbClr val="C00000"/>
                </a:solidFill>
                <a:cs typeface="Arial" panose="020B0604020202020204" pitchFamily="34" charset="0"/>
              </a:rPr>
              <a:t>thuận</a:t>
            </a:r>
            <a:r>
              <a:rPr lang="en-US" altLang="en-US" sz="2800" u="sng" dirty="0">
                <a:solidFill>
                  <a:srgbClr val="C00000"/>
                </a:solidFill>
                <a:cs typeface="Arial" panose="020B0604020202020204" pitchFamily="34" charset="0"/>
              </a:rPr>
              <a:t> </a:t>
            </a:r>
            <a:r>
              <a:rPr lang="en-US" altLang="en-US" sz="2800" u="sng" dirty="0" err="1">
                <a:solidFill>
                  <a:srgbClr val="C00000"/>
                </a:solidFill>
                <a:cs typeface="Arial" panose="020B0604020202020204" pitchFamily="34" charset="0"/>
              </a:rPr>
              <a:t>nghịch</a:t>
            </a:r>
            <a:r>
              <a:rPr lang="en-US" altLang="en-US" sz="2800" u="sng" dirty="0">
                <a:solidFill>
                  <a:srgbClr val="C00000"/>
                </a:solidFill>
                <a:cs typeface="Arial" panose="020B0604020202020204" pitchFamily="34" charset="0"/>
              </a:rPr>
              <a:t> </a:t>
            </a:r>
            <a:r>
              <a:rPr lang="en-US" altLang="en-US" sz="2800" dirty="0">
                <a:solidFill>
                  <a:srgbClr val="C00000"/>
                </a:solidFill>
                <a:cs typeface="Arial" panose="020B0604020202020204" pitchFamily="34" charset="0"/>
              </a:rPr>
              <a:t>ở 298K.</a:t>
            </a:r>
          </a:p>
          <a:p>
            <a:pPr marL="0" indent="0">
              <a:buFontTx/>
              <a:buNone/>
              <a:defRPr/>
            </a:pPr>
            <a:endParaRPr lang="en-US" altLang="en-US" sz="2800" dirty="0">
              <a:cs typeface="Arial" panose="020B0604020202020204" pitchFamily="34" charset="0"/>
            </a:endParaRPr>
          </a:p>
        </p:txBody>
      </p:sp>
      <p:sp>
        <p:nvSpPr>
          <p:cNvPr id="45059" name="Title 2">
            <a:extLst>
              <a:ext uri="{FF2B5EF4-FFF2-40B4-BE49-F238E27FC236}">
                <a16:creationId xmlns:a16="http://schemas.microsoft.com/office/drawing/2014/main" xmlns="" id="{F8156B63-02C1-455A-8976-92C172E798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457200" y="304800"/>
            <a:ext cx="9220200" cy="884238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en-US" altLang="en-US" sz="3200" dirty="0">
                <a:solidFill>
                  <a:srgbClr val="FF0000"/>
                </a:solidFill>
              </a:rPr>
              <a:t>        </a:t>
            </a:r>
            <a:r>
              <a:rPr lang="en-US" altLang="en-US" sz="3200" dirty="0" err="1">
                <a:solidFill>
                  <a:srgbClr val="FF0000"/>
                </a:solidFill>
              </a:rPr>
              <a:t>Khi</a:t>
            </a:r>
            <a:r>
              <a:rPr lang="en-US" altLang="en-US" sz="3200" dirty="0">
                <a:solidFill>
                  <a:srgbClr val="FF0000"/>
                </a:solidFill>
              </a:rPr>
              <a:t> </a:t>
            </a:r>
            <a:r>
              <a:rPr lang="en-US" altLang="en-US" sz="3200" dirty="0">
                <a:solidFill>
                  <a:srgbClr val="FF0000"/>
                </a:solidFill>
                <a:cs typeface="Arial" panose="020B0604020202020204" pitchFamily="34" charset="0"/>
              </a:rPr>
              <a:t>∆G</a:t>
            </a:r>
            <a:r>
              <a:rPr lang="en-US" altLang="en-US" sz="3200" baseline="30000" dirty="0">
                <a:solidFill>
                  <a:srgbClr val="FF0000"/>
                </a:solidFill>
                <a:cs typeface="Arial" panose="020B0604020202020204" pitchFamily="34" charset="0"/>
              </a:rPr>
              <a:t>0</a:t>
            </a:r>
            <a:r>
              <a:rPr lang="en-US" altLang="en-US" sz="3200" baseline="-25000" dirty="0">
                <a:solidFill>
                  <a:srgbClr val="FF0000"/>
                </a:solidFill>
                <a:cs typeface="Arial" panose="020B0604020202020204" pitchFamily="34" charset="0"/>
              </a:rPr>
              <a:t>298</a:t>
            </a:r>
            <a:r>
              <a:rPr lang="en-US" altLang="en-US" sz="3200" dirty="0">
                <a:solidFill>
                  <a:srgbClr val="FF0000"/>
                </a:solidFill>
                <a:cs typeface="Arial" panose="020B0604020202020204" pitchFamily="34" charset="0"/>
              </a:rPr>
              <a:t> = - 40kJ = - </a:t>
            </a:r>
            <a:r>
              <a:rPr lang="en-US" altLang="en-US" sz="3200" dirty="0" err="1">
                <a:solidFill>
                  <a:srgbClr val="FF0000"/>
                </a:solidFill>
                <a:cs typeface="Arial" panose="020B0604020202020204" pitchFamily="34" charset="0"/>
              </a:rPr>
              <a:t>RTlnK</a:t>
            </a:r>
            <a:r>
              <a:rPr lang="en-US" altLang="en-US" sz="3200" dirty="0">
                <a:solidFill>
                  <a:srgbClr val="FF0000"/>
                </a:solidFill>
                <a:cs typeface="Arial" panose="020B0604020202020204" pitchFamily="34" charset="0"/>
              </a:rPr>
              <a:t> → K ≈ 10</a:t>
            </a:r>
            <a:r>
              <a:rPr lang="en-US" altLang="en-US" sz="3200" baseline="30000" dirty="0">
                <a:solidFill>
                  <a:srgbClr val="FF0000"/>
                </a:solidFill>
                <a:cs typeface="Arial" panose="020B0604020202020204" pitchFamily="34" charset="0"/>
              </a:rPr>
              <a:t>7</a:t>
            </a:r>
            <a:br>
              <a:rPr lang="en-US" altLang="en-US" sz="3200" baseline="30000" dirty="0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US" altLang="en-US" sz="3200" baseline="30000" dirty="0">
                <a:solidFill>
                  <a:srgbClr val="FF0000"/>
                </a:solidFill>
                <a:cs typeface="Arial" panose="020B0604020202020204" pitchFamily="34" charset="0"/>
              </a:rPr>
              <a:t>            </a:t>
            </a:r>
            <a:r>
              <a:rPr lang="en-US" altLang="en-US" sz="3200" dirty="0">
                <a:solidFill>
                  <a:srgbClr val="FF0000"/>
                </a:solidFill>
                <a:cs typeface="Arial" panose="020B0604020202020204" pitchFamily="34" charset="0"/>
              </a:rPr>
              <a:t>→ </a:t>
            </a:r>
            <a:r>
              <a:rPr lang="en-US" altLang="en-US" sz="3200" dirty="0" err="1">
                <a:solidFill>
                  <a:srgbClr val="FF0000"/>
                </a:solidFill>
                <a:cs typeface="Arial" panose="020B0604020202020204" pitchFamily="34" charset="0"/>
              </a:rPr>
              <a:t>phản</a:t>
            </a:r>
            <a:r>
              <a:rPr lang="en-US" altLang="en-US" sz="3200" dirty="0">
                <a:solidFill>
                  <a:srgbClr val="FF0000"/>
                </a:solidFill>
                <a:cs typeface="Arial" panose="020B0604020202020204" pitchFamily="34" charset="0"/>
              </a:rPr>
              <a:t> </a:t>
            </a:r>
            <a:r>
              <a:rPr lang="vi-VN" altLang="en-US" sz="3200" dirty="0">
                <a:solidFill>
                  <a:srgbClr val="FF0000"/>
                </a:solidFill>
                <a:cs typeface="Arial" panose="020B0604020202020204" pitchFamily="34" charset="0"/>
              </a:rPr>
              <a:t>ứng</a:t>
            </a:r>
            <a:r>
              <a:rPr lang="en-US" altLang="en-US" sz="3200" baseline="30000" dirty="0">
                <a:solidFill>
                  <a:srgbClr val="FF0000"/>
                </a:solidFill>
                <a:cs typeface="Arial" panose="020B0604020202020204" pitchFamily="34" charset="0"/>
              </a:rPr>
              <a:t>  </a:t>
            </a:r>
            <a:r>
              <a:rPr lang="vi-VN" altLang="en-US" sz="3200" dirty="0" smtClean="0">
                <a:solidFill>
                  <a:srgbClr val="FF0000"/>
                </a:solidFill>
                <a:cs typeface="Arial" panose="020B0604020202020204" pitchFamily="34" charset="0"/>
              </a:rPr>
              <a:t>có thể </a:t>
            </a:r>
            <a:r>
              <a:rPr lang="en-US" altLang="en-US" sz="3200" dirty="0" err="1" smtClean="0">
                <a:solidFill>
                  <a:srgbClr val="FF0000"/>
                </a:solidFill>
                <a:cs typeface="Arial" panose="020B0604020202020204" pitchFamily="34" charset="0"/>
              </a:rPr>
              <a:t>tự</a:t>
            </a:r>
            <a:r>
              <a:rPr lang="en-US" altLang="en-US" sz="3200" dirty="0" smtClean="0">
                <a:solidFill>
                  <a:srgbClr val="FF0000"/>
                </a:solidFill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  <a:cs typeface="Arial" panose="020B0604020202020204" pitchFamily="34" charset="0"/>
              </a:rPr>
              <a:t>phát</a:t>
            </a:r>
            <a:r>
              <a:rPr lang="en-US" altLang="en-US" sz="3200" dirty="0">
                <a:solidFill>
                  <a:srgbClr val="FF0000"/>
                </a:solidFill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  <a:cs typeface="Arial" panose="020B0604020202020204" pitchFamily="34" charset="0"/>
              </a:rPr>
              <a:t>hoàn</a:t>
            </a:r>
            <a:r>
              <a:rPr lang="en-US" altLang="en-US" sz="3200" dirty="0">
                <a:solidFill>
                  <a:srgbClr val="FF0000"/>
                </a:solidFill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  <a:cs typeface="Arial" panose="020B0604020202020204" pitchFamily="34" charset="0"/>
              </a:rPr>
              <a:t>toàn</a:t>
            </a:r>
            <a:r>
              <a:rPr lang="en-US" altLang="en-US" sz="3200" dirty="0">
                <a:solidFill>
                  <a:srgbClr val="FF0000"/>
                </a:solidFill>
                <a:cs typeface="Arial" panose="020B0604020202020204" pitchFamily="34" charset="0"/>
              </a:rPr>
              <a:t>.</a:t>
            </a:r>
            <a:endParaRPr lang="en-US" altLang="en-US" sz="3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75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xmlns="" id="{5780D83C-1408-4BC5-BCE0-D5E619D812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242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xmlns="" id="{3B8AA250-B14D-4C9C-95B0-726F969A2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43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9223" name="Text Box 7">
            <a:extLst>
              <a:ext uri="{FF2B5EF4-FFF2-40B4-BE49-F238E27FC236}">
                <a16:creationId xmlns:a16="http://schemas.microsoft.com/office/drawing/2014/main" xmlns="" id="{11E66AAA-A4C4-49F4-9AC0-BDDA12A851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296562"/>
            <a:ext cx="9144000" cy="2408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400" b="1" i="1" dirty="0">
                <a:solidFill>
                  <a:srgbClr val="FF0000"/>
                </a:solidFill>
              </a:rPr>
              <a:t>  </a:t>
            </a:r>
            <a:r>
              <a:rPr lang="vi-VN" altLang="en-US" sz="2800" b="1" i="1" dirty="0">
                <a:solidFill>
                  <a:srgbClr val="FF0000"/>
                </a:solidFill>
              </a:rPr>
              <a:t>Phản ứng</a:t>
            </a:r>
            <a:r>
              <a:rPr lang="en-US" altLang="en-US" sz="2800" dirty="0"/>
              <a:t>: </a:t>
            </a:r>
            <a:r>
              <a:rPr lang="es-ES" altLang="en-US" sz="2800" dirty="0"/>
              <a:t>2 NO</a:t>
            </a:r>
            <a:r>
              <a:rPr lang="es-ES" altLang="en-US" sz="2800" baseline="-25000" dirty="0"/>
              <a:t>2(k)</a:t>
            </a:r>
            <a:r>
              <a:rPr lang="es-ES" altLang="en-US" sz="2800" dirty="0"/>
              <a:t> 	↔</a:t>
            </a:r>
            <a:r>
              <a:rPr lang="vi-VN" altLang="en-US" sz="2800" dirty="0"/>
              <a:t> </a:t>
            </a:r>
            <a:r>
              <a:rPr lang="es-ES" altLang="en-US" sz="2800" dirty="0"/>
              <a:t>N</a:t>
            </a:r>
            <a:r>
              <a:rPr lang="es-ES" altLang="en-US" sz="2800" baseline="-25000" dirty="0"/>
              <a:t>2</a:t>
            </a:r>
            <a:r>
              <a:rPr lang="es-ES" altLang="en-US" sz="2800" dirty="0"/>
              <a:t>O</a:t>
            </a:r>
            <a:r>
              <a:rPr lang="es-ES" altLang="en-US" sz="2800" baseline="-25000" dirty="0"/>
              <a:t>4(k) </a:t>
            </a:r>
            <a:r>
              <a:rPr lang="es-ES" altLang="en-US" sz="2800" dirty="0"/>
              <a:t>; ∆G</a:t>
            </a:r>
            <a:r>
              <a:rPr lang="es-ES" altLang="en-US" sz="2800" baseline="30000" dirty="0"/>
              <a:t>0</a:t>
            </a:r>
            <a:r>
              <a:rPr lang="es-ES" altLang="en-US" sz="2800" baseline="-25000" dirty="0"/>
              <a:t>298</a:t>
            </a:r>
            <a:r>
              <a:rPr lang="es-ES" altLang="en-US" sz="2800" dirty="0"/>
              <a:t> = -5,4123 kJ</a:t>
            </a:r>
            <a:endParaRPr lang="vi-VN" altLang="en-US" sz="28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vi-VN" altLang="en-US" sz="2800" dirty="0">
                <a:solidFill>
                  <a:srgbClr val="0000FF"/>
                </a:solidFill>
              </a:rPr>
              <a:t>Tính K</a:t>
            </a:r>
            <a:r>
              <a:rPr lang="vi-VN" altLang="en-US" sz="2800" baseline="-25000" dirty="0">
                <a:solidFill>
                  <a:srgbClr val="0000FF"/>
                </a:solidFill>
              </a:rPr>
              <a:t>p</a:t>
            </a:r>
            <a:r>
              <a:rPr lang="vi-VN" altLang="en-US" sz="2800" dirty="0">
                <a:solidFill>
                  <a:srgbClr val="0000FF"/>
                </a:solidFill>
              </a:rPr>
              <a:t> ở 298K .</a:t>
            </a:r>
            <a:r>
              <a:rPr lang="en-US" altLang="en-US" sz="2800" dirty="0">
                <a:solidFill>
                  <a:srgbClr val="0000FF"/>
                </a:solidFill>
              </a:rPr>
              <a:t> Cho </a:t>
            </a:r>
            <a:r>
              <a:rPr lang="en-US" altLang="en-US" sz="2800" dirty="0" err="1">
                <a:solidFill>
                  <a:srgbClr val="0000FF"/>
                </a:solidFill>
              </a:rPr>
              <a:t>biết</a:t>
            </a:r>
            <a:r>
              <a:rPr lang="en-US" altLang="en-US" sz="2800" dirty="0">
                <a:solidFill>
                  <a:srgbClr val="0000FF"/>
                </a:solidFill>
              </a:rPr>
              <a:t> R = 8,314 J/</a:t>
            </a:r>
            <a:r>
              <a:rPr lang="en-US" altLang="en-US" sz="2800" dirty="0" err="1">
                <a:solidFill>
                  <a:srgbClr val="0000FF"/>
                </a:solidFill>
              </a:rPr>
              <a:t>mol.K</a:t>
            </a:r>
            <a:endParaRPr lang="vi-VN" altLang="en-US" sz="2800" dirty="0">
              <a:solidFill>
                <a:srgbClr val="0000FF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vi-VN" altLang="en-US" sz="2800" dirty="0">
                <a:solidFill>
                  <a:srgbClr val="006600"/>
                </a:solidFill>
              </a:rPr>
              <a:t>Xác định chiều pư: </a:t>
            </a:r>
            <a:r>
              <a:rPr lang="en-US" altLang="en-US" sz="2800" dirty="0">
                <a:solidFill>
                  <a:srgbClr val="006600"/>
                </a:solidFill>
              </a:rPr>
              <a:t>P(NO</a:t>
            </a:r>
            <a:r>
              <a:rPr lang="en-US" altLang="en-US" sz="2800" baseline="-25000" dirty="0">
                <a:solidFill>
                  <a:srgbClr val="006600"/>
                </a:solidFill>
              </a:rPr>
              <a:t>2</a:t>
            </a:r>
            <a:r>
              <a:rPr lang="en-US" altLang="en-US" sz="2800" dirty="0">
                <a:solidFill>
                  <a:srgbClr val="006600"/>
                </a:solidFill>
              </a:rPr>
              <a:t>) = 0,1atm ; P(N</a:t>
            </a:r>
            <a:r>
              <a:rPr lang="en-US" altLang="en-US" sz="2800" baseline="-25000" dirty="0">
                <a:solidFill>
                  <a:srgbClr val="006600"/>
                </a:solidFill>
              </a:rPr>
              <a:t>2</a:t>
            </a:r>
            <a:r>
              <a:rPr lang="en-US" altLang="en-US" sz="2800" dirty="0">
                <a:solidFill>
                  <a:srgbClr val="006600"/>
                </a:solidFill>
              </a:rPr>
              <a:t>O</a:t>
            </a:r>
            <a:r>
              <a:rPr lang="en-US" altLang="en-US" sz="2800" baseline="-25000" dirty="0">
                <a:solidFill>
                  <a:srgbClr val="006600"/>
                </a:solidFill>
              </a:rPr>
              <a:t>4</a:t>
            </a:r>
            <a:r>
              <a:rPr lang="en-US" altLang="en-US" sz="2800" dirty="0">
                <a:solidFill>
                  <a:srgbClr val="006600"/>
                </a:solidFill>
              </a:rPr>
              <a:t>) =1</a:t>
            </a:r>
            <a:r>
              <a:rPr lang="vi-VN" altLang="en-US" sz="2800" dirty="0">
                <a:solidFill>
                  <a:srgbClr val="006600"/>
                </a:solidFill>
              </a:rPr>
              <a:t> </a:t>
            </a:r>
            <a:r>
              <a:rPr lang="en-US" altLang="en-US" sz="2800" dirty="0">
                <a:solidFill>
                  <a:srgbClr val="006600"/>
                </a:solidFill>
              </a:rPr>
              <a:t>atm</a:t>
            </a:r>
            <a:r>
              <a:rPr lang="vi-VN" altLang="en-US" sz="2800" dirty="0">
                <a:solidFill>
                  <a:srgbClr val="006600"/>
                </a:solidFill>
              </a:rPr>
              <a:t>.</a:t>
            </a:r>
            <a:r>
              <a:rPr lang="en-US" altLang="en-US" sz="2800" dirty="0"/>
              <a:t> </a:t>
            </a:r>
            <a:endParaRPr lang="vi-VN" altLang="en-US" sz="28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s-ES" altLang="en-US" sz="2800" baseline="-25000" dirty="0"/>
          </a:p>
        </p:txBody>
      </p:sp>
      <p:sp>
        <p:nvSpPr>
          <p:cNvPr id="46087" name="Rectangle 8">
            <a:extLst>
              <a:ext uri="{FF2B5EF4-FFF2-40B4-BE49-F238E27FC236}">
                <a16:creationId xmlns:a16="http://schemas.microsoft.com/office/drawing/2014/main" xmlns="" id="{3E866E4F-0639-48C4-8C23-98812B5985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6088" name="Rectangle 10">
            <a:extLst>
              <a:ext uri="{FF2B5EF4-FFF2-40B4-BE49-F238E27FC236}">
                <a16:creationId xmlns:a16="http://schemas.microsoft.com/office/drawing/2014/main" xmlns="" id="{460D9597-A19D-4276-98BF-9DB5ABF92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670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6089" name="Rectangle 12">
            <a:extLst>
              <a:ext uri="{FF2B5EF4-FFF2-40B4-BE49-F238E27FC236}">
                <a16:creationId xmlns:a16="http://schemas.microsoft.com/office/drawing/2014/main" xmlns="" id="{CE43C97E-848A-4776-A980-90CD3A4922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8" y="19050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9229" name="Object 13">
            <a:extLst>
              <a:ext uri="{FF2B5EF4-FFF2-40B4-BE49-F238E27FC236}">
                <a16:creationId xmlns:a16="http://schemas.microsoft.com/office/drawing/2014/main" xmlns="" id="{F3BE183C-7E09-4CC1-8DA9-E936F3AA2A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258778"/>
              </p:ext>
            </p:extLst>
          </p:nvPr>
        </p:nvGraphicFramePr>
        <p:xfrm>
          <a:off x="452391" y="2817314"/>
          <a:ext cx="5060163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473" name="Equation" r:id="rId4" imgW="2324100" imgH="444500" progId="Equation.3">
                  <p:embed/>
                </p:oleObj>
              </mc:Choice>
              <mc:Fallback>
                <p:oleObj name="Equation" r:id="rId4" imgW="2324100" imgH="4445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391" y="2817314"/>
                        <a:ext cx="5060163" cy="1004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91" name="Rectangle 14">
            <a:extLst>
              <a:ext uri="{FF2B5EF4-FFF2-40B4-BE49-F238E27FC236}">
                <a16:creationId xmlns:a16="http://schemas.microsoft.com/office/drawing/2014/main" xmlns="" id="{AD8E6A8D-67AC-45D8-96F0-57696933A5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527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9231" name="Object 15">
            <a:extLst>
              <a:ext uri="{FF2B5EF4-FFF2-40B4-BE49-F238E27FC236}">
                <a16:creationId xmlns:a16="http://schemas.microsoft.com/office/drawing/2014/main" xmlns="" id="{60AA130C-102C-45DA-8BDE-4AF253DAE9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8519740"/>
              </p:ext>
            </p:extLst>
          </p:nvPr>
        </p:nvGraphicFramePr>
        <p:xfrm>
          <a:off x="6319838" y="3155950"/>
          <a:ext cx="1914525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474" name="Equation" r:id="rId6" imgW="749160" imgH="241200" progId="Equation.3">
                  <p:embed/>
                </p:oleObj>
              </mc:Choice>
              <mc:Fallback>
                <p:oleObj name="Equation" r:id="rId6" imgW="749160" imgH="2412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9838" y="3155950"/>
                        <a:ext cx="1914525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="" id="{1056A5FF-883E-4A6F-9507-ED2A06FB03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7200" y="4498362"/>
                <a:ext cx="8534400" cy="18933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150000"/>
                  </a:lnSpc>
                  <a:spcBef>
                    <a:spcPct val="0"/>
                  </a:spcBef>
                  <a:buFontTx/>
                  <a:buNone/>
                </a:pPr>
                <a:r>
                  <a:rPr lang="vi-VN" altLang="en-US" dirty="0"/>
                  <a:t>                </a:t>
                </a:r>
                <a:r>
                  <a:rPr lang="en-US" altLang="en-US" dirty="0" err="1">
                    <a:solidFill>
                      <a:srgbClr val="CC00FF"/>
                    </a:solidFill>
                  </a:rPr>
                  <a:t>Q</a:t>
                </a:r>
                <a:r>
                  <a:rPr lang="en-US" altLang="en-US" baseline="-25000" dirty="0" err="1">
                    <a:solidFill>
                      <a:srgbClr val="CC00FF"/>
                    </a:solidFill>
                  </a:rPr>
                  <a:t>p</a:t>
                </a:r>
                <a:r>
                  <a:rPr lang="en-US" altLang="en-US" dirty="0">
                    <a:solidFill>
                      <a:srgbClr val="CC00FF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i="1" smtClean="0">
                            <a:solidFill>
                              <a:srgbClr val="CC00FF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vi-VN" altLang="en-US" b="0" i="1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en-US" i="1" smtClean="0">
                                <a:solidFill>
                                  <a:srgbClr val="CC00FF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vi-VN" altLang="en-US" b="0" i="1" smtClean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</a:rPr>
                              <m:t>[0,1]</m:t>
                            </m:r>
                          </m:e>
                          <m:sup>
                            <m:r>
                              <a:rPr lang="vi-VN" altLang="en-US" b="0" i="1" smtClean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vi-VN" altLang="en-US" dirty="0">
                    <a:solidFill>
                      <a:srgbClr val="CC00FF"/>
                    </a:solidFill>
                  </a:rPr>
                  <a:t> = </a:t>
                </a:r>
                <a:r>
                  <a:rPr lang="en-US" altLang="en-US" dirty="0">
                    <a:solidFill>
                      <a:srgbClr val="CC00FF"/>
                    </a:solidFill>
                  </a:rPr>
                  <a:t>100 &gt; </a:t>
                </a:r>
                <a:r>
                  <a:rPr lang="en-US" altLang="en-US" dirty="0" err="1">
                    <a:solidFill>
                      <a:srgbClr val="CC00FF"/>
                    </a:solidFill>
                  </a:rPr>
                  <a:t>K</a:t>
                </a:r>
                <a:r>
                  <a:rPr lang="en-US" altLang="en-US" baseline="-25000" dirty="0" err="1">
                    <a:solidFill>
                      <a:srgbClr val="CC00FF"/>
                    </a:solidFill>
                  </a:rPr>
                  <a:t>p</a:t>
                </a:r>
                <a:r>
                  <a:rPr lang="en-US" altLang="en-US" dirty="0">
                    <a:solidFill>
                      <a:srgbClr val="CC00FF"/>
                    </a:solidFill>
                  </a:rPr>
                  <a:t> = 8,9</a:t>
                </a:r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b="1" i="1" dirty="0">
                    <a:solidFill>
                      <a:srgbClr val="FF0000"/>
                    </a:solidFill>
                  </a:rPr>
                  <a:t>→ </a:t>
                </a:r>
                <a:r>
                  <a:rPr lang="en-US" altLang="en-US" b="1" i="1" dirty="0" err="1">
                    <a:solidFill>
                      <a:srgbClr val="FF0000"/>
                    </a:solidFill>
                  </a:rPr>
                  <a:t>Phản</a:t>
                </a:r>
                <a:r>
                  <a:rPr lang="en-US" altLang="en-US" b="1" i="1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en-US" b="1" i="1" dirty="0" err="1">
                    <a:solidFill>
                      <a:srgbClr val="FF0000"/>
                    </a:solidFill>
                  </a:rPr>
                  <a:t>ứng</a:t>
                </a:r>
                <a:r>
                  <a:rPr lang="en-US" altLang="en-US" b="1" i="1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en-US" b="1" i="1" dirty="0" err="1">
                    <a:solidFill>
                      <a:srgbClr val="FF0000"/>
                    </a:solidFill>
                  </a:rPr>
                  <a:t>tự</a:t>
                </a:r>
                <a:r>
                  <a:rPr lang="en-US" altLang="en-US" b="1" i="1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en-US" b="1" i="1" dirty="0" err="1">
                    <a:solidFill>
                      <a:srgbClr val="FF0000"/>
                    </a:solidFill>
                  </a:rPr>
                  <a:t>phát</a:t>
                </a:r>
                <a:r>
                  <a:rPr lang="en-US" altLang="en-US" b="1" i="1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en-US" b="1" i="1" dirty="0" err="1">
                    <a:solidFill>
                      <a:srgbClr val="FF0000"/>
                    </a:solidFill>
                  </a:rPr>
                  <a:t>theo</a:t>
                </a:r>
                <a:r>
                  <a:rPr lang="en-US" altLang="en-US" b="1" i="1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en-US" b="1" i="1" dirty="0" err="1">
                    <a:solidFill>
                      <a:srgbClr val="FF0000"/>
                    </a:solidFill>
                  </a:rPr>
                  <a:t>chiều</a:t>
                </a:r>
                <a:r>
                  <a:rPr lang="en-US" altLang="en-US" b="1" i="1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en-US" b="1" i="1" dirty="0" err="1">
                    <a:solidFill>
                      <a:srgbClr val="FF0000"/>
                    </a:solidFill>
                  </a:rPr>
                  <a:t>nghịch</a:t>
                </a:r>
                <a:r>
                  <a:rPr lang="en-US" altLang="en-US" b="1" i="1" dirty="0">
                    <a:solidFill>
                      <a:srgbClr val="FF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056A5FF-883E-4A6F-9507-ED2A06FB03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4498362"/>
                <a:ext cx="8534400" cy="1893339"/>
              </a:xfrm>
              <a:prstGeom prst="rect">
                <a:avLst/>
              </a:prstGeom>
              <a:blipFill>
                <a:blip r:embed="rId8"/>
                <a:stretch>
                  <a:fillRect l="-1786" b="-900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CEF612C1-3C6E-46DE-BE4C-E896E7B76E6D}"/>
              </a:ext>
            </a:extLst>
          </p:cNvPr>
          <p:cNvSpPr txBox="1"/>
          <p:nvPr/>
        </p:nvSpPr>
        <p:spPr>
          <a:xfrm>
            <a:off x="94227" y="1782790"/>
            <a:ext cx="8991600" cy="8002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vi-VN" altLang="en-US" sz="2800" dirty="0">
                <a:solidFill>
                  <a:srgbClr val="CC00FF"/>
                </a:solidFill>
              </a:rPr>
              <a:t>Xác định chiều pư: </a:t>
            </a:r>
            <a:r>
              <a:rPr lang="en-US" altLang="en-US" sz="2800" dirty="0">
                <a:solidFill>
                  <a:srgbClr val="CC00FF"/>
                </a:solidFill>
              </a:rPr>
              <a:t>P(NO</a:t>
            </a:r>
            <a:r>
              <a:rPr lang="en-US" altLang="en-US" sz="2800" baseline="-25000" dirty="0">
                <a:solidFill>
                  <a:srgbClr val="CC00FF"/>
                </a:solidFill>
              </a:rPr>
              <a:t>2</a:t>
            </a:r>
            <a:r>
              <a:rPr lang="en-US" altLang="en-US" sz="2800" dirty="0">
                <a:solidFill>
                  <a:srgbClr val="CC00FF"/>
                </a:solidFill>
              </a:rPr>
              <a:t>) = 1atm ; P(N</a:t>
            </a:r>
            <a:r>
              <a:rPr lang="en-US" altLang="en-US" sz="2800" baseline="-25000" dirty="0">
                <a:solidFill>
                  <a:srgbClr val="CC00FF"/>
                </a:solidFill>
              </a:rPr>
              <a:t>2</a:t>
            </a:r>
            <a:r>
              <a:rPr lang="en-US" altLang="en-US" sz="2800" dirty="0">
                <a:solidFill>
                  <a:srgbClr val="CC00FF"/>
                </a:solidFill>
              </a:rPr>
              <a:t>O</a:t>
            </a:r>
            <a:r>
              <a:rPr lang="en-US" altLang="en-US" sz="2800" baseline="-25000" dirty="0">
                <a:solidFill>
                  <a:srgbClr val="CC00FF"/>
                </a:solidFill>
              </a:rPr>
              <a:t>4</a:t>
            </a:r>
            <a:r>
              <a:rPr lang="en-US" altLang="en-US" sz="2800" dirty="0">
                <a:solidFill>
                  <a:srgbClr val="CC00FF"/>
                </a:solidFill>
              </a:rPr>
              <a:t>) =</a:t>
            </a:r>
            <a:r>
              <a:rPr lang="vi-VN" altLang="en-US" sz="2800" dirty="0">
                <a:solidFill>
                  <a:srgbClr val="CC00FF"/>
                </a:solidFill>
              </a:rPr>
              <a:t> 0,</a:t>
            </a:r>
            <a:r>
              <a:rPr lang="en-US" altLang="en-US" sz="2800" dirty="0">
                <a:solidFill>
                  <a:srgbClr val="CC00FF"/>
                </a:solidFill>
              </a:rPr>
              <a:t>1</a:t>
            </a:r>
            <a:r>
              <a:rPr lang="vi-VN" altLang="en-US" sz="2800" dirty="0">
                <a:solidFill>
                  <a:srgbClr val="CC00FF"/>
                </a:solidFill>
              </a:rPr>
              <a:t> </a:t>
            </a:r>
            <a:r>
              <a:rPr lang="en-US" altLang="en-US" sz="2800" dirty="0">
                <a:solidFill>
                  <a:srgbClr val="CC00FF"/>
                </a:solidFill>
              </a:rPr>
              <a:t>atm</a:t>
            </a:r>
            <a:r>
              <a:rPr lang="vi-VN" altLang="en-US" sz="2800" dirty="0">
                <a:solidFill>
                  <a:srgbClr val="CC00FF"/>
                </a:solidFill>
              </a:rPr>
              <a:t>.</a:t>
            </a:r>
            <a:r>
              <a:rPr lang="en-US" altLang="en-US" sz="2800" dirty="0">
                <a:solidFill>
                  <a:srgbClr val="CC00FF"/>
                </a:solidFill>
              </a:rPr>
              <a:t> </a:t>
            </a:r>
            <a:endParaRPr lang="es-ES" altLang="en-US" sz="2800" baseline="-25000" dirty="0">
              <a:solidFill>
                <a:srgbClr val="CC00FF"/>
              </a:solidFill>
            </a:endParaRP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D76529AE-2625-404A-84F8-967AC1D139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438" y="4453006"/>
                <a:ext cx="8534400" cy="189333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150000"/>
                  </a:lnSpc>
                  <a:spcBef>
                    <a:spcPct val="0"/>
                  </a:spcBef>
                  <a:buFontTx/>
                  <a:buNone/>
                </a:pPr>
                <a:r>
                  <a:rPr lang="vi-VN" altLang="en-US" dirty="0"/>
                  <a:t>                </a:t>
                </a:r>
                <a:r>
                  <a:rPr lang="en-US" altLang="en-US" dirty="0" err="1">
                    <a:solidFill>
                      <a:srgbClr val="CC00FF"/>
                    </a:solidFill>
                  </a:rPr>
                  <a:t>Q</a:t>
                </a:r>
                <a:r>
                  <a:rPr lang="en-US" altLang="en-US" baseline="-25000" dirty="0" err="1">
                    <a:solidFill>
                      <a:srgbClr val="CC00FF"/>
                    </a:solidFill>
                  </a:rPr>
                  <a:t>p</a:t>
                </a:r>
                <a:r>
                  <a:rPr lang="en-US" altLang="en-US" dirty="0">
                    <a:solidFill>
                      <a:srgbClr val="CC00FF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i="1" smtClean="0">
                            <a:solidFill>
                              <a:srgbClr val="CC00FF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vi-VN" altLang="en-US" b="0" i="1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0,1</m:t>
                        </m:r>
                      </m:num>
                      <m:den>
                        <m:sSup>
                          <m:sSupPr>
                            <m:ctrlPr>
                              <a:rPr lang="en-US" altLang="en-US" i="1" smtClean="0">
                                <a:solidFill>
                                  <a:srgbClr val="CC00FF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vi-VN" altLang="en-US" b="0" i="1" smtClean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</a:rPr>
                              <m:t>[1]</m:t>
                            </m:r>
                          </m:e>
                          <m:sup>
                            <m:r>
                              <a:rPr lang="vi-VN" altLang="en-US" b="0" i="1" smtClean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vi-VN" altLang="en-US" dirty="0">
                    <a:solidFill>
                      <a:srgbClr val="CC00FF"/>
                    </a:solidFill>
                  </a:rPr>
                  <a:t> = 0,</a:t>
                </a:r>
                <a:r>
                  <a:rPr lang="en-US" altLang="en-US" dirty="0">
                    <a:solidFill>
                      <a:srgbClr val="CC00FF"/>
                    </a:solidFill>
                  </a:rPr>
                  <a:t>1 </a:t>
                </a:r>
                <a:r>
                  <a:rPr lang="vi-VN" altLang="en-US" dirty="0">
                    <a:solidFill>
                      <a:srgbClr val="CC00FF"/>
                    </a:solidFill>
                  </a:rPr>
                  <a:t>&lt;</a:t>
                </a:r>
                <a:r>
                  <a:rPr lang="en-US" altLang="en-US" dirty="0">
                    <a:solidFill>
                      <a:srgbClr val="CC00FF"/>
                    </a:solidFill>
                  </a:rPr>
                  <a:t> </a:t>
                </a:r>
                <a:r>
                  <a:rPr lang="en-US" altLang="en-US" dirty="0" err="1">
                    <a:solidFill>
                      <a:srgbClr val="CC00FF"/>
                    </a:solidFill>
                  </a:rPr>
                  <a:t>K</a:t>
                </a:r>
                <a:r>
                  <a:rPr lang="en-US" altLang="en-US" baseline="-25000" dirty="0" err="1">
                    <a:solidFill>
                      <a:srgbClr val="CC00FF"/>
                    </a:solidFill>
                  </a:rPr>
                  <a:t>p</a:t>
                </a:r>
                <a:r>
                  <a:rPr lang="en-US" altLang="en-US" dirty="0">
                    <a:solidFill>
                      <a:srgbClr val="CC00FF"/>
                    </a:solidFill>
                  </a:rPr>
                  <a:t> = 8,9</a:t>
                </a:r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  <a:buFontTx/>
                  <a:buNone/>
                </a:pPr>
                <a:r>
                  <a:rPr lang="vi-VN" altLang="en-US" b="1" i="1" dirty="0">
                    <a:solidFill>
                      <a:srgbClr val="FF0000"/>
                    </a:solidFill>
                  </a:rPr>
                  <a:t>      </a:t>
                </a:r>
                <a:r>
                  <a:rPr lang="en-US" altLang="en-US" b="1" i="1" dirty="0">
                    <a:solidFill>
                      <a:srgbClr val="FF0000"/>
                    </a:solidFill>
                  </a:rPr>
                  <a:t>→ </a:t>
                </a:r>
                <a:r>
                  <a:rPr lang="en-US" altLang="en-US" b="1" i="1" dirty="0" err="1">
                    <a:solidFill>
                      <a:srgbClr val="FF0000"/>
                    </a:solidFill>
                  </a:rPr>
                  <a:t>Phản</a:t>
                </a:r>
                <a:r>
                  <a:rPr lang="en-US" altLang="en-US" b="1" i="1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en-US" b="1" i="1" dirty="0" err="1">
                    <a:solidFill>
                      <a:srgbClr val="FF0000"/>
                    </a:solidFill>
                  </a:rPr>
                  <a:t>ứng</a:t>
                </a:r>
                <a:r>
                  <a:rPr lang="en-US" altLang="en-US" b="1" i="1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en-US" b="1" i="1" dirty="0" err="1">
                    <a:solidFill>
                      <a:srgbClr val="FF0000"/>
                    </a:solidFill>
                  </a:rPr>
                  <a:t>tự</a:t>
                </a:r>
                <a:r>
                  <a:rPr lang="en-US" altLang="en-US" b="1" i="1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en-US" b="1" i="1" dirty="0" err="1">
                    <a:solidFill>
                      <a:srgbClr val="FF0000"/>
                    </a:solidFill>
                  </a:rPr>
                  <a:t>phát</a:t>
                </a:r>
                <a:r>
                  <a:rPr lang="en-US" altLang="en-US" b="1" i="1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en-US" b="1" i="1" dirty="0" err="1">
                    <a:solidFill>
                      <a:srgbClr val="FF0000"/>
                    </a:solidFill>
                  </a:rPr>
                  <a:t>theo</a:t>
                </a:r>
                <a:r>
                  <a:rPr lang="en-US" altLang="en-US" b="1" i="1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en-US" b="1" i="1" dirty="0" err="1">
                    <a:solidFill>
                      <a:srgbClr val="FF0000"/>
                    </a:solidFill>
                  </a:rPr>
                  <a:t>chiều</a:t>
                </a:r>
                <a:r>
                  <a:rPr lang="en-US" altLang="en-US" b="1" i="1" dirty="0">
                    <a:solidFill>
                      <a:srgbClr val="FF0000"/>
                    </a:solidFill>
                  </a:rPr>
                  <a:t> </a:t>
                </a:r>
                <a:r>
                  <a:rPr lang="vi-VN" altLang="en-US" b="1" i="1" dirty="0">
                    <a:solidFill>
                      <a:srgbClr val="FF0000"/>
                    </a:solidFill>
                  </a:rPr>
                  <a:t>thuận</a:t>
                </a:r>
                <a:r>
                  <a:rPr lang="en-US" altLang="en-US" b="1" i="1" dirty="0">
                    <a:solidFill>
                      <a:srgbClr val="FF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76529AE-2625-404A-84F8-967AC1D139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438" y="4453006"/>
                <a:ext cx="8534400" cy="1893339"/>
              </a:xfrm>
              <a:prstGeom prst="rect">
                <a:avLst/>
              </a:prstGeom>
              <a:blipFill>
                <a:blip r:embed="rId9"/>
                <a:stretch>
                  <a:fillRect b="-900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219" name="Object 3">
            <a:extLst>
              <a:ext uri="{FF2B5EF4-FFF2-40B4-BE49-F238E27FC236}">
                <a16:creationId xmlns:a16="http://schemas.microsoft.com/office/drawing/2014/main" xmlns="" id="{661A45D3-24BD-4081-8C87-2973C2BBA3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143800"/>
              </p:ext>
            </p:extLst>
          </p:nvPr>
        </p:nvGraphicFramePr>
        <p:xfrm>
          <a:off x="3051175" y="3741738"/>
          <a:ext cx="2435225" cy="1077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475" name="Equation" r:id="rId10" imgW="1054080" imgH="469800" progId="Equation.3">
                  <p:embed/>
                </p:oleObj>
              </mc:Choice>
              <mc:Fallback>
                <p:oleObj name="Equation" r:id="rId10" imgW="1054080" imgH="469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1175" y="3741738"/>
                        <a:ext cx="2435225" cy="1077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1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xmlns="" id="{97D91241-2E64-4E02-8B5C-EBF33647F6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69215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QUAN HỆ GIỮA HẰNG SỐ CÂN BẰNG VÀ NHIỆT ĐỘ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xmlns="" id="{14004EAF-454F-4D41-BEAA-3D3D169DD6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908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10244" name="Object 4">
            <a:extLst>
              <a:ext uri="{FF2B5EF4-FFF2-40B4-BE49-F238E27FC236}">
                <a16:creationId xmlns:a16="http://schemas.microsoft.com/office/drawing/2014/main" xmlns="" id="{89D715E6-337E-47B7-9272-6DEA4D81D0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3556467"/>
              </p:ext>
            </p:extLst>
          </p:nvPr>
        </p:nvGraphicFramePr>
        <p:xfrm>
          <a:off x="1540949" y="990600"/>
          <a:ext cx="3252787" cy="5938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00" name="Equation" r:id="rId4" imgW="1231366" imgH="203112" progId="Equation.3">
                  <p:embed/>
                </p:oleObj>
              </mc:Choice>
              <mc:Fallback>
                <p:oleObj name="Equation" r:id="rId4" imgW="1231366" imgH="20311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0949" y="990600"/>
                        <a:ext cx="3252787" cy="5938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3" name="Rectangle 5">
            <a:extLst>
              <a:ext uri="{FF2B5EF4-FFF2-40B4-BE49-F238E27FC236}">
                <a16:creationId xmlns:a16="http://schemas.microsoft.com/office/drawing/2014/main" xmlns="" id="{20F1488A-7BDB-416B-819E-2AB8B72438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43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8134" name="Rectangle 7">
            <a:extLst>
              <a:ext uri="{FF2B5EF4-FFF2-40B4-BE49-F238E27FC236}">
                <a16:creationId xmlns:a16="http://schemas.microsoft.com/office/drawing/2014/main" xmlns="" id="{E07AFA7F-03F5-4BDA-84A1-574A590D2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145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8135" name="AutoShape 8">
            <a:extLst>
              <a:ext uri="{FF2B5EF4-FFF2-40B4-BE49-F238E27FC236}">
                <a16:creationId xmlns:a16="http://schemas.microsoft.com/office/drawing/2014/main" xmlns="" id="{8C7E1C69-283F-4A66-B4CA-BD5A5AFFA4E7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1835150" y="1916113"/>
            <a:ext cx="3168650" cy="298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xmlns="" id="{B7504A60-1C6D-48D9-AD99-5F46D1C76EFE}"/>
              </a:ext>
            </a:extLst>
          </p:cNvPr>
          <p:cNvGrpSpPr>
            <a:grpSpLocks/>
          </p:cNvGrpSpPr>
          <p:nvPr/>
        </p:nvGrpSpPr>
        <p:grpSpPr bwMode="auto">
          <a:xfrm>
            <a:off x="1177925" y="4375836"/>
            <a:ext cx="4191000" cy="1295400"/>
            <a:chOff x="1183" y="2468"/>
            <a:chExt cx="1934" cy="592"/>
          </a:xfrm>
          <a:noFill/>
        </p:grpSpPr>
        <p:sp>
          <p:nvSpPr>
            <p:cNvPr id="46126" name="Line 10">
              <a:extLst>
                <a:ext uri="{FF2B5EF4-FFF2-40B4-BE49-F238E27FC236}">
                  <a16:creationId xmlns:a16="http://schemas.microsoft.com/office/drawing/2014/main" xmlns="" id="{2E003868-1D96-497F-B1E1-B1911B8B0A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5" y="2762"/>
              <a:ext cx="279" cy="1"/>
            </a:xfrm>
            <a:prstGeom prst="line">
              <a:avLst/>
            </a:prstGeom>
            <a:grp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6127" name="Line 11">
              <a:extLst>
                <a:ext uri="{FF2B5EF4-FFF2-40B4-BE49-F238E27FC236}">
                  <a16:creationId xmlns:a16="http://schemas.microsoft.com/office/drawing/2014/main" xmlns="" id="{FA2FDD2E-4C90-4213-ADAB-D461C1B659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8" y="2762"/>
              <a:ext cx="416" cy="1"/>
            </a:xfrm>
            <a:prstGeom prst="line">
              <a:avLst/>
            </a:prstGeom>
            <a:grp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6128" name="Line 12">
              <a:extLst>
                <a:ext uri="{FF2B5EF4-FFF2-40B4-BE49-F238E27FC236}">
                  <a16:creationId xmlns:a16="http://schemas.microsoft.com/office/drawing/2014/main" xmlns="" id="{D8AE1E5B-175D-4BF7-A523-A2BD7233A8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6" y="2762"/>
              <a:ext cx="184" cy="1"/>
            </a:xfrm>
            <a:prstGeom prst="line">
              <a:avLst/>
            </a:prstGeom>
            <a:grp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6129" name="Line 13">
              <a:extLst>
                <a:ext uri="{FF2B5EF4-FFF2-40B4-BE49-F238E27FC236}">
                  <a16:creationId xmlns:a16="http://schemas.microsoft.com/office/drawing/2014/main" xmlns="" id="{811A0549-BE70-4B9F-8630-4D7512B41D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8" y="2762"/>
              <a:ext cx="207" cy="1"/>
            </a:xfrm>
            <a:prstGeom prst="line">
              <a:avLst/>
            </a:prstGeom>
            <a:grp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6130" name="Rectangle 14">
              <a:extLst>
                <a:ext uri="{FF2B5EF4-FFF2-40B4-BE49-F238E27FC236}">
                  <a16:creationId xmlns:a16="http://schemas.microsoft.com/office/drawing/2014/main" xmlns="" id="{CA26B7EB-2019-4252-A1AC-422D594262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0" y="2689"/>
              <a:ext cx="77" cy="24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2500">
                  <a:solidFill>
                    <a:srgbClr val="000000"/>
                  </a:solidFill>
                  <a:latin typeface="Symbol" panose="05050102010706020507" pitchFamily="18" charset="2"/>
                </a:rPr>
                <a:t>÷</a:t>
              </a:r>
              <a:endParaRPr lang="en-US" altLang="en-US" sz="1800"/>
            </a:p>
          </p:txBody>
        </p:sp>
        <p:sp>
          <p:nvSpPr>
            <p:cNvPr id="46131" name="Rectangle 15">
              <a:extLst>
                <a:ext uri="{FF2B5EF4-FFF2-40B4-BE49-F238E27FC236}">
                  <a16:creationId xmlns:a16="http://schemas.microsoft.com/office/drawing/2014/main" xmlns="" id="{E124FCB8-EE66-44D0-A4BD-0BC366903D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0" y="2598"/>
              <a:ext cx="77" cy="24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2500">
                  <a:solidFill>
                    <a:srgbClr val="000000"/>
                  </a:solidFill>
                  <a:latin typeface="Symbol" panose="05050102010706020507" pitchFamily="18" charset="2"/>
                </a:rPr>
                <a:t>÷</a:t>
              </a:r>
              <a:endParaRPr lang="en-US" altLang="en-US" sz="1800"/>
            </a:p>
          </p:txBody>
        </p:sp>
        <p:sp>
          <p:nvSpPr>
            <p:cNvPr id="46132" name="Rectangle 16">
              <a:extLst>
                <a:ext uri="{FF2B5EF4-FFF2-40B4-BE49-F238E27FC236}">
                  <a16:creationId xmlns:a16="http://schemas.microsoft.com/office/drawing/2014/main" xmlns="" id="{67951C9D-252B-42B7-A2E4-FF5A4844D3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0" y="2819"/>
              <a:ext cx="77" cy="24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2500" dirty="0">
                  <a:solidFill>
                    <a:srgbClr val="000000"/>
                  </a:solidFill>
                  <a:latin typeface="Symbol" panose="05050102010706020507" pitchFamily="18" charset="2"/>
                </a:rPr>
                <a:t>ø</a:t>
              </a:r>
              <a:endParaRPr lang="en-US" altLang="en-US" sz="1800" dirty="0"/>
            </a:p>
          </p:txBody>
        </p:sp>
        <p:sp>
          <p:nvSpPr>
            <p:cNvPr id="46133" name="Rectangle 17">
              <a:extLst>
                <a:ext uri="{FF2B5EF4-FFF2-40B4-BE49-F238E27FC236}">
                  <a16:creationId xmlns:a16="http://schemas.microsoft.com/office/drawing/2014/main" xmlns="" id="{E452D25A-9D82-4660-B98E-EF3F316525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0" y="2468"/>
              <a:ext cx="77" cy="24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2500" dirty="0">
                  <a:solidFill>
                    <a:srgbClr val="000000"/>
                  </a:solidFill>
                  <a:latin typeface="Symbol" panose="05050102010706020507" pitchFamily="18" charset="2"/>
                </a:rPr>
                <a:t>ö</a:t>
              </a:r>
              <a:endParaRPr lang="en-US" altLang="en-US" sz="1800" dirty="0"/>
            </a:p>
          </p:txBody>
        </p:sp>
        <p:sp>
          <p:nvSpPr>
            <p:cNvPr id="46134" name="Rectangle 18">
              <a:extLst>
                <a:ext uri="{FF2B5EF4-FFF2-40B4-BE49-F238E27FC236}">
                  <a16:creationId xmlns:a16="http://schemas.microsoft.com/office/drawing/2014/main" xmlns="" id="{02C855CE-9BC2-4201-BF82-F43B3BA328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1" y="2689"/>
              <a:ext cx="77" cy="24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2500">
                  <a:solidFill>
                    <a:srgbClr val="000000"/>
                  </a:solidFill>
                  <a:latin typeface="Symbol" panose="05050102010706020507" pitchFamily="18" charset="2"/>
                </a:rPr>
                <a:t>ç</a:t>
              </a:r>
              <a:endParaRPr lang="en-US" altLang="en-US" sz="1800"/>
            </a:p>
          </p:txBody>
        </p:sp>
        <p:sp>
          <p:nvSpPr>
            <p:cNvPr id="46135" name="Rectangle 19">
              <a:extLst>
                <a:ext uri="{FF2B5EF4-FFF2-40B4-BE49-F238E27FC236}">
                  <a16:creationId xmlns:a16="http://schemas.microsoft.com/office/drawing/2014/main" xmlns="" id="{77C3ED23-8779-43BD-A6EB-4AC5659141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1" y="2598"/>
              <a:ext cx="77" cy="17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2500" dirty="0">
                  <a:solidFill>
                    <a:srgbClr val="000000"/>
                  </a:solidFill>
                  <a:latin typeface="Symbol" panose="05050102010706020507" pitchFamily="18" charset="2"/>
                </a:rPr>
                <a:t>ç</a:t>
              </a:r>
              <a:endParaRPr lang="en-US" altLang="en-US" sz="1800" dirty="0"/>
            </a:p>
          </p:txBody>
        </p:sp>
        <p:sp>
          <p:nvSpPr>
            <p:cNvPr id="46136" name="Rectangle 20">
              <a:extLst>
                <a:ext uri="{FF2B5EF4-FFF2-40B4-BE49-F238E27FC236}">
                  <a16:creationId xmlns:a16="http://schemas.microsoft.com/office/drawing/2014/main" xmlns="" id="{520FC663-3609-47CA-A6C3-B97526B12D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1" y="2819"/>
              <a:ext cx="77" cy="24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2500">
                  <a:solidFill>
                    <a:srgbClr val="000000"/>
                  </a:solidFill>
                  <a:latin typeface="Symbol" panose="05050102010706020507" pitchFamily="18" charset="2"/>
                </a:rPr>
                <a:t>è</a:t>
              </a:r>
              <a:endParaRPr lang="en-US" altLang="en-US" sz="1800"/>
            </a:p>
          </p:txBody>
        </p:sp>
        <p:sp>
          <p:nvSpPr>
            <p:cNvPr id="46137" name="Rectangle 21">
              <a:extLst>
                <a:ext uri="{FF2B5EF4-FFF2-40B4-BE49-F238E27FC236}">
                  <a16:creationId xmlns:a16="http://schemas.microsoft.com/office/drawing/2014/main" xmlns="" id="{723A5C1A-4AC4-4F03-AD02-FEFDF1C72B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1" y="2468"/>
              <a:ext cx="77" cy="24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2500" dirty="0">
                  <a:solidFill>
                    <a:srgbClr val="000000"/>
                  </a:solidFill>
                  <a:latin typeface="Symbol" panose="05050102010706020507" pitchFamily="18" charset="2"/>
                </a:rPr>
                <a:t>æ</a:t>
              </a:r>
              <a:endParaRPr lang="en-US" altLang="en-US" sz="1800" dirty="0"/>
            </a:p>
          </p:txBody>
        </p:sp>
        <p:sp>
          <p:nvSpPr>
            <p:cNvPr id="46138" name="Rectangle 22">
              <a:extLst>
                <a:ext uri="{FF2B5EF4-FFF2-40B4-BE49-F238E27FC236}">
                  <a16:creationId xmlns:a16="http://schemas.microsoft.com/office/drawing/2014/main" xmlns="" id="{245B08BD-71DD-4EC8-809B-65FFC19288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5" y="2609"/>
              <a:ext cx="110" cy="24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2500">
                  <a:solidFill>
                    <a:srgbClr val="000000"/>
                  </a:solidFill>
                  <a:latin typeface="Symbol" panose="05050102010706020507" pitchFamily="18" charset="2"/>
                </a:rPr>
                <a:t>-</a:t>
              </a:r>
              <a:endParaRPr lang="en-US" altLang="en-US" sz="1800"/>
            </a:p>
          </p:txBody>
        </p:sp>
        <p:sp>
          <p:nvSpPr>
            <p:cNvPr id="46139" name="Rectangle 23">
              <a:extLst>
                <a:ext uri="{FF2B5EF4-FFF2-40B4-BE49-F238E27FC236}">
                  <a16:creationId xmlns:a16="http://schemas.microsoft.com/office/drawing/2014/main" xmlns="" id="{1B7F2F84-A4F8-4A38-BED0-83A527DA24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1" y="2530"/>
              <a:ext cx="103" cy="17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2500" dirty="0">
                  <a:solidFill>
                    <a:srgbClr val="000000"/>
                  </a:solidFill>
                  <a:latin typeface="Symbol" panose="05050102010706020507" pitchFamily="18" charset="2"/>
                </a:rPr>
                <a:t>D</a:t>
              </a:r>
              <a:endParaRPr lang="en-US" altLang="en-US" sz="1800" dirty="0"/>
            </a:p>
          </p:txBody>
        </p:sp>
        <p:sp>
          <p:nvSpPr>
            <p:cNvPr id="46140" name="Rectangle 24">
              <a:extLst>
                <a:ext uri="{FF2B5EF4-FFF2-40B4-BE49-F238E27FC236}">
                  <a16:creationId xmlns:a16="http://schemas.microsoft.com/office/drawing/2014/main" xmlns="" id="{93662CAE-C1F6-4766-9EA6-58387ADCDC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2" y="2609"/>
              <a:ext cx="110" cy="24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2500">
                  <a:solidFill>
                    <a:srgbClr val="000000"/>
                  </a:solidFill>
                  <a:latin typeface="Symbol" panose="05050102010706020507" pitchFamily="18" charset="2"/>
                </a:rPr>
                <a:t>=</a:t>
              </a:r>
              <a:endParaRPr lang="en-US" altLang="en-US" sz="1800"/>
            </a:p>
          </p:txBody>
        </p:sp>
        <p:sp>
          <p:nvSpPr>
            <p:cNvPr id="46141" name="Rectangle 25">
              <a:extLst>
                <a:ext uri="{FF2B5EF4-FFF2-40B4-BE49-F238E27FC236}">
                  <a16:creationId xmlns:a16="http://schemas.microsoft.com/office/drawing/2014/main" xmlns="" id="{C90D4E34-D617-48E8-A013-5740A8E0CF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0" y="2916"/>
              <a:ext cx="6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5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800"/>
            </a:p>
          </p:txBody>
        </p:sp>
        <p:sp>
          <p:nvSpPr>
            <p:cNvPr id="46142" name="Rectangle 26">
              <a:extLst>
                <a:ext uri="{FF2B5EF4-FFF2-40B4-BE49-F238E27FC236}">
                  <a16:creationId xmlns:a16="http://schemas.microsoft.com/office/drawing/2014/main" xmlns="" id="{93D651D0-A65F-468B-91E0-0396B7DE6A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4" y="2916"/>
              <a:ext cx="6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5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800"/>
            </a:p>
          </p:txBody>
        </p:sp>
        <p:sp>
          <p:nvSpPr>
            <p:cNvPr id="46143" name="Rectangle 27">
              <a:extLst>
                <a:ext uri="{FF2B5EF4-FFF2-40B4-BE49-F238E27FC236}">
                  <a16:creationId xmlns:a16="http://schemas.microsoft.com/office/drawing/2014/main" xmlns="" id="{B833D9D7-7856-4175-81D5-5A038BF4DA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5" y="2542"/>
              <a:ext cx="6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5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en-US" sz="1800" dirty="0"/>
            </a:p>
          </p:txBody>
        </p:sp>
        <p:sp>
          <p:nvSpPr>
            <p:cNvPr id="46144" name="Rectangle 28">
              <a:extLst>
                <a:ext uri="{FF2B5EF4-FFF2-40B4-BE49-F238E27FC236}">
                  <a16:creationId xmlns:a16="http://schemas.microsoft.com/office/drawing/2014/main" xmlns="" id="{93B8587D-6197-458D-B648-1DBCC42775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3" y="2916"/>
              <a:ext cx="6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5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800"/>
            </a:p>
          </p:txBody>
        </p:sp>
        <p:sp>
          <p:nvSpPr>
            <p:cNvPr id="46145" name="Rectangle 29">
              <a:extLst>
                <a:ext uri="{FF2B5EF4-FFF2-40B4-BE49-F238E27FC236}">
                  <a16:creationId xmlns:a16="http://schemas.microsoft.com/office/drawing/2014/main" xmlns="" id="{290343C7-5064-4916-A392-D3F9984D6A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0" y="2626"/>
              <a:ext cx="6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5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800" dirty="0"/>
            </a:p>
          </p:txBody>
        </p:sp>
        <p:sp>
          <p:nvSpPr>
            <p:cNvPr id="46146" name="Rectangle 30">
              <a:extLst>
                <a:ext uri="{FF2B5EF4-FFF2-40B4-BE49-F238E27FC236}">
                  <a16:creationId xmlns:a16="http://schemas.microsoft.com/office/drawing/2014/main" xmlns="" id="{DC1FD87B-7629-4122-AB02-1F8D0D0C4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1" y="2504"/>
              <a:ext cx="100" cy="24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25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800" dirty="0"/>
            </a:p>
          </p:txBody>
        </p:sp>
        <p:sp>
          <p:nvSpPr>
            <p:cNvPr id="46147" name="Rectangle 31">
              <a:extLst>
                <a:ext uri="{FF2B5EF4-FFF2-40B4-BE49-F238E27FC236}">
                  <a16:creationId xmlns:a16="http://schemas.microsoft.com/office/drawing/2014/main" xmlns="" id="{1F4FACB9-1BE4-482D-A6C4-D4D978F643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7" y="2504"/>
              <a:ext cx="100" cy="24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25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800"/>
            </a:p>
          </p:txBody>
        </p:sp>
        <p:sp>
          <p:nvSpPr>
            <p:cNvPr id="46148" name="Rectangle 32">
              <a:extLst>
                <a:ext uri="{FF2B5EF4-FFF2-40B4-BE49-F238E27FC236}">
                  <a16:creationId xmlns:a16="http://schemas.microsoft.com/office/drawing/2014/main" xmlns="" id="{25F2EF27-132E-499E-8EED-938A8CBF84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3" y="2632"/>
              <a:ext cx="156" cy="24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2500" dirty="0" err="1">
                  <a:solidFill>
                    <a:srgbClr val="000000"/>
                  </a:solidFill>
                  <a:latin typeface="Times New Roman" panose="02020603050405020304" pitchFamily="18" charset="0"/>
                </a:rPr>
                <a:t>ln</a:t>
              </a:r>
              <a:endParaRPr lang="en-US" altLang="en-US" sz="1800" dirty="0"/>
            </a:p>
          </p:txBody>
        </p:sp>
        <p:sp>
          <p:nvSpPr>
            <p:cNvPr id="46149" name="Rectangle 33">
              <a:extLst>
                <a:ext uri="{FF2B5EF4-FFF2-40B4-BE49-F238E27FC236}">
                  <a16:creationId xmlns:a16="http://schemas.microsoft.com/office/drawing/2014/main" xmlns="" id="{292DBDD0-7A83-471E-AB1D-471D08D4CC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9" y="2790"/>
              <a:ext cx="111" cy="24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25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endParaRPr lang="en-US" altLang="en-US" sz="1800" dirty="0"/>
            </a:p>
          </p:txBody>
        </p:sp>
        <p:sp>
          <p:nvSpPr>
            <p:cNvPr id="46150" name="Rectangle 34">
              <a:extLst>
                <a:ext uri="{FF2B5EF4-FFF2-40B4-BE49-F238E27FC236}">
                  <a16:creationId xmlns:a16="http://schemas.microsoft.com/office/drawing/2014/main" xmlns="" id="{EDA8CC80-28B7-4F9E-A6ED-C0DB377876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7" y="2790"/>
              <a:ext cx="111" cy="24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2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endParaRPr lang="en-US" altLang="en-US" sz="1800"/>
            </a:p>
          </p:txBody>
        </p:sp>
        <p:sp>
          <p:nvSpPr>
            <p:cNvPr id="46151" name="Rectangle 35">
              <a:extLst>
                <a:ext uri="{FF2B5EF4-FFF2-40B4-BE49-F238E27FC236}">
                  <a16:creationId xmlns:a16="http://schemas.microsoft.com/office/drawing/2014/main" xmlns="" id="{838534A0-BB97-4CEF-A71D-05B7432B44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7" y="2790"/>
              <a:ext cx="122" cy="24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2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</a:t>
              </a:r>
              <a:endParaRPr lang="en-US" altLang="en-US" sz="1800"/>
            </a:p>
          </p:txBody>
        </p:sp>
        <p:sp>
          <p:nvSpPr>
            <p:cNvPr id="46152" name="Rectangle 36">
              <a:extLst>
                <a:ext uri="{FF2B5EF4-FFF2-40B4-BE49-F238E27FC236}">
                  <a16:creationId xmlns:a16="http://schemas.microsoft.com/office/drawing/2014/main" xmlns="" id="{AF46E5A1-116B-4219-89BB-F39AAE30E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0" y="2546"/>
              <a:ext cx="144" cy="24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25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H</a:t>
              </a:r>
              <a:endParaRPr lang="en-US" altLang="en-US" sz="1800" dirty="0"/>
            </a:p>
          </p:txBody>
        </p:sp>
        <p:sp>
          <p:nvSpPr>
            <p:cNvPr id="46153" name="Rectangle 37">
              <a:extLst>
                <a:ext uri="{FF2B5EF4-FFF2-40B4-BE49-F238E27FC236}">
                  <a16:creationId xmlns:a16="http://schemas.microsoft.com/office/drawing/2014/main" xmlns="" id="{9A37F414-B37E-4C44-8291-1F48955F61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2" y="2790"/>
              <a:ext cx="133" cy="24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2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K</a:t>
              </a:r>
              <a:endParaRPr lang="en-US" altLang="en-US" sz="1800"/>
            </a:p>
          </p:txBody>
        </p:sp>
        <p:sp>
          <p:nvSpPr>
            <p:cNvPr id="46154" name="Rectangle 38">
              <a:extLst>
                <a:ext uri="{FF2B5EF4-FFF2-40B4-BE49-F238E27FC236}">
                  <a16:creationId xmlns:a16="http://schemas.microsoft.com/office/drawing/2014/main" xmlns="" id="{535A682F-D1B6-4EB0-B3C5-1D20C36060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0" y="2555"/>
              <a:ext cx="133" cy="24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25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K</a:t>
              </a:r>
              <a:endParaRPr lang="en-US" altLang="en-US" sz="1800" dirty="0"/>
            </a:p>
          </p:txBody>
        </p:sp>
      </p:grpSp>
      <p:grpSp>
        <p:nvGrpSpPr>
          <p:cNvPr id="3" name="Group 39">
            <a:extLst>
              <a:ext uri="{FF2B5EF4-FFF2-40B4-BE49-F238E27FC236}">
                <a16:creationId xmlns:a16="http://schemas.microsoft.com/office/drawing/2014/main" xmlns="" id="{6FE094D2-B957-4CB1-A429-14507C481A84}"/>
              </a:ext>
            </a:extLst>
          </p:cNvPr>
          <p:cNvGrpSpPr>
            <a:grpSpLocks/>
          </p:cNvGrpSpPr>
          <p:nvPr/>
        </p:nvGrpSpPr>
        <p:grpSpPr bwMode="auto">
          <a:xfrm>
            <a:off x="2059585" y="3287715"/>
            <a:ext cx="2809875" cy="909638"/>
            <a:chOff x="1183" y="1848"/>
            <a:chExt cx="1770" cy="573"/>
          </a:xfrm>
        </p:grpSpPr>
        <p:sp>
          <p:nvSpPr>
            <p:cNvPr id="48158" name="Line 40">
              <a:extLst>
                <a:ext uri="{FF2B5EF4-FFF2-40B4-BE49-F238E27FC236}">
                  <a16:creationId xmlns:a16="http://schemas.microsoft.com/office/drawing/2014/main" xmlns="" id="{3C89C3E0-F6E2-4161-A713-60EE1CF111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2" y="2122"/>
              <a:ext cx="4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159" name="Line 41">
              <a:extLst>
                <a:ext uri="{FF2B5EF4-FFF2-40B4-BE49-F238E27FC236}">
                  <a16:creationId xmlns:a16="http://schemas.microsoft.com/office/drawing/2014/main" xmlns="" id="{395A1728-370B-4305-B751-7D9B083240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0" y="2122"/>
              <a:ext cx="363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160" name="Rectangle 42">
              <a:extLst>
                <a:ext uri="{FF2B5EF4-FFF2-40B4-BE49-F238E27FC236}">
                  <a16:creationId xmlns:a16="http://schemas.microsoft.com/office/drawing/2014/main" xmlns="" id="{43042C61-CF36-4C3D-839F-1751287F92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3" y="1858"/>
              <a:ext cx="122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500" dirty="0">
                  <a:solidFill>
                    <a:srgbClr val="000000"/>
                  </a:solidFill>
                  <a:latin typeface="Symbol" panose="05050102010706020507" pitchFamily="18" charset="2"/>
                </a:rPr>
                <a:t>D</a:t>
              </a:r>
              <a:endParaRPr lang="en-US" altLang="en-US" sz="1800" dirty="0"/>
            </a:p>
          </p:txBody>
        </p:sp>
        <p:sp>
          <p:nvSpPr>
            <p:cNvPr id="48161" name="Rectangle 43">
              <a:extLst>
                <a:ext uri="{FF2B5EF4-FFF2-40B4-BE49-F238E27FC236}">
                  <a16:creationId xmlns:a16="http://schemas.microsoft.com/office/drawing/2014/main" xmlns="" id="{0A41ED5C-9741-4E5E-88A6-8360B6A0BB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4" y="1969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500">
                  <a:solidFill>
                    <a:srgbClr val="000000"/>
                  </a:solidFill>
                  <a:latin typeface="Symbol" panose="05050102010706020507" pitchFamily="18" charset="2"/>
                </a:rPr>
                <a:t>+</a:t>
              </a:r>
              <a:endParaRPr lang="en-US" altLang="en-US" sz="1800"/>
            </a:p>
          </p:txBody>
        </p:sp>
        <p:sp>
          <p:nvSpPr>
            <p:cNvPr id="48162" name="Rectangle 44">
              <a:extLst>
                <a:ext uri="{FF2B5EF4-FFF2-40B4-BE49-F238E27FC236}">
                  <a16:creationId xmlns:a16="http://schemas.microsoft.com/office/drawing/2014/main" xmlns="" id="{A9BFB5A9-3E38-46B6-AD50-61075ECECD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5" y="1853"/>
              <a:ext cx="122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500" dirty="0">
                  <a:solidFill>
                    <a:srgbClr val="000000"/>
                  </a:solidFill>
                  <a:latin typeface="Symbol" panose="05050102010706020507" pitchFamily="18" charset="2"/>
                </a:rPr>
                <a:t>D</a:t>
              </a:r>
              <a:endParaRPr lang="en-US" altLang="en-US" sz="1800" dirty="0"/>
            </a:p>
          </p:txBody>
        </p:sp>
        <p:sp>
          <p:nvSpPr>
            <p:cNvPr id="48163" name="Rectangle 45">
              <a:extLst>
                <a:ext uri="{FF2B5EF4-FFF2-40B4-BE49-F238E27FC236}">
                  <a16:creationId xmlns:a16="http://schemas.microsoft.com/office/drawing/2014/main" xmlns="" id="{BB61B295-417D-4536-A94D-7A65C555D3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0" y="1969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500">
                  <a:solidFill>
                    <a:srgbClr val="000000"/>
                  </a:solidFill>
                  <a:latin typeface="Symbol" panose="05050102010706020507" pitchFamily="18" charset="2"/>
                </a:rPr>
                <a:t>-</a:t>
              </a:r>
              <a:endParaRPr lang="en-US" altLang="en-US" sz="1800"/>
            </a:p>
          </p:txBody>
        </p:sp>
        <p:sp>
          <p:nvSpPr>
            <p:cNvPr id="48164" name="Rectangle 46">
              <a:extLst>
                <a:ext uri="{FF2B5EF4-FFF2-40B4-BE49-F238E27FC236}">
                  <a16:creationId xmlns:a16="http://schemas.microsoft.com/office/drawing/2014/main" xmlns="" id="{F69D945C-F1BB-449A-922C-BFE0DC2C37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8" y="1969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500">
                  <a:solidFill>
                    <a:srgbClr val="000000"/>
                  </a:solidFill>
                  <a:latin typeface="Symbol" panose="05050102010706020507" pitchFamily="18" charset="2"/>
                </a:rPr>
                <a:t>=</a:t>
              </a:r>
              <a:endParaRPr lang="en-US" altLang="en-US" sz="1800"/>
            </a:p>
          </p:txBody>
        </p:sp>
        <p:sp>
          <p:nvSpPr>
            <p:cNvPr id="48165" name="Rectangle 47">
              <a:extLst>
                <a:ext uri="{FF2B5EF4-FFF2-40B4-BE49-F238E27FC236}">
                  <a16:creationId xmlns:a16="http://schemas.microsoft.com/office/drawing/2014/main" xmlns="" id="{BB2C544E-06A8-44BB-A84D-BD1FBF5B2E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8" y="1848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50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en-US" sz="1800"/>
            </a:p>
          </p:txBody>
        </p:sp>
        <p:sp>
          <p:nvSpPr>
            <p:cNvPr id="48166" name="Rectangle 48">
              <a:extLst>
                <a:ext uri="{FF2B5EF4-FFF2-40B4-BE49-F238E27FC236}">
                  <a16:creationId xmlns:a16="http://schemas.microsoft.com/office/drawing/2014/main" xmlns="" id="{62A03BD8-F11E-440D-B35D-A093C124D0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0" y="2277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5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800"/>
            </a:p>
          </p:txBody>
        </p:sp>
        <p:sp>
          <p:nvSpPr>
            <p:cNvPr id="48167" name="Rectangle 49">
              <a:extLst>
                <a:ext uri="{FF2B5EF4-FFF2-40B4-BE49-F238E27FC236}">
                  <a16:creationId xmlns:a16="http://schemas.microsoft.com/office/drawing/2014/main" xmlns="" id="{90424212-15D9-46E5-9CAF-1E25735BA2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4" y="1848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50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en-US" sz="1800"/>
            </a:p>
          </p:txBody>
        </p:sp>
        <p:sp>
          <p:nvSpPr>
            <p:cNvPr id="48168" name="Rectangle 50">
              <a:extLst>
                <a:ext uri="{FF2B5EF4-FFF2-40B4-BE49-F238E27FC236}">
                  <a16:creationId xmlns:a16="http://schemas.microsoft.com/office/drawing/2014/main" xmlns="" id="{63074CC5-57A3-41DF-8466-8EED2CD244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3" y="2118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5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800"/>
            </a:p>
          </p:txBody>
        </p:sp>
        <p:sp>
          <p:nvSpPr>
            <p:cNvPr id="48169" name="Rectangle 51">
              <a:extLst>
                <a:ext uri="{FF2B5EF4-FFF2-40B4-BE49-F238E27FC236}">
                  <a16:creationId xmlns:a16="http://schemas.microsoft.com/office/drawing/2014/main" xmlns="" id="{5FCA4AF9-7245-4BBA-9483-F61E4B54A5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3" y="1992"/>
              <a:ext cx="156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500">
                  <a:solidFill>
                    <a:srgbClr val="000000"/>
                  </a:solidFill>
                  <a:latin typeface="Times New Roman" panose="02020603050405020304" pitchFamily="18" charset="0"/>
                </a:rPr>
                <a:t>ln</a:t>
              </a:r>
              <a:endParaRPr lang="en-US" altLang="en-US" sz="1800"/>
            </a:p>
          </p:txBody>
        </p:sp>
        <p:sp>
          <p:nvSpPr>
            <p:cNvPr id="48170" name="Rectangle 52">
              <a:extLst>
                <a:ext uri="{FF2B5EF4-FFF2-40B4-BE49-F238E27FC236}">
                  <a16:creationId xmlns:a16="http://schemas.microsoft.com/office/drawing/2014/main" xmlns="" id="{A96D9F72-DE12-4DC8-91CC-FAE3A0532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3" y="2151"/>
              <a:ext cx="122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</a:t>
              </a:r>
              <a:endParaRPr lang="en-US" altLang="en-US" sz="1800"/>
            </a:p>
          </p:txBody>
        </p:sp>
        <p:sp>
          <p:nvSpPr>
            <p:cNvPr id="48171" name="Rectangle 53">
              <a:extLst>
                <a:ext uri="{FF2B5EF4-FFF2-40B4-BE49-F238E27FC236}">
                  <a16:creationId xmlns:a16="http://schemas.microsoft.com/office/drawing/2014/main" xmlns="" id="{60D2D49C-DC96-40EC-8CFA-5FBFD17360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7" y="1864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S</a:t>
              </a:r>
              <a:endParaRPr lang="en-US" altLang="en-US" sz="1800"/>
            </a:p>
          </p:txBody>
        </p:sp>
        <p:sp>
          <p:nvSpPr>
            <p:cNvPr id="48172" name="Rectangle 54">
              <a:extLst>
                <a:ext uri="{FF2B5EF4-FFF2-40B4-BE49-F238E27FC236}">
                  <a16:creationId xmlns:a16="http://schemas.microsoft.com/office/drawing/2014/main" xmlns="" id="{88C66C9E-BFB7-49FD-9840-6A9BB52FE2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6" y="2151"/>
              <a:ext cx="233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RT</a:t>
              </a:r>
              <a:endParaRPr lang="en-US" altLang="en-US" sz="1800"/>
            </a:p>
          </p:txBody>
        </p:sp>
        <p:sp>
          <p:nvSpPr>
            <p:cNvPr id="48173" name="Rectangle 55">
              <a:extLst>
                <a:ext uri="{FF2B5EF4-FFF2-40B4-BE49-F238E27FC236}">
                  <a16:creationId xmlns:a16="http://schemas.microsoft.com/office/drawing/2014/main" xmlns="" id="{B1FA00AF-F82F-45E9-ABE9-A5DB7009E2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9" y="1864"/>
              <a:ext cx="14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H</a:t>
              </a:r>
              <a:endParaRPr lang="en-US" altLang="en-US" sz="1800"/>
            </a:p>
          </p:txBody>
        </p:sp>
        <p:sp>
          <p:nvSpPr>
            <p:cNvPr id="48174" name="Rectangle 56">
              <a:extLst>
                <a:ext uri="{FF2B5EF4-FFF2-40B4-BE49-F238E27FC236}">
                  <a16:creationId xmlns:a16="http://schemas.microsoft.com/office/drawing/2014/main" xmlns="" id="{13F0E626-90CD-406A-AFF5-14905A78A2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9" y="1992"/>
              <a:ext cx="133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K</a:t>
              </a:r>
              <a:endParaRPr lang="en-US" altLang="en-US" sz="1800"/>
            </a:p>
          </p:txBody>
        </p:sp>
      </p:grpSp>
      <p:grpSp>
        <p:nvGrpSpPr>
          <p:cNvPr id="4" name="Group 57">
            <a:extLst>
              <a:ext uri="{FF2B5EF4-FFF2-40B4-BE49-F238E27FC236}">
                <a16:creationId xmlns:a16="http://schemas.microsoft.com/office/drawing/2014/main" xmlns="" id="{4D06614E-A678-424C-AB07-419B0E552304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2286000"/>
            <a:ext cx="2774950" cy="919163"/>
            <a:chOff x="1183" y="1221"/>
            <a:chExt cx="1748" cy="579"/>
          </a:xfrm>
        </p:grpSpPr>
        <p:sp>
          <p:nvSpPr>
            <p:cNvPr id="48141" name="Line 58">
              <a:extLst>
                <a:ext uri="{FF2B5EF4-FFF2-40B4-BE49-F238E27FC236}">
                  <a16:creationId xmlns:a16="http://schemas.microsoft.com/office/drawing/2014/main" xmlns="" id="{4FBC1276-0CB1-4EB8-8B95-A18D62CC86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9" y="1501"/>
              <a:ext cx="417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142" name="Line 59">
              <a:extLst>
                <a:ext uri="{FF2B5EF4-FFF2-40B4-BE49-F238E27FC236}">
                  <a16:creationId xmlns:a16="http://schemas.microsoft.com/office/drawing/2014/main" xmlns="" id="{7465D166-CE31-44D2-96ED-1FE2779011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8" y="1501"/>
              <a:ext cx="363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143" name="Rectangle 60">
              <a:extLst>
                <a:ext uri="{FF2B5EF4-FFF2-40B4-BE49-F238E27FC236}">
                  <a16:creationId xmlns:a16="http://schemas.microsoft.com/office/drawing/2014/main" xmlns="" id="{A0F9C90B-2187-4809-ABD9-6DF79620BB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2" y="1221"/>
              <a:ext cx="122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500">
                  <a:solidFill>
                    <a:srgbClr val="000000"/>
                  </a:solidFill>
                  <a:latin typeface="Symbol" panose="05050102010706020507" pitchFamily="18" charset="2"/>
                </a:rPr>
                <a:t>D</a:t>
              </a:r>
              <a:endParaRPr lang="en-US" altLang="en-US" sz="1800"/>
            </a:p>
          </p:txBody>
        </p:sp>
        <p:sp>
          <p:nvSpPr>
            <p:cNvPr id="48144" name="Rectangle 61">
              <a:extLst>
                <a:ext uri="{FF2B5EF4-FFF2-40B4-BE49-F238E27FC236}">
                  <a16:creationId xmlns:a16="http://schemas.microsoft.com/office/drawing/2014/main" xmlns="" id="{6E3005AA-DD0F-4D0D-81DA-488647E2F5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1" y="1348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500">
                  <a:solidFill>
                    <a:srgbClr val="000000"/>
                  </a:solidFill>
                  <a:latin typeface="Symbol" panose="05050102010706020507" pitchFamily="18" charset="2"/>
                </a:rPr>
                <a:t>+</a:t>
              </a:r>
              <a:endParaRPr lang="en-US" altLang="en-US" sz="1800"/>
            </a:p>
          </p:txBody>
        </p:sp>
        <p:sp>
          <p:nvSpPr>
            <p:cNvPr id="48145" name="Rectangle 62">
              <a:extLst>
                <a:ext uri="{FF2B5EF4-FFF2-40B4-BE49-F238E27FC236}">
                  <a16:creationId xmlns:a16="http://schemas.microsoft.com/office/drawing/2014/main" xmlns="" id="{7E1DE530-8DC0-4437-ACD4-A3FC47EEA1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7" y="1253"/>
              <a:ext cx="122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500" dirty="0">
                  <a:solidFill>
                    <a:srgbClr val="000000"/>
                  </a:solidFill>
                  <a:latin typeface="Symbol" panose="05050102010706020507" pitchFamily="18" charset="2"/>
                </a:rPr>
                <a:t>D</a:t>
              </a:r>
              <a:endParaRPr lang="en-US" altLang="en-US" sz="1800" dirty="0"/>
            </a:p>
          </p:txBody>
        </p:sp>
        <p:sp>
          <p:nvSpPr>
            <p:cNvPr id="48146" name="Rectangle 63">
              <a:extLst>
                <a:ext uri="{FF2B5EF4-FFF2-40B4-BE49-F238E27FC236}">
                  <a16:creationId xmlns:a16="http://schemas.microsoft.com/office/drawing/2014/main" xmlns="" id="{E7DA59E1-8501-489B-82BB-5E99DC7814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8" y="1348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500">
                  <a:solidFill>
                    <a:srgbClr val="000000"/>
                  </a:solidFill>
                  <a:latin typeface="Symbol" panose="05050102010706020507" pitchFamily="18" charset="2"/>
                </a:rPr>
                <a:t>-</a:t>
              </a:r>
              <a:endParaRPr lang="en-US" altLang="en-US" sz="1800"/>
            </a:p>
          </p:txBody>
        </p:sp>
        <p:sp>
          <p:nvSpPr>
            <p:cNvPr id="48147" name="Rectangle 64">
              <a:extLst>
                <a:ext uri="{FF2B5EF4-FFF2-40B4-BE49-F238E27FC236}">
                  <a16:creationId xmlns:a16="http://schemas.microsoft.com/office/drawing/2014/main" xmlns="" id="{79FF6D92-5A90-4AB1-8300-45FD2EF799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6" y="1348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500">
                  <a:solidFill>
                    <a:srgbClr val="000000"/>
                  </a:solidFill>
                  <a:latin typeface="Symbol" panose="05050102010706020507" pitchFamily="18" charset="2"/>
                </a:rPr>
                <a:t>=</a:t>
              </a:r>
              <a:endParaRPr lang="en-US" altLang="en-US" sz="1800"/>
            </a:p>
          </p:txBody>
        </p:sp>
        <p:sp>
          <p:nvSpPr>
            <p:cNvPr id="48148" name="Rectangle 65">
              <a:extLst>
                <a:ext uri="{FF2B5EF4-FFF2-40B4-BE49-F238E27FC236}">
                  <a16:creationId xmlns:a16="http://schemas.microsoft.com/office/drawing/2014/main" xmlns="" id="{2612E783-C9C4-45BA-A00F-BF77322632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6" y="1228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50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en-US" sz="1800"/>
            </a:p>
          </p:txBody>
        </p:sp>
        <p:sp>
          <p:nvSpPr>
            <p:cNvPr id="48149" name="Rectangle 66">
              <a:extLst>
                <a:ext uri="{FF2B5EF4-FFF2-40B4-BE49-F238E27FC236}">
                  <a16:creationId xmlns:a16="http://schemas.microsoft.com/office/drawing/2014/main" xmlns="" id="{A53F3FE8-8413-4011-94FF-0F112BED92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5" y="1656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5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800"/>
            </a:p>
          </p:txBody>
        </p:sp>
        <p:sp>
          <p:nvSpPr>
            <p:cNvPr id="48150" name="Rectangle 67">
              <a:extLst>
                <a:ext uri="{FF2B5EF4-FFF2-40B4-BE49-F238E27FC236}">
                  <a16:creationId xmlns:a16="http://schemas.microsoft.com/office/drawing/2014/main" xmlns="" id="{A73CBF55-DEE3-4E2F-9417-CD4C8349B0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1" y="1228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50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en-US" sz="1800"/>
            </a:p>
          </p:txBody>
        </p:sp>
        <p:sp>
          <p:nvSpPr>
            <p:cNvPr id="48151" name="Rectangle 68">
              <a:extLst>
                <a:ext uri="{FF2B5EF4-FFF2-40B4-BE49-F238E27FC236}">
                  <a16:creationId xmlns:a16="http://schemas.microsoft.com/office/drawing/2014/main" xmlns="" id="{9FFFD6DD-AE79-492D-8E0B-1D8FDFEFB9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0" y="1497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5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800"/>
            </a:p>
          </p:txBody>
        </p:sp>
        <p:sp>
          <p:nvSpPr>
            <p:cNvPr id="48152" name="Rectangle 69">
              <a:extLst>
                <a:ext uri="{FF2B5EF4-FFF2-40B4-BE49-F238E27FC236}">
                  <a16:creationId xmlns:a16="http://schemas.microsoft.com/office/drawing/2014/main" xmlns="" id="{37A8DA6E-AE7B-4C2B-8127-46F27612BA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3" y="1371"/>
              <a:ext cx="156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500" dirty="0" err="1">
                  <a:solidFill>
                    <a:srgbClr val="000000"/>
                  </a:solidFill>
                  <a:latin typeface="Times New Roman" panose="02020603050405020304" pitchFamily="18" charset="0"/>
                </a:rPr>
                <a:t>ln</a:t>
              </a:r>
              <a:endParaRPr lang="en-US" altLang="en-US" sz="1800" dirty="0"/>
            </a:p>
          </p:txBody>
        </p:sp>
        <p:sp>
          <p:nvSpPr>
            <p:cNvPr id="48153" name="Rectangle 70">
              <a:extLst>
                <a:ext uri="{FF2B5EF4-FFF2-40B4-BE49-F238E27FC236}">
                  <a16:creationId xmlns:a16="http://schemas.microsoft.com/office/drawing/2014/main" xmlns="" id="{C05727A1-C62F-4794-B050-CB4C323F67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1" y="1530"/>
              <a:ext cx="122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</a:t>
              </a:r>
              <a:endParaRPr lang="en-US" altLang="en-US" sz="1800"/>
            </a:p>
          </p:txBody>
        </p:sp>
        <p:sp>
          <p:nvSpPr>
            <p:cNvPr id="48154" name="Rectangle 71">
              <a:extLst>
                <a:ext uri="{FF2B5EF4-FFF2-40B4-BE49-F238E27FC236}">
                  <a16:creationId xmlns:a16="http://schemas.microsoft.com/office/drawing/2014/main" xmlns="" id="{08B4CA85-082C-4BF9-BDF3-0F7D9C1F44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5" y="1244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S</a:t>
              </a:r>
              <a:endParaRPr lang="en-US" altLang="en-US" sz="1800"/>
            </a:p>
          </p:txBody>
        </p:sp>
        <p:sp>
          <p:nvSpPr>
            <p:cNvPr id="48155" name="Rectangle 72">
              <a:extLst>
                <a:ext uri="{FF2B5EF4-FFF2-40B4-BE49-F238E27FC236}">
                  <a16:creationId xmlns:a16="http://schemas.microsoft.com/office/drawing/2014/main" xmlns="" id="{9E78E284-22DB-4EAB-A202-45676A4D9A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5" y="1530"/>
              <a:ext cx="233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RT</a:t>
              </a:r>
              <a:endParaRPr lang="en-US" altLang="en-US" sz="1800"/>
            </a:p>
          </p:txBody>
        </p:sp>
        <p:sp>
          <p:nvSpPr>
            <p:cNvPr id="48156" name="Rectangle 73">
              <a:extLst>
                <a:ext uri="{FF2B5EF4-FFF2-40B4-BE49-F238E27FC236}">
                  <a16:creationId xmlns:a16="http://schemas.microsoft.com/office/drawing/2014/main" xmlns="" id="{9B444070-E9A6-4C3A-A754-A1323CF5AD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6" y="1244"/>
              <a:ext cx="14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H</a:t>
              </a:r>
              <a:endParaRPr lang="en-US" altLang="en-US" sz="1800"/>
            </a:p>
          </p:txBody>
        </p:sp>
        <p:sp>
          <p:nvSpPr>
            <p:cNvPr id="48157" name="Rectangle 74">
              <a:extLst>
                <a:ext uri="{FF2B5EF4-FFF2-40B4-BE49-F238E27FC236}">
                  <a16:creationId xmlns:a16="http://schemas.microsoft.com/office/drawing/2014/main" xmlns="" id="{F8037D48-DD11-4F32-9CC5-8E914D9D5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9" y="1371"/>
              <a:ext cx="133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K</a:t>
              </a:r>
              <a:endParaRPr lang="en-US" altLang="en-US" sz="180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33960EAB-4540-4CB9-BA62-6CE8B8A16E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303" y="1623725"/>
            <a:ext cx="449103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∆G</a:t>
            </a:r>
            <a:r>
              <a:rPr lang="en-US" altLang="en-US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-</a:t>
            </a:r>
            <a:r>
              <a:rPr lang="en-US" altLang="en-US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RTlnK</a:t>
            </a:r>
            <a:r>
              <a:rPr lang="en-US" altLang="en-US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; K = (</a:t>
            </a:r>
            <a:r>
              <a:rPr lang="en-US" altLang="en-US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baseline="-25000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cb</a:t>
            </a:r>
            <a:r>
              <a:rPr lang="en-US" altLang="en-US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en-US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A6081416-1C26-4181-BCCD-F074C14B42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3243263"/>
            <a:ext cx="3270250" cy="1354217"/>
          </a:xfrm>
          <a:prstGeom prst="rect">
            <a:avLst/>
          </a:prstGeom>
          <a:noFill/>
          <a:ln w="38100">
            <a:solidFill>
              <a:srgbClr val="CC6600"/>
            </a:solidFill>
            <a:miter lim="800000"/>
            <a:headEnd/>
            <a:tailEnd/>
          </a:ln>
          <a:extLst/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FF0000"/>
                </a:solidFill>
                <a:latin typeface="+mj-lt"/>
                <a:cs typeface="Times New Roman" panose="02020603050405020304" pitchFamily="18" charset="0"/>
              </a:rPr>
              <a:t>∆H &gt; 0 : T</a:t>
            </a:r>
            <a:r>
              <a:rPr lang="en-US" altLang="en-US" b="1" dirty="0">
                <a:solidFill>
                  <a:srgbClr val="FF0000"/>
                </a:solidFill>
                <a:latin typeface="+mj-lt"/>
                <a:cs typeface="Times New Roman" panose="02020603050405020304" pitchFamily="18" charset="0"/>
                <a:sym typeface="Symbol" panose="05050102010706020507" pitchFamily="18" charset="2"/>
              </a:rPr>
              <a:t>  K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FF0000"/>
                </a:solidFill>
                <a:latin typeface="+mj-lt"/>
                <a:cs typeface="Times New Roman" panose="02020603050405020304" pitchFamily="18" charset="0"/>
              </a:rPr>
              <a:t>∆H &lt; 0 : T</a:t>
            </a:r>
            <a:r>
              <a:rPr lang="en-US" altLang="en-US" b="1" dirty="0">
                <a:solidFill>
                  <a:srgbClr val="FF0000"/>
                </a:solidFill>
                <a:latin typeface="+mj-lt"/>
                <a:cs typeface="Times New Roman" panose="02020603050405020304" pitchFamily="18" charset="0"/>
                <a:sym typeface="Symbol" panose="05050102010706020507" pitchFamily="18" charset="2"/>
              </a:rPr>
              <a:t>  K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D70E5884-D282-4024-ABA9-7C5553E1470A}"/>
              </a:ext>
            </a:extLst>
          </p:cNvPr>
          <p:cNvSpPr txBox="1"/>
          <p:nvPr/>
        </p:nvSpPr>
        <p:spPr>
          <a:xfrm>
            <a:off x="5326770" y="1126692"/>
            <a:ext cx="372867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>
                <a:solidFill>
                  <a:srgbClr val="C00000"/>
                </a:solidFill>
              </a:rPr>
              <a:t>Xem </a:t>
            </a:r>
            <a:r>
              <a:rPr lang="vi-VN" sz="2800" dirty="0">
                <a:solidFill>
                  <a:srgbClr val="C00000"/>
                </a:solidFill>
                <a:sym typeface="Symbol" panose="05050102010706020507" pitchFamily="18" charset="2"/>
              </a:rPr>
              <a:t>H</a:t>
            </a:r>
            <a:r>
              <a:rPr lang="vi-VN" sz="2800" baseline="30000" dirty="0">
                <a:solidFill>
                  <a:srgbClr val="C00000"/>
                </a:solidFill>
                <a:sym typeface="Symbol" panose="05050102010706020507" pitchFamily="18" charset="2"/>
              </a:rPr>
              <a:t>0</a:t>
            </a:r>
            <a:r>
              <a:rPr lang="vi-VN" sz="2800" dirty="0">
                <a:solidFill>
                  <a:srgbClr val="C00000"/>
                </a:solidFill>
                <a:sym typeface="Symbol" panose="05050102010706020507" pitchFamily="18" charset="2"/>
              </a:rPr>
              <a:t> và  S</a:t>
            </a:r>
            <a:r>
              <a:rPr lang="vi-VN" sz="2800" baseline="30000" dirty="0">
                <a:solidFill>
                  <a:srgbClr val="C00000"/>
                </a:solidFill>
                <a:sym typeface="Symbol" panose="05050102010706020507" pitchFamily="18" charset="2"/>
              </a:rPr>
              <a:t>0</a:t>
            </a:r>
            <a:r>
              <a:rPr lang="vi-VN" sz="2800" dirty="0">
                <a:solidFill>
                  <a:srgbClr val="C00000"/>
                </a:solidFill>
                <a:sym typeface="Symbol" panose="05050102010706020507" pitchFamily="18" charset="2"/>
              </a:rPr>
              <a:t> là hằng số trong khoảng nhiệt độ: T</a:t>
            </a:r>
            <a:r>
              <a:rPr lang="vi-VN" sz="2800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1</a:t>
            </a:r>
            <a:r>
              <a:rPr lang="vi-VN" sz="2800" dirty="0">
                <a:solidFill>
                  <a:srgbClr val="C00000"/>
                </a:solidFill>
                <a:sym typeface="Symbol" panose="05050102010706020507" pitchFamily="18" charset="2"/>
              </a:rPr>
              <a:t> –T</a:t>
            </a:r>
            <a:r>
              <a:rPr lang="vi-VN" sz="2800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2</a:t>
            </a:r>
            <a:r>
              <a:rPr lang="vi-VN" sz="2800" dirty="0">
                <a:solidFill>
                  <a:srgbClr val="C00000"/>
                </a:solidFill>
                <a:sym typeface="Symbol" panose="05050102010706020507" pitchFamily="18" charset="2"/>
              </a:rPr>
              <a:t>. 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66800" y="4267200"/>
            <a:ext cx="4495800" cy="1600200"/>
          </a:xfrm>
          <a:prstGeom prst="rect">
            <a:avLst/>
          </a:prstGeom>
          <a:noFill/>
          <a:ln w="34925"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6" grpId="0"/>
      <p:bldP spid="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xmlns="" id="{09CC102C-3E03-4EAC-B5E6-F45C4FB2F1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260350"/>
            <a:ext cx="8229600" cy="706438"/>
          </a:xfrm>
        </p:spPr>
        <p:txBody>
          <a:bodyPr/>
          <a:lstStyle/>
          <a:p>
            <a:pPr algn="l" eaLnBrk="1" hangingPunct="1"/>
            <a:r>
              <a:rPr lang="en-US" altLang="en-US" sz="2800" b="1">
                <a:solidFill>
                  <a:srgbClr val="FF0000"/>
                </a:solidFill>
              </a:rPr>
              <a:t>Ví dụ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xmlns="" id="{C06F4D75-A85E-4B35-8A27-D1074D6D28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549275"/>
            <a:ext cx="8686800" cy="4525963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Tx/>
              <a:buNone/>
            </a:pPr>
            <a:r>
              <a:rPr lang="es-ES" altLang="en-US" dirty="0"/>
              <a:t>	    </a:t>
            </a:r>
            <a:r>
              <a:rPr lang="es-ES" altLang="en-US" sz="2800" dirty="0">
                <a:solidFill>
                  <a:srgbClr val="FF0000"/>
                </a:solidFill>
              </a:rPr>
              <a:t>NO</a:t>
            </a:r>
            <a:r>
              <a:rPr lang="es-ES" altLang="en-US" sz="2800" baseline="-25000" dirty="0">
                <a:solidFill>
                  <a:srgbClr val="FF0000"/>
                </a:solidFill>
              </a:rPr>
              <a:t>(k)</a:t>
            </a:r>
            <a:r>
              <a:rPr lang="es-ES" altLang="en-US" sz="2800" dirty="0">
                <a:solidFill>
                  <a:srgbClr val="FF0000"/>
                </a:solidFill>
              </a:rPr>
              <a:t> + ½ O</a:t>
            </a:r>
            <a:r>
              <a:rPr lang="es-ES" altLang="en-US" sz="2800" baseline="-25000" dirty="0">
                <a:solidFill>
                  <a:srgbClr val="FF0000"/>
                </a:solidFill>
              </a:rPr>
              <a:t>2(k)</a:t>
            </a:r>
            <a:r>
              <a:rPr lang="es-ES" altLang="en-US" sz="2800" dirty="0">
                <a:solidFill>
                  <a:srgbClr val="FF0000"/>
                </a:solidFill>
              </a:rPr>
              <a:t> </a:t>
            </a:r>
            <a:r>
              <a:rPr lang="es-ES" altLang="en-US" sz="2800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⇌</a:t>
            </a:r>
            <a:r>
              <a:rPr lang="es-ES" altLang="en-US" sz="2800" dirty="0">
                <a:solidFill>
                  <a:srgbClr val="FF0000"/>
                </a:solidFill>
              </a:rPr>
              <a:t> NO</a:t>
            </a:r>
            <a:r>
              <a:rPr lang="es-ES" altLang="en-US" sz="2800" baseline="-25000" dirty="0">
                <a:solidFill>
                  <a:srgbClr val="FF0000"/>
                </a:solidFill>
              </a:rPr>
              <a:t>2(k)</a:t>
            </a:r>
            <a:r>
              <a:rPr lang="es-ES" altLang="en-US" sz="2800" dirty="0">
                <a:solidFill>
                  <a:srgbClr val="FF0000"/>
                </a:solidFill>
              </a:rPr>
              <a:t>	; </a:t>
            </a:r>
            <a:r>
              <a:rPr lang="es-ES" altLang="en-US" sz="2800" dirty="0" err="1">
                <a:solidFill>
                  <a:srgbClr val="FF0000"/>
                </a:solidFill>
              </a:rPr>
              <a:t>Tính</a:t>
            </a:r>
            <a:r>
              <a:rPr lang="es-ES" altLang="en-US" sz="2800" dirty="0">
                <a:solidFill>
                  <a:srgbClr val="FF0000"/>
                </a:solidFill>
              </a:rPr>
              <a:t> </a:t>
            </a:r>
            <a:r>
              <a:rPr lang="es-ES" altLang="en-US" sz="2800" dirty="0" err="1">
                <a:solidFill>
                  <a:srgbClr val="FF0000"/>
                </a:solidFill>
              </a:rPr>
              <a:t>K</a:t>
            </a:r>
            <a:r>
              <a:rPr lang="es-ES" altLang="en-US" sz="2800" baseline="-25000" dirty="0" err="1">
                <a:solidFill>
                  <a:srgbClr val="FF0000"/>
                </a:solidFill>
              </a:rPr>
              <a:t>p</a:t>
            </a:r>
            <a:r>
              <a:rPr lang="es-ES" altLang="en-US" sz="2800" dirty="0">
                <a:solidFill>
                  <a:srgbClr val="FF0000"/>
                </a:solidFill>
              </a:rPr>
              <a:t> ở 325</a:t>
            </a:r>
            <a:r>
              <a:rPr lang="es-ES" altLang="en-US" sz="2800" baseline="30000" dirty="0">
                <a:solidFill>
                  <a:srgbClr val="FF0000"/>
                </a:solidFill>
              </a:rPr>
              <a:t>0</a:t>
            </a:r>
            <a:r>
              <a:rPr lang="es-ES" altLang="en-US" sz="2800" dirty="0">
                <a:solidFill>
                  <a:srgbClr val="FF0000"/>
                </a:solidFill>
              </a:rPr>
              <a:t>C ?</a:t>
            </a:r>
          </a:p>
          <a:p>
            <a:pPr marL="0" indent="0" eaLnBrk="1" hangingPunct="1">
              <a:lnSpc>
                <a:spcPct val="150000"/>
              </a:lnSpc>
              <a:buNone/>
            </a:pPr>
            <a:r>
              <a:rPr lang="es-ES" altLang="en-US" sz="2400" dirty="0"/>
              <a:t> </a:t>
            </a:r>
            <a:r>
              <a:rPr lang="es-ES" altLang="en-US" sz="2800" dirty="0" err="1">
                <a:solidFill>
                  <a:srgbClr val="006600"/>
                </a:solidFill>
              </a:rPr>
              <a:t>Biết</a:t>
            </a:r>
            <a:r>
              <a:rPr lang="es-ES" altLang="en-US" sz="2800" dirty="0">
                <a:solidFill>
                  <a:srgbClr val="006600"/>
                </a:solidFill>
              </a:rPr>
              <a:t>: </a:t>
            </a:r>
            <a:r>
              <a:rPr lang="en-US" altLang="en-US" sz="2800" dirty="0">
                <a:solidFill>
                  <a:srgbClr val="006600"/>
                </a:solidFill>
                <a:sym typeface="Symbol" panose="05050102010706020507" pitchFamily="18" charset="2"/>
              </a:rPr>
              <a:t></a:t>
            </a:r>
            <a:r>
              <a:rPr lang="es-ES" altLang="en-US" sz="2800" dirty="0">
                <a:solidFill>
                  <a:srgbClr val="006600"/>
                </a:solidFill>
              </a:rPr>
              <a:t>H</a:t>
            </a:r>
            <a:r>
              <a:rPr lang="es-ES" altLang="en-US" sz="2800" baseline="30000" dirty="0">
                <a:solidFill>
                  <a:srgbClr val="006600"/>
                </a:solidFill>
              </a:rPr>
              <a:t>0</a:t>
            </a:r>
            <a:r>
              <a:rPr lang="es-ES" altLang="en-US" sz="2800" dirty="0">
                <a:solidFill>
                  <a:srgbClr val="006600"/>
                </a:solidFill>
              </a:rPr>
              <a:t> = </a:t>
            </a:r>
            <a:r>
              <a:rPr lang="es-ES" altLang="en-US" sz="2800" dirty="0" smtClean="0">
                <a:solidFill>
                  <a:srgbClr val="006600"/>
                </a:solidFill>
              </a:rPr>
              <a:t>-</a:t>
            </a:r>
            <a:r>
              <a:rPr lang="vi-VN" altLang="en-US" sz="2800" dirty="0" smtClean="0">
                <a:solidFill>
                  <a:srgbClr val="006600"/>
                </a:solidFill>
              </a:rPr>
              <a:t> </a:t>
            </a:r>
            <a:r>
              <a:rPr lang="es-ES" altLang="en-US" sz="2800" dirty="0" smtClean="0">
                <a:solidFill>
                  <a:srgbClr val="006600"/>
                </a:solidFill>
              </a:rPr>
              <a:t>56,484 </a:t>
            </a:r>
            <a:r>
              <a:rPr lang="es-ES" altLang="en-US" sz="2800" dirty="0">
                <a:solidFill>
                  <a:srgbClr val="006600"/>
                </a:solidFill>
              </a:rPr>
              <a:t>kJ </a:t>
            </a:r>
            <a:r>
              <a:rPr lang="es-ES" altLang="en-US" sz="2800" dirty="0" err="1">
                <a:solidFill>
                  <a:srgbClr val="006600"/>
                </a:solidFill>
              </a:rPr>
              <a:t>và</a:t>
            </a:r>
            <a:r>
              <a:rPr lang="es-ES" altLang="en-US" sz="2800" dirty="0">
                <a:solidFill>
                  <a:srgbClr val="006600"/>
                </a:solidFill>
              </a:rPr>
              <a:t> </a:t>
            </a:r>
            <a:r>
              <a:rPr lang="es-ES" altLang="en-US" sz="2800" dirty="0" err="1">
                <a:solidFill>
                  <a:srgbClr val="006600"/>
                </a:solidFill>
              </a:rPr>
              <a:t>K</a:t>
            </a:r>
            <a:r>
              <a:rPr lang="es-ES" altLang="en-US" sz="2800" baseline="-25000" dirty="0" err="1">
                <a:solidFill>
                  <a:srgbClr val="006600"/>
                </a:solidFill>
              </a:rPr>
              <a:t>p</a:t>
            </a:r>
            <a:r>
              <a:rPr lang="es-ES" altLang="en-US" sz="2800" dirty="0">
                <a:solidFill>
                  <a:srgbClr val="006600"/>
                </a:solidFill>
              </a:rPr>
              <a:t> = 1,3.10</a:t>
            </a:r>
            <a:r>
              <a:rPr lang="es-ES" altLang="en-US" sz="2800" baseline="30000" dirty="0">
                <a:solidFill>
                  <a:srgbClr val="006600"/>
                </a:solidFill>
              </a:rPr>
              <a:t>6</a:t>
            </a:r>
            <a:r>
              <a:rPr lang="es-ES" altLang="en-US" sz="2800" dirty="0">
                <a:solidFill>
                  <a:srgbClr val="006600"/>
                </a:solidFill>
              </a:rPr>
              <a:t> ở 25</a:t>
            </a:r>
            <a:r>
              <a:rPr lang="es-ES" altLang="en-US" sz="2800" baseline="30000" dirty="0">
                <a:solidFill>
                  <a:srgbClr val="006600"/>
                </a:solidFill>
              </a:rPr>
              <a:t>0</a:t>
            </a:r>
            <a:r>
              <a:rPr lang="es-ES" altLang="en-US" sz="2800" dirty="0">
                <a:solidFill>
                  <a:srgbClr val="006600"/>
                </a:solidFill>
              </a:rPr>
              <a:t>C.</a:t>
            </a:r>
            <a:endParaRPr lang="en-US" altLang="en-US" sz="2800" dirty="0">
              <a:solidFill>
                <a:srgbClr val="006600"/>
              </a:solidFill>
            </a:endParaRPr>
          </a:p>
        </p:txBody>
      </p:sp>
      <p:sp>
        <p:nvSpPr>
          <p:cNvPr id="50180" name="Rectangle 4">
            <a:extLst>
              <a:ext uri="{FF2B5EF4-FFF2-40B4-BE49-F238E27FC236}">
                <a16:creationId xmlns:a16="http://schemas.microsoft.com/office/drawing/2014/main" xmlns="" id="{675A8980-C175-4FE6-9052-434A3DD78D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81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xmlns="" id="{967A6233-1750-4E3D-B300-A5FB7A4A2085}"/>
              </a:ext>
            </a:extLst>
          </p:cNvPr>
          <p:cNvGrpSpPr>
            <a:grpSpLocks/>
          </p:cNvGrpSpPr>
          <p:nvPr/>
        </p:nvGrpSpPr>
        <p:grpSpPr bwMode="auto">
          <a:xfrm>
            <a:off x="4057835" y="4603125"/>
            <a:ext cx="3531362" cy="488950"/>
            <a:chOff x="1107" y="3107"/>
            <a:chExt cx="967" cy="308"/>
          </a:xfrm>
        </p:grpSpPr>
        <p:sp>
          <p:nvSpPr>
            <p:cNvPr id="50256" name="Rectangle 6">
              <a:extLst>
                <a:ext uri="{FF2B5EF4-FFF2-40B4-BE49-F238E27FC236}">
                  <a16:creationId xmlns:a16="http://schemas.microsoft.com/office/drawing/2014/main" xmlns="" id="{D3A03EFC-2AB3-4B1B-90A5-3EA40453AC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2" y="3107"/>
              <a:ext cx="422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 dirty="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02</a:t>
              </a:r>
              <a:r>
                <a:rPr lang="vi-VN" altLang="en-US" sz="2800" dirty="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  &lt;  K</a:t>
              </a:r>
              <a:r>
                <a:rPr lang="vi-VN" altLang="en-US" sz="2800" baseline="-25000" dirty="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298</a:t>
              </a:r>
              <a:endParaRPr lang="en-US" altLang="en-US" sz="1800" dirty="0"/>
            </a:p>
          </p:txBody>
        </p:sp>
        <p:sp>
          <p:nvSpPr>
            <p:cNvPr id="50257" name="Rectangle 7">
              <a:extLst>
                <a:ext uri="{FF2B5EF4-FFF2-40B4-BE49-F238E27FC236}">
                  <a16:creationId xmlns:a16="http://schemas.microsoft.com/office/drawing/2014/main" xmlns="" id="{1CD2AF1F-69E9-43E4-8FB0-EAC4EF3F02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4" y="3110"/>
              <a:ext cx="5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,</a:t>
              </a:r>
              <a:endParaRPr lang="en-US" altLang="en-US" sz="1800" dirty="0"/>
            </a:p>
          </p:txBody>
        </p:sp>
        <p:sp>
          <p:nvSpPr>
            <p:cNvPr id="50258" name="Rectangle 8">
              <a:extLst>
                <a:ext uri="{FF2B5EF4-FFF2-40B4-BE49-F238E27FC236}">
                  <a16:creationId xmlns:a16="http://schemas.microsoft.com/office/drawing/2014/main" xmlns="" id="{A314CA52-7C22-4613-8652-C451983F6C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3" y="3109"/>
              <a:ext cx="22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14</a:t>
              </a:r>
              <a:endParaRPr lang="en-US" altLang="en-US" sz="1800" dirty="0"/>
            </a:p>
          </p:txBody>
        </p:sp>
        <p:sp>
          <p:nvSpPr>
            <p:cNvPr id="50259" name="Rectangle 9">
              <a:extLst>
                <a:ext uri="{FF2B5EF4-FFF2-40B4-BE49-F238E27FC236}">
                  <a16:creationId xmlns:a16="http://schemas.microsoft.com/office/drawing/2014/main" xmlns="" id="{1B2E3346-9985-4519-B986-10F50442ED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3" y="3260"/>
              <a:ext cx="194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vi-VN" altLang="en-US" sz="1600" dirty="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598</a:t>
              </a:r>
              <a:endParaRPr lang="en-US" altLang="en-US" sz="1800" dirty="0"/>
            </a:p>
          </p:txBody>
        </p:sp>
        <p:sp>
          <p:nvSpPr>
            <p:cNvPr id="50260" name="Rectangle 10">
              <a:extLst>
                <a:ext uri="{FF2B5EF4-FFF2-40B4-BE49-F238E27FC236}">
                  <a16:creationId xmlns:a16="http://schemas.microsoft.com/office/drawing/2014/main" xmlns="" id="{C5863C2C-F261-47D1-B529-2A23A292C9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5" y="3111"/>
              <a:ext cx="1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 dirty="0">
                  <a:solidFill>
                    <a:srgbClr val="000000"/>
                  </a:solidFill>
                  <a:latin typeface="Symbol" panose="05050102010706020507" pitchFamily="18" charset="2"/>
                </a:rPr>
                <a:t>=</a:t>
              </a:r>
              <a:endParaRPr lang="en-US" altLang="en-US" sz="1800" dirty="0"/>
            </a:p>
          </p:txBody>
        </p:sp>
        <p:sp>
          <p:nvSpPr>
            <p:cNvPr id="50261" name="Rectangle 11">
              <a:extLst>
                <a:ext uri="{FF2B5EF4-FFF2-40B4-BE49-F238E27FC236}">
                  <a16:creationId xmlns:a16="http://schemas.microsoft.com/office/drawing/2014/main" xmlns="" id="{BA051E6B-3B12-4D2A-9AC5-53DEB8502E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" y="3128"/>
              <a:ext cx="18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sym typeface="Symbol"/>
                </a:rPr>
                <a:t></a:t>
              </a:r>
              <a:r>
                <a:rPr lang="vi-VN" altLang="en-US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sym typeface="Symbol"/>
                </a:rPr>
                <a:t> </a:t>
              </a:r>
              <a:r>
                <a:rPr lang="en-US" altLang="en-US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K</a:t>
              </a:r>
              <a:endParaRPr lang="en-US" altLang="en-US" sz="1800" dirty="0"/>
            </a:p>
          </p:txBody>
        </p:sp>
      </p:grpSp>
      <p:grpSp>
        <p:nvGrpSpPr>
          <p:cNvPr id="3" name="Group 12">
            <a:extLst>
              <a:ext uri="{FF2B5EF4-FFF2-40B4-BE49-F238E27FC236}">
                <a16:creationId xmlns:a16="http://schemas.microsoft.com/office/drawing/2014/main" xmlns="" id="{BD0DAD92-CABC-449C-80B4-8AD6290C52D5}"/>
              </a:ext>
            </a:extLst>
          </p:cNvPr>
          <p:cNvGrpSpPr>
            <a:grpSpLocks/>
          </p:cNvGrpSpPr>
          <p:nvPr/>
        </p:nvGrpSpPr>
        <p:grpSpPr bwMode="auto">
          <a:xfrm>
            <a:off x="1763713" y="4581529"/>
            <a:ext cx="1928812" cy="503238"/>
            <a:chOff x="1096" y="2763"/>
            <a:chExt cx="1215" cy="317"/>
          </a:xfrm>
        </p:grpSpPr>
        <p:sp>
          <p:nvSpPr>
            <p:cNvPr id="50249" name="Rectangle 13">
              <a:extLst>
                <a:ext uri="{FF2B5EF4-FFF2-40B4-BE49-F238E27FC236}">
                  <a16:creationId xmlns:a16="http://schemas.microsoft.com/office/drawing/2014/main" xmlns="" id="{62DDBDD2-8C36-4815-824E-404480A330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7" y="2789"/>
              <a:ext cx="22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64</a:t>
              </a:r>
              <a:endParaRPr lang="en-US" altLang="en-US" sz="1800"/>
            </a:p>
          </p:txBody>
        </p:sp>
        <p:sp>
          <p:nvSpPr>
            <p:cNvPr id="50250" name="Rectangle 14">
              <a:extLst>
                <a:ext uri="{FF2B5EF4-FFF2-40B4-BE49-F238E27FC236}">
                  <a16:creationId xmlns:a16="http://schemas.microsoft.com/office/drawing/2014/main" xmlns="" id="{E103F272-33FF-49BE-A265-E3D2484EC2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2" y="2789"/>
              <a:ext cx="5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,</a:t>
              </a:r>
              <a:endParaRPr lang="en-US" altLang="en-US" sz="1800" dirty="0"/>
            </a:p>
          </p:txBody>
        </p:sp>
        <p:sp>
          <p:nvSpPr>
            <p:cNvPr id="50251" name="Rectangle 15">
              <a:extLst>
                <a:ext uri="{FF2B5EF4-FFF2-40B4-BE49-F238E27FC236}">
                  <a16:creationId xmlns:a16="http://schemas.microsoft.com/office/drawing/2014/main" xmlns="" id="{CB57B33D-535F-4B63-B53A-E556AF3AE9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2789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800"/>
            </a:p>
          </p:txBody>
        </p:sp>
        <p:sp>
          <p:nvSpPr>
            <p:cNvPr id="50252" name="Rectangle 16">
              <a:extLst>
                <a:ext uri="{FF2B5EF4-FFF2-40B4-BE49-F238E27FC236}">
                  <a16:creationId xmlns:a16="http://schemas.microsoft.com/office/drawing/2014/main" xmlns="" id="{4695B562-9936-4E6C-B10B-1A34019F3F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6" y="2789"/>
              <a:ext cx="17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ln</a:t>
              </a:r>
              <a:endParaRPr lang="en-US" altLang="en-US" sz="1800"/>
            </a:p>
          </p:txBody>
        </p:sp>
        <p:sp>
          <p:nvSpPr>
            <p:cNvPr id="50253" name="Rectangle 17">
              <a:extLst>
                <a:ext uri="{FF2B5EF4-FFF2-40B4-BE49-F238E27FC236}">
                  <a16:creationId xmlns:a16="http://schemas.microsoft.com/office/drawing/2014/main" xmlns="" id="{0237C67F-C555-4F85-B3F9-B94A80A48B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3" y="2925"/>
              <a:ext cx="194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vi-VN" altLang="en-US" sz="1600" dirty="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598</a:t>
              </a:r>
              <a:endParaRPr lang="en-US" altLang="en-US" sz="1800" dirty="0"/>
            </a:p>
          </p:txBody>
        </p:sp>
        <p:sp>
          <p:nvSpPr>
            <p:cNvPr id="50254" name="Rectangle 18">
              <a:extLst>
                <a:ext uri="{FF2B5EF4-FFF2-40B4-BE49-F238E27FC236}">
                  <a16:creationId xmlns:a16="http://schemas.microsoft.com/office/drawing/2014/main" xmlns="" id="{29446489-84B5-4A24-89A2-0484BD7E68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5" y="2763"/>
              <a:ext cx="1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000000"/>
                  </a:solidFill>
                  <a:latin typeface="Symbol" panose="05050102010706020507" pitchFamily="18" charset="2"/>
                </a:rPr>
                <a:t>=</a:t>
              </a:r>
              <a:endParaRPr lang="en-US" altLang="en-US" sz="1800"/>
            </a:p>
          </p:txBody>
        </p:sp>
        <p:sp>
          <p:nvSpPr>
            <p:cNvPr id="50255" name="Rectangle 19">
              <a:extLst>
                <a:ext uri="{FF2B5EF4-FFF2-40B4-BE49-F238E27FC236}">
                  <a16:creationId xmlns:a16="http://schemas.microsoft.com/office/drawing/2014/main" xmlns="" id="{E8033D4D-4E4C-47BB-9099-D540539F32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9" y="2789"/>
              <a:ext cx="149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K</a:t>
              </a:r>
              <a:endParaRPr lang="en-US" altLang="en-US" sz="1800" dirty="0"/>
            </a:p>
          </p:txBody>
        </p:sp>
      </p:grpSp>
      <p:grpSp>
        <p:nvGrpSpPr>
          <p:cNvPr id="4" name="Group 20">
            <a:extLst>
              <a:ext uri="{FF2B5EF4-FFF2-40B4-BE49-F238E27FC236}">
                <a16:creationId xmlns:a16="http://schemas.microsoft.com/office/drawing/2014/main" xmlns="" id="{41EC5880-398C-4709-98E4-F052FDD85429}"/>
              </a:ext>
            </a:extLst>
          </p:cNvPr>
          <p:cNvGrpSpPr>
            <a:grpSpLocks/>
          </p:cNvGrpSpPr>
          <p:nvPr/>
        </p:nvGrpSpPr>
        <p:grpSpPr bwMode="auto">
          <a:xfrm>
            <a:off x="1763713" y="3357563"/>
            <a:ext cx="6224587" cy="941387"/>
            <a:chOff x="1096" y="2140"/>
            <a:chExt cx="3921" cy="593"/>
          </a:xfrm>
        </p:grpSpPr>
        <p:sp>
          <p:nvSpPr>
            <p:cNvPr id="50214" name="Line 21">
              <a:extLst>
                <a:ext uri="{FF2B5EF4-FFF2-40B4-BE49-F238E27FC236}">
                  <a16:creationId xmlns:a16="http://schemas.microsoft.com/office/drawing/2014/main" xmlns="" id="{5DFC0112-D5A7-4F76-A3A2-FFEE6D3F43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05" y="2431"/>
              <a:ext cx="63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215" name="Line 22">
              <a:extLst>
                <a:ext uri="{FF2B5EF4-FFF2-40B4-BE49-F238E27FC236}">
                  <a16:creationId xmlns:a16="http://schemas.microsoft.com/office/drawing/2014/main" xmlns="" id="{5EEFFE0E-845F-4C66-86AC-158954504B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9" y="2431"/>
              <a:ext cx="573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216" name="Line 23">
              <a:extLst>
                <a:ext uri="{FF2B5EF4-FFF2-40B4-BE49-F238E27FC236}">
                  <a16:creationId xmlns:a16="http://schemas.microsoft.com/office/drawing/2014/main" xmlns="" id="{ED928FD4-8DB9-4DF3-8C15-E20CB69668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45" y="2431"/>
              <a:ext cx="354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217" name="Line 24">
              <a:extLst>
                <a:ext uri="{FF2B5EF4-FFF2-40B4-BE49-F238E27FC236}">
                  <a16:creationId xmlns:a16="http://schemas.microsoft.com/office/drawing/2014/main" xmlns="" id="{B371A7FC-A311-4B37-A07B-F8291C4683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1" y="2431"/>
              <a:ext cx="34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218" name="Rectangle 25">
              <a:extLst>
                <a:ext uri="{FF2B5EF4-FFF2-40B4-BE49-F238E27FC236}">
                  <a16:creationId xmlns:a16="http://schemas.microsoft.com/office/drawing/2014/main" xmlns="" id="{7422FD52-80AC-4B31-BAED-6B9F9B237C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1" y="2289"/>
              <a:ext cx="33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437</a:t>
              </a:r>
              <a:endParaRPr lang="en-US" altLang="en-US" sz="1800"/>
            </a:p>
          </p:txBody>
        </p:sp>
        <p:sp>
          <p:nvSpPr>
            <p:cNvPr id="50219" name="Rectangle 26">
              <a:extLst>
                <a:ext uri="{FF2B5EF4-FFF2-40B4-BE49-F238E27FC236}">
                  <a16:creationId xmlns:a16="http://schemas.microsoft.com/office/drawing/2014/main" xmlns="" id="{FC32C4D7-D9BA-4E6D-B30B-7C665447CB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2" y="2289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,</a:t>
              </a:r>
              <a:endParaRPr lang="en-US" altLang="en-US" sz="1800"/>
            </a:p>
          </p:txBody>
        </p:sp>
        <p:sp>
          <p:nvSpPr>
            <p:cNvPr id="50220" name="Rectangle 27">
              <a:extLst>
                <a:ext uri="{FF2B5EF4-FFF2-40B4-BE49-F238E27FC236}">
                  <a16:creationId xmlns:a16="http://schemas.microsoft.com/office/drawing/2014/main" xmlns="" id="{32024CD1-8360-47F3-AAE6-02D9830F32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" y="2289"/>
              <a:ext cx="22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11</a:t>
              </a:r>
              <a:endParaRPr lang="en-US" altLang="en-US" sz="1800"/>
            </a:p>
          </p:txBody>
        </p:sp>
        <p:sp>
          <p:nvSpPr>
            <p:cNvPr id="50221" name="Rectangle 28">
              <a:extLst>
                <a:ext uri="{FF2B5EF4-FFF2-40B4-BE49-F238E27FC236}">
                  <a16:creationId xmlns:a16="http://schemas.microsoft.com/office/drawing/2014/main" xmlns="" id="{15AFD6DA-E90A-4347-94D4-50AAA91B8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0" y="2463"/>
              <a:ext cx="33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598</a:t>
              </a:r>
              <a:endParaRPr lang="en-US" altLang="en-US" sz="1800"/>
            </a:p>
          </p:txBody>
        </p:sp>
        <p:sp>
          <p:nvSpPr>
            <p:cNvPr id="50222" name="Rectangle 29">
              <a:extLst>
                <a:ext uri="{FF2B5EF4-FFF2-40B4-BE49-F238E27FC236}">
                  <a16:creationId xmlns:a16="http://schemas.microsoft.com/office/drawing/2014/main" xmlns="" id="{106FCB38-BA88-4114-9551-9BF812B43D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9" y="2149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800"/>
            </a:p>
          </p:txBody>
        </p:sp>
        <p:sp>
          <p:nvSpPr>
            <p:cNvPr id="50223" name="Rectangle 30">
              <a:extLst>
                <a:ext uri="{FF2B5EF4-FFF2-40B4-BE49-F238E27FC236}">
                  <a16:creationId xmlns:a16="http://schemas.microsoft.com/office/drawing/2014/main" xmlns="" id="{6A74B902-C6DE-4512-938E-A183CAF91B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0" y="2463"/>
              <a:ext cx="33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298</a:t>
              </a:r>
              <a:endParaRPr lang="en-US" altLang="en-US" sz="1800"/>
            </a:p>
          </p:txBody>
        </p:sp>
        <p:sp>
          <p:nvSpPr>
            <p:cNvPr id="50224" name="Rectangle 31">
              <a:extLst>
                <a:ext uri="{FF2B5EF4-FFF2-40B4-BE49-F238E27FC236}">
                  <a16:creationId xmlns:a16="http://schemas.microsoft.com/office/drawing/2014/main" xmlns="" id="{EEC0CA30-8810-4967-A1F1-5346244759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6" y="2149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800"/>
            </a:p>
          </p:txBody>
        </p:sp>
        <p:sp>
          <p:nvSpPr>
            <p:cNvPr id="50225" name="Rectangle 32">
              <a:extLst>
                <a:ext uri="{FF2B5EF4-FFF2-40B4-BE49-F238E27FC236}">
                  <a16:creationId xmlns:a16="http://schemas.microsoft.com/office/drawing/2014/main" xmlns="" id="{A6C914B9-1D7E-4DD0-8581-ACE3448278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5" y="2463"/>
              <a:ext cx="33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314</a:t>
              </a:r>
              <a:endParaRPr lang="en-US" altLang="en-US" sz="1800"/>
            </a:p>
          </p:txBody>
        </p:sp>
        <p:sp>
          <p:nvSpPr>
            <p:cNvPr id="50226" name="Rectangle 33">
              <a:extLst>
                <a:ext uri="{FF2B5EF4-FFF2-40B4-BE49-F238E27FC236}">
                  <a16:creationId xmlns:a16="http://schemas.microsoft.com/office/drawing/2014/main" xmlns="" id="{FCD69AD1-8F39-4FCD-803A-22325447F9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3" y="2463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,</a:t>
              </a:r>
              <a:endParaRPr lang="en-US" altLang="en-US" sz="1800"/>
            </a:p>
          </p:txBody>
        </p:sp>
        <p:sp>
          <p:nvSpPr>
            <p:cNvPr id="50227" name="Rectangle 34">
              <a:extLst>
                <a:ext uri="{FF2B5EF4-FFF2-40B4-BE49-F238E27FC236}">
                  <a16:creationId xmlns:a16="http://schemas.microsoft.com/office/drawing/2014/main" xmlns="" id="{D345DFF1-B460-4251-8EBB-BFF7065E11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9" y="2463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8</a:t>
              </a:r>
              <a:endParaRPr lang="en-US" altLang="en-US" sz="1800"/>
            </a:p>
          </p:txBody>
        </p:sp>
        <p:sp>
          <p:nvSpPr>
            <p:cNvPr id="50228" name="Rectangle 35">
              <a:extLst>
                <a:ext uri="{FF2B5EF4-FFF2-40B4-BE49-F238E27FC236}">
                  <a16:creationId xmlns:a16="http://schemas.microsoft.com/office/drawing/2014/main" xmlns="" id="{41333402-89C5-49C8-9B48-24709614FA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7" y="2149"/>
              <a:ext cx="56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56484</a:t>
              </a:r>
              <a:endParaRPr lang="en-US" altLang="en-US" sz="1800"/>
            </a:p>
          </p:txBody>
        </p:sp>
        <p:sp>
          <p:nvSpPr>
            <p:cNvPr id="50229" name="Rectangle 36">
              <a:extLst>
                <a:ext uri="{FF2B5EF4-FFF2-40B4-BE49-F238E27FC236}">
                  <a16:creationId xmlns:a16="http://schemas.microsoft.com/office/drawing/2014/main" xmlns="" id="{11178C88-ABF1-42DF-A0CB-B515292E73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6" y="2464"/>
              <a:ext cx="22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10</a:t>
              </a:r>
              <a:endParaRPr lang="en-US" altLang="en-US" sz="1800"/>
            </a:p>
          </p:txBody>
        </p:sp>
        <p:sp>
          <p:nvSpPr>
            <p:cNvPr id="50230" name="Rectangle 37">
              <a:extLst>
                <a:ext uri="{FF2B5EF4-FFF2-40B4-BE49-F238E27FC236}">
                  <a16:creationId xmlns:a16="http://schemas.microsoft.com/office/drawing/2014/main" xmlns="" id="{5955AA6D-EEBE-4037-AF53-B213CD1FCD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0" y="2464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.</a:t>
              </a:r>
              <a:endParaRPr lang="en-US" altLang="en-US" sz="1800"/>
            </a:p>
          </p:txBody>
        </p:sp>
        <p:sp>
          <p:nvSpPr>
            <p:cNvPr id="50231" name="Rectangle 38">
              <a:extLst>
                <a:ext uri="{FF2B5EF4-FFF2-40B4-BE49-F238E27FC236}">
                  <a16:creationId xmlns:a16="http://schemas.microsoft.com/office/drawing/2014/main" xmlns="" id="{E7597C91-94B7-440D-AB84-C97CCCA406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9" y="2464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1800"/>
            </a:p>
          </p:txBody>
        </p:sp>
        <p:sp>
          <p:nvSpPr>
            <p:cNvPr id="50232" name="Rectangle 39">
              <a:extLst>
                <a:ext uri="{FF2B5EF4-FFF2-40B4-BE49-F238E27FC236}">
                  <a16:creationId xmlns:a16="http://schemas.microsoft.com/office/drawing/2014/main" xmlns="" id="{B28284B0-0DB6-4E83-9785-1E77C4A309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6" y="2464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,</a:t>
              </a:r>
              <a:endParaRPr lang="en-US" altLang="en-US" sz="1800"/>
            </a:p>
          </p:txBody>
        </p:sp>
        <p:sp>
          <p:nvSpPr>
            <p:cNvPr id="50233" name="Rectangle 40">
              <a:extLst>
                <a:ext uri="{FF2B5EF4-FFF2-40B4-BE49-F238E27FC236}">
                  <a16:creationId xmlns:a16="http://schemas.microsoft.com/office/drawing/2014/main" xmlns="" id="{64DC9451-1E27-4A88-874A-FE06CE6607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464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800"/>
            </a:p>
          </p:txBody>
        </p:sp>
        <p:sp>
          <p:nvSpPr>
            <p:cNvPr id="50234" name="Rectangle 41">
              <a:extLst>
                <a:ext uri="{FF2B5EF4-FFF2-40B4-BE49-F238E27FC236}">
                  <a16:creationId xmlns:a16="http://schemas.microsoft.com/office/drawing/2014/main" xmlns="" id="{550116C0-5ADE-46D3-8538-23B4460B21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6" y="2289"/>
              <a:ext cx="17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ln</a:t>
              </a:r>
              <a:endParaRPr lang="en-US" altLang="en-US" sz="1800"/>
            </a:p>
          </p:txBody>
        </p:sp>
        <p:sp>
          <p:nvSpPr>
            <p:cNvPr id="50235" name="Rectangle 42">
              <a:extLst>
                <a:ext uri="{FF2B5EF4-FFF2-40B4-BE49-F238E27FC236}">
                  <a16:creationId xmlns:a16="http://schemas.microsoft.com/office/drawing/2014/main" xmlns="" id="{FC3341EE-7C11-4483-ABD3-2C984B83BF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9" y="2446"/>
              <a:ext cx="6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lang="en-US" altLang="en-US" sz="1800"/>
            </a:p>
          </p:txBody>
        </p:sp>
        <p:sp>
          <p:nvSpPr>
            <p:cNvPr id="50236" name="Rectangle 43">
              <a:extLst>
                <a:ext uri="{FF2B5EF4-FFF2-40B4-BE49-F238E27FC236}">
                  <a16:creationId xmlns:a16="http://schemas.microsoft.com/office/drawing/2014/main" xmlns="" id="{10BCBA3F-2363-433E-A705-59FDEFAB4C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1" y="2281"/>
              <a:ext cx="192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598</a:t>
              </a:r>
              <a:endParaRPr lang="en-US" altLang="en-US" sz="1800"/>
            </a:p>
          </p:txBody>
        </p:sp>
        <p:sp>
          <p:nvSpPr>
            <p:cNvPr id="50237" name="Rectangle 44">
              <a:extLst>
                <a:ext uri="{FF2B5EF4-FFF2-40B4-BE49-F238E27FC236}">
                  <a16:creationId xmlns:a16="http://schemas.microsoft.com/office/drawing/2014/main" xmlns="" id="{5498A78F-7D2D-4715-A990-01222ED1EF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8" y="2263"/>
              <a:ext cx="1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000000"/>
                  </a:solidFill>
                  <a:latin typeface="Symbol" panose="05050102010706020507" pitchFamily="18" charset="2"/>
                </a:rPr>
                <a:t>-</a:t>
              </a:r>
              <a:endParaRPr lang="en-US" altLang="en-US" sz="1800"/>
            </a:p>
          </p:txBody>
        </p:sp>
        <p:sp>
          <p:nvSpPr>
            <p:cNvPr id="50238" name="Rectangle 45">
              <a:extLst>
                <a:ext uri="{FF2B5EF4-FFF2-40B4-BE49-F238E27FC236}">
                  <a16:creationId xmlns:a16="http://schemas.microsoft.com/office/drawing/2014/main" xmlns="" id="{804CBF5B-389C-4FDE-8295-568E6AA0F3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3" y="2263"/>
              <a:ext cx="1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000000"/>
                  </a:solidFill>
                  <a:latin typeface="Symbol" panose="05050102010706020507" pitchFamily="18" charset="2"/>
                </a:rPr>
                <a:t>=</a:t>
              </a:r>
              <a:endParaRPr lang="en-US" altLang="en-US" sz="1800"/>
            </a:p>
          </p:txBody>
        </p:sp>
        <p:sp>
          <p:nvSpPr>
            <p:cNvPr id="50239" name="Rectangle 46">
              <a:extLst>
                <a:ext uri="{FF2B5EF4-FFF2-40B4-BE49-F238E27FC236}">
                  <a16:creationId xmlns:a16="http://schemas.microsoft.com/office/drawing/2014/main" xmlns="" id="{5BC457C6-4309-41B6-BC41-1FF142C14A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6" y="2282"/>
              <a:ext cx="8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000000"/>
                  </a:solidFill>
                  <a:latin typeface="Symbol" panose="05050102010706020507" pitchFamily="18" charset="2"/>
                </a:rPr>
                <a:t>÷</a:t>
              </a:r>
              <a:endParaRPr lang="en-US" altLang="en-US" sz="1800"/>
            </a:p>
          </p:txBody>
        </p:sp>
        <p:sp>
          <p:nvSpPr>
            <p:cNvPr id="50240" name="Rectangle 47">
              <a:extLst>
                <a:ext uri="{FF2B5EF4-FFF2-40B4-BE49-F238E27FC236}">
                  <a16:creationId xmlns:a16="http://schemas.microsoft.com/office/drawing/2014/main" xmlns="" id="{32F2BF6F-D519-4634-81DA-2963B623B6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6" y="2463"/>
              <a:ext cx="8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000000"/>
                  </a:solidFill>
                  <a:latin typeface="Symbol" panose="05050102010706020507" pitchFamily="18" charset="2"/>
                </a:rPr>
                <a:t>ø</a:t>
              </a:r>
              <a:endParaRPr lang="en-US" altLang="en-US" sz="1800"/>
            </a:p>
          </p:txBody>
        </p:sp>
        <p:sp>
          <p:nvSpPr>
            <p:cNvPr id="50241" name="Rectangle 48">
              <a:extLst>
                <a:ext uri="{FF2B5EF4-FFF2-40B4-BE49-F238E27FC236}">
                  <a16:creationId xmlns:a16="http://schemas.microsoft.com/office/drawing/2014/main" xmlns="" id="{FCC6E595-741F-4388-9B14-AAD203E917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6" y="2140"/>
              <a:ext cx="8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000000"/>
                  </a:solidFill>
                  <a:latin typeface="Symbol" panose="05050102010706020507" pitchFamily="18" charset="2"/>
                </a:rPr>
                <a:t>ö</a:t>
              </a:r>
              <a:endParaRPr lang="en-US" altLang="en-US" sz="1800"/>
            </a:p>
          </p:txBody>
        </p:sp>
        <p:sp>
          <p:nvSpPr>
            <p:cNvPr id="50242" name="Rectangle 49">
              <a:extLst>
                <a:ext uri="{FF2B5EF4-FFF2-40B4-BE49-F238E27FC236}">
                  <a16:creationId xmlns:a16="http://schemas.microsoft.com/office/drawing/2014/main" xmlns="" id="{D39EA591-4980-4EE8-AE85-D647DF2FFC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0" y="2282"/>
              <a:ext cx="8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000000"/>
                  </a:solidFill>
                  <a:latin typeface="Symbol" panose="05050102010706020507" pitchFamily="18" charset="2"/>
                </a:rPr>
                <a:t>ç</a:t>
              </a:r>
              <a:endParaRPr lang="en-US" altLang="en-US" sz="1800"/>
            </a:p>
          </p:txBody>
        </p:sp>
        <p:sp>
          <p:nvSpPr>
            <p:cNvPr id="50243" name="Rectangle 50">
              <a:extLst>
                <a:ext uri="{FF2B5EF4-FFF2-40B4-BE49-F238E27FC236}">
                  <a16:creationId xmlns:a16="http://schemas.microsoft.com/office/drawing/2014/main" xmlns="" id="{15E15F74-9C8C-4FA6-97AC-8F09002A75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0" y="2463"/>
              <a:ext cx="8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000000"/>
                  </a:solidFill>
                  <a:latin typeface="Symbol" panose="05050102010706020507" pitchFamily="18" charset="2"/>
                </a:rPr>
                <a:t>è</a:t>
              </a:r>
              <a:endParaRPr lang="en-US" altLang="en-US" sz="1800"/>
            </a:p>
          </p:txBody>
        </p:sp>
        <p:sp>
          <p:nvSpPr>
            <p:cNvPr id="50244" name="Rectangle 51">
              <a:extLst>
                <a:ext uri="{FF2B5EF4-FFF2-40B4-BE49-F238E27FC236}">
                  <a16:creationId xmlns:a16="http://schemas.microsoft.com/office/drawing/2014/main" xmlns="" id="{81034EE9-A6F1-4CA3-912C-39A3CB62D2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0" y="2140"/>
              <a:ext cx="8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000000"/>
                  </a:solidFill>
                  <a:latin typeface="Symbol" panose="05050102010706020507" pitchFamily="18" charset="2"/>
                </a:rPr>
                <a:t>æ</a:t>
              </a:r>
              <a:endParaRPr lang="en-US" altLang="en-US" sz="1800"/>
            </a:p>
          </p:txBody>
        </p:sp>
        <p:sp>
          <p:nvSpPr>
            <p:cNvPr id="50245" name="Rectangle 52">
              <a:extLst>
                <a:ext uri="{FF2B5EF4-FFF2-40B4-BE49-F238E27FC236}">
                  <a16:creationId xmlns:a16="http://schemas.microsoft.com/office/drawing/2014/main" xmlns="" id="{8FC375F5-1E6E-478F-9F10-A012B7C250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6" y="2263"/>
              <a:ext cx="1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000000"/>
                  </a:solidFill>
                  <a:latin typeface="Symbol" panose="05050102010706020507" pitchFamily="18" charset="2"/>
                </a:rPr>
                <a:t>-</a:t>
              </a:r>
              <a:endParaRPr lang="en-US" altLang="en-US" sz="1800"/>
            </a:p>
          </p:txBody>
        </p:sp>
        <p:sp>
          <p:nvSpPr>
            <p:cNvPr id="50246" name="Rectangle 53">
              <a:extLst>
                <a:ext uri="{FF2B5EF4-FFF2-40B4-BE49-F238E27FC236}">
                  <a16:creationId xmlns:a16="http://schemas.microsoft.com/office/drawing/2014/main" xmlns="" id="{32F15D23-FD11-4806-B822-BF589B70DB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7" y="2263"/>
              <a:ext cx="1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000000"/>
                  </a:solidFill>
                  <a:latin typeface="Symbol" panose="05050102010706020507" pitchFamily="18" charset="2"/>
                </a:rPr>
                <a:t>-</a:t>
              </a:r>
              <a:endParaRPr lang="en-US" altLang="en-US" sz="1800"/>
            </a:p>
          </p:txBody>
        </p:sp>
        <p:sp>
          <p:nvSpPr>
            <p:cNvPr id="50247" name="Rectangle 54">
              <a:extLst>
                <a:ext uri="{FF2B5EF4-FFF2-40B4-BE49-F238E27FC236}">
                  <a16:creationId xmlns:a16="http://schemas.microsoft.com/office/drawing/2014/main" xmlns="" id="{8C77217F-190C-4947-B0A3-43AAB41DC4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2" y="2263"/>
              <a:ext cx="1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000000"/>
                  </a:solidFill>
                  <a:latin typeface="Symbol" panose="05050102010706020507" pitchFamily="18" charset="2"/>
                </a:rPr>
                <a:t>=</a:t>
              </a:r>
              <a:endParaRPr lang="en-US" altLang="en-US" sz="1800"/>
            </a:p>
          </p:txBody>
        </p:sp>
        <p:sp>
          <p:nvSpPr>
            <p:cNvPr id="50248" name="Rectangle 55">
              <a:extLst>
                <a:ext uri="{FF2B5EF4-FFF2-40B4-BE49-F238E27FC236}">
                  <a16:creationId xmlns:a16="http://schemas.microsoft.com/office/drawing/2014/main" xmlns="" id="{EC22ED5A-57C7-4501-8B47-A18392CCED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7" y="2144"/>
              <a:ext cx="149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K</a:t>
              </a:r>
              <a:endParaRPr lang="en-US" altLang="en-US" sz="1800"/>
            </a:p>
          </p:txBody>
        </p:sp>
      </p:grpSp>
      <p:grpSp>
        <p:nvGrpSpPr>
          <p:cNvPr id="5" name="Group 56">
            <a:extLst>
              <a:ext uri="{FF2B5EF4-FFF2-40B4-BE49-F238E27FC236}">
                <a16:creationId xmlns:a16="http://schemas.microsoft.com/office/drawing/2014/main" xmlns="" id="{A3CEA8FE-3908-472D-9939-C1B9E844D4D2}"/>
              </a:ext>
            </a:extLst>
          </p:cNvPr>
          <p:cNvGrpSpPr>
            <a:grpSpLocks/>
          </p:cNvGrpSpPr>
          <p:nvPr/>
        </p:nvGrpSpPr>
        <p:grpSpPr bwMode="auto">
          <a:xfrm>
            <a:off x="1763713" y="2060575"/>
            <a:ext cx="3956050" cy="1041400"/>
            <a:chOff x="1096" y="1418"/>
            <a:chExt cx="2492" cy="656"/>
          </a:xfrm>
        </p:grpSpPr>
        <p:sp>
          <p:nvSpPr>
            <p:cNvPr id="50185" name="Line 57">
              <a:extLst>
                <a:ext uri="{FF2B5EF4-FFF2-40B4-BE49-F238E27FC236}">
                  <a16:creationId xmlns:a16="http://schemas.microsoft.com/office/drawing/2014/main" xmlns="" id="{D4CA93F3-63F2-4A5D-A2A9-58537AC94F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05" y="1742"/>
              <a:ext cx="421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186" name="Line 58">
              <a:extLst>
                <a:ext uri="{FF2B5EF4-FFF2-40B4-BE49-F238E27FC236}">
                  <a16:creationId xmlns:a16="http://schemas.microsoft.com/office/drawing/2014/main" xmlns="" id="{1AB7D6A9-0D94-4D07-BECB-84933A2264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5" y="1742"/>
              <a:ext cx="456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187" name="Line 59">
              <a:extLst>
                <a:ext uri="{FF2B5EF4-FFF2-40B4-BE49-F238E27FC236}">
                  <a16:creationId xmlns:a16="http://schemas.microsoft.com/office/drawing/2014/main" xmlns="" id="{AB6A958A-DB5B-4AAB-B898-E0FCC217DD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4" y="1742"/>
              <a:ext cx="351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188" name="Line 60">
              <a:extLst>
                <a:ext uri="{FF2B5EF4-FFF2-40B4-BE49-F238E27FC236}">
                  <a16:creationId xmlns:a16="http://schemas.microsoft.com/office/drawing/2014/main" xmlns="" id="{69C82E0E-EDEF-49D2-8151-0B7DAC33D0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8" y="1742"/>
              <a:ext cx="34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189" name="Rectangle 61">
              <a:extLst>
                <a:ext uri="{FF2B5EF4-FFF2-40B4-BE49-F238E27FC236}">
                  <a16:creationId xmlns:a16="http://schemas.microsoft.com/office/drawing/2014/main" xmlns="" id="{AFF21F12-1F6C-44A4-BEB9-FD2CA47A69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5" y="1460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800"/>
            </a:p>
          </p:txBody>
        </p:sp>
        <p:sp>
          <p:nvSpPr>
            <p:cNvPr id="50190" name="Rectangle 62">
              <a:extLst>
                <a:ext uri="{FF2B5EF4-FFF2-40B4-BE49-F238E27FC236}">
                  <a16:creationId xmlns:a16="http://schemas.microsoft.com/office/drawing/2014/main" xmlns="" id="{BF532EA4-CC26-4389-9E83-1AEF27335D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3" y="1460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800"/>
            </a:p>
          </p:txBody>
        </p:sp>
        <p:sp>
          <p:nvSpPr>
            <p:cNvPr id="50191" name="Rectangle 63">
              <a:extLst>
                <a:ext uri="{FF2B5EF4-FFF2-40B4-BE49-F238E27FC236}">
                  <a16:creationId xmlns:a16="http://schemas.microsoft.com/office/drawing/2014/main" xmlns="" id="{FE72C6D8-0D99-42AC-9988-1242379E44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6" y="1599"/>
              <a:ext cx="17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ln</a:t>
              </a:r>
              <a:endParaRPr lang="en-US" altLang="en-US" sz="1800"/>
            </a:p>
          </p:txBody>
        </p:sp>
        <p:sp>
          <p:nvSpPr>
            <p:cNvPr id="50192" name="Rectangle 64">
              <a:extLst>
                <a:ext uri="{FF2B5EF4-FFF2-40B4-BE49-F238E27FC236}">
                  <a16:creationId xmlns:a16="http://schemas.microsoft.com/office/drawing/2014/main" xmlns="" id="{F827BD01-7470-4607-B8D1-A23EE66ED7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4" y="1910"/>
              <a:ext cx="192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598</a:t>
              </a:r>
              <a:endParaRPr lang="en-US" altLang="en-US" sz="1800"/>
            </a:p>
          </p:txBody>
        </p:sp>
        <p:sp>
          <p:nvSpPr>
            <p:cNvPr id="50193" name="Rectangle 65">
              <a:extLst>
                <a:ext uri="{FF2B5EF4-FFF2-40B4-BE49-F238E27FC236}">
                  <a16:creationId xmlns:a16="http://schemas.microsoft.com/office/drawing/2014/main" xmlns="" id="{8D0C4DED-6156-4512-B369-F609774759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4" y="1910"/>
              <a:ext cx="192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298</a:t>
              </a:r>
              <a:endParaRPr lang="en-US" altLang="en-US" sz="1800"/>
            </a:p>
          </p:txBody>
        </p:sp>
        <p:sp>
          <p:nvSpPr>
            <p:cNvPr id="50194" name="Rectangle 66">
              <a:extLst>
                <a:ext uri="{FF2B5EF4-FFF2-40B4-BE49-F238E27FC236}">
                  <a16:creationId xmlns:a16="http://schemas.microsoft.com/office/drawing/2014/main" xmlns="" id="{5776702E-02C1-4263-BB90-B652EC8CCE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8" y="1441"/>
              <a:ext cx="6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en-US" sz="1800"/>
            </a:p>
          </p:txBody>
        </p:sp>
        <p:sp>
          <p:nvSpPr>
            <p:cNvPr id="50195" name="Rectangle 67">
              <a:extLst>
                <a:ext uri="{FF2B5EF4-FFF2-40B4-BE49-F238E27FC236}">
                  <a16:creationId xmlns:a16="http://schemas.microsoft.com/office/drawing/2014/main" xmlns="" id="{6CEC1603-465C-44F0-824D-FBFC099293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5" y="1910"/>
              <a:ext cx="192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298</a:t>
              </a:r>
              <a:endParaRPr lang="en-US" altLang="en-US" sz="1800"/>
            </a:p>
          </p:txBody>
        </p:sp>
        <p:sp>
          <p:nvSpPr>
            <p:cNvPr id="50196" name="Rectangle 68">
              <a:extLst>
                <a:ext uri="{FF2B5EF4-FFF2-40B4-BE49-F238E27FC236}">
                  <a16:creationId xmlns:a16="http://schemas.microsoft.com/office/drawing/2014/main" xmlns="" id="{F153E843-7F41-4ED3-9111-D67252ADBB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4" y="1591"/>
              <a:ext cx="192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598</a:t>
              </a:r>
              <a:endParaRPr lang="en-US" altLang="en-US" sz="1800"/>
            </a:p>
          </p:txBody>
        </p:sp>
        <p:sp>
          <p:nvSpPr>
            <p:cNvPr id="50197" name="Rectangle 69">
              <a:extLst>
                <a:ext uri="{FF2B5EF4-FFF2-40B4-BE49-F238E27FC236}">
                  <a16:creationId xmlns:a16="http://schemas.microsoft.com/office/drawing/2014/main" xmlns="" id="{A95A514D-14E2-4C07-A7F9-72B124FD41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2" y="1663"/>
              <a:ext cx="8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000000"/>
                  </a:solidFill>
                  <a:latin typeface="Symbol" panose="05050102010706020507" pitchFamily="18" charset="2"/>
                </a:rPr>
                <a:t>÷</a:t>
              </a:r>
              <a:endParaRPr lang="en-US" altLang="en-US" sz="1800"/>
            </a:p>
          </p:txBody>
        </p:sp>
        <p:sp>
          <p:nvSpPr>
            <p:cNvPr id="50198" name="Rectangle 70">
              <a:extLst>
                <a:ext uri="{FF2B5EF4-FFF2-40B4-BE49-F238E27FC236}">
                  <a16:creationId xmlns:a16="http://schemas.microsoft.com/office/drawing/2014/main" xmlns="" id="{22212CA4-EE85-4F0F-8FC8-5694B3E0C5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2" y="1561"/>
              <a:ext cx="8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000000"/>
                  </a:solidFill>
                  <a:latin typeface="Symbol" panose="05050102010706020507" pitchFamily="18" charset="2"/>
                </a:rPr>
                <a:t>÷</a:t>
              </a:r>
              <a:endParaRPr lang="en-US" altLang="en-US" sz="1800"/>
            </a:p>
          </p:txBody>
        </p:sp>
        <p:sp>
          <p:nvSpPr>
            <p:cNvPr id="50199" name="Rectangle 71">
              <a:extLst>
                <a:ext uri="{FF2B5EF4-FFF2-40B4-BE49-F238E27FC236}">
                  <a16:creationId xmlns:a16="http://schemas.microsoft.com/office/drawing/2014/main" xmlns="" id="{5B3B6B02-5EE8-4E10-921D-F282E4DB8D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2" y="1805"/>
              <a:ext cx="8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000000"/>
                  </a:solidFill>
                  <a:latin typeface="Symbol" panose="05050102010706020507" pitchFamily="18" charset="2"/>
                </a:rPr>
                <a:t>ø</a:t>
              </a:r>
              <a:endParaRPr lang="en-US" altLang="en-US" sz="1800"/>
            </a:p>
          </p:txBody>
        </p:sp>
        <p:sp>
          <p:nvSpPr>
            <p:cNvPr id="50200" name="Rectangle 72">
              <a:extLst>
                <a:ext uri="{FF2B5EF4-FFF2-40B4-BE49-F238E27FC236}">
                  <a16:creationId xmlns:a16="http://schemas.microsoft.com/office/drawing/2014/main" xmlns="" id="{4DD7188D-BECF-45EA-9134-A43BCF3392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2" y="1418"/>
              <a:ext cx="8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000000"/>
                  </a:solidFill>
                  <a:latin typeface="Symbol" panose="05050102010706020507" pitchFamily="18" charset="2"/>
                </a:rPr>
                <a:t>ö</a:t>
              </a:r>
              <a:endParaRPr lang="en-US" altLang="en-US" sz="1800"/>
            </a:p>
          </p:txBody>
        </p:sp>
        <p:sp>
          <p:nvSpPr>
            <p:cNvPr id="50201" name="Rectangle 73">
              <a:extLst>
                <a:ext uri="{FF2B5EF4-FFF2-40B4-BE49-F238E27FC236}">
                  <a16:creationId xmlns:a16="http://schemas.microsoft.com/office/drawing/2014/main" xmlns="" id="{4D534267-65D0-4FFB-B8B9-530512F000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9" y="1663"/>
              <a:ext cx="8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000000"/>
                  </a:solidFill>
                  <a:latin typeface="Symbol" panose="05050102010706020507" pitchFamily="18" charset="2"/>
                </a:rPr>
                <a:t>ç</a:t>
              </a:r>
              <a:endParaRPr lang="en-US" altLang="en-US" sz="1800"/>
            </a:p>
          </p:txBody>
        </p:sp>
        <p:sp>
          <p:nvSpPr>
            <p:cNvPr id="50202" name="Rectangle 74">
              <a:extLst>
                <a:ext uri="{FF2B5EF4-FFF2-40B4-BE49-F238E27FC236}">
                  <a16:creationId xmlns:a16="http://schemas.microsoft.com/office/drawing/2014/main" xmlns="" id="{39843302-D058-4873-A16A-105BEEF7CA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9" y="1561"/>
              <a:ext cx="8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000000"/>
                  </a:solidFill>
                  <a:latin typeface="Symbol" panose="05050102010706020507" pitchFamily="18" charset="2"/>
                </a:rPr>
                <a:t>ç</a:t>
              </a:r>
              <a:endParaRPr lang="en-US" altLang="en-US" sz="1800"/>
            </a:p>
          </p:txBody>
        </p:sp>
        <p:sp>
          <p:nvSpPr>
            <p:cNvPr id="50203" name="Rectangle 75">
              <a:extLst>
                <a:ext uri="{FF2B5EF4-FFF2-40B4-BE49-F238E27FC236}">
                  <a16:creationId xmlns:a16="http://schemas.microsoft.com/office/drawing/2014/main" xmlns="" id="{12EE94F6-53CC-49D4-BC4F-25E20BEE5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9" y="1805"/>
              <a:ext cx="8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000000"/>
                  </a:solidFill>
                  <a:latin typeface="Symbol" panose="05050102010706020507" pitchFamily="18" charset="2"/>
                </a:rPr>
                <a:t>è</a:t>
              </a:r>
              <a:endParaRPr lang="en-US" altLang="en-US" sz="1800"/>
            </a:p>
          </p:txBody>
        </p:sp>
        <p:sp>
          <p:nvSpPr>
            <p:cNvPr id="50204" name="Rectangle 76">
              <a:extLst>
                <a:ext uri="{FF2B5EF4-FFF2-40B4-BE49-F238E27FC236}">
                  <a16:creationId xmlns:a16="http://schemas.microsoft.com/office/drawing/2014/main" xmlns="" id="{CF118901-5B0A-444F-8AC4-E23D32C917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9" y="1418"/>
              <a:ext cx="8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000000"/>
                  </a:solidFill>
                  <a:latin typeface="Symbol" panose="05050102010706020507" pitchFamily="18" charset="2"/>
                </a:rPr>
                <a:t>æ</a:t>
              </a:r>
              <a:endParaRPr lang="en-US" altLang="en-US" sz="1800"/>
            </a:p>
          </p:txBody>
        </p:sp>
        <p:sp>
          <p:nvSpPr>
            <p:cNvPr id="50205" name="Rectangle 77">
              <a:extLst>
                <a:ext uri="{FF2B5EF4-FFF2-40B4-BE49-F238E27FC236}">
                  <a16:creationId xmlns:a16="http://schemas.microsoft.com/office/drawing/2014/main" xmlns="" id="{D6BACBA6-6038-4EC4-8DE8-C1E92D6880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2" y="1573"/>
              <a:ext cx="1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000000"/>
                  </a:solidFill>
                  <a:latin typeface="Symbol" panose="05050102010706020507" pitchFamily="18" charset="2"/>
                </a:rPr>
                <a:t>-</a:t>
              </a:r>
              <a:endParaRPr lang="en-US" altLang="en-US" sz="1800"/>
            </a:p>
          </p:txBody>
        </p:sp>
        <p:sp>
          <p:nvSpPr>
            <p:cNvPr id="50206" name="Rectangle 78">
              <a:extLst>
                <a:ext uri="{FF2B5EF4-FFF2-40B4-BE49-F238E27FC236}">
                  <a16:creationId xmlns:a16="http://schemas.microsoft.com/office/drawing/2014/main" xmlns="" id="{6850780E-E18A-456B-A7A6-751B3C0490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0" y="1434"/>
              <a:ext cx="137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000000"/>
                  </a:solidFill>
                  <a:latin typeface="Symbol" panose="05050102010706020507" pitchFamily="18" charset="2"/>
                </a:rPr>
                <a:t>D</a:t>
              </a:r>
              <a:endParaRPr lang="en-US" altLang="en-US" sz="1800"/>
            </a:p>
          </p:txBody>
        </p:sp>
        <p:sp>
          <p:nvSpPr>
            <p:cNvPr id="50207" name="Rectangle 79">
              <a:extLst>
                <a:ext uri="{FF2B5EF4-FFF2-40B4-BE49-F238E27FC236}">
                  <a16:creationId xmlns:a16="http://schemas.microsoft.com/office/drawing/2014/main" xmlns="" id="{60EC930A-38ED-40F6-AE3A-0768C5A4DD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7" y="1573"/>
              <a:ext cx="1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000000"/>
                  </a:solidFill>
                  <a:latin typeface="Symbol" panose="05050102010706020507" pitchFamily="18" charset="2"/>
                </a:rPr>
                <a:t>=</a:t>
              </a:r>
              <a:endParaRPr lang="en-US" altLang="en-US" sz="1800"/>
            </a:p>
          </p:txBody>
        </p:sp>
        <p:sp>
          <p:nvSpPr>
            <p:cNvPr id="50208" name="Rectangle 80">
              <a:extLst>
                <a:ext uri="{FF2B5EF4-FFF2-40B4-BE49-F238E27FC236}">
                  <a16:creationId xmlns:a16="http://schemas.microsoft.com/office/drawing/2014/main" xmlns="" id="{62AA570B-3110-43E1-9154-5F0DB2F3B5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9" y="1773"/>
              <a:ext cx="12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endParaRPr lang="en-US" altLang="en-US" sz="1800"/>
            </a:p>
          </p:txBody>
        </p:sp>
        <p:sp>
          <p:nvSpPr>
            <p:cNvPr id="50209" name="Rectangle 81">
              <a:extLst>
                <a:ext uri="{FF2B5EF4-FFF2-40B4-BE49-F238E27FC236}">
                  <a16:creationId xmlns:a16="http://schemas.microsoft.com/office/drawing/2014/main" xmlns="" id="{36EFFA39-64D2-4502-AF8B-317AC5E707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5" y="1773"/>
              <a:ext cx="12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endParaRPr lang="en-US" altLang="en-US" sz="1800"/>
            </a:p>
          </p:txBody>
        </p:sp>
        <p:sp>
          <p:nvSpPr>
            <p:cNvPr id="50210" name="Rectangle 82">
              <a:extLst>
                <a:ext uri="{FF2B5EF4-FFF2-40B4-BE49-F238E27FC236}">
                  <a16:creationId xmlns:a16="http://schemas.microsoft.com/office/drawing/2014/main" xmlns="" id="{8C65B0F7-5CC3-4148-A2BC-F17A4350E1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8" y="1773"/>
              <a:ext cx="137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</a:t>
              </a:r>
              <a:endParaRPr lang="en-US" altLang="en-US" sz="1800"/>
            </a:p>
          </p:txBody>
        </p:sp>
        <p:sp>
          <p:nvSpPr>
            <p:cNvPr id="50211" name="Rectangle 83">
              <a:extLst>
                <a:ext uri="{FF2B5EF4-FFF2-40B4-BE49-F238E27FC236}">
                  <a16:creationId xmlns:a16="http://schemas.microsoft.com/office/drawing/2014/main" xmlns="" id="{7BC950AA-554B-4C20-BFD7-4136522FC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6" y="1460"/>
              <a:ext cx="16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H</a:t>
              </a:r>
              <a:endParaRPr lang="en-US" altLang="en-US" sz="1800"/>
            </a:p>
          </p:txBody>
        </p:sp>
        <p:sp>
          <p:nvSpPr>
            <p:cNvPr id="50212" name="Rectangle 84">
              <a:extLst>
                <a:ext uri="{FF2B5EF4-FFF2-40B4-BE49-F238E27FC236}">
                  <a16:creationId xmlns:a16="http://schemas.microsoft.com/office/drawing/2014/main" xmlns="" id="{94B60CE2-4B25-44C0-80D7-2B63DE7BAF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7" y="1773"/>
              <a:ext cx="149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K</a:t>
              </a:r>
              <a:endParaRPr lang="en-US" altLang="en-US" sz="1800"/>
            </a:p>
          </p:txBody>
        </p:sp>
        <p:sp>
          <p:nvSpPr>
            <p:cNvPr id="50213" name="Rectangle 85">
              <a:extLst>
                <a:ext uri="{FF2B5EF4-FFF2-40B4-BE49-F238E27FC236}">
                  <a16:creationId xmlns:a16="http://schemas.microsoft.com/office/drawing/2014/main" xmlns="" id="{C97FBF10-6F05-46D1-BAD3-BD84BD259A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9" y="1454"/>
              <a:ext cx="149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K</a:t>
              </a:r>
              <a:endParaRPr lang="en-US" altLang="en-US" sz="1800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028701" y="5278742"/>
            <a:ext cx="69595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rgbClr val="0000FF"/>
                </a:solidFill>
                <a:sym typeface="Symbol"/>
              </a:rPr>
              <a:t></a:t>
            </a:r>
            <a:r>
              <a:rPr lang="vi-VN" sz="3200" dirty="0" smtClean="0">
                <a:solidFill>
                  <a:srgbClr val="0000FF"/>
                </a:solidFill>
                <a:sym typeface="Symbol"/>
              </a:rPr>
              <a:t> </a:t>
            </a:r>
            <a:r>
              <a:rPr lang="en-US" sz="3200" dirty="0" smtClean="0">
                <a:solidFill>
                  <a:srgbClr val="0000FF"/>
                </a:solidFill>
                <a:sym typeface="Symbol"/>
              </a:rPr>
              <a:t></a:t>
            </a:r>
            <a:r>
              <a:rPr lang="vi-VN" sz="3200" dirty="0" smtClean="0">
                <a:solidFill>
                  <a:srgbClr val="0000FF"/>
                </a:solidFill>
                <a:sym typeface="Symbol"/>
              </a:rPr>
              <a:t>H</a:t>
            </a:r>
            <a:r>
              <a:rPr lang="vi-VN" sz="3200" baseline="-25000" dirty="0" smtClean="0">
                <a:solidFill>
                  <a:srgbClr val="0000FF"/>
                </a:solidFill>
                <a:sym typeface="Symbol"/>
              </a:rPr>
              <a:t>pư</a:t>
            </a:r>
            <a:r>
              <a:rPr lang="vi-VN" sz="3200" dirty="0" smtClean="0">
                <a:solidFill>
                  <a:srgbClr val="0000FF"/>
                </a:solidFill>
                <a:sym typeface="Symbol"/>
              </a:rPr>
              <a:t> &lt; 0 nên T thì HSCB  K</a:t>
            </a:r>
            <a:endParaRPr lang="en-US" sz="32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  <p:bldP spid="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xmlns="" id="{8D087F07-5B1B-4083-B7A0-78DCA7F2E6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388" y="228600"/>
            <a:ext cx="8964612" cy="1143000"/>
          </a:xfrm>
          <a:noFill/>
        </p:spPr>
        <p:txBody>
          <a:bodyPr/>
          <a:lstStyle/>
          <a:p>
            <a:pPr algn="l" eaLnBrk="1" hangingPunct="1"/>
            <a:r>
              <a:rPr lang="en-US" altLang="en-US" sz="3200" b="1" dirty="0"/>
              <a:t> </a:t>
            </a:r>
            <a:r>
              <a:rPr lang="en-US" alt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NGUYÊN LÝ CHUYỂN DỊCH CÂN BẰNG</a:t>
            </a:r>
            <a:r>
              <a:rPr lang="en-US" altLang="en-US" sz="3200" b="1" dirty="0">
                <a:solidFill>
                  <a:srgbClr val="0000FF"/>
                </a:solidFill>
              </a:rPr>
              <a:t/>
            </a:r>
            <a:br>
              <a:rPr lang="en-US" altLang="en-US" sz="3200" b="1" dirty="0">
                <a:solidFill>
                  <a:srgbClr val="0000FF"/>
                </a:solidFill>
              </a:rPr>
            </a:br>
            <a:r>
              <a:rPr lang="en-US" altLang="en-US" sz="3200" b="1" dirty="0">
                <a:solidFill>
                  <a:srgbClr val="0000FF"/>
                </a:solidFill>
              </a:rPr>
              <a:t>                          </a:t>
            </a:r>
            <a:r>
              <a:rPr lang="en-US" altLang="en-US" sz="2800" b="1" dirty="0">
                <a:solidFill>
                  <a:srgbClr val="0000FF"/>
                </a:solidFill>
              </a:rPr>
              <a:t>LE CHATELIER</a:t>
            </a:r>
            <a:r>
              <a:rPr lang="en-US" altLang="en-US" sz="4000" b="1" dirty="0">
                <a:solidFill>
                  <a:srgbClr val="0000FF"/>
                </a:solidFill>
              </a:rPr>
              <a:t> 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xmlns="" id="{870BFAC6-9E69-4F75-8E3D-9EBFF7AE7F5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6350" y="1405731"/>
            <a:ext cx="5257800" cy="4314825"/>
          </a:xfrm>
          <a:noFill/>
        </p:spPr>
        <p:txBody>
          <a:bodyPr/>
          <a:lstStyle/>
          <a:p>
            <a:pPr eaLnBrk="1" hangingPunct="1">
              <a:lnSpc>
                <a:spcPct val="125000"/>
              </a:lnSpc>
              <a:buFontTx/>
              <a:buNone/>
            </a:pPr>
            <a:r>
              <a:rPr lang="en-US" altLang="en-US" sz="2800" i="1" dirty="0"/>
              <a:t>	</a:t>
            </a:r>
            <a:r>
              <a:rPr lang="en-US" altLang="en-US" sz="2800" i="1" u="sng" dirty="0" err="1">
                <a:solidFill>
                  <a:srgbClr val="CC00FF"/>
                </a:solidFill>
              </a:rPr>
              <a:t>Phát</a:t>
            </a:r>
            <a:r>
              <a:rPr lang="en-US" altLang="en-US" sz="2800" i="1" u="sng" dirty="0">
                <a:solidFill>
                  <a:srgbClr val="CC00FF"/>
                </a:solidFill>
              </a:rPr>
              <a:t> </a:t>
            </a:r>
            <a:r>
              <a:rPr lang="en-US" altLang="en-US" sz="2800" i="1" u="sng" dirty="0" err="1">
                <a:solidFill>
                  <a:srgbClr val="CC00FF"/>
                </a:solidFill>
              </a:rPr>
              <a:t>biểu</a:t>
            </a:r>
            <a:r>
              <a:rPr lang="en-US" altLang="en-US" sz="2800" i="1" dirty="0">
                <a:solidFill>
                  <a:srgbClr val="CC00FF"/>
                </a:solidFill>
              </a:rPr>
              <a:t>: </a:t>
            </a:r>
            <a:r>
              <a:rPr lang="en-US" altLang="en-US" sz="2800" i="1" dirty="0" err="1">
                <a:solidFill>
                  <a:srgbClr val="CC00FF"/>
                </a:solidFill>
              </a:rPr>
              <a:t>Một</a:t>
            </a:r>
            <a:r>
              <a:rPr lang="en-US" altLang="en-US" sz="2800" i="1" dirty="0">
                <a:solidFill>
                  <a:srgbClr val="CC00FF"/>
                </a:solidFill>
              </a:rPr>
              <a:t> </a:t>
            </a:r>
            <a:r>
              <a:rPr lang="en-US" altLang="en-US" sz="2800" i="1" dirty="0" err="1">
                <a:solidFill>
                  <a:srgbClr val="CC00FF"/>
                </a:solidFill>
              </a:rPr>
              <a:t>hệ</a:t>
            </a:r>
            <a:r>
              <a:rPr lang="en-US" altLang="en-US" sz="2800" i="1" dirty="0">
                <a:solidFill>
                  <a:srgbClr val="CC00FF"/>
                </a:solidFill>
              </a:rPr>
              <a:t> </a:t>
            </a:r>
            <a:r>
              <a:rPr lang="en-US" altLang="en-US" sz="2800" i="1" dirty="0" err="1">
                <a:solidFill>
                  <a:srgbClr val="CC00FF"/>
                </a:solidFill>
              </a:rPr>
              <a:t>đang</a:t>
            </a:r>
            <a:r>
              <a:rPr lang="en-US" altLang="en-US" sz="2800" i="1" dirty="0">
                <a:solidFill>
                  <a:srgbClr val="CC00FF"/>
                </a:solidFill>
              </a:rPr>
              <a:t> ở </a:t>
            </a:r>
            <a:r>
              <a:rPr lang="en-US" altLang="en-US" sz="2800" i="1" dirty="0" err="1">
                <a:solidFill>
                  <a:srgbClr val="CC00FF"/>
                </a:solidFill>
              </a:rPr>
              <a:t>trạng</a:t>
            </a:r>
            <a:r>
              <a:rPr lang="en-US" altLang="en-US" sz="2800" i="1" dirty="0">
                <a:solidFill>
                  <a:srgbClr val="CC00FF"/>
                </a:solidFill>
              </a:rPr>
              <a:t> </a:t>
            </a:r>
            <a:r>
              <a:rPr lang="en-US" altLang="en-US" sz="2800" i="1" dirty="0" err="1">
                <a:solidFill>
                  <a:srgbClr val="CC00FF"/>
                </a:solidFill>
              </a:rPr>
              <a:t>thái</a:t>
            </a:r>
            <a:r>
              <a:rPr lang="en-US" altLang="en-US" sz="2800" i="1" dirty="0">
                <a:solidFill>
                  <a:srgbClr val="CC00FF"/>
                </a:solidFill>
              </a:rPr>
              <a:t> </a:t>
            </a:r>
            <a:r>
              <a:rPr lang="en-US" altLang="en-US" sz="2800" i="1" dirty="0" err="1">
                <a:solidFill>
                  <a:srgbClr val="CC00FF"/>
                </a:solidFill>
              </a:rPr>
              <a:t>cân</a:t>
            </a:r>
            <a:r>
              <a:rPr lang="en-US" altLang="en-US" sz="2800" i="1" dirty="0">
                <a:solidFill>
                  <a:srgbClr val="CC00FF"/>
                </a:solidFill>
              </a:rPr>
              <a:t> </a:t>
            </a:r>
            <a:r>
              <a:rPr lang="en-US" altLang="en-US" sz="2800" i="1" dirty="0" err="1">
                <a:solidFill>
                  <a:srgbClr val="CC00FF"/>
                </a:solidFill>
              </a:rPr>
              <a:t>bằng</a:t>
            </a:r>
            <a:r>
              <a:rPr lang="en-US" altLang="en-US" sz="2800" i="1" dirty="0">
                <a:solidFill>
                  <a:srgbClr val="CC00FF"/>
                </a:solidFill>
              </a:rPr>
              <a:t> </a:t>
            </a:r>
            <a:r>
              <a:rPr lang="en-US" altLang="en-US" sz="2800" i="1" dirty="0" err="1">
                <a:solidFill>
                  <a:srgbClr val="CC00FF"/>
                </a:solidFill>
              </a:rPr>
              <a:t>nếu</a:t>
            </a:r>
            <a:r>
              <a:rPr lang="en-US" altLang="en-US" sz="2800" i="1" dirty="0">
                <a:solidFill>
                  <a:srgbClr val="CC00FF"/>
                </a:solidFill>
              </a:rPr>
              <a:t> ta </a:t>
            </a:r>
            <a:r>
              <a:rPr lang="en-US" altLang="en-US" sz="2800" i="1" dirty="0" err="1">
                <a:solidFill>
                  <a:srgbClr val="CC00FF"/>
                </a:solidFill>
              </a:rPr>
              <a:t>thay</a:t>
            </a:r>
            <a:r>
              <a:rPr lang="en-US" altLang="en-US" sz="2800" i="1" dirty="0">
                <a:solidFill>
                  <a:srgbClr val="CC00FF"/>
                </a:solidFill>
              </a:rPr>
              <a:t> </a:t>
            </a:r>
            <a:r>
              <a:rPr lang="en-US" altLang="en-US" sz="2800" i="1" dirty="0" err="1">
                <a:solidFill>
                  <a:srgbClr val="CC00FF"/>
                </a:solidFill>
              </a:rPr>
              <a:t>đổi</a:t>
            </a:r>
            <a:r>
              <a:rPr lang="en-US" altLang="en-US" sz="2800" i="1" dirty="0">
                <a:solidFill>
                  <a:srgbClr val="CC00FF"/>
                </a:solidFill>
              </a:rPr>
              <a:t> </a:t>
            </a:r>
            <a:r>
              <a:rPr lang="en-US" altLang="en-US" sz="2800" i="1" dirty="0" err="1">
                <a:solidFill>
                  <a:srgbClr val="CC00FF"/>
                </a:solidFill>
              </a:rPr>
              <a:t>một</a:t>
            </a:r>
            <a:r>
              <a:rPr lang="en-US" altLang="en-US" sz="2800" i="1" dirty="0">
                <a:solidFill>
                  <a:srgbClr val="CC00FF"/>
                </a:solidFill>
              </a:rPr>
              <a:t> </a:t>
            </a:r>
            <a:r>
              <a:rPr lang="en-US" altLang="en-US" sz="2800" i="1" dirty="0" err="1">
                <a:solidFill>
                  <a:srgbClr val="CC00FF"/>
                </a:solidFill>
              </a:rPr>
              <a:t>trong</a:t>
            </a:r>
            <a:r>
              <a:rPr lang="en-US" altLang="en-US" sz="2800" i="1" dirty="0">
                <a:solidFill>
                  <a:srgbClr val="CC00FF"/>
                </a:solidFill>
              </a:rPr>
              <a:t> </a:t>
            </a:r>
            <a:r>
              <a:rPr lang="en-US" altLang="en-US" sz="2800" i="1" dirty="0" err="1">
                <a:solidFill>
                  <a:srgbClr val="CC00FF"/>
                </a:solidFill>
              </a:rPr>
              <a:t>các</a:t>
            </a:r>
            <a:r>
              <a:rPr lang="en-US" altLang="en-US" sz="2800" i="1" dirty="0">
                <a:solidFill>
                  <a:srgbClr val="CC00FF"/>
                </a:solidFill>
              </a:rPr>
              <a:t> </a:t>
            </a:r>
            <a:r>
              <a:rPr lang="en-US" altLang="en-US" sz="2800" i="1" dirty="0" err="1">
                <a:solidFill>
                  <a:srgbClr val="CC00FF"/>
                </a:solidFill>
              </a:rPr>
              <a:t>thông</a:t>
            </a:r>
            <a:r>
              <a:rPr lang="en-US" altLang="en-US" sz="2800" i="1" dirty="0">
                <a:solidFill>
                  <a:srgbClr val="CC00FF"/>
                </a:solidFill>
              </a:rPr>
              <a:t> </a:t>
            </a:r>
            <a:r>
              <a:rPr lang="en-US" altLang="en-US" sz="2800" i="1" dirty="0" err="1">
                <a:solidFill>
                  <a:srgbClr val="CC00FF"/>
                </a:solidFill>
              </a:rPr>
              <a:t>số</a:t>
            </a:r>
            <a:r>
              <a:rPr lang="en-US" altLang="en-US" sz="2800" i="1" dirty="0">
                <a:solidFill>
                  <a:srgbClr val="CC00FF"/>
                </a:solidFill>
              </a:rPr>
              <a:t> </a:t>
            </a:r>
            <a:r>
              <a:rPr lang="en-US" altLang="en-US" sz="2800" i="1" dirty="0" err="1">
                <a:solidFill>
                  <a:srgbClr val="CC00FF"/>
                </a:solidFill>
              </a:rPr>
              <a:t>trạng</a:t>
            </a:r>
            <a:r>
              <a:rPr lang="en-US" altLang="en-US" sz="2800" i="1" dirty="0">
                <a:solidFill>
                  <a:srgbClr val="CC00FF"/>
                </a:solidFill>
              </a:rPr>
              <a:t> </a:t>
            </a:r>
            <a:r>
              <a:rPr lang="en-US" altLang="en-US" sz="2800" i="1" dirty="0" err="1">
                <a:solidFill>
                  <a:srgbClr val="CC00FF"/>
                </a:solidFill>
              </a:rPr>
              <a:t>thái</a:t>
            </a:r>
            <a:r>
              <a:rPr lang="en-US" altLang="en-US" sz="2800" i="1" dirty="0">
                <a:solidFill>
                  <a:srgbClr val="CC00FF"/>
                </a:solidFill>
              </a:rPr>
              <a:t> </a:t>
            </a:r>
            <a:r>
              <a:rPr lang="en-US" altLang="en-US" sz="2800" i="1" dirty="0" err="1">
                <a:solidFill>
                  <a:srgbClr val="CC00FF"/>
                </a:solidFill>
              </a:rPr>
              <a:t>của</a:t>
            </a:r>
            <a:r>
              <a:rPr lang="en-US" altLang="en-US" sz="2800" i="1" dirty="0">
                <a:solidFill>
                  <a:srgbClr val="CC00FF"/>
                </a:solidFill>
              </a:rPr>
              <a:t> </a:t>
            </a:r>
            <a:r>
              <a:rPr lang="en-US" altLang="en-US" sz="2800" i="1" dirty="0" err="1">
                <a:solidFill>
                  <a:srgbClr val="CC00FF"/>
                </a:solidFill>
              </a:rPr>
              <a:t>hệ</a:t>
            </a:r>
            <a:r>
              <a:rPr lang="en-US" altLang="en-US" sz="2800" i="1" dirty="0">
                <a:solidFill>
                  <a:srgbClr val="CC00FF"/>
                </a:solidFill>
              </a:rPr>
              <a:t>: </a:t>
            </a:r>
            <a:r>
              <a:rPr lang="en-US" altLang="en-US" sz="2800" i="1" dirty="0" err="1">
                <a:solidFill>
                  <a:srgbClr val="CC00FF"/>
                </a:solidFill>
              </a:rPr>
              <a:t>nồng</a:t>
            </a:r>
            <a:r>
              <a:rPr lang="en-US" altLang="en-US" sz="2800" i="1" dirty="0">
                <a:solidFill>
                  <a:srgbClr val="CC00FF"/>
                </a:solidFill>
              </a:rPr>
              <a:t> </a:t>
            </a:r>
            <a:r>
              <a:rPr lang="en-US" altLang="en-US" sz="2800" i="1" dirty="0" err="1">
                <a:solidFill>
                  <a:srgbClr val="CC00FF"/>
                </a:solidFill>
              </a:rPr>
              <a:t>độ</a:t>
            </a:r>
            <a:r>
              <a:rPr lang="en-US" altLang="en-US" sz="2800" i="1" dirty="0">
                <a:solidFill>
                  <a:srgbClr val="CC00FF"/>
                </a:solidFill>
              </a:rPr>
              <a:t>, </a:t>
            </a:r>
            <a:r>
              <a:rPr lang="en-US" altLang="en-US" sz="2800" i="1" dirty="0" err="1">
                <a:solidFill>
                  <a:srgbClr val="CC00FF"/>
                </a:solidFill>
              </a:rPr>
              <a:t>nhiệt</a:t>
            </a:r>
            <a:r>
              <a:rPr lang="en-US" altLang="en-US" sz="2800" i="1" dirty="0">
                <a:solidFill>
                  <a:srgbClr val="CC00FF"/>
                </a:solidFill>
              </a:rPr>
              <a:t> </a:t>
            </a:r>
            <a:r>
              <a:rPr lang="en-US" altLang="en-US" sz="2800" i="1" dirty="0" err="1">
                <a:solidFill>
                  <a:srgbClr val="CC00FF"/>
                </a:solidFill>
              </a:rPr>
              <a:t>độ</a:t>
            </a:r>
            <a:r>
              <a:rPr lang="en-US" altLang="en-US" sz="2800" i="1" dirty="0">
                <a:solidFill>
                  <a:srgbClr val="CC00FF"/>
                </a:solidFill>
              </a:rPr>
              <a:t>, </a:t>
            </a:r>
            <a:r>
              <a:rPr lang="en-US" altLang="en-US" sz="2800" i="1" dirty="0" err="1">
                <a:solidFill>
                  <a:srgbClr val="CC00FF"/>
                </a:solidFill>
              </a:rPr>
              <a:t>áp</a:t>
            </a:r>
            <a:r>
              <a:rPr lang="en-US" altLang="en-US" sz="2800" i="1" dirty="0">
                <a:solidFill>
                  <a:srgbClr val="CC00FF"/>
                </a:solidFill>
              </a:rPr>
              <a:t> </a:t>
            </a:r>
            <a:r>
              <a:rPr lang="en-US" altLang="en-US" sz="2800" i="1" dirty="0" err="1">
                <a:solidFill>
                  <a:srgbClr val="CC00FF"/>
                </a:solidFill>
              </a:rPr>
              <a:t>suất</a:t>
            </a:r>
            <a:r>
              <a:rPr lang="en-US" altLang="en-US" sz="2800" i="1" dirty="0">
                <a:solidFill>
                  <a:srgbClr val="CC00FF"/>
                </a:solidFill>
              </a:rPr>
              <a:t> </a:t>
            </a:r>
            <a:r>
              <a:rPr lang="en-US" altLang="en-US" sz="2800" i="1" dirty="0" err="1">
                <a:solidFill>
                  <a:srgbClr val="CC00FF"/>
                </a:solidFill>
              </a:rPr>
              <a:t>thì</a:t>
            </a:r>
            <a:r>
              <a:rPr lang="en-US" altLang="en-US" sz="2800" i="1" dirty="0">
                <a:solidFill>
                  <a:srgbClr val="CC00FF"/>
                </a:solidFill>
              </a:rPr>
              <a:t> </a:t>
            </a:r>
            <a:r>
              <a:rPr lang="en-US" altLang="en-US" sz="2800" i="1" dirty="0" err="1">
                <a:solidFill>
                  <a:srgbClr val="CC00FF"/>
                </a:solidFill>
              </a:rPr>
              <a:t>cân</a:t>
            </a:r>
            <a:r>
              <a:rPr lang="en-US" altLang="en-US" sz="2800" i="1" dirty="0">
                <a:solidFill>
                  <a:srgbClr val="CC00FF"/>
                </a:solidFill>
              </a:rPr>
              <a:t> </a:t>
            </a:r>
            <a:r>
              <a:rPr lang="en-US" altLang="en-US" sz="2800" i="1" dirty="0" err="1">
                <a:solidFill>
                  <a:srgbClr val="CC00FF"/>
                </a:solidFill>
              </a:rPr>
              <a:t>bằng</a:t>
            </a:r>
            <a:r>
              <a:rPr lang="en-US" altLang="en-US" sz="2800" i="1" dirty="0">
                <a:solidFill>
                  <a:srgbClr val="CC00FF"/>
                </a:solidFill>
              </a:rPr>
              <a:t> </a:t>
            </a:r>
            <a:r>
              <a:rPr lang="en-US" altLang="en-US" sz="2800" i="1" dirty="0" err="1">
                <a:solidFill>
                  <a:srgbClr val="CC00FF"/>
                </a:solidFill>
              </a:rPr>
              <a:t>sẽ</a:t>
            </a:r>
            <a:r>
              <a:rPr lang="en-US" altLang="en-US" sz="2800" i="1" dirty="0">
                <a:solidFill>
                  <a:srgbClr val="CC00FF"/>
                </a:solidFill>
              </a:rPr>
              <a:t> </a:t>
            </a:r>
            <a:r>
              <a:rPr lang="en-US" altLang="en-US" sz="2800" i="1" dirty="0" err="1">
                <a:solidFill>
                  <a:srgbClr val="CC00FF"/>
                </a:solidFill>
              </a:rPr>
              <a:t>dịch</a:t>
            </a:r>
            <a:r>
              <a:rPr lang="en-US" altLang="en-US" sz="2800" i="1" dirty="0">
                <a:solidFill>
                  <a:srgbClr val="CC00FF"/>
                </a:solidFill>
              </a:rPr>
              <a:t> </a:t>
            </a:r>
            <a:r>
              <a:rPr lang="en-US" altLang="en-US" sz="2800" i="1" dirty="0" err="1">
                <a:solidFill>
                  <a:srgbClr val="CC00FF"/>
                </a:solidFill>
              </a:rPr>
              <a:t>chuyển</a:t>
            </a:r>
            <a:r>
              <a:rPr lang="en-US" altLang="en-US" sz="2800" i="1" dirty="0">
                <a:solidFill>
                  <a:srgbClr val="CC00FF"/>
                </a:solidFill>
              </a:rPr>
              <a:t> </a:t>
            </a:r>
            <a:r>
              <a:rPr lang="en-US" altLang="en-US" sz="2800" i="1" dirty="0" err="1">
                <a:solidFill>
                  <a:srgbClr val="CC00FF"/>
                </a:solidFill>
              </a:rPr>
              <a:t>theo</a:t>
            </a:r>
            <a:r>
              <a:rPr lang="en-US" altLang="en-US" sz="2800" i="1" dirty="0">
                <a:solidFill>
                  <a:srgbClr val="CC00FF"/>
                </a:solidFill>
              </a:rPr>
              <a:t> </a:t>
            </a:r>
            <a:r>
              <a:rPr lang="en-US" altLang="en-US" sz="2800" i="1" dirty="0" err="1">
                <a:solidFill>
                  <a:srgbClr val="CC00FF"/>
                </a:solidFill>
              </a:rPr>
              <a:t>chiều</a:t>
            </a:r>
            <a:r>
              <a:rPr lang="en-US" altLang="en-US" sz="2800" i="1" dirty="0">
                <a:solidFill>
                  <a:srgbClr val="CC00FF"/>
                </a:solidFill>
              </a:rPr>
              <a:t> </a:t>
            </a:r>
            <a:r>
              <a:rPr lang="en-US" altLang="en-US" sz="2800" i="1" dirty="0" err="1">
                <a:solidFill>
                  <a:srgbClr val="CC00FF"/>
                </a:solidFill>
              </a:rPr>
              <a:t>có</a:t>
            </a:r>
            <a:r>
              <a:rPr lang="en-US" altLang="en-US" sz="2800" i="1" dirty="0">
                <a:solidFill>
                  <a:srgbClr val="CC00FF"/>
                </a:solidFill>
              </a:rPr>
              <a:t> </a:t>
            </a:r>
            <a:r>
              <a:rPr lang="en-US" altLang="en-US" sz="2800" i="1" dirty="0" err="1">
                <a:solidFill>
                  <a:srgbClr val="CC00FF"/>
                </a:solidFill>
              </a:rPr>
              <a:t>tác</a:t>
            </a:r>
            <a:r>
              <a:rPr lang="en-US" altLang="en-US" sz="2800" i="1" dirty="0">
                <a:solidFill>
                  <a:srgbClr val="CC00FF"/>
                </a:solidFill>
              </a:rPr>
              <a:t> </a:t>
            </a:r>
            <a:r>
              <a:rPr lang="en-US" altLang="en-US" sz="2800" i="1" dirty="0" err="1">
                <a:solidFill>
                  <a:srgbClr val="CC00FF"/>
                </a:solidFill>
              </a:rPr>
              <a:t>dụng</a:t>
            </a:r>
            <a:r>
              <a:rPr lang="en-US" altLang="en-US" sz="2800" i="1" dirty="0">
                <a:solidFill>
                  <a:srgbClr val="CC00FF"/>
                </a:solidFill>
              </a:rPr>
              <a:t> </a:t>
            </a:r>
            <a:r>
              <a:rPr lang="en-US" altLang="en-US" sz="2800" i="1" dirty="0" err="1">
                <a:solidFill>
                  <a:srgbClr val="CC00FF"/>
                </a:solidFill>
              </a:rPr>
              <a:t>chống</a:t>
            </a:r>
            <a:r>
              <a:rPr lang="en-US" altLang="en-US" sz="2800" i="1" dirty="0">
                <a:solidFill>
                  <a:srgbClr val="CC00FF"/>
                </a:solidFill>
              </a:rPr>
              <a:t> </a:t>
            </a:r>
            <a:r>
              <a:rPr lang="en-US" altLang="en-US" sz="2800" i="1" dirty="0" err="1">
                <a:solidFill>
                  <a:srgbClr val="CC00FF"/>
                </a:solidFill>
              </a:rPr>
              <a:t>lại</a:t>
            </a:r>
            <a:r>
              <a:rPr lang="en-US" altLang="en-US" sz="2800" i="1" dirty="0">
                <a:solidFill>
                  <a:srgbClr val="CC00FF"/>
                </a:solidFill>
              </a:rPr>
              <a:t> </a:t>
            </a:r>
            <a:r>
              <a:rPr lang="en-US" altLang="en-US" sz="2800" i="1" dirty="0" err="1">
                <a:solidFill>
                  <a:srgbClr val="CC00FF"/>
                </a:solidFill>
              </a:rPr>
              <a:t>sự</a:t>
            </a:r>
            <a:r>
              <a:rPr lang="en-US" altLang="en-US" sz="2800" i="1" dirty="0">
                <a:solidFill>
                  <a:srgbClr val="CC00FF"/>
                </a:solidFill>
              </a:rPr>
              <a:t> </a:t>
            </a:r>
            <a:r>
              <a:rPr lang="en-US" altLang="en-US" sz="2800" i="1" dirty="0" err="1">
                <a:solidFill>
                  <a:srgbClr val="CC00FF"/>
                </a:solidFill>
              </a:rPr>
              <a:t>thay</a:t>
            </a:r>
            <a:r>
              <a:rPr lang="en-US" altLang="en-US" sz="2800" i="1" dirty="0">
                <a:solidFill>
                  <a:srgbClr val="CC00FF"/>
                </a:solidFill>
              </a:rPr>
              <a:t> </a:t>
            </a:r>
            <a:r>
              <a:rPr lang="en-US" altLang="en-US" sz="2800" i="1" dirty="0" err="1">
                <a:solidFill>
                  <a:srgbClr val="CC00FF"/>
                </a:solidFill>
              </a:rPr>
              <a:t>đổi</a:t>
            </a:r>
            <a:r>
              <a:rPr lang="en-US" altLang="en-US" sz="2800" i="1" dirty="0">
                <a:solidFill>
                  <a:srgbClr val="CC00FF"/>
                </a:solidFill>
              </a:rPr>
              <a:t> </a:t>
            </a:r>
            <a:r>
              <a:rPr lang="en-US" altLang="en-US" sz="2800" i="1" dirty="0" err="1">
                <a:solidFill>
                  <a:srgbClr val="CC00FF"/>
                </a:solidFill>
              </a:rPr>
              <a:t>đó</a:t>
            </a:r>
            <a:r>
              <a:rPr lang="en-US" altLang="en-US" sz="2800" i="1" dirty="0">
                <a:solidFill>
                  <a:srgbClr val="CC00FF"/>
                </a:solidFill>
              </a:rPr>
              <a:t>.</a:t>
            </a:r>
          </a:p>
        </p:txBody>
      </p:sp>
      <p:pic>
        <p:nvPicPr>
          <p:cNvPr id="52228" name="Picture 4">
            <a:extLst>
              <a:ext uri="{FF2B5EF4-FFF2-40B4-BE49-F238E27FC236}">
                <a16:creationId xmlns:a16="http://schemas.microsoft.com/office/drawing/2014/main" xmlns="" id="{228600B4-A6A2-4DA6-976B-AC5BDCEFE3A0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9750" y="1557338"/>
            <a:ext cx="3276600" cy="4081462"/>
          </a:xfrm>
          <a:noFill/>
        </p:spPr>
      </p:pic>
      <p:sp>
        <p:nvSpPr>
          <p:cNvPr id="52229" name="Text Box 5">
            <a:extLst>
              <a:ext uri="{FF2B5EF4-FFF2-40B4-BE49-F238E27FC236}">
                <a16:creationId xmlns:a16="http://schemas.microsoft.com/office/drawing/2014/main" xmlns="" id="{441C93C3-9863-4EEB-B1BC-896200E7BD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550" y="5802313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n =0 </a:t>
            </a:r>
            <a:r>
              <a:rPr lang="en-US" altLang="en-US" sz="2400" dirty="0" err="1">
                <a:solidFill>
                  <a:srgbClr val="FF0000"/>
                </a:solidFill>
                <a:sym typeface="Symbol" panose="05050102010706020507" pitchFamily="18" charset="2"/>
              </a:rPr>
              <a:t>áp</a:t>
            </a:r>
            <a:r>
              <a:rPr lang="en-US" alt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en-US" sz="2400" dirty="0" err="1">
                <a:solidFill>
                  <a:srgbClr val="FF0000"/>
                </a:solidFill>
                <a:sym typeface="Symbol" panose="05050102010706020507" pitchFamily="18" charset="2"/>
              </a:rPr>
              <a:t>suất</a:t>
            </a:r>
            <a:r>
              <a:rPr lang="en-US" alt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en-US" sz="2400" dirty="0" err="1">
                <a:solidFill>
                  <a:srgbClr val="FF0000"/>
                </a:solidFill>
                <a:sym typeface="Symbol" panose="05050102010706020507" pitchFamily="18" charset="2"/>
              </a:rPr>
              <a:t>chung</a:t>
            </a:r>
            <a:r>
              <a:rPr lang="en-US" alt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en-US" sz="2400" dirty="0" err="1">
                <a:solidFill>
                  <a:srgbClr val="FF0000"/>
                </a:solidFill>
                <a:sym typeface="Symbol" panose="05050102010706020507" pitchFamily="18" charset="2"/>
              </a:rPr>
              <a:t>không</a:t>
            </a:r>
            <a:r>
              <a:rPr lang="en-US" alt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en-US" sz="2400" dirty="0" err="1">
                <a:solidFill>
                  <a:srgbClr val="FF0000"/>
                </a:solidFill>
                <a:sym typeface="Symbol" panose="05050102010706020507" pitchFamily="18" charset="2"/>
              </a:rPr>
              <a:t>ảnh</a:t>
            </a:r>
            <a:r>
              <a:rPr lang="en-US" alt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en-US" sz="2400" dirty="0" err="1">
                <a:solidFill>
                  <a:srgbClr val="FF0000"/>
                </a:solidFill>
                <a:sym typeface="Symbol" panose="05050102010706020507" pitchFamily="18" charset="2"/>
              </a:rPr>
              <a:t>hưởng</a:t>
            </a:r>
            <a:r>
              <a:rPr lang="en-US" alt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en-US" sz="2400" dirty="0" err="1">
                <a:solidFill>
                  <a:srgbClr val="FF0000"/>
                </a:solidFill>
                <a:sym typeface="Symbol" panose="05050102010706020507" pitchFamily="18" charset="2"/>
              </a:rPr>
              <a:t>đến</a:t>
            </a:r>
            <a:r>
              <a:rPr lang="en-US" alt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en-US" sz="2400" dirty="0" err="1">
                <a:solidFill>
                  <a:srgbClr val="FF0000"/>
                </a:solidFill>
                <a:sym typeface="Symbol" panose="05050102010706020507" pitchFamily="18" charset="2"/>
              </a:rPr>
              <a:t>trạng</a:t>
            </a:r>
            <a:r>
              <a:rPr lang="en-US" alt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en-US" sz="2400" dirty="0" err="1">
                <a:solidFill>
                  <a:srgbClr val="FF0000"/>
                </a:solidFill>
                <a:sym typeface="Symbol" panose="05050102010706020507" pitchFamily="18" charset="2"/>
              </a:rPr>
              <a:t>thái</a:t>
            </a:r>
            <a:r>
              <a:rPr lang="en-US" alt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en-US" sz="2400" dirty="0" err="1">
                <a:solidFill>
                  <a:srgbClr val="FF0000"/>
                </a:solidFill>
                <a:sym typeface="Symbol" panose="05050102010706020507" pitchFamily="18" charset="2"/>
              </a:rPr>
              <a:t>cân</a:t>
            </a:r>
            <a:r>
              <a:rPr lang="en-US" alt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en-US" sz="2400" dirty="0" err="1">
                <a:solidFill>
                  <a:srgbClr val="FF0000"/>
                </a:solidFill>
                <a:sym typeface="Symbol" panose="05050102010706020507" pitchFamily="18" charset="2"/>
              </a:rPr>
              <a:t>bằng</a:t>
            </a:r>
            <a:r>
              <a:rPr lang="en-US" alt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xmlns="" id="{D7E3DD26-D083-4415-AE61-AC05CC528E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91600" cy="1143000"/>
          </a:xfrm>
        </p:spPr>
        <p:txBody>
          <a:bodyPr/>
          <a:lstStyle/>
          <a:p>
            <a:pPr eaLnBrk="1" hangingPunct="1"/>
            <a:r>
              <a:rPr lang="es-ES" altLang="en-US" sz="32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Symbol" panose="05050102010706020507" pitchFamily="18" charset="2"/>
              </a:rPr>
              <a:t>T H&gt;0</a:t>
            </a:r>
            <a:r>
              <a:rPr lang="en-US" altLang="en-US" sz="3200" b="1">
                <a:solidFill>
                  <a:schemeClr val="tx1"/>
                </a:solidFill>
              </a:rPr>
              <a:t> ; </a:t>
            </a:r>
            <a:r>
              <a:rPr lang="en-US" altLang="en-US" sz="3200" b="1">
                <a:solidFill>
                  <a:srgbClr val="0000FF"/>
                </a:solidFill>
              </a:rPr>
              <a:t>N</a:t>
            </a:r>
            <a:r>
              <a:rPr lang="en-US" altLang="en-US" sz="3200" b="1" baseline="-25000">
                <a:solidFill>
                  <a:srgbClr val="0000FF"/>
                </a:solidFill>
              </a:rPr>
              <a:t>2</a:t>
            </a:r>
            <a:r>
              <a:rPr lang="en-US" altLang="en-US" sz="3200" b="1">
                <a:solidFill>
                  <a:srgbClr val="0000FF"/>
                </a:solidFill>
              </a:rPr>
              <a:t>(k) + 3H</a:t>
            </a:r>
            <a:r>
              <a:rPr lang="en-US" altLang="en-US" sz="3200" b="1" baseline="-25000">
                <a:solidFill>
                  <a:srgbClr val="0000FF"/>
                </a:solidFill>
              </a:rPr>
              <a:t>2</a:t>
            </a:r>
            <a:r>
              <a:rPr lang="en-US" altLang="en-US" sz="3200" b="1">
                <a:solidFill>
                  <a:srgbClr val="0000FF"/>
                </a:solidFill>
              </a:rPr>
              <a:t>(k)</a:t>
            </a:r>
            <a:r>
              <a:rPr lang="en-US" altLang="en-US" sz="3200">
                <a:solidFill>
                  <a:srgbClr val="0000FF"/>
                </a:solidFill>
              </a:rPr>
              <a:t> </a:t>
            </a:r>
            <a:r>
              <a:rPr lang="es-ES" altLang="en-US">
                <a:solidFill>
                  <a:srgbClr val="0000FF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⇌ </a:t>
            </a:r>
            <a:r>
              <a:rPr lang="es-ES" altLang="en-US" sz="3200" b="1">
                <a:solidFill>
                  <a:srgbClr val="0000FF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2NH</a:t>
            </a:r>
            <a:r>
              <a:rPr lang="es-ES" altLang="en-US" sz="3200" b="1" baseline="-25000">
                <a:solidFill>
                  <a:srgbClr val="0000FF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3</a:t>
            </a:r>
            <a:r>
              <a:rPr lang="es-ES" altLang="en-US" sz="3200" b="1">
                <a:solidFill>
                  <a:srgbClr val="0000FF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(k)</a:t>
            </a:r>
            <a:r>
              <a:rPr lang="es-ES" altLang="en-US" sz="3200">
                <a:solidFill>
                  <a:srgbClr val="0000FF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; </a:t>
            </a:r>
            <a:r>
              <a:rPr lang="es-ES" altLang="en-US" sz="32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Symbol" panose="05050102010706020507" pitchFamily="18" charset="2"/>
              </a:rPr>
              <a:t>H&lt;0 T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xmlns="" id="{4F9493BF-1D6E-475B-8DF7-AFA0C89D8D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" y="1979613"/>
            <a:ext cx="1370013" cy="8001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dirty="0">
                <a:solidFill>
                  <a:srgbClr val="9933FF"/>
                </a:solidFill>
              </a:rPr>
              <a:t>[N</a:t>
            </a:r>
            <a:r>
              <a:rPr lang="en-US" altLang="en-US" baseline="-25000" dirty="0">
                <a:solidFill>
                  <a:srgbClr val="9933FF"/>
                </a:solidFill>
              </a:rPr>
              <a:t>2</a:t>
            </a:r>
            <a:r>
              <a:rPr lang="en-US" altLang="en-US" dirty="0">
                <a:solidFill>
                  <a:srgbClr val="9933FF"/>
                </a:solidFill>
              </a:rPr>
              <a:t>] </a:t>
            </a:r>
            <a:r>
              <a:rPr lang="en-US" altLang="en-US" dirty="0">
                <a:solidFill>
                  <a:srgbClr val="9933FF"/>
                </a:solidFill>
                <a:cs typeface="Times New Roman" panose="02020603050405020304" pitchFamily="18" charset="0"/>
              </a:rPr>
              <a:t>↑</a:t>
            </a:r>
          </a:p>
        </p:txBody>
      </p:sp>
      <p:sp>
        <p:nvSpPr>
          <p:cNvPr id="54276" name="Text Box 4">
            <a:extLst>
              <a:ext uri="{FF2B5EF4-FFF2-40B4-BE49-F238E27FC236}">
                <a16:creationId xmlns:a16="http://schemas.microsoft.com/office/drawing/2014/main" xmlns="" id="{EB90CA6A-42BA-4E1E-964B-551C92B019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" y="2859088"/>
            <a:ext cx="1658938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dirty="0">
                <a:solidFill>
                  <a:srgbClr val="CC6600"/>
                </a:solidFill>
              </a:rPr>
              <a:t>[NH</a:t>
            </a:r>
            <a:r>
              <a:rPr lang="en-US" altLang="en-US" baseline="-25000" dirty="0">
                <a:solidFill>
                  <a:srgbClr val="CC6600"/>
                </a:solidFill>
              </a:rPr>
              <a:t>3</a:t>
            </a:r>
            <a:r>
              <a:rPr lang="en-US" altLang="en-US" dirty="0">
                <a:solidFill>
                  <a:srgbClr val="CC6600"/>
                </a:solidFill>
              </a:rPr>
              <a:t>] ↓</a:t>
            </a:r>
          </a:p>
        </p:txBody>
      </p:sp>
      <p:sp>
        <p:nvSpPr>
          <p:cNvPr id="54277" name="Text Box 5">
            <a:extLst>
              <a:ext uri="{FF2B5EF4-FFF2-40B4-BE49-F238E27FC236}">
                <a16:creationId xmlns:a16="http://schemas.microsoft.com/office/drawing/2014/main" xmlns="" id="{570736D4-F20F-4CCD-8067-9FD745F373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6213" y="2032000"/>
            <a:ext cx="7362825" cy="123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dirty="0" err="1">
                <a:solidFill>
                  <a:srgbClr val="9933FF"/>
                </a:solidFill>
              </a:rPr>
              <a:t>Cân</a:t>
            </a:r>
            <a:r>
              <a:rPr lang="en-US" altLang="en-US" dirty="0">
                <a:solidFill>
                  <a:srgbClr val="9933FF"/>
                </a:solidFill>
              </a:rPr>
              <a:t> </a:t>
            </a:r>
            <a:r>
              <a:rPr lang="en-US" altLang="en-US" dirty="0" err="1">
                <a:solidFill>
                  <a:srgbClr val="9933FF"/>
                </a:solidFill>
              </a:rPr>
              <a:t>bằng</a:t>
            </a:r>
            <a:r>
              <a:rPr lang="en-US" altLang="en-US" dirty="0">
                <a:solidFill>
                  <a:srgbClr val="9933FF"/>
                </a:solidFill>
              </a:rPr>
              <a:t> </a:t>
            </a:r>
            <a:r>
              <a:rPr lang="en-US" altLang="en-US" dirty="0" err="1">
                <a:solidFill>
                  <a:srgbClr val="9933FF"/>
                </a:solidFill>
              </a:rPr>
              <a:t>chuyển</a:t>
            </a:r>
            <a:r>
              <a:rPr lang="en-US" altLang="en-US" dirty="0">
                <a:solidFill>
                  <a:srgbClr val="9933FF"/>
                </a:solidFill>
              </a:rPr>
              <a:t> </a:t>
            </a:r>
            <a:r>
              <a:rPr lang="en-US" altLang="en-US" dirty="0" err="1">
                <a:solidFill>
                  <a:srgbClr val="9933FF"/>
                </a:solidFill>
              </a:rPr>
              <a:t>dịch</a:t>
            </a:r>
            <a:r>
              <a:rPr lang="en-US" altLang="en-US" dirty="0">
                <a:solidFill>
                  <a:srgbClr val="9933FF"/>
                </a:solidFill>
              </a:rPr>
              <a:t> </a:t>
            </a:r>
            <a:r>
              <a:rPr lang="en-US" altLang="en-US" dirty="0" err="1">
                <a:solidFill>
                  <a:srgbClr val="9933FF"/>
                </a:solidFill>
              </a:rPr>
              <a:t>theo</a:t>
            </a:r>
            <a:r>
              <a:rPr lang="en-US" altLang="en-US" dirty="0">
                <a:solidFill>
                  <a:srgbClr val="9933FF"/>
                </a:solidFill>
              </a:rPr>
              <a:t> </a:t>
            </a:r>
            <a:r>
              <a:rPr lang="en-US" altLang="en-US" dirty="0" err="1">
                <a:solidFill>
                  <a:srgbClr val="9933FF"/>
                </a:solidFill>
              </a:rPr>
              <a:t>chiều</a:t>
            </a:r>
            <a:r>
              <a:rPr lang="en-US" altLang="en-US" dirty="0">
                <a:solidFill>
                  <a:srgbClr val="9933FF"/>
                </a:solidFill>
              </a:rPr>
              <a:t> </a:t>
            </a:r>
            <a:r>
              <a:rPr lang="en-US" altLang="en-US" dirty="0" err="1">
                <a:solidFill>
                  <a:srgbClr val="9933FF"/>
                </a:solidFill>
              </a:rPr>
              <a:t>thuận</a:t>
            </a:r>
            <a:endParaRPr lang="en-US" altLang="en-US" dirty="0">
              <a:solidFill>
                <a:srgbClr val="9933FF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2800" dirty="0"/>
          </a:p>
        </p:txBody>
      </p:sp>
      <p:sp>
        <p:nvSpPr>
          <p:cNvPr id="54278" name="Text Box 6">
            <a:extLst>
              <a:ext uri="{FF2B5EF4-FFF2-40B4-BE49-F238E27FC236}">
                <a16:creationId xmlns:a16="http://schemas.microsoft.com/office/drawing/2014/main" xmlns="" id="{70C3667F-B3EF-4766-AD2D-F3721B17FA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7488" y="2887663"/>
            <a:ext cx="7631112" cy="123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dirty="0" err="1">
                <a:solidFill>
                  <a:srgbClr val="CC6600"/>
                </a:solidFill>
              </a:rPr>
              <a:t>Cân</a:t>
            </a:r>
            <a:r>
              <a:rPr lang="en-US" altLang="en-US" dirty="0">
                <a:solidFill>
                  <a:srgbClr val="CC6600"/>
                </a:solidFill>
              </a:rPr>
              <a:t> </a:t>
            </a:r>
            <a:r>
              <a:rPr lang="en-US" altLang="en-US" dirty="0" err="1">
                <a:solidFill>
                  <a:srgbClr val="CC6600"/>
                </a:solidFill>
              </a:rPr>
              <a:t>bằng</a:t>
            </a:r>
            <a:r>
              <a:rPr lang="en-US" altLang="en-US" dirty="0">
                <a:solidFill>
                  <a:srgbClr val="CC6600"/>
                </a:solidFill>
              </a:rPr>
              <a:t> </a:t>
            </a:r>
            <a:r>
              <a:rPr lang="en-US" altLang="en-US" dirty="0" err="1">
                <a:solidFill>
                  <a:srgbClr val="CC6600"/>
                </a:solidFill>
              </a:rPr>
              <a:t>chuyển</a:t>
            </a:r>
            <a:r>
              <a:rPr lang="en-US" altLang="en-US" dirty="0">
                <a:solidFill>
                  <a:srgbClr val="CC6600"/>
                </a:solidFill>
              </a:rPr>
              <a:t> </a:t>
            </a:r>
            <a:r>
              <a:rPr lang="en-US" altLang="en-US" dirty="0" err="1">
                <a:solidFill>
                  <a:srgbClr val="CC6600"/>
                </a:solidFill>
              </a:rPr>
              <a:t>dịch</a:t>
            </a:r>
            <a:r>
              <a:rPr lang="en-US" altLang="en-US" dirty="0">
                <a:solidFill>
                  <a:srgbClr val="CC6600"/>
                </a:solidFill>
              </a:rPr>
              <a:t> </a:t>
            </a:r>
            <a:r>
              <a:rPr lang="en-US" altLang="en-US" dirty="0" err="1">
                <a:solidFill>
                  <a:srgbClr val="CC6600"/>
                </a:solidFill>
              </a:rPr>
              <a:t>theo</a:t>
            </a:r>
            <a:r>
              <a:rPr lang="en-US" altLang="en-US" dirty="0">
                <a:solidFill>
                  <a:srgbClr val="CC6600"/>
                </a:solidFill>
              </a:rPr>
              <a:t> </a:t>
            </a:r>
            <a:r>
              <a:rPr lang="en-US" altLang="en-US" dirty="0" err="1">
                <a:solidFill>
                  <a:srgbClr val="CC6600"/>
                </a:solidFill>
              </a:rPr>
              <a:t>chiều</a:t>
            </a:r>
            <a:r>
              <a:rPr lang="en-US" altLang="en-US" dirty="0">
                <a:solidFill>
                  <a:srgbClr val="CC6600"/>
                </a:solidFill>
              </a:rPr>
              <a:t> </a:t>
            </a:r>
            <a:r>
              <a:rPr lang="en-US" altLang="en-US" dirty="0" err="1">
                <a:solidFill>
                  <a:srgbClr val="CC6600"/>
                </a:solidFill>
              </a:rPr>
              <a:t>thuận</a:t>
            </a:r>
            <a:endParaRPr lang="en-US" altLang="en-US" dirty="0">
              <a:solidFill>
                <a:srgbClr val="CC6600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2800" dirty="0"/>
          </a:p>
        </p:txBody>
      </p:sp>
      <p:sp>
        <p:nvSpPr>
          <p:cNvPr id="54279" name="Text Box 7">
            <a:extLst>
              <a:ext uri="{FF2B5EF4-FFF2-40B4-BE49-F238E27FC236}">
                <a16:creationId xmlns:a16="http://schemas.microsoft.com/office/drawing/2014/main" xmlns="" id="{FF1C477B-3D5B-478E-8543-CDA0DAD7A7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363" y="3805238"/>
            <a:ext cx="107950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dirty="0">
                <a:solidFill>
                  <a:srgbClr val="FF0000"/>
                </a:solidFill>
              </a:rPr>
              <a:t>P ↑</a:t>
            </a:r>
          </a:p>
        </p:txBody>
      </p:sp>
      <p:sp>
        <p:nvSpPr>
          <p:cNvPr id="54280" name="Text Box 8">
            <a:extLst>
              <a:ext uri="{FF2B5EF4-FFF2-40B4-BE49-F238E27FC236}">
                <a16:creationId xmlns:a16="http://schemas.microsoft.com/office/drawing/2014/main" xmlns="" id="{6D6F6417-DCF6-41F9-A142-A2FC44B7BC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7325" y="3830638"/>
            <a:ext cx="7364413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dirty="0" err="1">
                <a:solidFill>
                  <a:srgbClr val="FF0000"/>
                </a:solidFill>
              </a:rPr>
              <a:t>Cân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bằng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chuyển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dịch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theo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chiều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thuận</a:t>
            </a:r>
            <a:endParaRPr lang="en-US" altLang="en-US" dirty="0">
              <a:solidFill>
                <a:srgbClr val="FF0000"/>
              </a:solidFill>
            </a:endParaRPr>
          </a:p>
        </p:txBody>
      </p:sp>
      <p:sp>
        <p:nvSpPr>
          <p:cNvPr id="54281" name="Text Box 9">
            <a:extLst>
              <a:ext uri="{FF2B5EF4-FFF2-40B4-BE49-F238E27FC236}">
                <a16:creationId xmlns:a16="http://schemas.microsoft.com/office/drawing/2014/main" xmlns="" id="{B764E54D-0153-484E-A5BC-48E30A5D56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363" y="4564063"/>
            <a:ext cx="1150937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dirty="0">
                <a:solidFill>
                  <a:srgbClr val="0000FF"/>
                </a:solidFill>
              </a:rPr>
              <a:t>T ↓</a:t>
            </a:r>
          </a:p>
        </p:txBody>
      </p:sp>
      <p:sp>
        <p:nvSpPr>
          <p:cNvPr id="54282" name="Text Box 10">
            <a:extLst>
              <a:ext uri="{FF2B5EF4-FFF2-40B4-BE49-F238E27FC236}">
                <a16:creationId xmlns:a16="http://schemas.microsoft.com/office/drawing/2014/main" xmlns="" id="{1F451809-ABFD-433B-843F-59DB00D884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5100" y="4679950"/>
            <a:ext cx="7386638" cy="123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dirty="0" err="1">
                <a:solidFill>
                  <a:srgbClr val="0000FF"/>
                </a:solidFill>
              </a:rPr>
              <a:t>Cân</a:t>
            </a:r>
            <a:r>
              <a:rPr lang="en-US" altLang="en-US" dirty="0">
                <a:solidFill>
                  <a:srgbClr val="0000FF"/>
                </a:solidFill>
              </a:rPr>
              <a:t> </a:t>
            </a:r>
            <a:r>
              <a:rPr lang="en-US" altLang="en-US" dirty="0" err="1">
                <a:solidFill>
                  <a:srgbClr val="0000FF"/>
                </a:solidFill>
              </a:rPr>
              <a:t>bằng</a:t>
            </a:r>
            <a:r>
              <a:rPr lang="en-US" altLang="en-US" dirty="0">
                <a:solidFill>
                  <a:srgbClr val="0000FF"/>
                </a:solidFill>
              </a:rPr>
              <a:t> </a:t>
            </a:r>
            <a:r>
              <a:rPr lang="en-US" altLang="en-US" dirty="0" err="1">
                <a:solidFill>
                  <a:srgbClr val="0000FF"/>
                </a:solidFill>
              </a:rPr>
              <a:t>chuyển</a:t>
            </a:r>
            <a:r>
              <a:rPr lang="en-US" altLang="en-US" dirty="0">
                <a:solidFill>
                  <a:srgbClr val="0000FF"/>
                </a:solidFill>
              </a:rPr>
              <a:t> </a:t>
            </a:r>
            <a:r>
              <a:rPr lang="en-US" altLang="en-US" dirty="0" err="1">
                <a:solidFill>
                  <a:srgbClr val="0000FF"/>
                </a:solidFill>
              </a:rPr>
              <a:t>dịch</a:t>
            </a:r>
            <a:r>
              <a:rPr lang="en-US" altLang="en-US" dirty="0">
                <a:solidFill>
                  <a:srgbClr val="0000FF"/>
                </a:solidFill>
              </a:rPr>
              <a:t> </a:t>
            </a:r>
            <a:r>
              <a:rPr lang="en-US" altLang="en-US" dirty="0" err="1">
                <a:solidFill>
                  <a:srgbClr val="0000FF"/>
                </a:solidFill>
              </a:rPr>
              <a:t>theo</a:t>
            </a:r>
            <a:r>
              <a:rPr lang="en-US" altLang="en-US" dirty="0">
                <a:solidFill>
                  <a:srgbClr val="0000FF"/>
                </a:solidFill>
              </a:rPr>
              <a:t> </a:t>
            </a:r>
            <a:r>
              <a:rPr lang="en-US" altLang="en-US" dirty="0" err="1">
                <a:solidFill>
                  <a:srgbClr val="0000FF"/>
                </a:solidFill>
              </a:rPr>
              <a:t>chiều</a:t>
            </a:r>
            <a:r>
              <a:rPr lang="en-US" altLang="en-US" dirty="0">
                <a:solidFill>
                  <a:srgbClr val="0000FF"/>
                </a:solidFill>
              </a:rPr>
              <a:t> </a:t>
            </a:r>
            <a:r>
              <a:rPr lang="en-US" altLang="en-US" dirty="0" err="1">
                <a:solidFill>
                  <a:srgbClr val="0000FF"/>
                </a:solidFill>
              </a:rPr>
              <a:t>thuận</a:t>
            </a:r>
            <a:endParaRPr lang="en-US" altLang="en-US" dirty="0">
              <a:solidFill>
                <a:srgbClr val="0000FF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5" grpId="0" build="p"/>
      <p:bldP spid="54276" grpId="0"/>
      <p:bldP spid="54277" grpId="0"/>
      <p:bldP spid="54278" grpId="0"/>
      <p:bldP spid="54279" grpId="0"/>
      <p:bldP spid="54280" grpId="0"/>
      <p:bldP spid="54281" grpId="0"/>
      <p:bldP spid="5428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>
            <a:extLst>
              <a:ext uri="{FF2B5EF4-FFF2-40B4-BE49-F238E27FC236}">
                <a16:creationId xmlns:a16="http://schemas.microsoft.com/office/drawing/2014/main" xmlns="" id="{AAFFB39A-D67B-4DC9-BD20-A7BDE958F4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23900" y="124867"/>
            <a:ext cx="7696200" cy="685800"/>
          </a:xfrm>
          <a:effectLst>
            <a:outerShdw dist="53882" dir="2700000" algn="ctr" rotWithShape="0">
              <a:schemeClr val="bg2"/>
            </a:outerShdw>
          </a:effectLst>
        </p:spPr>
        <p:txBody>
          <a:bodyPr lIns="90488" tIns="44450" rIns="90488" bIns="44450"/>
          <a:lstStyle/>
          <a:p>
            <a:pPr eaLnBrk="1" hangingPunct="1"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CHUYỂN DỊCH CÂN BẰNG</a:t>
            </a:r>
          </a:p>
        </p:txBody>
      </p:sp>
      <p:sp>
        <p:nvSpPr>
          <p:cNvPr id="186371" name="Rectangle 3">
            <a:extLst>
              <a:ext uri="{FF2B5EF4-FFF2-40B4-BE49-F238E27FC236}">
                <a16:creationId xmlns:a16="http://schemas.microsoft.com/office/drawing/2014/main" xmlns="" id="{B97B68A4-F82B-4F62-8E01-4CE62C638A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43000"/>
            <a:ext cx="9144000" cy="58221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>
              <a:defRPr/>
            </a:pPr>
            <a:r>
              <a:rPr lang="en-US" sz="2800" b="1" dirty="0">
                <a:solidFill>
                  <a:srgbClr val="FF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        </a:t>
            </a:r>
            <a:r>
              <a:rPr lang="en-US" sz="3200" b="1" dirty="0">
                <a:solidFill>
                  <a:srgbClr val="FF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Co(H</a:t>
            </a:r>
            <a:r>
              <a:rPr lang="en-US" sz="3200" b="1" baseline="-25000" dirty="0">
                <a:solidFill>
                  <a:srgbClr val="FF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sz="3200" b="1" dirty="0">
                <a:solidFill>
                  <a:srgbClr val="FF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O)</a:t>
            </a:r>
            <a:r>
              <a:rPr lang="en-US" sz="3200" b="1" baseline="-25000" dirty="0">
                <a:solidFill>
                  <a:srgbClr val="FF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6</a:t>
            </a:r>
            <a:r>
              <a:rPr lang="en-US" sz="3200" b="1" baseline="30000" dirty="0">
                <a:solidFill>
                  <a:srgbClr val="FF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2+</a:t>
            </a:r>
            <a:r>
              <a:rPr lang="en-US" sz="3200" b="1" dirty="0">
                <a:solidFill>
                  <a:srgbClr val="FF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+ 4Cl</a:t>
            </a:r>
            <a:r>
              <a:rPr lang="en-US" sz="3200" b="1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-</a:t>
            </a:r>
            <a:r>
              <a:rPr 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s-ES" sz="3200" b="1" dirty="0">
                <a:solidFill>
                  <a:schemeClr val="tx2"/>
                </a:solidFill>
              </a:rPr>
              <a:t>⇌</a:t>
            </a:r>
            <a:r>
              <a:rPr lang="en-US" sz="3200" dirty="0"/>
              <a:t> </a:t>
            </a:r>
            <a:r>
              <a:rPr 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CoCl</a:t>
            </a:r>
            <a:r>
              <a:rPr lang="en-US" sz="3200" b="1" baseline="-250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4</a:t>
            </a:r>
            <a:r>
              <a:rPr lang="en-US" sz="3200" b="1" baseline="300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2-</a:t>
            </a:r>
            <a:r>
              <a:rPr 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+ 6 H</a:t>
            </a:r>
            <a:r>
              <a:rPr lang="en-US" sz="3200" b="1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</a:t>
            </a:r>
            <a:endParaRPr lang="en-US" sz="3200" b="1" dirty="0">
              <a:solidFill>
                <a:srgbClr val="990000"/>
              </a:solidFill>
              <a:effectLst>
                <a:outerShdw blurRad="38100" dist="38100" dir="2700000" algn="tl">
                  <a:srgbClr val="C0C0C0"/>
                </a:outerShdw>
              </a:effectLst>
              <a:sym typeface="Symbol" pitchFamily="18" charset="2"/>
            </a:endParaRPr>
          </a:p>
        </p:txBody>
      </p:sp>
      <p:pic>
        <p:nvPicPr>
          <p:cNvPr id="56324" name="Picture 4">
            <a:extLst>
              <a:ext uri="{FF2B5EF4-FFF2-40B4-BE49-F238E27FC236}">
                <a16:creationId xmlns:a16="http://schemas.microsoft.com/office/drawing/2014/main" xmlns="" id="{447483CA-A914-49D3-970E-8D195410852F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2539955"/>
            <a:ext cx="3048000" cy="3886200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25" name="Picture 5">
            <a:extLst>
              <a:ext uri="{FF2B5EF4-FFF2-40B4-BE49-F238E27FC236}">
                <a16:creationId xmlns:a16="http://schemas.microsoft.com/office/drawing/2014/main" xmlns="" id="{920C3548-7997-42DB-B395-D4ACEAF9E8C7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283" y="2647951"/>
            <a:ext cx="2819400" cy="3810000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26" name="Text Box 8">
            <a:extLst>
              <a:ext uri="{FF2B5EF4-FFF2-40B4-BE49-F238E27FC236}">
                <a16:creationId xmlns:a16="http://schemas.microsoft.com/office/drawing/2014/main" xmlns="" id="{6B72A8B1-B988-40DD-B5F1-767AE2B34C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6762" y="2689202"/>
            <a:ext cx="247650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b="1" dirty="0">
                <a:solidFill>
                  <a:srgbClr val="0000FF"/>
                </a:solidFill>
              </a:rPr>
              <a:t>LÀM LẠNH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8FD38888-9872-4E9D-9764-4E430E554782}"/>
              </a:ext>
            </a:extLst>
          </p:cNvPr>
          <p:cNvSpPr txBox="1"/>
          <p:nvPr/>
        </p:nvSpPr>
        <p:spPr>
          <a:xfrm>
            <a:off x="1165789" y="1816703"/>
            <a:ext cx="7200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rgbClr val="FF0000"/>
                </a:solidFill>
              </a:rPr>
              <a:t>Tăng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nhiệt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độ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>
                <a:sym typeface="Symbol" panose="05050102010706020507" pitchFamily="18" charset="2"/>
              </a:rPr>
              <a:t> </a:t>
            </a:r>
            <a:r>
              <a:rPr lang="en-US" sz="3200" b="1" dirty="0" err="1">
                <a:solidFill>
                  <a:srgbClr val="0000FF"/>
                </a:solidFill>
                <a:sym typeface="Symbol" panose="05050102010706020507" pitchFamily="18" charset="2"/>
              </a:rPr>
              <a:t>màu</a:t>
            </a:r>
            <a:r>
              <a:rPr lang="en-US" sz="3200" b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sz="3200" b="1" dirty="0" err="1">
                <a:solidFill>
                  <a:srgbClr val="0000FF"/>
                </a:solidFill>
                <a:sym typeface="Symbol" panose="05050102010706020507" pitchFamily="18" charset="2"/>
              </a:rPr>
              <a:t>xanh</a:t>
            </a:r>
            <a:r>
              <a:rPr lang="en-US" sz="3200" b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sz="3200" b="1" dirty="0" err="1">
                <a:solidFill>
                  <a:srgbClr val="0000FF"/>
                </a:solidFill>
                <a:sym typeface="Symbol" panose="05050102010706020507" pitchFamily="18" charset="2"/>
              </a:rPr>
              <a:t>đậm</a:t>
            </a:r>
            <a:r>
              <a:rPr lang="en-US" sz="3200" b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sz="3200" b="1" dirty="0" err="1">
                <a:solidFill>
                  <a:srgbClr val="0000FF"/>
                </a:solidFill>
                <a:sym typeface="Symbol" panose="05050102010706020507" pitchFamily="18" charset="2"/>
              </a:rPr>
              <a:t>dần</a:t>
            </a:r>
            <a:r>
              <a:rPr lang="en-US" sz="3200" b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endParaRPr lang="en-US" sz="3200" b="1" dirty="0">
              <a:solidFill>
                <a:srgbClr val="0000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A75C935-5A79-4D81-BC7B-23FC7B2F9775}"/>
              </a:ext>
            </a:extLst>
          </p:cNvPr>
          <p:cNvSpPr txBox="1"/>
          <p:nvPr/>
        </p:nvSpPr>
        <p:spPr>
          <a:xfrm>
            <a:off x="7505700" y="534375"/>
            <a:ext cx="198120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</a:t>
            </a:r>
            <a:r>
              <a:rPr lang="en-US" sz="2800" b="1" dirty="0" err="1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H</a:t>
            </a:r>
            <a:r>
              <a:rPr lang="en-US" sz="2800" b="1" baseline="-25000" dirty="0" err="1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pư</a:t>
            </a:r>
            <a:r>
              <a:rPr lang="en-US" sz="2800" b="1" baseline="-25000" dirty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 </a:t>
            </a:r>
            <a:r>
              <a:rPr lang="en-US" sz="2800" b="1" dirty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&gt; 0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      T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AB84D6A2-8186-4D82-89FB-64EC514DA577}"/>
              </a:ext>
            </a:extLst>
          </p:cNvPr>
          <p:cNvSpPr txBox="1"/>
          <p:nvPr/>
        </p:nvSpPr>
        <p:spPr>
          <a:xfrm>
            <a:off x="152400" y="587722"/>
            <a:ext cx="1754380" cy="1304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</a:t>
            </a:r>
            <a:r>
              <a:rPr lang="en-US" sz="2800" b="1" dirty="0" err="1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H</a:t>
            </a:r>
            <a:r>
              <a:rPr lang="en-US" sz="2800" b="1" baseline="-25000" dirty="0" err="1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pư</a:t>
            </a:r>
            <a:r>
              <a:rPr lang="en-US" sz="2800" b="1" baseline="-25000" dirty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 </a:t>
            </a:r>
            <a:r>
              <a:rPr lang="en-US" sz="2800" b="1" dirty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&lt; 0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    T</a:t>
            </a:r>
            <a:endParaRPr lang="en-US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6D8B136B-9B31-431A-986B-8ACD7105F809}"/>
              </a:ext>
            </a:extLst>
          </p:cNvPr>
          <p:cNvSpPr txBox="1"/>
          <p:nvPr/>
        </p:nvSpPr>
        <p:spPr>
          <a:xfrm>
            <a:off x="1198191" y="1816703"/>
            <a:ext cx="704850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sz="3200" b="1" dirty="0" err="1">
                <a:solidFill>
                  <a:srgbClr val="FF00FF"/>
                </a:solidFill>
                <a:sym typeface="Symbol" panose="05050102010706020507" pitchFamily="18" charset="2"/>
              </a:rPr>
              <a:t>Màu</a:t>
            </a:r>
            <a:r>
              <a:rPr lang="en-US" sz="3200" b="1" dirty="0">
                <a:solidFill>
                  <a:srgbClr val="FF00FF"/>
                </a:solidFill>
                <a:sym typeface="Symbol" panose="05050102010706020507" pitchFamily="18" charset="2"/>
              </a:rPr>
              <a:t> </a:t>
            </a:r>
            <a:r>
              <a:rPr lang="en-US" sz="3200" b="1" dirty="0" err="1">
                <a:solidFill>
                  <a:srgbClr val="FF00FF"/>
                </a:solidFill>
                <a:sym typeface="Symbol" panose="05050102010706020507" pitchFamily="18" charset="2"/>
              </a:rPr>
              <a:t>hồng</a:t>
            </a:r>
            <a:r>
              <a:rPr lang="en-US" sz="3200" b="1" dirty="0">
                <a:solidFill>
                  <a:srgbClr val="FF00FF"/>
                </a:solidFill>
                <a:sym typeface="Symbol" panose="05050102010706020507" pitchFamily="18" charset="2"/>
              </a:rPr>
              <a:t> </a:t>
            </a:r>
            <a:r>
              <a:rPr lang="en-US" sz="3200" b="1" dirty="0" err="1">
                <a:solidFill>
                  <a:srgbClr val="FF00FF"/>
                </a:solidFill>
                <a:sym typeface="Symbol" panose="05050102010706020507" pitchFamily="18" charset="2"/>
              </a:rPr>
              <a:t>đậm</a:t>
            </a:r>
            <a:r>
              <a:rPr lang="en-US" sz="3200" b="1" dirty="0">
                <a:solidFill>
                  <a:srgbClr val="FF00FF"/>
                </a:solidFill>
                <a:sym typeface="Symbol" panose="05050102010706020507" pitchFamily="18" charset="2"/>
              </a:rPr>
              <a:t> </a:t>
            </a:r>
            <a:r>
              <a:rPr lang="en-US" sz="3200" b="1" dirty="0" err="1">
                <a:solidFill>
                  <a:srgbClr val="FF00FF"/>
                </a:solidFill>
                <a:sym typeface="Symbol" panose="05050102010706020507" pitchFamily="18" charset="2"/>
              </a:rPr>
              <a:t>dần</a:t>
            </a:r>
            <a:r>
              <a:rPr lang="en-US" sz="3200" b="1" dirty="0">
                <a:solidFill>
                  <a:srgbClr val="FF00FF"/>
                </a:solidFill>
                <a:sym typeface="Symbol" panose="05050102010706020507" pitchFamily="18" charset="2"/>
              </a:rPr>
              <a:t>  </a:t>
            </a:r>
            <a:r>
              <a:rPr lang="en-US" sz="3200" dirty="0">
                <a:sym typeface="Symbol" panose="05050102010706020507" pitchFamily="18" charset="2"/>
              </a:rPr>
              <a:t> </a:t>
            </a:r>
            <a:r>
              <a:rPr lang="en-US" sz="3200" dirty="0" err="1">
                <a:solidFill>
                  <a:srgbClr val="0000FF"/>
                </a:solidFill>
                <a:sym typeface="Symbol" panose="05050102010706020507" pitchFamily="18" charset="2"/>
              </a:rPr>
              <a:t>h</a:t>
            </a:r>
            <a:r>
              <a:rPr lang="en-US" sz="3200" dirty="0" err="1">
                <a:solidFill>
                  <a:srgbClr val="0000FF"/>
                </a:solidFill>
              </a:rPr>
              <a:t>ạ</a:t>
            </a:r>
            <a:r>
              <a:rPr lang="en-US" sz="3200" dirty="0">
                <a:solidFill>
                  <a:srgbClr val="0000FF"/>
                </a:solidFill>
              </a:rPr>
              <a:t> </a:t>
            </a:r>
            <a:r>
              <a:rPr lang="en-US" sz="3200" dirty="0" err="1">
                <a:solidFill>
                  <a:srgbClr val="0000FF"/>
                </a:solidFill>
              </a:rPr>
              <a:t>nhiệt</a:t>
            </a:r>
            <a:r>
              <a:rPr lang="en-US" sz="3200" dirty="0">
                <a:solidFill>
                  <a:srgbClr val="0000FF"/>
                </a:solidFill>
              </a:rPr>
              <a:t> </a:t>
            </a:r>
            <a:r>
              <a:rPr lang="en-US" sz="3200" dirty="0" err="1">
                <a:solidFill>
                  <a:srgbClr val="0000FF"/>
                </a:solidFill>
              </a:rPr>
              <a:t>độ</a:t>
            </a:r>
            <a:r>
              <a:rPr lang="en-US" sz="3200" dirty="0">
                <a:solidFill>
                  <a:srgbClr val="0000FF"/>
                </a:solidFill>
              </a:rPr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9F6AA285-4DC0-4E38-BF81-72B9073BC0C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5029200"/>
            <a:ext cx="3124200" cy="142875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6F460DA5-B49B-4BF9-88D3-F9AD4625D3AF}"/>
              </a:ext>
            </a:extLst>
          </p:cNvPr>
          <p:cNvSpPr txBox="1"/>
          <p:nvPr/>
        </p:nvSpPr>
        <p:spPr>
          <a:xfrm>
            <a:off x="1143000" y="5346157"/>
            <a:ext cx="2819400" cy="1143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05930101-0DCC-4C32-AF0A-62B5768C5984}"/>
              </a:ext>
            </a:extLst>
          </p:cNvPr>
          <p:cNvSpPr txBox="1"/>
          <p:nvPr/>
        </p:nvSpPr>
        <p:spPr>
          <a:xfrm>
            <a:off x="6622635" y="2567307"/>
            <a:ext cx="1378365" cy="26517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059C9643-D7BB-4751-AB81-679D6B72D86C}"/>
              </a:ext>
            </a:extLst>
          </p:cNvPr>
          <p:cNvSpPr txBox="1"/>
          <p:nvPr/>
        </p:nvSpPr>
        <p:spPr>
          <a:xfrm>
            <a:off x="4800600" y="2534898"/>
            <a:ext cx="1371600" cy="26517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endParaRPr lang="en-US" dirty="0"/>
          </a:p>
        </p:txBody>
      </p:sp>
      <p:sp>
        <p:nvSpPr>
          <p:cNvPr id="56327" name="Text Box 10">
            <a:extLst>
              <a:ext uri="{FF2B5EF4-FFF2-40B4-BE49-F238E27FC236}">
                <a16:creationId xmlns:a16="http://schemas.microsoft.com/office/drawing/2014/main" xmlns="" id="{1624C2B9-C574-4ED0-A4EA-9936C38424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2715137"/>
            <a:ext cx="272788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b="1" dirty="0">
                <a:solidFill>
                  <a:srgbClr val="FF0000"/>
                </a:solidFill>
              </a:rPr>
              <a:t>ĐUN NÓNG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6" grpId="0"/>
      <p:bldP spid="2" grpId="0"/>
      <p:bldP spid="4" grpId="0"/>
      <p:bldP spid="5" grpId="0"/>
      <p:bldP spid="6" grpId="0" animBg="1"/>
      <p:bldP spid="9" grpId="0" animBg="1"/>
      <p:bldP spid="10" grpId="0" animBg="1"/>
      <p:bldP spid="17" grpId="0" animBg="1"/>
      <p:bldP spid="56327" grpId="0"/>
    </p:bld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4804</TotalTime>
  <Words>3084</Words>
  <Application>Microsoft Office PowerPoint</Application>
  <PresentationFormat>On-screen Show (4:3)</PresentationFormat>
  <Paragraphs>454</Paragraphs>
  <Slides>37</Slides>
  <Notes>27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9" baseType="lpstr">
      <vt:lpstr>Default Design</vt:lpstr>
      <vt:lpstr>Equation</vt:lpstr>
      <vt:lpstr>CHƯƠNG VI CÂN BẰNG HOÁ HỌC </vt:lpstr>
      <vt:lpstr>PowerPoint Presentation</vt:lpstr>
      <vt:lpstr>  Phản ứng đồng thể: pư trong thể tích 1 pha.   HCl(dd)  +  NaOH(dd)  =  NaCl (dd)  +  H2O(l)</vt:lpstr>
      <vt:lpstr>PowerPoint Presentation</vt:lpstr>
      <vt:lpstr>CÂN BẰNG HÓA HỌC</vt:lpstr>
      <vt:lpstr>   NHẬN XÉT VỀ TRẠNG THÁI CÂN BẰNG HÓA HỌC</vt:lpstr>
      <vt:lpstr>PowerPoint Presentation</vt:lpstr>
      <vt:lpstr>HẰNG SỐ CÂN BẰNG PHẢN ỨNG ĐỒNG THỂ TRONG HỆ KHÍ LÝ TƯỞNG</vt:lpstr>
      <vt:lpstr>PowerPoint Presentation</vt:lpstr>
      <vt:lpstr>HẰNG SỐ CÂN BẰNG PHẢN ỨNG ĐỒNG THỂ TRONG DUNG DỊCH LỎNG LOÃNG</vt:lpstr>
      <vt:lpstr>PowerPoint Presentation</vt:lpstr>
      <vt:lpstr> PHẢN ỨNG DỊ PHA  </vt:lpstr>
      <vt:lpstr>PowerPoint Presentation</vt:lpstr>
      <vt:lpstr>Cho NH4COONH2 (ammonium carbamate) vào bình chân không có dung tích 5,46 lit ở 200C thực hiện pư:   NH4COONH2(tt)   ⇌  CO2(k)        +      2NH3(k)  Khi phản ứng đạt cân bằng thì  hệ có áp suất chung Pc = 66,88 mmHg. Tính Kp , KC ở 200C.   </vt:lpstr>
      <vt:lpstr>PowerPoint Presentation</vt:lpstr>
      <vt:lpstr>PowerPoint Presentation</vt:lpstr>
      <vt:lpstr>Mg(OH)2 (r)    ⇌    Mg2+(dd)   +    2OH-(dd)  K = [Mg2+]cb .[OH-]2cb= TMg(OH)2 Tích số tan                                                      pT = - lgT</vt:lpstr>
      <vt:lpstr>THAY ĐỔI HỆ SỐ TỈ LƯỢNG</vt:lpstr>
      <vt:lpstr>ĐỔI CHIỀU PHẢN ỨNG</vt:lpstr>
      <vt:lpstr>PowerPoint Presentation</vt:lpstr>
      <vt:lpstr>HẰNG SỐ CÂN BẰNG CỦA PƯ TRAO ĐỔI  </vt:lpstr>
      <vt:lpstr>PowerPoint Presentation</vt:lpstr>
      <vt:lpstr>Thiết lập biểu thức hằng số cân bằng của pư: 2NaH2PO4(dd) + 3Ca(CH3COO)2(dd) ⇄ Ca3(PO4)2(r) + 2NaCH3COO(dd) + 4CH3COOH(dd) </vt:lpstr>
      <vt:lpstr>QUAN HỆ GIỮA HẰNG SỐ CÂN BẰNG VÀ G   Phản ứng dị pha : aA    + bB    ⇌ cC      + dD </vt:lpstr>
      <vt:lpstr>QUAN HỆ GIỮA HẰNG SỐ CÂN BẰNG VÀ G          Phản ứng  : aA   +   bB    ⇌    cC    +    dD </vt:lpstr>
      <vt:lpstr>PowerPoint Presentation</vt:lpstr>
      <vt:lpstr>PowerPoint Presentation</vt:lpstr>
      <vt:lpstr>PowerPoint Presentation</vt:lpstr>
      <vt:lpstr>PowerPoint Presentation</vt:lpstr>
      <vt:lpstr>NHẬN XÉT về Kp và Kc</vt:lpstr>
      <vt:lpstr>        Khi ∆G0298 = - 40kJ = - RTlnK → K ≈ 107             → phản ứng  có thể tự phát hoàn toàn.</vt:lpstr>
      <vt:lpstr>PowerPoint Presentation</vt:lpstr>
      <vt:lpstr>QUAN HỆ GIỮA HẰNG SỐ CÂN BẰNG VÀ NHIỆT ĐỘ</vt:lpstr>
      <vt:lpstr>Ví dụ</vt:lpstr>
      <vt:lpstr> NGUYÊN LÝ CHUYỂN DỊCH CÂN BẰNG                           LE CHATELIER </vt:lpstr>
      <vt:lpstr>T H&gt;0 ; N2(k) + 3H2(k) ⇌ 2NH3(k) ; H&lt;0 T</vt:lpstr>
      <vt:lpstr>CHUYỂN DỊCH CÂN BẰNG</vt:lpstr>
    </vt:vector>
  </TitlesOfParts>
  <Company>TD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Khái niệm về phản ứng thuận nghịch</dc:title>
  <dc:creator>NVC</dc:creator>
  <cp:lastModifiedBy>USER</cp:lastModifiedBy>
  <cp:revision>260</cp:revision>
  <dcterms:created xsi:type="dcterms:W3CDTF">2006-12-18T11:29:26Z</dcterms:created>
  <dcterms:modified xsi:type="dcterms:W3CDTF">2020-12-30T11:56:42Z</dcterms:modified>
</cp:coreProperties>
</file>