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57" r:id="rId4"/>
    <p:sldId id="803" r:id="rId5"/>
    <p:sldId id="808" r:id="rId6"/>
    <p:sldId id="801" r:id="rId7"/>
    <p:sldId id="802" r:id="rId8"/>
    <p:sldId id="282" r:id="rId9"/>
    <p:sldId id="283" r:id="rId10"/>
    <p:sldId id="263" r:id="rId11"/>
    <p:sldId id="807" r:id="rId12"/>
    <p:sldId id="800" r:id="rId13"/>
    <p:sldId id="278" r:id="rId14"/>
    <p:sldId id="292" r:id="rId15"/>
    <p:sldId id="285" r:id="rId16"/>
    <p:sldId id="289" r:id="rId17"/>
    <p:sldId id="286" r:id="rId18"/>
    <p:sldId id="804" r:id="rId19"/>
    <p:sldId id="290" r:id="rId20"/>
    <p:sldId id="798" r:id="rId21"/>
    <p:sldId id="296" r:id="rId22"/>
    <p:sldId id="288" r:id="rId23"/>
    <p:sldId id="287" r:id="rId24"/>
    <p:sldId id="524" r:id="rId25"/>
    <p:sldId id="797" r:id="rId26"/>
    <p:sldId id="790" r:id="rId27"/>
    <p:sldId id="80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a:srgbClr val="CC00FF"/>
    <a:srgbClr val="FF00FF"/>
    <a:srgbClr val="9933FF"/>
    <a:srgbClr val="3366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7" d="100"/>
          <a:sy n="117" d="100"/>
        </p:scale>
        <p:origin x="-300"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9FB217-2148-4DF5-825A-608B7F3537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2C1A0DE4-7360-426C-B038-74CFCBC85E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F6CD89D0-2BD3-4D76-88FC-D37216EF618A}"/>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5" name="Footer Placeholder 4">
            <a:extLst>
              <a:ext uri="{FF2B5EF4-FFF2-40B4-BE49-F238E27FC236}">
                <a16:creationId xmlns="" xmlns:a16="http://schemas.microsoft.com/office/drawing/2014/main" id="{84F22649-C2CD-43B5-B987-1174E4DB2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68CC19E-9173-4BFB-BD65-7E2C8F4E725D}"/>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1528996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1852EB-0702-4A06-B587-30C81258DE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299CEB96-F211-40FC-85B4-E7F94E39B3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2970D89-86C5-4587-9D9D-0A4C2FDC0892}"/>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5" name="Footer Placeholder 4">
            <a:extLst>
              <a:ext uri="{FF2B5EF4-FFF2-40B4-BE49-F238E27FC236}">
                <a16:creationId xmlns="" xmlns:a16="http://schemas.microsoft.com/office/drawing/2014/main" id="{D8461A2B-1DB1-4FD3-9F74-9C2DA1B21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B9666C4-A8C6-483A-9AD9-AF709CAFC4F2}"/>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1052327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3831EC-35A9-4481-AC9F-B08A92BC2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034C18E6-B3F2-4C27-87AC-E5EFC71B4D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9BA947EF-3198-457A-8E45-8A3C1BDC553C}"/>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5" name="Footer Placeholder 4">
            <a:extLst>
              <a:ext uri="{FF2B5EF4-FFF2-40B4-BE49-F238E27FC236}">
                <a16:creationId xmlns="" xmlns:a16="http://schemas.microsoft.com/office/drawing/2014/main" id="{BFD32571-E8BE-49E6-AB50-E5EAB3264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7E0752D-65B6-4A7C-A61E-B6712C0FF264}"/>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242518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53A27C-E8EB-466B-929F-50A83FFA2D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80D1427-DA55-483A-8912-0E72B879AD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F67086A4-77E0-4CEE-8955-8FE223539A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0B4C953-E1E8-4E8E-AE60-F17B7876BF53}"/>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6" name="Footer Placeholder 5">
            <a:extLst>
              <a:ext uri="{FF2B5EF4-FFF2-40B4-BE49-F238E27FC236}">
                <a16:creationId xmlns="" xmlns:a16="http://schemas.microsoft.com/office/drawing/2014/main" id="{6EDA45E9-7335-4FF4-A2E9-5FB12DD0D5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C4924361-7CA1-4409-A596-7A9C91E31C0F}"/>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1920242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F0E757-8B25-4942-9420-97A6640A27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0C0E5DE0-1DA3-4EE2-9B80-0221462FF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07FF640-D04E-4A4E-9421-A1BA20DDBE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28F2F16C-37E9-46B3-80E6-F5DEC6603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F18CFDC-205B-444A-BFF9-5330012DE5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1F58BF17-D318-466B-A31E-49545DA614C8}"/>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8" name="Footer Placeholder 7">
            <a:extLst>
              <a:ext uri="{FF2B5EF4-FFF2-40B4-BE49-F238E27FC236}">
                <a16:creationId xmlns="" xmlns:a16="http://schemas.microsoft.com/office/drawing/2014/main" id="{9ABBE7EF-9C31-46FC-BBDC-4BE030C671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760E6331-67AA-4DA3-AB1E-8B3075B49488}"/>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4009215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0075D3-37A1-4F1F-8971-7A9E7A57D8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52184AC3-7D36-4052-ACE1-2BFEE715312F}"/>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4" name="Footer Placeholder 3">
            <a:extLst>
              <a:ext uri="{FF2B5EF4-FFF2-40B4-BE49-F238E27FC236}">
                <a16:creationId xmlns="" xmlns:a16="http://schemas.microsoft.com/office/drawing/2014/main" id="{13682774-6A4A-4D89-8C60-FE4EABCBB2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5E9D0FAC-FAA5-4D94-9301-0F6EBBF0DD0D}"/>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3794768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57277A0-335E-4224-97DD-2073F161D296}"/>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3" name="Footer Placeholder 2">
            <a:extLst>
              <a:ext uri="{FF2B5EF4-FFF2-40B4-BE49-F238E27FC236}">
                <a16:creationId xmlns="" xmlns:a16="http://schemas.microsoft.com/office/drawing/2014/main" id="{4A3EE9CB-8238-4FE5-832D-BB23AC7EB9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7A1D1234-90AE-4BF9-871D-DBEE88C3667A}"/>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476547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0D4A5A-D636-4663-B671-D4B99ACD08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EE5DA274-DAC1-4B79-8DEB-AC1913F5E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B3C0391A-278E-4EC1-84C0-B04F8C0C2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E39AF69-8A01-4148-8BED-EEA443DEBCF8}"/>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6" name="Footer Placeholder 5">
            <a:extLst>
              <a:ext uri="{FF2B5EF4-FFF2-40B4-BE49-F238E27FC236}">
                <a16:creationId xmlns="" xmlns:a16="http://schemas.microsoft.com/office/drawing/2014/main" id="{53B55C6F-EBDA-4211-A9FA-273D526909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4E8E7764-B71C-4E87-AEA0-816E07DC22D7}"/>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3268330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C83D78-F3EB-49FF-A55B-FC83ABDE55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176159D1-F9CC-4621-A006-6383CFF156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189012CE-7DBB-46C5-97C1-95DB80F20C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0309DBA-DCAA-40F0-B722-3B2C04B3D8C9}"/>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6" name="Footer Placeholder 5">
            <a:extLst>
              <a:ext uri="{FF2B5EF4-FFF2-40B4-BE49-F238E27FC236}">
                <a16:creationId xmlns="" xmlns:a16="http://schemas.microsoft.com/office/drawing/2014/main" id="{9669A86E-C3F1-485D-9C57-D0E4974EBD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B977D122-6FF2-4C7B-8EAB-5ED83E2ED6FC}"/>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1959599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6C6D66-AA22-42A3-A302-A32E1390BE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DB572404-20E2-4A6F-8584-5D5E2F022B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177F80A-853E-4C36-997F-66ECDD3F3EC8}"/>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5" name="Footer Placeholder 4">
            <a:extLst>
              <a:ext uri="{FF2B5EF4-FFF2-40B4-BE49-F238E27FC236}">
                <a16:creationId xmlns="" xmlns:a16="http://schemas.microsoft.com/office/drawing/2014/main" id="{9BCF5B4F-550E-4AFF-B754-B18CD3DA20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D9A31C4-D3FE-451F-87C8-6155B8031909}"/>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3612563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CFBC824-EC83-463D-958A-1EDB1AA5C0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17542509-D2A9-452E-B1AE-1859EFADCA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DC411FF-0096-43A5-89EF-525BCD764F6D}"/>
              </a:ext>
            </a:extLst>
          </p:cNvPr>
          <p:cNvSpPr>
            <a:spLocks noGrp="1"/>
          </p:cNvSpPr>
          <p:nvPr>
            <p:ph type="dt" sz="half" idx="10"/>
          </p:nvPr>
        </p:nvSpPr>
        <p:spPr/>
        <p:txBody>
          <a:bodyPr/>
          <a:lstStyle/>
          <a:p>
            <a:fld id="{FE407D4A-8EC2-4021-AA6C-7F7BF721E879}" type="datetimeFigureOut">
              <a:rPr lang="en-US" smtClean="0"/>
              <a:t>1/6/2021</a:t>
            </a:fld>
            <a:endParaRPr lang="en-US"/>
          </a:p>
        </p:txBody>
      </p:sp>
      <p:sp>
        <p:nvSpPr>
          <p:cNvPr id="5" name="Footer Placeholder 4">
            <a:extLst>
              <a:ext uri="{FF2B5EF4-FFF2-40B4-BE49-F238E27FC236}">
                <a16:creationId xmlns="" xmlns:a16="http://schemas.microsoft.com/office/drawing/2014/main" id="{FA28B039-0699-4D3F-98B3-00263F154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AB8515D-F161-48EF-B068-06A658E09B29}"/>
              </a:ext>
            </a:extLst>
          </p:cNvPr>
          <p:cNvSpPr>
            <a:spLocks noGrp="1"/>
          </p:cNvSpPr>
          <p:nvPr>
            <p:ph type="sldNum" sz="quarter" idx="12"/>
          </p:nvPr>
        </p:nvSpPr>
        <p:spPr/>
        <p:txBody>
          <a:bodyPr/>
          <a:lstStyle/>
          <a:p>
            <a:fld id="{BB244C20-8A08-4D45-8FBE-1BC6098C90FA}" type="slidenum">
              <a:rPr lang="en-US" smtClean="0"/>
              <a:t>‹#›</a:t>
            </a:fld>
            <a:endParaRPr lang="en-US"/>
          </a:p>
        </p:txBody>
      </p:sp>
    </p:spTree>
    <p:extLst>
      <p:ext uri="{BB962C8B-B14F-4D97-AF65-F5344CB8AC3E}">
        <p14:creationId xmlns:p14="http://schemas.microsoft.com/office/powerpoint/2010/main" val="308551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D4A5F742-10E5-4B8F-9FB8-F16233BEA2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09FF518A-831D-4261-87FC-EC84B67DF4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FB2D940-3607-43FA-B8A6-89F8DA8864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07D4A-8EC2-4021-AA6C-7F7BF721E879}" type="datetimeFigureOut">
              <a:rPr lang="en-US" smtClean="0"/>
              <a:t>1/6/2021</a:t>
            </a:fld>
            <a:endParaRPr lang="en-US"/>
          </a:p>
        </p:txBody>
      </p:sp>
      <p:sp>
        <p:nvSpPr>
          <p:cNvPr id="5" name="Footer Placeholder 4">
            <a:extLst>
              <a:ext uri="{FF2B5EF4-FFF2-40B4-BE49-F238E27FC236}">
                <a16:creationId xmlns="" xmlns:a16="http://schemas.microsoft.com/office/drawing/2014/main" id="{81DA7229-2699-45CA-B009-F0AA7806D0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15B8A1EE-23B6-43A0-8075-6DF5ABAA34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244C20-8A08-4D45-8FBE-1BC6098C90FA}" type="slidenum">
              <a:rPr lang="en-US" smtClean="0"/>
              <a:t>‹#›</a:t>
            </a:fld>
            <a:endParaRPr lang="en-US"/>
          </a:p>
        </p:txBody>
      </p:sp>
    </p:spTree>
    <p:extLst>
      <p:ext uri="{BB962C8B-B14F-4D97-AF65-F5344CB8AC3E}">
        <p14:creationId xmlns:p14="http://schemas.microsoft.com/office/powerpoint/2010/main" val="181505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94693261-06AF-452A-96A6-D53DAAE3F5CD}"/>
              </a:ext>
            </a:extLst>
          </p:cNvPr>
          <p:cNvSpPr>
            <a:spLocks noGrp="1"/>
          </p:cNvSpPr>
          <p:nvPr>
            <p:ph type="subTitle" idx="1"/>
          </p:nvPr>
        </p:nvSpPr>
        <p:spPr>
          <a:xfrm>
            <a:off x="399493" y="1447893"/>
            <a:ext cx="10866269" cy="1655762"/>
          </a:xfrm>
        </p:spPr>
        <p:txBody>
          <a:bodyPr>
            <a:normAutofit/>
          </a:bodyPr>
          <a:lstStyle/>
          <a:p>
            <a:r>
              <a:rPr lang="en-US" sz="5400" b="1" dirty="0" smtClean="0">
                <a:solidFill>
                  <a:srgbClr val="0000FF"/>
                </a:solidFill>
                <a:effectLst>
                  <a:outerShdw blurRad="38100" dist="38100" dir="2700000" algn="tl">
                    <a:srgbClr val="000000">
                      <a:alpha val="43137"/>
                    </a:srgbClr>
                  </a:outerShdw>
                </a:effectLst>
                <a:latin typeface="Arial" pitchFamily="34" charset="0"/>
                <a:cs typeface="Arial" pitchFamily="34" charset="0"/>
              </a:rPr>
              <a:t>LÝ </a:t>
            </a:r>
            <a:r>
              <a:rPr lang="en-US" sz="5400" b="1" dirty="0">
                <a:solidFill>
                  <a:srgbClr val="0000FF"/>
                </a:solidFill>
                <a:effectLst>
                  <a:outerShdw blurRad="38100" dist="38100" dir="2700000" algn="tl">
                    <a:srgbClr val="000000">
                      <a:alpha val="43137"/>
                    </a:srgbClr>
                  </a:outerShdw>
                </a:effectLst>
                <a:latin typeface="Arial" pitchFamily="34" charset="0"/>
                <a:cs typeface="Arial" pitchFamily="34" charset="0"/>
              </a:rPr>
              <a:t>THUYẾT </a:t>
            </a:r>
            <a:r>
              <a:rPr lang="en-US" sz="5400" b="1" dirty="0" smtClean="0">
                <a:solidFill>
                  <a:srgbClr val="0000FF"/>
                </a:solidFill>
                <a:effectLst>
                  <a:outerShdw blurRad="38100" dist="38100" dir="2700000" algn="tl">
                    <a:srgbClr val="000000">
                      <a:alpha val="43137"/>
                    </a:srgbClr>
                  </a:outerShdw>
                </a:effectLst>
                <a:latin typeface="Arial" pitchFamily="34" charset="0"/>
                <a:cs typeface="Arial" pitchFamily="34" charset="0"/>
              </a:rPr>
              <a:t>HÓA ĐẠI CƯƠNG</a:t>
            </a:r>
            <a:endParaRPr lang="en-US" sz="5400" b="1" dirty="0">
              <a:solidFill>
                <a:srgbClr val="0000FF"/>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17322532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6B87351-D253-427D-97A8-654BD724F901}"/>
              </a:ext>
            </a:extLst>
          </p:cNvPr>
          <p:cNvSpPr>
            <a:spLocks noGrp="1"/>
          </p:cNvSpPr>
          <p:nvPr>
            <p:ph idx="1"/>
          </p:nvPr>
        </p:nvSpPr>
        <p:spPr>
          <a:xfrm>
            <a:off x="37750" y="159391"/>
            <a:ext cx="12154250" cy="6316910"/>
          </a:xfrm>
        </p:spPr>
        <p:txBody>
          <a:bodyPr>
            <a:noAutofit/>
          </a:bodyPr>
          <a:lstStyle/>
          <a:p>
            <a:pPr marL="0" indent="0">
              <a:buNone/>
            </a:pPr>
            <a:r>
              <a:rPr lang="en-US" b="1" dirty="0">
                <a:latin typeface="Arial" pitchFamily="34" charset="0"/>
                <a:cs typeface="Arial" pitchFamily="34" charset="0"/>
              </a:rPr>
              <a:t>Câu1</a:t>
            </a:r>
            <a:r>
              <a:rPr lang="en-US" dirty="0">
                <a:latin typeface="Arial" pitchFamily="34" charset="0"/>
                <a:cs typeface="Arial" pitchFamily="34" charset="0"/>
              </a:rPr>
              <a:t>. </a:t>
            </a:r>
            <a:r>
              <a:rPr lang="en-US" dirty="0" err="1">
                <a:latin typeface="Arial" pitchFamily="34" charset="0"/>
                <a:cs typeface="Arial" pitchFamily="34" charset="0"/>
              </a:rPr>
              <a:t>Chọn</a:t>
            </a:r>
            <a:r>
              <a:rPr lang="en-US" dirty="0">
                <a:latin typeface="Arial" pitchFamily="34" charset="0"/>
                <a:cs typeface="Arial" pitchFamily="34" charset="0"/>
              </a:rPr>
              <a:t> </a:t>
            </a:r>
            <a:r>
              <a:rPr lang="en-US" dirty="0" err="1" smtClean="0">
                <a:latin typeface="Arial" pitchFamily="34" charset="0"/>
                <a:cs typeface="Arial" pitchFamily="34" charset="0"/>
              </a:rPr>
              <a:t>phương</a:t>
            </a:r>
            <a:r>
              <a:rPr lang="en-US" dirty="0" smtClean="0">
                <a:latin typeface="Arial" pitchFamily="34" charset="0"/>
                <a:cs typeface="Arial" pitchFamily="34" charset="0"/>
              </a:rPr>
              <a:t> </a:t>
            </a:r>
            <a:r>
              <a:rPr lang="en-US" dirty="0" err="1" smtClean="0">
                <a:latin typeface="Arial" pitchFamily="34" charset="0"/>
                <a:cs typeface="Arial" pitchFamily="34" charset="0"/>
              </a:rPr>
              <a:t>án</a:t>
            </a:r>
            <a:r>
              <a:rPr lang="en-US" dirty="0" smtClean="0">
                <a:latin typeface="Arial" pitchFamily="34" charset="0"/>
                <a:cs typeface="Arial" pitchFamily="34" charset="0"/>
              </a:rPr>
              <a:t> </a:t>
            </a:r>
            <a:r>
              <a:rPr lang="en-US" b="1" dirty="0" err="1">
                <a:latin typeface="Arial" pitchFamily="34" charset="0"/>
                <a:cs typeface="Arial" pitchFamily="34" charset="0"/>
              </a:rPr>
              <a:t>đúng</a:t>
            </a:r>
            <a:r>
              <a:rPr lang="en-US" dirty="0">
                <a:latin typeface="Arial" pitchFamily="34" charset="0"/>
                <a:cs typeface="Arial" pitchFamily="34" charset="0"/>
              </a:rPr>
              <a:t>.</a:t>
            </a:r>
          </a:p>
          <a:p>
            <a:pPr marL="0" indent="0">
              <a:lnSpc>
                <a:spcPct val="150000"/>
              </a:lnSpc>
              <a:buNone/>
            </a:pPr>
            <a:r>
              <a:rPr lang="en-US" dirty="0" smtClean="0">
                <a:solidFill>
                  <a:srgbClr val="C00000"/>
                </a:solidFill>
                <a:latin typeface="Arial" pitchFamily="34" charset="0"/>
                <a:cs typeface="Arial" pitchFamily="34" charset="0"/>
              </a:rPr>
              <a:t>A. </a:t>
            </a:r>
            <a:r>
              <a:rPr lang="en-US" dirty="0" err="1" smtClean="0">
                <a:solidFill>
                  <a:srgbClr val="C00000"/>
                </a:solidFill>
                <a:latin typeface="Arial" pitchFamily="34" charset="0"/>
                <a:cs typeface="Arial" pitchFamily="34" charset="0"/>
              </a:rPr>
              <a:t>Nhiệt</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phân</a:t>
            </a:r>
            <a:r>
              <a:rPr lang="en-US" dirty="0" smtClean="0">
                <a:solidFill>
                  <a:srgbClr val="C00000"/>
                </a:solidFill>
                <a:latin typeface="Arial" pitchFamily="34" charset="0"/>
                <a:cs typeface="Arial" pitchFamily="34" charset="0"/>
              </a:rPr>
              <a:t> CaCO</a:t>
            </a:r>
            <a:r>
              <a:rPr lang="en-US" baseline="-25000" dirty="0" smtClean="0">
                <a:solidFill>
                  <a:srgbClr val="C00000"/>
                </a:solidFill>
                <a:latin typeface="Arial" pitchFamily="34" charset="0"/>
                <a:cs typeface="Arial" pitchFamily="34" charset="0"/>
              </a:rPr>
              <a:t>3</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trong</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ống</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nghiệm</a:t>
            </a:r>
            <a:r>
              <a:rPr lang="en-US" dirty="0" smtClean="0">
                <a:solidFill>
                  <a:srgbClr val="C00000"/>
                </a:solidFill>
                <a:latin typeface="Arial" pitchFamily="34" charset="0"/>
                <a:cs typeface="Arial" pitchFamily="34" charset="0"/>
              </a:rPr>
              <a:t>, </a:t>
            </a:r>
            <a:r>
              <a:rPr lang="vi-VN" dirty="0" smtClean="0">
                <a:solidFill>
                  <a:srgbClr val="C00000"/>
                </a:solidFill>
                <a:latin typeface="Arial" pitchFamily="34" charset="0"/>
                <a:cs typeface="Arial" pitchFamily="34" charset="0"/>
              </a:rPr>
              <a:t>nhiệt độ</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cao</a:t>
            </a:r>
            <a:r>
              <a:rPr lang="en-US" dirty="0" smtClean="0">
                <a:solidFill>
                  <a:srgbClr val="C00000"/>
                </a:solidFill>
                <a:latin typeface="Arial" pitchFamily="34" charset="0"/>
                <a:cs typeface="Arial" pitchFamily="34" charset="0"/>
              </a:rPr>
              <a:t> </a:t>
            </a:r>
            <a:r>
              <a:rPr lang="en-US" dirty="0">
                <a:solidFill>
                  <a:srgbClr val="C00000"/>
                </a:solidFill>
                <a:latin typeface="Arial" pitchFamily="34" charset="0"/>
                <a:cs typeface="Arial" pitchFamily="34" charset="0"/>
              </a:rPr>
              <a:t>ta </a:t>
            </a:r>
            <a:r>
              <a:rPr lang="en-US" dirty="0" err="1">
                <a:solidFill>
                  <a:srgbClr val="C00000"/>
                </a:solidFill>
                <a:latin typeface="Arial" pitchFamily="34" charset="0"/>
                <a:cs typeface="Arial" pitchFamily="34" charset="0"/>
              </a:rPr>
              <a:t>có</a:t>
            </a:r>
            <a:r>
              <a:rPr lang="en-US" dirty="0">
                <a:solidFill>
                  <a:srgbClr val="C00000"/>
                </a:solidFill>
                <a:latin typeface="Arial" pitchFamily="34" charset="0"/>
                <a:cs typeface="Arial" pitchFamily="34" charset="0"/>
              </a:rPr>
              <a:t> </a:t>
            </a:r>
            <a:r>
              <a:rPr lang="en-US" dirty="0" err="1">
                <a:solidFill>
                  <a:srgbClr val="C00000"/>
                </a:solidFill>
                <a:latin typeface="Arial" pitchFamily="34" charset="0"/>
                <a:cs typeface="Arial" pitchFamily="34" charset="0"/>
              </a:rPr>
              <a:t>hệ</a:t>
            </a:r>
            <a:r>
              <a:rPr lang="en-US" dirty="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hở</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dị</a:t>
            </a:r>
            <a:r>
              <a:rPr lang="en-US" dirty="0" smtClean="0">
                <a:solidFill>
                  <a:srgbClr val="C00000"/>
                </a:solidFill>
                <a:latin typeface="Arial" pitchFamily="34" charset="0"/>
                <a:cs typeface="Arial" pitchFamily="34" charset="0"/>
              </a:rPr>
              <a:t> </a:t>
            </a:r>
            <a:r>
              <a:rPr lang="en-US" dirty="0" err="1">
                <a:solidFill>
                  <a:srgbClr val="C00000"/>
                </a:solidFill>
                <a:latin typeface="Arial" pitchFamily="34" charset="0"/>
                <a:cs typeface="Arial" pitchFamily="34" charset="0"/>
              </a:rPr>
              <a:t>thể</a:t>
            </a:r>
            <a:r>
              <a:rPr lang="en-US" dirty="0">
                <a:solidFill>
                  <a:srgbClr val="C00000"/>
                </a:solidFill>
                <a:latin typeface="Arial" pitchFamily="34" charset="0"/>
                <a:cs typeface="Arial" pitchFamily="34" charset="0"/>
              </a:rPr>
              <a:t>.</a:t>
            </a:r>
          </a:p>
          <a:p>
            <a:pPr marL="0" indent="0">
              <a:lnSpc>
                <a:spcPct val="100000"/>
              </a:lnSpc>
              <a:buNone/>
            </a:pPr>
            <a:r>
              <a:rPr lang="en-US" dirty="0">
                <a:solidFill>
                  <a:srgbClr val="3366FF"/>
                </a:solidFill>
                <a:latin typeface="Arial" pitchFamily="34" charset="0"/>
                <a:cs typeface="Arial" pitchFamily="34" charset="0"/>
              </a:rPr>
              <a:t>B.</a:t>
            </a:r>
            <a:r>
              <a:rPr lang="en-US" dirty="0">
                <a:latin typeface="Arial" pitchFamily="34" charset="0"/>
                <a:cs typeface="Arial" pitchFamily="34" charset="0"/>
              </a:rPr>
              <a:t> </a:t>
            </a:r>
            <a:r>
              <a:rPr lang="en-US" dirty="0" err="1">
                <a:solidFill>
                  <a:srgbClr val="3366FF"/>
                </a:solidFill>
                <a:latin typeface="Arial" pitchFamily="34" charset="0"/>
                <a:cs typeface="Arial" pitchFamily="34" charset="0"/>
              </a:rPr>
              <a:t>Hòa</a:t>
            </a:r>
            <a:r>
              <a:rPr lang="en-US" dirty="0">
                <a:solidFill>
                  <a:srgbClr val="3366FF"/>
                </a:solidFill>
                <a:latin typeface="Arial" pitchFamily="34" charset="0"/>
                <a:cs typeface="Arial" pitchFamily="34" charset="0"/>
              </a:rPr>
              <a:t> tan 50 gam KNO</a:t>
            </a:r>
            <a:r>
              <a:rPr lang="en-US" baseline="-25000" dirty="0">
                <a:solidFill>
                  <a:srgbClr val="3366FF"/>
                </a:solidFill>
                <a:latin typeface="Arial" pitchFamily="34" charset="0"/>
                <a:cs typeface="Arial" pitchFamily="34" charset="0"/>
              </a:rPr>
              <a:t>3</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trong</a:t>
            </a:r>
            <a:r>
              <a:rPr lang="en-US" dirty="0">
                <a:solidFill>
                  <a:srgbClr val="3366FF"/>
                </a:solidFill>
                <a:latin typeface="Arial" pitchFamily="34" charset="0"/>
                <a:cs typeface="Arial" pitchFamily="34" charset="0"/>
              </a:rPr>
              <a:t> 50 ml n</a:t>
            </a:r>
            <a:r>
              <a:rPr lang="vi-VN" dirty="0">
                <a:solidFill>
                  <a:srgbClr val="3366FF"/>
                </a:solidFill>
                <a:latin typeface="Arial" pitchFamily="34" charset="0"/>
                <a:cs typeface="Arial" pitchFamily="34" charset="0"/>
              </a:rPr>
              <a:t>ư</a:t>
            </a:r>
            <a:r>
              <a:rPr lang="en-US" dirty="0" err="1">
                <a:solidFill>
                  <a:srgbClr val="3366FF"/>
                </a:solidFill>
                <a:latin typeface="Arial" pitchFamily="34" charset="0"/>
                <a:cs typeface="Arial" pitchFamily="34" charset="0"/>
              </a:rPr>
              <a:t>ớc</a:t>
            </a:r>
            <a:r>
              <a:rPr lang="en-US" dirty="0">
                <a:solidFill>
                  <a:srgbClr val="3366FF"/>
                </a:solidFill>
                <a:latin typeface="Arial" pitchFamily="34" charset="0"/>
                <a:cs typeface="Arial" pitchFamily="34" charset="0"/>
              </a:rPr>
              <a:t> ở 40</a:t>
            </a:r>
            <a:r>
              <a:rPr lang="en-US" baseline="30000" dirty="0">
                <a:solidFill>
                  <a:srgbClr val="3366FF"/>
                </a:solidFill>
                <a:latin typeface="Arial" pitchFamily="34" charset="0"/>
                <a:cs typeface="Arial" pitchFamily="34" charset="0"/>
              </a:rPr>
              <a:t>0</a:t>
            </a:r>
            <a:r>
              <a:rPr lang="en-US" dirty="0">
                <a:solidFill>
                  <a:srgbClr val="3366FF"/>
                </a:solidFill>
                <a:latin typeface="Arial" pitchFamily="34" charset="0"/>
                <a:cs typeface="Arial" pitchFamily="34" charset="0"/>
              </a:rPr>
              <a:t>C </a:t>
            </a:r>
            <a:r>
              <a:rPr lang="en-US" dirty="0" err="1">
                <a:solidFill>
                  <a:srgbClr val="3366FF"/>
                </a:solidFill>
                <a:latin typeface="Arial" pitchFamily="34" charset="0"/>
                <a:cs typeface="Arial" pitchFamily="34" charset="0"/>
              </a:rPr>
              <a:t>trong</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bình</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kín</a:t>
            </a:r>
            <a:r>
              <a:rPr lang="en-US" dirty="0">
                <a:solidFill>
                  <a:srgbClr val="3366FF"/>
                </a:solidFill>
                <a:latin typeface="Arial" pitchFamily="34" charset="0"/>
                <a:cs typeface="Arial" pitchFamily="34" charset="0"/>
              </a:rPr>
              <a:t> ta </a:t>
            </a:r>
            <a:r>
              <a:rPr lang="en-US" dirty="0" err="1">
                <a:solidFill>
                  <a:srgbClr val="3366FF"/>
                </a:solidFill>
                <a:latin typeface="Arial" pitchFamily="34" charset="0"/>
                <a:cs typeface="Arial" pitchFamily="34" charset="0"/>
              </a:rPr>
              <a:t>có</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hệ</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kín</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dị</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thể</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sau</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đó</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đun</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nóng</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lên</a:t>
            </a:r>
            <a:r>
              <a:rPr lang="en-US" dirty="0">
                <a:solidFill>
                  <a:srgbClr val="3366FF"/>
                </a:solidFill>
                <a:latin typeface="Arial" pitchFamily="34" charset="0"/>
                <a:cs typeface="Arial" pitchFamily="34" charset="0"/>
              </a:rPr>
              <a:t> 70</a:t>
            </a:r>
            <a:r>
              <a:rPr lang="en-US" baseline="30000" dirty="0">
                <a:solidFill>
                  <a:srgbClr val="3366FF"/>
                </a:solidFill>
                <a:latin typeface="Arial" pitchFamily="34" charset="0"/>
                <a:cs typeface="Arial" pitchFamily="34" charset="0"/>
              </a:rPr>
              <a:t>0</a:t>
            </a:r>
            <a:r>
              <a:rPr lang="en-US" dirty="0">
                <a:solidFill>
                  <a:srgbClr val="3366FF"/>
                </a:solidFill>
                <a:latin typeface="Arial" pitchFamily="34" charset="0"/>
                <a:cs typeface="Arial" pitchFamily="34" charset="0"/>
              </a:rPr>
              <a:t>C </a:t>
            </a:r>
            <a:r>
              <a:rPr lang="en-US" dirty="0" err="1">
                <a:solidFill>
                  <a:srgbClr val="3366FF"/>
                </a:solidFill>
                <a:latin typeface="Arial" pitchFamily="34" charset="0"/>
                <a:cs typeface="Arial" pitchFamily="34" charset="0"/>
              </a:rPr>
              <a:t>thì</a:t>
            </a:r>
            <a:r>
              <a:rPr lang="en-US" dirty="0">
                <a:solidFill>
                  <a:srgbClr val="3366FF"/>
                </a:solidFill>
                <a:latin typeface="Arial" pitchFamily="34" charset="0"/>
                <a:cs typeface="Arial" pitchFamily="34" charset="0"/>
              </a:rPr>
              <a:t> ta </a:t>
            </a:r>
            <a:r>
              <a:rPr lang="en-US" dirty="0" err="1">
                <a:solidFill>
                  <a:srgbClr val="3366FF"/>
                </a:solidFill>
                <a:latin typeface="Arial" pitchFamily="34" charset="0"/>
                <a:cs typeface="Arial" pitchFamily="34" charset="0"/>
              </a:rPr>
              <a:t>có</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hệ</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kín</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đồng</a:t>
            </a:r>
            <a:r>
              <a:rPr lang="en-US" dirty="0">
                <a:solidFill>
                  <a:srgbClr val="3366FF"/>
                </a:solidFill>
                <a:latin typeface="Arial" pitchFamily="34" charset="0"/>
                <a:cs typeface="Arial" pitchFamily="34" charset="0"/>
              </a:rPr>
              <a:t> </a:t>
            </a:r>
            <a:r>
              <a:rPr lang="en-US" dirty="0" err="1">
                <a:solidFill>
                  <a:srgbClr val="3366FF"/>
                </a:solidFill>
                <a:latin typeface="Arial" pitchFamily="34" charset="0"/>
                <a:cs typeface="Arial" pitchFamily="34" charset="0"/>
              </a:rPr>
              <a:t>thể</a:t>
            </a:r>
            <a:r>
              <a:rPr lang="en-US" dirty="0">
                <a:solidFill>
                  <a:srgbClr val="3366FF"/>
                </a:solidFill>
                <a:latin typeface="Arial" pitchFamily="34" charset="0"/>
                <a:cs typeface="Arial" pitchFamily="34" charset="0"/>
              </a:rPr>
              <a:t>. </a:t>
            </a:r>
          </a:p>
          <a:p>
            <a:pPr marL="0" indent="0">
              <a:lnSpc>
                <a:spcPct val="100000"/>
              </a:lnSpc>
              <a:buNone/>
            </a:pPr>
            <a:r>
              <a:rPr lang="en-US" dirty="0">
                <a:latin typeface="Arial" pitchFamily="34" charset="0"/>
                <a:cs typeface="Arial" pitchFamily="34" charset="0"/>
              </a:rPr>
              <a:t>( </a:t>
            </a:r>
            <a:r>
              <a:rPr lang="vi-VN" dirty="0">
                <a:latin typeface="Arial" pitchFamily="34" charset="0"/>
                <a:cs typeface="Arial" pitchFamily="34" charset="0"/>
              </a:rPr>
              <a:t>đ</a:t>
            </a:r>
            <a:r>
              <a:rPr lang="en-US" dirty="0" smtClean="0">
                <a:latin typeface="Arial" pitchFamily="34" charset="0"/>
                <a:cs typeface="Arial" pitchFamily="34" charset="0"/>
              </a:rPr>
              <a:t>ộ </a:t>
            </a:r>
            <a:r>
              <a:rPr lang="en-US" dirty="0">
                <a:latin typeface="Arial" pitchFamily="34" charset="0"/>
                <a:cs typeface="Arial" pitchFamily="34" charset="0"/>
              </a:rPr>
              <a:t>tan KNO</a:t>
            </a:r>
            <a:r>
              <a:rPr lang="en-US" baseline="-25000" dirty="0">
                <a:latin typeface="Arial" pitchFamily="34" charset="0"/>
                <a:cs typeface="Arial" pitchFamily="34" charset="0"/>
              </a:rPr>
              <a:t>3</a:t>
            </a:r>
            <a:r>
              <a:rPr lang="en-US" dirty="0">
                <a:latin typeface="Arial" pitchFamily="34" charset="0"/>
                <a:cs typeface="Arial" pitchFamily="34" charset="0"/>
              </a:rPr>
              <a:t>ở 40</a:t>
            </a:r>
            <a:r>
              <a:rPr lang="en-US" baseline="30000" dirty="0">
                <a:latin typeface="Arial" pitchFamily="34" charset="0"/>
                <a:cs typeface="Arial" pitchFamily="34" charset="0"/>
              </a:rPr>
              <a:t>0</a:t>
            </a:r>
            <a:r>
              <a:rPr lang="en-US" dirty="0">
                <a:latin typeface="Arial" pitchFamily="34" charset="0"/>
                <a:cs typeface="Arial" pitchFamily="34" charset="0"/>
              </a:rPr>
              <a:t>C</a:t>
            </a:r>
            <a:r>
              <a:rPr lang="vi-VN" dirty="0">
                <a:latin typeface="Arial" pitchFamily="34" charset="0"/>
                <a:cs typeface="Arial" pitchFamily="34" charset="0"/>
              </a:rPr>
              <a:t> là </a:t>
            </a:r>
            <a:r>
              <a:rPr lang="en-US" dirty="0">
                <a:latin typeface="Arial" pitchFamily="34" charset="0"/>
                <a:cs typeface="Arial" pitchFamily="34" charset="0"/>
              </a:rPr>
              <a:t>63,9g/100g n</a:t>
            </a:r>
            <a:r>
              <a:rPr lang="vi-VN" dirty="0">
                <a:latin typeface="Arial" pitchFamily="34" charset="0"/>
                <a:cs typeface="Arial" pitchFamily="34" charset="0"/>
              </a:rPr>
              <a:t>ư</a:t>
            </a:r>
            <a:r>
              <a:rPr lang="en-US" dirty="0" err="1">
                <a:latin typeface="Arial" pitchFamily="34" charset="0"/>
                <a:cs typeface="Arial" pitchFamily="34" charset="0"/>
              </a:rPr>
              <a:t>ớc</a:t>
            </a:r>
            <a:r>
              <a:rPr lang="vi-VN" dirty="0">
                <a:latin typeface="Arial" pitchFamily="34" charset="0"/>
                <a:cs typeface="Arial" pitchFamily="34" charset="0"/>
              </a:rPr>
              <a:t>; ở </a:t>
            </a:r>
            <a:r>
              <a:rPr lang="en-US" dirty="0">
                <a:latin typeface="Arial" pitchFamily="34" charset="0"/>
                <a:cs typeface="Arial" pitchFamily="34" charset="0"/>
              </a:rPr>
              <a:t>70</a:t>
            </a:r>
            <a:r>
              <a:rPr lang="en-US" baseline="30000" dirty="0">
                <a:latin typeface="Arial" pitchFamily="34" charset="0"/>
                <a:cs typeface="Arial" pitchFamily="34" charset="0"/>
              </a:rPr>
              <a:t>0</a:t>
            </a:r>
            <a:r>
              <a:rPr lang="en-US" dirty="0">
                <a:latin typeface="Arial" pitchFamily="34" charset="0"/>
                <a:cs typeface="Arial" pitchFamily="34" charset="0"/>
              </a:rPr>
              <a:t>C </a:t>
            </a:r>
            <a:r>
              <a:rPr lang="vi-VN" dirty="0">
                <a:latin typeface="Arial" pitchFamily="34" charset="0"/>
                <a:cs typeface="Arial" pitchFamily="34" charset="0"/>
              </a:rPr>
              <a:t>là </a:t>
            </a:r>
            <a:r>
              <a:rPr lang="en-US" dirty="0">
                <a:latin typeface="Arial" pitchFamily="34" charset="0"/>
                <a:cs typeface="Arial" pitchFamily="34" charset="0"/>
              </a:rPr>
              <a:t>109,9 g/100g n</a:t>
            </a:r>
            <a:r>
              <a:rPr lang="vi-VN" dirty="0">
                <a:latin typeface="Arial" pitchFamily="34" charset="0"/>
                <a:cs typeface="Arial" pitchFamily="34" charset="0"/>
              </a:rPr>
              <a:t>ư</a:t>
            </a:r>
            <a:r>
              <a:rPr lang="en-US" dirty="0" err="1">
                <a:latin typeface="Arial" pitchFamily="34" charset="0"/>
                <a:cs typeface="Arial" pitchFamily="34" charset="0"/>
              </a:rPr>
              <a:t>ớc</a:t>
            </a:r>
            <a:r>
              <a:rPr lang="en-US" dirty="0" smtClean="0">
                <a:latin typeface="Arial" pitchFamily="34" charset="0"/>
                <a:cs typeface="Arial" pitchFamily="34" charset="0"/>
              </a:rPr>
              <a:t>)</a:t>
            </a:r>
            <a:endParaRPr lang="vi-VN" dirty="0" smtClean="0">
              <a:latin typeface="Arial" pitchFamily="34" charset="0"/>
              <a:cs typeface="Arial" pitchFamily="34" charset="0"/>
            </a:endParaRPr>
          </a:p>
          <a:p>
            <a:pPr marL="0" indent="0">
              <a:lnSpc>
                <a:spcPct val="100000"/>
              </a:lnSpc>
              <a:buNone/>
            </a:pPr>
            <a:r>
              <a:rPr lang="vi-VN" dirty="0" smtClean="0">
                <a:solidFill>
                  <a:srgbClr val="008000"/>
                </a:solidFill>
                <a:latin typeface="Arial" pitchFamily="34" charset="0"/>
                <a:cs typeface="Arial" pitchFamily="34" charset="0"/>
              </a:rPr>
              <a:t>C. Cho khí PCl</a:t>
            </a:r>
            <a:r>
              <a:rPr lang="vi-VN" baseline="-25000" dirty="0" smtClean="0">
                <a:solidFill>
                  <a:srgbClr val="008000"/>
                </a:solidFill>
                <a:latin typeface="Arial" pitchFamily="34" charset="0"/>
                <a:cs typeface="Arial" pitchFamily="34" charset="0"/>
              </a:rPr>
              <a:t>5</a:t>
            </a:r>
            <a:r>
              <a:rPr lang="vi-VN" dirty="0" smtClean="0">
                <a:solidFill>
                  <a:srgbClr val="008000"/>
                </a:solidFill>
                <a:latin typeface="Arial" pitchFamily="34" charset="0"/>
                <a:cs typeface="Arial" pitchFamily="34" charset="0"/>
              </a:rPr>
              <a:t> vào trong bình kín thực hiện pư: PCl</a:t>
            </a:r>
            <a:r>
              <a:rPr lang="vi-VN" baseline="-25000" dirty="0" smtClean="0">
                <a:solidFill>
                  <a:srgbClr val="008000"/>
                </a:solidFill>
                <a:latin typeface="Arial" pitchFamily="34" charset="0"/>
                <a:cs typeface="Arial" pitchFamily="34" charset="0"/>
              </a:rPr>
              <a:t>5</a:t>
            </a:r>
            <a:r>
              <a:rPr lang="vi-VN" dirty="0" smtClean="0">
                <a:solidFill>
                  <a:srgbClr val="008000"/>
                </a:solidFill>
                <a:latin typeface="Arial" pitchFamily="34" charset="0"/>
                <a:cs typeface="Arial" pitchFamily="34" charset="0"/>
              </a:rPr>
              <a:t>(k) </a:t>
            </a:r>
            <a:r>
              <a:rPr lang="en-US" altLang="en-US" dirty="0" smtClean="0">
                <a:solidFill>
                  <a:srgbClr val="008000"/>
                </a:solidFill>
              </a:rPr>
              <a:t>⇌</a:t>
            </a:r>
            <a:r>
              <a:rPr lang="vi-VN" altLang="en-US" dirty="0" smtClean="0">
                <a:solidFill>
                  <a:srgbClr val="008000"/>
                </a:solidFill>
              </a:rPr>
              <a:t> PCl</a:t>
            </a:r>
            <a:r>
              <a:rPr lang="vi-VN" altLang="en-US" baseline="-25000" dirty="0" smtClean="0">
                <a:solidFill>
                  <a:srgbClr val="008000"/>
                </a:solidFill>
              </a:rPr>
              <a:t>3</a:t>
            </a:r>
            <a:r>
              <a:rPr lang="vi-VN" altLang="en-US" dirty="0" smtClean="0">
                <a:solidFill>
                  <a:srgbClr val="008000"/>
                </a:solidFill>
              </a:rPr>
              <a:t>(k) + Cl</a:t>
            </a:r>
            <a:r>
              <a:rPr lang="vi-VN" altLang="en-US" baseline="-25000" dirty="0" smtClean="0">
                <a:solidFill>
                  <a:srgbClr val="008000"/>
                </a:solidFill>
              </a:rPr>
              <a:t>2</a:t>
            </a:r>
            <a:r>
              <a:rPr lang="vi-VN" altLang="en-US" dirty="0" smtClean="0">
                <a:solidFill>
                  <a:srgbClr val="008000"/>
                </a:solidFill>
              </a:rPr>
              <a:t>(k) có </a:t>
            </a:r>
            <a:r>
              <a:rPr lang="vi-VN" altLang="en-US" dirty="0" smtClean="0">
                <a:solidFill>
                  <a:srgbClr val="008000"/>
                </a:solidFill>
                <a:sym typeface="Symbol"/>
              </a:rPr>
              <a:t>H&gt;0. Sau pư hệ được đưa về nhiệt độ ban đầu. Đây là quá trình đẳng tích.</a:t>
            </a:r>
            <a:endParaRPr lang="en-US" dirty="0">
              <a:solidFill>
                <a:srgbClr val="008000"/>
              </a:solidFill>
              <a:latin typeface="Arial" pitchFamily="34" charset="0"/>
              <a:cs typeface="Arial" pitchFamily="34" charset="0"/>
            </a:endParaRPr>
          </a:p>
          <a:p>
            <a:pPr marL="0" indent="0">
              <a:lnSpc>
                <a:spcPct val="170000"/>
              </a:lnSpc>
              <a:buNone/>
            </a:pPr>
            <a:r>
              <a:rPr lang="en-US" dirty="0" smtClean="0">
                <a:latin typeface="Arial" pitchFamily="34" charset="0"/>
                <a:cs typeface="Arial" pitchFamily="34" charset="0"/>
              </a:rPr>
              <a:t>D</a:t>
            </a:r>
            <a:r>
              <a:rPr lang="en-US" dirty="0">
                <a:latin typeface="Arial" pitchFamily="34" charset="0"/>
                <a:cs typeface="Arial" pitchFamily="34" charset="0"/>
              </a:rPr>
              <a:t>. </a:t>
            </a:r>
            <a:r>
              <a:rPr lang="en-US" dirty="0" err="1" smtClean="0">
                <a:latin typeface="Arial" pitchFamily="34" charset="0"/>
                <a:cs typeface="Arial" pitchFamily="34" charset="0"/>
              </a:rPr>
              <a:t>Thực</a:t>
            </a:r>
            <a:r>
              <a:rPr lang="en-US" dirty="0" smtClean="0">
                <a:latin typeface="Arial" pitchFamily="34" charset="0"/>
                <a:cs typeface="Arial" pitchFamily="34" charset="0"/>
              </a:rPr>
              <a:t> </a:t>
            </a:r>
            <a:r>
              <a:rPr lang="en-US" dirty="0" err="1" smtClean="0">
                <a:latin typeface="Arial" pitchFamily="34" charset="0"/>
                <a:cs typeface="Arial" pitchFamily="34" charset="0"/>
              </a:rPr>
              <a:t>hiện</a:t>
            </a:r>
            <a:r>
              <a:rPr lang="en-US" dirty="0" smtClean="0">
                <a:latin typeface="Arial" pitchFamily="34" charset="0"/>
                <a:cs typeface="Arial" pitchFamily="34" charset="0"/>
              </a:rPr>
              <a:t> </a:t>
            </a:r>
            <a:r>
              <a:rPr lang="en-US" dirty="0" err="1" smtClean="0">
                <a:latin typeface="Arial" pitchFamily="34" charset="0"/>
                <a:cs typeface="Arial" pitchFamily="34" charset="0"/>
              </a:rPr>
              <a:t>pư</a:t>
            </a:r>
            <a:r>
              <a:rPr lang="en-US" dirty="0" smtClean="0">
                <a:latin typeface="Arial" pitchFamily="34" charset="0"/>
                <a:cs typeface="Arial" pitchFamily="34" charset="0"/>
              </a:rPr>
              <a:t>: H</a:t>
            </a:r>
            <a:r>
              <a:rPr lang="en-US" baseline="-25000" dirty="0" smtClean="0">
                <a:latin typeface="Arial" pitchFamily="34" charset="0"/>
                <a:cs typeface="Arial" pitchFamily="34" charset="0"/>
              </a:rPr>
              <a:t>2</a:t>
            </a:r>
            <a:r>
              <a:rPr lang="en-US" dirty="0" smtClean="0">
                <a:latin typeface="Arial" pitchFamily="34" charset="0"/>
                <a:cs typeface="Arial" pitchFamily="34" charset="0"/>
              </a:rPr>
              <a:t>(k) + I</a:t>
            </a:r>
            <a:r>
              <a:rPr lang="en-US" baseline="-25000" dirty="0" smtClean="0">
                <a:latin typeface="Arial" pitchFamily="34" charset="0"/>
                <a:cs typeface="Arial" pitchFamily="34" charset="0"/>
              </a:rPr>
              <a:t>2</a:t>
            </a:r>
            <a:r>
              <a:rPr lang="en-US" dirty="0" smtClean="0">
                <a:latin typeface="Arial" pitchFamily="34" charset="0"/>
                <a:cs typeface="Arial" pitchFamily="34" charset="0"/>
              </a:rPr>
              <a:t>(k) </a:t>
            </a:r>
            <a:r>
              <a:rPr lang="en-US" altLang="en-US" dirty="0" smtClean="0"/>
              <a:t>⇌ </a:t>
            </a:r>
            <a:r>
              <a:rPr lang="en-US" altLang="en-US" dirty="0" smtClean="0">
                <a:latin typeface="Arial" pitchFamily="34" charset="0"/>
                <a:cs typeface="Arial" pitchFamily="34" charset="0"/>
              </a:rPr>
              <a:t>2HI(k) </a:t>
            </a:r>
            <a:r>
              <a:rPr lang="en-US" dirty="0" smtClean="0">
                <a:latin typeface="Arial" pitchFamily="34" charset="0"/>
                <a:cs typeface="Arial" pitchFamily="34" charset="0"/>
              </a:rPr>
              <a:t> </a:t>
            </a:r>
            <a:r>
              <a:rPr lang="en-US" dirty="0" err="1" smtClean="0">
                <a:latin typeface="Arial" pitchFamily="34" charset="0"/>
                <a:cs typeface="Arial" pitchFamily="34" charset="0"/>
              </a:rPr>
              <a:t>trong</a:t>
            </a:r>
            <a:r>
              <a:rPr lang="en-US" dirty="0" smtClean="0">
                <a:latin typeface="Arial" pitchFamily="34" charset="0"/>
                <a:cs typeface="Arial" pitchFamily="34" charset="0"/>
              </a:rPr>
              <a:t> </a:t>
            </a:r>
            <a:r>
              <a:rPr lang="en-US" dirty="0" err="1" smtClean="0">
                <a:latin typeface="Arial" pitchFamily="34" charset="0"/>
                <a:cs typeface="Arial" pitchFamily="34" charset="0"/>
              </a:rPr>
              <a:t>nhiệt</a:t>
            </a:r>
            <a:r>
              <a:rPr lang="en-US" dirty="0" smtClean="0">
                <a:latin typeface="Arial" pitchFamily="34" charset="0"/>
                <a:cs typeface="Arial" pitchFamily="34" charset="0"/>
              </a:rPr>
              <a:t> </a:t>
            </a:r>
            <a:r>
              <a:rPr lang="en-US" dirty="0" err="1" smtClean="0">
                <a:latin typeface="Arial" pitchFamily="34" charset="0"/>
                <a:cs typeface="Arial" pitchFamily="34" charset="0"/>
              </a:rPr>
              <a:t>lượng</a:t>
            </a:r>
            <a:r>
              <a:rPr lang="en-US" dirty="0" smtClean="0">
                <a:latin typeface="Arial" pitchFamily="34" charset="0"/>
                <a:cs typeface="Arial" pitchFamily="34" charset="0"/>
              </a:rPr>
              <a:t> </a:t>
            </a:r>
            <a:r>
              <a:rPr lang="en-US" dirty="0" err="1" smtClean="0">
                <a:latin typeface="Arial" pitchFamily="34" charset="0"/>
                <a:cs typeface="Arial" pitchFamily="34" charset="0"/>
              </a:rPr>
              <a:t>kế</a:t>
            </a:r>
            <a:r>
              <a:rPr lang="en-US" dirty="0" smtClean="0">
                <a:latin typeface="Arial" pitchFamily="34" charset="0"/>
                <a:cs typeface="Arial" pitchFamily="34" charset="0"/>
              </a:rPr>
              <a:t> ta </a:t>
            </a:r>
            <a:r>
              <a:rPr lang="en-US" dirty="0" err="1" smtClean="0">
                <a:latin typeface="Arial" pitchFamily="34" charset="0"/>
                <a:cs typeface="Arial" pitchFamily="34" charset="0"/>
              </a:rPr>
              <a:t>có</a:t>
            </a:r>
            <a:r>
              <a:rPr lang="en-US" dirty="0" smtClean="0">
                <a:latin typeface="Arial" pitchFamily="34" charset="0"/>
                <a:cs typeface="Arial" pitchFamily="34" charset="0"/>
              </a:rPr>
              <a:t> </a:t>
            </a:r>
            <a:r>
              <a:rPr lang="en-US" dirty="0" err="1" smtClean="0">
                <a:latin typeface="Arial" pitchFamily="34" charset="0"/>
                <a:cs typeface="Arial" pitchFamily="34" charset="0"/>
              </a:rPr>
              <a:t>hệ</a:t>
            </a:r>
            <a:r>
              <a:rPr lang="en-US" dirty="0" smtClean="0">
                <a:latin typeface="Arial" pitchFamily="34" charset="0"/>
                <a:cs typeface="Arial" pitchFamily="34" charset="0"/>
              </a:rPr>
              <a:t> </a:t>
            </a:r>
            <a:r>
              <a:rPr lang="en-US" dirty="0" err="1" smtClean="0">
                <a:latin typeface="Arial" pitchFamily="34" charset="0"/>
                <a:cs typeface="Arial" pitchFamily="34" charset="0"/>
              </a:rPr>
              <a:t>cô</a:t>
            </a:r>
            <a:r>
              <a:rPr lang="en-US" dirty="0" smtClean="0">
                <a:latin typeface="Arial" pitchFamily="34" charset="0"/>
                <a:cs typeface="Arial" pitchFamily="34" charset="0"/>
              </a:rPr>
              <a:t> </a:t>
            </a:r>
            <a:r>
              <a:rPr lang="en-US" dirty="0" err="1" smtClean="0">
                <a:latin typeface="Arial" pitchFamily="34" charset="0"/>
                <a:cs typeface="Arial" pitchFamily="34" charset="0"/>
              </a:rPr>
              <a:t>lập</a:t>
            </a:r>
            <a:r>
              <a:rPr lang="en-US" dirty="0" smtClean="0">
                <a:latin typeface="Arial" pitchFamily="34" charset="0"/>
                <a:cs typeface="Arial" pitchFamily="34" charset="0"/>
              </a:rPr>
              <a:t>, </a:t>
            </a:r>
            <a:r>
              <a:rPr lang="en-US" dirty="0" err="1" smtClean="0">
                <a:latin typeface="Arial" pitchFamily="34" charset="0"/>
                <a:cs typeface="Arial" pitchFamily="34" charset="0"/>
              </a:rPr>
              <a:t>đồng</a:t>
            </a:r>
            <a:r>
              <a:rPr lang="en-US" dirty="0" smtClean="0">
                <a:latin typeface="Arial" pitchFamily="34" charset="0"/>
                <a:cs typeface="Arial" pitchFamily="34" charset="0"/>
              </a:rPr>
              <a:t> </a:t>
            </a:r>
            <a:r>
              <a:rPr lang="en-US" dirty="0" err="1" smtClean="0">
                <a:latin typeface="Arial" pitchFamily="34" charset="0"/>
                <a:cs typeface="Arial" pitchFamily="34" charset="0"/>
              </a:rPr>
              <a:t>thể</a:t>
            </a:r>
            <a:r>
              <a:rPr lang="en-US" dirty="0" smtClean="0">
                <a:latin typeface="Arial" pitchFamily="34" charset="0"/>
                <a:cs typeface="Arial" pitchFamily="34" charset="0"/>
              </a:rPr>
              <a:t> </a:t>
            </a:r>
            <a:r>
              <a:rPr lang="en-US" dirty="0" err="1" smtClean="0">
                <a:latin typeface="Arial" pitchFamily="34" charset="0"/>
                <a:cs typeface="Arial" pitchFamily="34" charset="0"/>
              </a:rPr>
              <a:t>và</a:t>
            </a:r>
            <a:r>
              <a:rPr lang="en-US" dirty="0" smtClean="0">
                <a:latin typeface="Arial" pitchFamily="34" charset="0"/>
                <a:cs typeface="Arial" pitchFamily="34" charset="0"/>
              </a:rPr>
              <a:t> </a:t>
            </a:r>
            <a:r>
              <a:rPr lang="vi-VN" dirty="0" smtClean="0">
                <a:latin typeface="Arial" pitchFamily="34" charset="0"/>
                <a:cs typeface="Arial" pitchFamily="34" charset="0"/>
              </a:rPr>
              <a:t>quá trình là đẳng tích, </a:t>
            </a:r>
            <a:r>
              <a:rPr lang="en-US" dirty="0" err="1" smtClean="0">
                <a:latin typeface="Arial" pitchFamily="34" charset="0"/>
                <a:cs typeface="Arial" pitchFamily="34" charset="0"/>
              </a:rPr>
              <a:t>đẳng</a:t>
            </a:r>
            <a:r>
              <a:rPr lang="en-US" dirty="0" smtClean="0">
                <a:latin typeface="Arial" pitchFamily="34" charset="0"/>
                <a:cs typeface="Arial" pitchFamily="34" charset="0"/>
              </a:rPr>
              <a:t> </a:t>
            </a:r>
            <a:r>
              <a:rPr lang="en-US" dirty="0" err="1" smtClean="0">
                <a:latin typeface="Arial" pitchFamily="34" charset="0"/>
                <a:cs typeface="Arial" pitchFamily="34" charset="0"/>
              </a:rPr>
              <a:t>áp</a:t>
            </a:r>
            <a:r>
              <a:rPr lang="en-US" dirty="0" smtClean="0">
                <a:latin typeface="Arial" pitchFamily="34" charset="0"/>
                <a:cs typeface="Arial" pitchFamily="34" charset="0"/>
              </a:rPr>
              <a:t>.                           </a:t>
            </a:r>
            <a:endParaRPr lang="en-US" dirty="0">
              <a:solidFill>
                <a:schemeClr val="accent6">
                  <a:lumMod val="50000"/>
                </a:schemeClr>
              </a:solidFill>
              <a:latin typeface="Arial" pitchFamily="34" charset="0"/>
              <a:cs typeface="Arial" pitchFamily="34" charset="0"/>
            </a:endParaRPr>
          </a:p>
        </p:txBody>
      </p:sp>
      <p:sp>
        <p:nvSpPr>
          <p:cNvPr id="2" name="TextBox 1">
            <a:extLst>
              <a:ext uri="{FF2B5EF4-FFF2-40B4-BE49-F238E27FC236}">
                <a16:creationId xmlns="" xmlns:a16="http://schemas.microsoft.com/office/drawing/2014/main" id="{7E58E1D4-79CD-436A-9C8F-D09751017FAA}"/>
              </a:ext>
            </a:extLst>
          </p:cNvPr>
          <p:cNvSpPr txBox="1"/>
          <p:nvPr/>
        </p:nvSpPr>
        <p:spPr>
          <a:xfrm>
            <a:off x="5001815" y="153053"/>
            <a:ext cx="5397407" cy="584775"/>
          </a:xfrm>
          <a:prstGeom prst="rect">
            <a:avLst/>
          </a:prstGeom>
          <a:noFill/>
        </p:spPr>
        <p:txBody>
          <a:bodyPr wrap="square" rtlCol="0">
            <a:spAutoFit/>
          </a:bodyPr>
          <a:lstStyle/>
          <a:p>
            <a:r>
              <a:rPr lang="en-US" sz="3200" b="1" dirty="0">
                <a:solidFill>
                  <a:srgbClr val="FF0000"/>
                </a:solidFill>
                <a:effectLst>
                  <a:outerShdw blurRad="38100" dist="38100" dir="2700000" algn="tl">
                    <a:srgbClr val="000000">
                      <a:alpha val="43137"/>
                    </a:srgbClr>
                  </a:outerShdw>
                </a:effectLst>
                <a:latin typeface="Arial" pitchFamily="34" charset="0"/>
                <a:cs typeface="Arial" pitchFamily="34" charset="0"/>
              </a:rPr>
              <a:t>ĐÁP </a:t>
            </a:r>
            <a:r>
              <a:rPr lang="en-US" sz="32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ÁN: TẤT CẢ</a:t>
            </a:r>
            <a:endParaRPr lang="en-US" sz="3200" b="1" dirty="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149094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B32D90-7D66-41E4-A240-59296EDBB56C}"/>
              </a:ext>
            </a:extLst>
          </p:cNvPr>
          <p:cNvSpPr>
            <a:spLocks noGrp="1"/>
          </p:cNvSpPr>
          <p:nvPr>
            <p:ph type="title"/>
          </p:nvPr>
        </p:nvSpPr>
        <p:spPr>
          <a:xfrm>
            <a:off x="1" y="2482435"/>
            <a:ext cx="12191999" cy="1795244"/>
          </a:xfrm>
        </p:spPr>
        <p:txBody>
          <a:bodyPr>
            <a:normAutofit fontScale="90000"/>
          </a:bodyPr>
          <a:lstStyle/>
          <a:p>
            <a:pPr>
              <a:lnSpc>
                <a:spcPct val="150000"/>
              </a:lnSpc>
            </a:pPr>
            <a:r>
              <a:rPr lang="en-US" sz="3200" b="1" dirty="0" err="1">
                <a:latin typeface="Arial" pitchFamily="34" charset="0"/>
                <a:cs typeface="Arial" pitchFamily="34" charset="0"/>
              </a:rPr>
              <a:t>Câu</a:t>
            </a:r>
            <a:r>
              <a:rPr lang="en-US" sz="3200" b="1" dirty="0">
                <a:latin typeface="Arial" pitchFamily="34" charset="0"/>
                <a:cs typeface="Arial" pitchFamily="34" charset="0"/>
              </a:rPr>
              <a:t> 2.</a:t>
            </a:r>
            <a:r>
              <a:rPr lang="en-US" sz="3200" dirty="0">
                <a:latin typeface="Arial" pitchFamily="34" charset="0"/>
                <a:cs typeface="Arial" pitchFamily="34" charset="0"/>
              </a:rPr>
              <a:t> </a:t>
            </a:r>
            <a:r>
              <a:rPr lang="en-US" sz="3600" dirty="0" err="1">
                <a:latin typeface="Arial" pitchFamily="34" charset="0"/>
                <a:cs typeface="Arial" pitchFamily="34" charset="0"/>
              </a:rPr>
              <a:t>Chọn</a:t>
            </a:r>
            <a:r>
              <a:rPr lang="en-US" sz="3600" dirty="0">
                <a:latin typeface="Arial" pitchFamily="34" charset="0"/>
                <a:cs typeface="Arial" pitchFamily="34" charset="0"/>
              </a:rPr>
              <a:t> </a:t>
            </a:r>
            <a:r>
              <a:rPr lang="en-US" sz="3600" dirty="0" err="1">
                <a:latin typeface="Arial" pitchFamily="34" charset="0"/>
                <a:cs typeface="Arial" pitchFamily="34" charset="0"/>
              </a:rPr>
              <a:t>phương</a:t>
            </a:r>
            <a:r>
              <a:rPr lang="en-US" sz="3600" dirty="0">
                <a:latin typeface="Arial" pitchFamily="34" charset="0"/>
                <a:cs typeface="Arial" pitchFamily="34" charset="0"/>
              </a:rPr>
              <a:t> </a:t>
            </a:r>
            <a:r>
              <a:rPr lang="en-US" sz="3600" dirty="0" err="1">
                <a:latin typeface="Arial" pitchFamily="34" charset="0"/>
                <a:cs typeface="Arial" pitchFamily="34" charset="0"/>
              </a:rPr>
              <a:t>án</a:t>
            </a:r>
            <a:r>
              <a:rPr lang="en-US" sz="3600" dirty="0">
                <a:latin typeface="Arial" pitchFamily="34" charset="0"/>
                <a:cs typeface="Arial" pitchFamily="34" charset="0"/>
              </a:rPr>
              <a:t> </a:t>
            </a:r>
            <a:r>
              <a:rPr lang="en-US" sz="3600" b="1" dirty="0" err="1">
                <a:latin typeface="Arial" pitchFamily="34" charset="0"/>
                <a:cs typeface="Arial" pitchFamily="34" charset="0"/>
              </a:rPr>
              <a:t>đúng</a:t>
            </a:r>
            <a:r>
              <a:rPr lang="en-US" sz="3600" b="1" dirty="0">
                <a:latin typeface="Arial" pitchFamily="34" charset="0"/>
                <a:cs typeface="Arial" pitchFamily="34" charset="0"/>
              </a:rPr>
              <a:t>.</a:t>
            </a:r>
            <a:r>
              <a:rPr lang="en-US" sz="3600" dirty="0">
                <a:latin typeface="Arial" pitchFamily="34" charset="0"/>
                <a:cs typeface="Arial" pitchFamily="34" charset="0"/>
              </a:rPr>
              <a:t/>
            </a:r>
            <a:br>
              <a:rPr lang="en-US" sz="3600" dirty="0">
                <a:latin typeface="Arial" pitchFamily="34" charset="0"/>
                <a:cs typeface="Arial" pitchFamily="34" charset="0"/>
              </a:rPr>
            </a:br>
            <a:r>
              <a:rPr lang="en-US" sz="3600" dirty="0">
                <a:solidFill>
                  <a:srgbClr val="CC00FF"/>
                </a:solidFill>
                <a:latin typeface="Arial" pitchFamily="34" charset="0"/>
                <a:cs typeface="Arial" pitchFamily="34" charset="0"/>
              </a:rPr>
              <a:t>1.H</a:t>
            </a:r>
            <a:r>
              <a:rPr lang="es-ES" sz="3600" dirty="0">
                <a:solidFill>
                  <a:srgbClr val="CC00FF"/>
                </a:solidFill>
                <a:latin typeface="Arial" pitchFamily="34" charset="0"/>
                <a:cs typeface="Arial" pitchFamily="34" charset="0"/>
              </a:rPr>
              <a:t>, U, </a:t>
            </a:r>
            <a:r>
              <a:rPr lang="es-ES" sz="3600" dirty="0" smtClean="0">
                <a:solidFill>
                  <a:srgbClr val="CC00FF"/>
                </a:solidFill>
                <a:latin typeface="Arial" pitchFamily="34" charset="0"/>
                <a:cs typeface="Arial" pitchFamily="34" charset="0"/>
              </a:rPr>
              <a:t>S, G </a:t>
            </a:r>
            <a:r>
              <a:rPr lang="es-ES" sz="3600" dirty="0" err="1">
                <a:solidFill>
                  <a:srgbClr val="CC00FF"/>
                </a:solidFill>
                <a:latin typeface="Arial" pitchFamily="34" charset="0"/>
                <a:cs typeface="Arial" pitchFamily="34" charset="0"/>
              </a:rPr>
              <a:t>là</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hàm</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trạng</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thái</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có</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thuộc</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tính</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dung</a:t>
            </a:r>
            <a:r>
              <a:rPr lang="es-ES" sz="3600" dirty="0">
                <a:solidFill>
                  <a:srgbClr val="CC00FF"/>
                </a:solidFill>
                <a:latin typeface="Arial" pitchFamily="34" charset="0"/>
                <a:cs typeface="Arial" pitchFamily="34" charset="0"/>
              </a:rPr>
              <a:t> </a:t>
            </a:r>
            <a:r>
              <a:rPr lang="es-ES" sz="3600" dirty="0" err="1">
                <a:solidFill>
                  <a:srgbClr val="CC00FF"/>
                </a:solidFill>
                <a:latin typeface="Arial" pitchFamily="34" charset="0"/>
                <a:cs typeface="Arial" pitchFamily="34" charset="0"/>
              </a:rPr>
              <a:t>độ</a:t>
            </a:r>
            <a:r>
              <a:rPr lang="es-ES" sz="3600" dirty="0">
                <a:solidFill>
                  <a:srgbClr val="CC00FF"/>
                </a:solidFill>
                <a:latin typeface="Arial" pitchFamily="34" charset="0"/>
                <a:cs typeface="Arial" pitchFamily="34" charset="0"/>
              </a:rPr>
              <a:t>.</a:t>
            </a:r>
            <a:r>
              <a:rPr lang="en-US" sz="3600" dirty="0">
                <a:solidFill>
                  <a:srgbClr val="CC00FF"/>
                </a:solidFill>
                <a:latin typeface="Arial" pitchFamily="34" charset="0"/>
                <a:cs typeface="Arial" pitchFamily="34" charset="0"/>
              </a:rPr>
              <a:t/>
            </a:r>
            <a:br>
              <a:rPr lang="en-US" sz="3600" dirty="0">
                <a:solidFill>
                  <a:srgbClr val="CC00FF"/>
                </a:solidFill>
                <a:latin typeface="Arial" pitchFamily="34" charset="0"/>
                <a:cs typeface="Arial" pitchFamily="34" charset="0"/>
              </a:rPr>
            </a:br>
            <a:r>
              <a:rPr lang="en-US" sz="3600" dirty="0">
                <a:solidFill>
                  <a:srgbClr val="0000FF"/>
                </a:solidFill>
                <a:latin typeface="Arial" pitchFamily="34" charset="0"/>
                <a:cs typeface="Arial" pitchFamily="34" charset="0"/>
              </a:rPr>
              <a:t>2.</a:t>
            </a:r>
            <a:r>
              <a:rPr lang="es-ES" sz="3600" dirty="0" err="1">
                <a:solidFill>
                  <a:srgbClr val="0000FF"/>
                </a:solidFill>
                <a:latin typeface="Arial" pitchFamily="34" charset="0"/>
                <a:cs typeface="Arial" pitchFamily="34" charset="0"/>
              </a:rPr>
              <a:t>Thế</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khử</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là</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hàm</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trạng</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thái</a:t>
            </a:r>
            <a:r>
              <a:rPr lang="es-ES" sz="3600" dirty="0">
                <a:solidFill>
                  <a:srgbClr val="0000FF"/>
                </a:solidFill>
                <a:latin typeface="Arial" pitchFamily="34" charset="0"/>
                <a:cs typeface="Arial" pitchFamily="34" charset="0"/>
              </a:rPr>
              <a:t> c</a:t>
            </a:r>
            <a:r>
              <a:rPr lang="vi-VN" sz="3600" dirty="0">
                <a:solidFill>
                  <a:srgbClr val="0000FF"/>
                </a:solidFill>
                <a:latin typeface="Arial" pitchFamily="34" charset="0"/>
                <a:cs typeface="Arial" pitchFamily="34" charset="0"/>
              </a:rPr>
              <a:t>ó </a:t>
            </a:r>
            <a:r>
              <a:rPr lang="es-ES" sz="3600" dirty="0" err="1">
                <a:solidFill>
                  <a:srgbClr val="0000FF"/>
                </a:solidFill>
                <a:latin typeface="Arial" pitchFamily="34" charset="0"/>
                <a:cs typeface="Arial" pitchFamily="34" charset="0"/>
              </a:rPr>
              <a:t>thu</a:t>
            </a:r>
            <a:r>
              <a:rPr lang="vi-VN" sz="3600" dirty="0">
                <a:solidFill>
                  <a:srgbClr val="0000FF"/>
                </a:solidFill>
                <a:latin typeface="Arial" pitchFamily="34" charset="0"/>
                <a:cs typeface="Arial" pitchFamily="34" charset="0"/>
              </a:rPr>
              <a:t>ộ</a:t>
            </a:r>
            <a:r>
              <a:rPr lang="es-ES" sz="3600" dirty="0">
                <a:solidFill>
                  <a:srgbClr val="0000FF"/>
                </a:solidFill>
                <a:latin typeface="Arial" pitchFamily="34" charset="0"/>
                <a:cs typeface="Arial" pitchFamily="34" charset="0"/>
              </a:rPr>
              <a:t>c </a:t>
            </a:r>
            <a:r>
              <a:rPr lang="es-ES" sz="3600" dirty="0" err="1">
                <a:solidFill>
                  <a:srgbClr val="0000FF"/>
                </a:solidFill>
                <a:latin typeface="Arial" pitchFamily="34" charset="0"/>
                <a:cs typeface="Arial" pitchFamily="34" charset="0"/>
              </a:rPr>
              <a:t>tính</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cư</a:t>
            </a:r>
            <a:r>
              <a:rPr lang="en-US" sz="3600" dirty="0" err="1">
                <a:solidFill>
                  <a:srgbClr val="0000FF"/>
                </a:solidFill>
                <a:latin typeface="Arial" pitchFamily="34" charset="0"/>
                <a:cs typeface="Arial" pitchFamily="34" charset="0"/>
              </a:rPr>
              <a:t>ờng</a:t>
            </a:r>
            <a:r>
              <a:rPr lang="es-ES" sz="3600" dirty="0">
                <a:solidFill>
                  <a:srgbClr val="0000FF"/>
                </a:solidFill>
                <a:latin typeface="Arial" pitchFamily="34" charset="0"/>
                <a:cs typeface="Arial" pitchFamily="34" charset="0"/>
              </a:rPr>
              <a:t> </a:t>
            </a:r>
            <a:r>
              <a:rPr lang="es-ES" sz="3600" dirty="0" err="1">
                <a:solidFill>
                  <a:srgbClr val="0000FF"/>
                </a:solidFill>
                <a:latin typeface="Arial" pitchFamily="34" charset="0"/>
                <a:cs typeface="Arial" pitchFamily="34" charset="0"/>
              </a:rPr>
              <a:t>độ</a:t>
            </a:r>
            <a:r>
              <a:rPr lang="es-ES" sz="3600" dirty="0">
                <a:solidFill>
                  <a:srgbClr val="0000FF"/>
                </a:solidFill>
                <a:latin typeface="Arial" pitchFamily="34" charset="0"/>
                <a:cs typeface="Arial" pitchFamily="34" charset="0"/>
              </a:rPr>
              <a:t>.</a:t>
            </a:r>
            <a:r>
              <a:rPr lang="en-US" sz="3600" dirty="0">
                <a:solidFill>
                  <a:srgbClr val="0000FF"/>
                </a:solidFill>
                <a:latin typeface="Arial" pitchFamily="34" charset="0"/>
                <a:cs typeface="Arial" pitchFamily="34" charset="0"/>
              </a:rPr>
              <a:t/>
            </a:r>
            <a:br>
              <a:rPr lang="en-US" sz="3600" dirty="0">
                <a:solidFill>
                  <a:srgbClr val="0000FF"/>
                </a:solidFill>
                <a:latin typeface="Arial" pitchFamily="34" charset="0"/>
                <a:cs typeface="Arial" pitchFamily="34" charset="0"/>
              </a:rPr>
            </a:br>
            <a:r>
              <a:rPr lang="en-US" sz="3600" dirty="0">
                <a:solidFill>
                  <a:srgbClr val="C00000"/>
                </a:solidFill>
                <a:latin typeface="Arial" pitchFamily="34" charset="0"/>
                <a:cs typeface="Arial" pitchFamily="34" charset="0"/>
              </a:rPr>
              <a:t>3.</a:t>
            </a:r>
            <a:r>
              <a:rPr lang="es-ES" sz="3600" dirty="0" err="1">
                <a:solidFill>
                  <a:srgbClr val="C00000"/>
                </a:solidFill>
                <a:latin typeface="Arial" pitchFamily="34" charset="0"/>
                <a:cs typeface="Arial" pitchFamily="34" charset="0"/>
              </a:rPr>
              <a:t>Nhiệt</a:t>
            </a:r>
            <a:r>
              <a:rPr lang="es-ES" sz="3600" dirty="0">
                <a:solidFill>
                  <a:srgbClr val="C00000"/>
                </a:solidFill>
                <a:latin typeface="Arial" pitchFamily="34" charset="0"/>
                <a:cs typeface="Arial" pitchFamily="34" charset="0"/>
              </a:rPr>
              <a:t> </a:t>
            </a:r>
            <a:r>
              <a:rPr lang="es-ES" sz="3600" dirty="0" err="1" smtClean="0">
                <a:solidFill>
                  <a:srgbClr val="C00000"/>
                </a:solidFill>
                <a:latin typeface="Arial" pitchFamily="34" charset="0"/>
                <a:cs typeface="Arial" pitchFamily="34" charset="0"/>
              </a:rPr>
              <a:t>độ,áp</a:t>
            </a:r>
            <a:r>
              <a:rPr lang="es-ES" sz="3600" dirty="0" smtClean="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suất</a:t>
            </a:r>
            <a:r>
              <a:rPr lang="es-ES" sz="3600" dirty="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khối</a:t>
            </a:r>
            <a:r>
              <a:rPr lang="es-ES" sz="3600" dirty="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lượng</a:t>
            </a:r>
            <a:r>
              <a:rPr lang="es-ES" sz="3600" dirty="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riêng</a:t>
            </a:r>
            <a:r>
              <a:rPr lang="es-ES" sz="3600" dirty="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nồng</a:t>
            </a:r>
            <a:r>
              <a:rPr lang="es-ES" sz="3600" dirty="0">
                <a:solidFill>
                  <a:srgbClr val="C00000"/>
                </a:solidFill>
                <a:latin typeface="Arial" pitchFamily="34" charset="0"/>
                <a:cs typeface="Arial" pitchFamily="34" charset="0"/>
              </a:rPr>
              <a:t> </a:t>
            </a:r>
            <a:r>
              <a:rPr lang="es-ES" sz="3600" dirty="0" err="1" smtClean="0">
                <a:solidFill>
                  <a:srgbClr val="C00000"/>
                </a:solidFill>
                <a:latin typeface="Arial" pitchFamily="34" charset="0"/>
                <a:cs typeface="Arial" pitchFamily="34" charset="0"/>
              </a:rPr>
              <a:t>độ</a:t>
            </a:r>
            <a:r>
              <a:rPr lang="es-ES" sz="3600" dirty="0">
                <a:solidFill>
                  <a:srgbClr val="C00000"/>
                </a:solidFill>
                <a:latin typeface="Arial" pitchFamily="34" charset="0"/>
                <a:cs typeface="Arial" pitchFamily="34" charset="0"/>
              </a:rPr>
              <a:t>:</a:t>
            </a:r>
            <a:r>
              <a:rPr lang="es-ES" sz="3600" dirty="0" smtClean="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thông</a:t>
            </a:r>
            <a:r>
              <a:rPr lang="es-ES" sz="3600" dirty="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số</a:t>
            </a:r>
            <a:r>
              <a:rPr lang="es-ES" sz="3600" dirty="0">
                <a:solidFill>
                  <a:srgbClr val="C00000"/>
                </a:solidFill>
                <a:latin typeface="Arial" pitchFamily="34" charset="0"/>
                <a:cs typeface="Arial" pitchFamily="34" charset="0"/>
              </a:rPr>
              <a:t> </a:t>
            </a:r>
            <a:r>
              <a:rPr lang="es-ES" sz="3600" dirty="0" err="1" smtClean="0">
                <a:solidFill>
                  <a:srgbClr val="C00000"/>
                </a:solidFill>
                <a:latin typeface="Arial" pitchFamily="34" charset="0"/>
                <a:cs typeface="Arial" pitchFamily="34" charset="0"/>
              </a:rPr>
              <a:t>cường</a:t>
            </a:r>
            <a:r>
              <a:rPr lang="es-ES" sz="3600" dirty="0" smtClean="0">
                <a:solidFill>
                  <a:srgbClr val="C00000"/>
                </a:solidFill>
                <a:latin typeface="Arial" pitchFamily="34" charset="0"/>
                <a:cs typeface="Arial" pitchFamily="34" charset="0"/>
              </a:rPr>
              <a:t> </a:t>
            </a:r>
            <a:r>
              <a:rPr lang="es-ES" sz="3600" dirty="0" err="1">
                <a:solidFill>
                  <a:srgbClr val="C00000"/>
                </a:solidFill>
                <a:latin typeface="Arial" pitchFamily="34" charset="0"/>
                <a:cs typeface="Arial" pitchFamily="34" charset="0"/>
              </a:rPr>
              <a:t>độ</a:t>
            </a:r>
            <a:r>
              <a:rPr lang="es-ES" sz="3600" dirty="0">
                <a:solidFill>
                  <a:srgbClr val="C00000"/>
                </a:solidFill>
                <a:latin typeface="Arial" pitchFamily="34" charset="0"/>
                <a:cs typeface="Arial" pitchFamily="34" charset="0"/>
              </a:rPr>
              <a:t>.</a:t>
            </a:r>
            <a:r>
              <a:rPr lang="en-US" sz="3600" dirty="0">
                <a:solidFill>
                  <a:srgbClr val="C00000"/>
                </a:solidFill>
                <a:latin typeface="Arial" pitchFamily="34" charset="0"/>
                <a:cs typeface="Arial" pitchFamily="34" charset="0"/>
              </a:rPr>
              <a:t/>
            </a:r>
            <a:br>
              <a:rPr lang="en-US" sz="3600" dirty="0">
                <a:solidFill>
                  <a:srgbClr val="C00000"/>
                </a:solidFill>
                <a:latin typeface="Arial" pitchFamily="34" charset="0"/>
                <a:cs typeface="Arial" pitchFamily="34" charset="0"/>
              </a:rPr>
            </a:br>
            <a:r>
              <a:rPr lang="en-US" sz="3600" dirty="0">
                <a:solidFill>
                  <a:srgbClr val="008000"/>
                </a:solidFill>
                <a:latin typeface="Arial" pitchFamily="34" charset="0"/>
                <a:cs typeface="Arial" pitchFamily="34" charset="0"/>
              </a:rPr>
              <a:t>4.</a:t>
            </a:r>
            <a:r>
              <a:rPr lang="es-ES" sz="3600" dirty="0" err="1">
                <a:solidFill>
                  <a:srgbClr val="008000"/>
                </a:solidFill>
                <a:latin typeface="Arial" pitchFamily="34" charset="0"/>
                <a:cs typeface="Arial" pitchFamily="34" charset="0"/>
              </a:rPr>
              <a:t>Khối</a:t>
            </a:r>
            <a:r>
              <a:rPr lang="es-ES" sz="3600" dirty="0">
                <a:solidFill>
                  <a:srgbClr val="008000"/>
                </a:solidFill>
                <a:latin typeface="Arial" pitchFamily="34" charset="0"/>
                <a:cs typeface="Arial" pitchFamily="34" charset="0"/>
              </a:rPr>
              <a:t> </a:t>
            </a:r>
            <a:r>
              <a:rPr lang="es-ES" sz="3600" dirty="0" err="1">
                <a:solidFill>
                  <a:srgbClr val="008000"/>
                </a:solidFill>
                <a:latin typeface="Arial" pitchFamily="34" charset="0"/>
                <a:cs typeface="Arial" pitchFamily="34" charset="0"/>
              </a:rPr>
              <a:t>lượng</a:t>
            </a:r>
            <a:r>
              <a:rPr lang="es-ES" sz="3600" dirty="0">
                <a:solidFill>
                  <a:srgbClr val="008000"/>
                </a:solidFill>
                <a:latin typeface="Arial" pitchFamily="34" charset="0"/>
                <a:cs typeface="Arial" pitchFamily="34" charset="0"/>
              </a:rPr>
              <a:t>, </a:t>
            </a:r>
            <a:r>
              <a:rPr lang="es-ES" sz="3600" dirty="0" err="1">
                <a:solidFill>
                  <a:srgbClr val="008000"/>
                </a:solidFill>
                <a:latin typeface="Arial" pitchFamily="34" charset="0"/>
                <a:cs typeface="Arial" pitchFamily="34" charset="0"/>
              </a:rPr>
              <a:t>thể</a:t>
            </a:r>
            <a:r>
              <a:rPr lang="es-ES" sz="3600" dirty="0">
                <a:solidFill>
                  <a:srgbClr val="008000"/>
                </a:solidFill>
                <a:latin typeface="Arial" pitchFamily="34" charset="0"/>
                <a:cs typeface="Arial" pitchFamily="34" charset="0"/>
              </a:rPr>
              <a:t> </a:t>
            </a:r>
            <a:r>
              <a:rPr lang="es-ES" sz="3600" dirty="0" err="1" smtClean="0">
                <a:solidFill>
                  <a:srgbClr val="008000"/>
                </a:solidFill>
                <a:latin typeface="Arial" pitchFamily="34" charset="0"/>
                <a:cs typeface="Arial" pitchFamily="34" charset="0"/>
              </a:rPr>
              <a:t>tích</a:t>
            </a:r>
            <a:r>
              <a:rPr lang="es-ES" sz="3600" dirty="0" smtClean="0">
                <a:solidFill>
                  <a:srgbClr val="008000"/>
                </a:solidFill>
                <a:latin typeface="Arial" pitchFamily="34" charset="0"/>
                <a:cs typeface="Arial" pitchFamily="34" charset="0"/>
              </a:rPr>
              <a:t>, </a:t>
            </a:r>
            <a:r>
              <a:rPr lang="es-ES" sz="3600" dirty="0" err="1" smtClean="0">
                <a:solidFill>
                  <a:srgbClr val="008000"/>
                </a:solidFill>
                <a:latin typeface="Arial" pitchFamily="34" charset="0"/>
                <a:cs typeface="Arial" pitchFamily="34" charset="0"/>
              </a:rPr>
              <a:t>số</a:t>
            </a:r>
            <a:r>
              <a:rPr lang="es-ES" sz="3600" dirty="0" smtClean="0">
                <a:solidFill>
                  <a:srgbClr val="008000"/>
                </a:solidFill>
                <a:latin typeface="Arial" pitchFamily="34" charset="0"/>
                <a:cs typeface="Arial" pitchFamily="34" charset="0"/>
              </a:rPr>
              <a:t> mol </a:t>
            </a:r>
            <a:r>
              <a:rPr lang="es-ES" sz="3600" dirty="0" err="1">
                <a:solidFill>
                  <a:srgbClr val="008000"/>
                </a:solidFill>
                <a:latin typeface="Arial" pitchFamily="34" charset="0"/>
                <a:cs typeface="Arial" pitchFamily="34" charset="0"/>
              </a:rPr>
              <a:t>là</a:t>
            </a:r>
            <a:r>
              <a:rPr lang="es-ES" sz="3600" dirty="0">
                <a:solidFill>
                  <a:srgbClr val="008000"/>
                </a:solidFill>
                <a:latin typeface="Arial" pitchFamily="34" charset="0"/>
                <a:cs typeface="Arial" pitchFamily="34" charset="0"/>
              </a:rPr>
              <a:t> </a:t>
            </a:r>
            <a:r>
              <a:rPr lang="es-ES" sz="3600" dirty="0" err="1">
                <a:solidFill>
                  <a:srgbClr val="008000"/>
                </a:solidFill>
                <a:latin typeface="Arial" pitchFamily="34" charset="0"/>
                <a:cs typeface="Arial" pitchFamily="34" charset="0"/>
              </a:rPr>
              <a:t>thông</a:t>
            </a:r>
            <a:r>
              <a:rPr lang="es-ES" sz="3600" dirty="0">
                <a:solidFill>
                  <a:srgbClr val="008000"/>
                </a:solidFill>
                <a:latin typeface="Arial" pitchFamily="34" charset="0"/>
                <a:cs typeface="Arial" pitchFamily="34" charset="0"/>
              </a:rPr>
              <a:t> </a:t>
            </a:r>
            <a:r>
              <a:rPr lang="es-ES" sz="3600" dirty="0" err="1">
                <a:solidFill>
                  <a:srgbClr val="008000"/>
                </a:solidFill>
                <a:latin typeface="Arial" pitchFamily="34" charset="0"/>
                <a:cs typeface="Arial" pitchFamily="34" charset="0"/>
              </a:rPr>
              <a:t>số</a:t>
            </a:r>
            <a:r>
              <a:rPr lang="es-ES" sz="3600" dirty="0">
                <a:solidFill>
                  <a:srgbClr val="008000"/>
                </a:solidFill>
                <a:latin typeface="Arial" pitchFamily="34" charset="0"/>
                <a:cs typeface="Arial" pitchFamily="34" charset="0"/>
              </a:rPr>
              <a:t> </a:t>
            </a:r>
            <a:r>
              <a:rPr lang="es-ES" sz="3600" dirty="0" err="1" smtClean="0">
                <a:solidFill>
                  <a:srgbClr val="008000"/>
                </a:solidFill>
                <a:latin typeface="Arial" pitchFamily="34" charset="0"/>
                <a:cs typeface="Arial" pitchFamily="34" charset="0"/>
              </a:rPr>
              <a:t>dung</a:t>
            </a:r>
            <a:r>
              <a:rPr lang="es-ES" sz="3600" dirty="0" smtClean="0">
                <a:solidFill>
                  <a:srgbClr val="008000"/>
                </a:solidFill>
                <a:latin typeface="Arial" pitchFamily="34" charset="0"/>
                <a:cs typeface="Arial" pitchFamily="34" charset="0"/>
              </a:rPr>
              <a:t> </a:t>
            </a:r>
            <a:r>
              <a:rPr lang="es-ES" sz="3600" dirty="0" err="1">
                <a:solidFill>
                  <a:srgbClr val="008000"/>
                </a:solidFill>
                <a:latin typeface="Arial" pitchFamily="34" charset="0"/>
                <a:cs typeface="Arial" pitchFamily="34" charset="0"/>
              </a:rPr>
              <a:t>độ</a:t>
            </a:r>
            <a:r>
              <a:rPr lang="es-ES" sz="3600" dirty="0">
                <a:solidFill>
                  <a:srgbClr val="008000"/>
                </a:solidFill>
                <a:latin typeface="Arial" pitchFamily="34" charset="0"/>
                <a:cs typeface="Arial" pitchFamily="34" charset="0"/>
              </a:rPr>
              <a:t>. </a:t>
            </a:r>
            <a:r>
              <a:rPr lang="en-US" sz="3600" dirty="0">
                <a:solidFill>
                  <a:srgbClr val="008000"/>
                </a:solidFill>
                <a:latin typeface="Arial" pitchFamily="34" charset="0"/>
                <a:cs typeface="Arial" pitchFamily="34" charset="0"/>
              </a:rPr>
              <a:t/>
            </a:r>
            <a:br>
              <a:rPr lang="en-US" sz="3600" dirty="0">
                <a:solidFill>
                  <a:srgbClr val="008000"/>
                </a:solidFill>
                <a:latin typeface="Arial" pitchFamily="34" charset="0"/>
                <a:cs typeface="Arial" pitchFamily="34" charset="0"/>
              </a:rPr>
            </a:br>
            <a:r>
              <a:rPr lang="en-US" sz="3600" dirty="0">
                <a:solidFill>
                  <a:schemeClr val="accent4">
                    <a:lumMod val="75000"/>
                  </a:schemeClr>
                </a:solidFill>
                <a:latin typeface="Arial" pitchFamily="34" charset="0"/>
                <a:cs typeface="Arial" pitchFamily="34" charset="0"/>
              </a:rPr>
              <a:t>5.</a:t>
            </a:r>
            <a:r>
              <a:rPr lang="es-ES" sz="3600" dirty="0" err="1">
                <a:solidFill>
                  <a:schemeClr val="accent4">
                    <a:lumMod val="75000"/>
                  </a:schemeClr>
                </a:solidFill>
                <a:latin typeface="Arial" pitchFamily="34" charset="0"/>
                <a:cs typeface="Arial" pitchFamily="34" charset="0"/>
              </a:rPr>
              <a:t>Công</a:t>
            </a:r>
            <a:r>
              <a:rPr lang="es-ES" sz="3600" dirty="0">
                <a:solidFill>
                  <a:schemeClr val="accent4">
                    <a:lumMod val="75000"/>
                  </a:schemeClr>
                </a:solidFill>
                <a:latin typeface="Arial" pitchFamily="34" charset="0"/>
                <a:cs typeface="Arial" pitchFamily="34" charset="0"/>
              </a:rPr>
              <a:t> </a:t>
            </a:r>
            <a:r>
              <a:rPr lang="es-ES" sz="3600" dirty="0" err="1">
                <a:solidFill>
                  <a:schemeClr val="accent4">
                    <a:lumMod val="75000"/>
                  </a:schemeClr>
                </a:solidFill>
                <a:latin typeface="Arial" pitchFamily="34" charset="0"/>
                <a:cs typeface="Arial" pitchFamily="34" charset="0"/>
              </a:rPr>
              <a:t>và</a:t>
            </a:r>
            <a:r>
              <a:rPr lang="es-ES" sz="3600" dirty="0">
                <a:solidFill>
                  <a:schemeClr val="accent4">
                    <a:lumMod val="75000"/>
                  </a:schemeClr>
                </a:solidFill>
                <a:latin typeface="Arial" pitchFamily="34" charset="0"/>
                <a:cs typeface="Arial" pitchFamily="34" charset="0"/>
              </a:rPr>
              <a:t> </a:t>
            </a:r>
            <a:r>
              <a:rPr lang="es-ES" sz="3600" dirty="0" err="1">
                <a:solidFill>
                  <a:schemeClr val="accent4">
                    <a:lumMod val="75000"/>
                  </a:schemeClr>
                </a:solidFill>
                <a:latin typeface="Arial" pitchFamily="34" charset="0"/>
                <a:cs typeface="Arial" pitchFamily="34" charset="0"/>
              </a:rPr>
              <a:t>nhiệt</a:t>
            </a:r>
            <a:r>
              <a:rPr lang="es-ES" sz="3600" dirty="0">
                <a:solidFill>
                  <a:schemeClr val="accent4">
                    <a:lumMod val="75000"/>
                  </a:schemeClr>
                </a:solidFill>
                <a:latin typeface="Arial" pitchFamily="34" charset="0"/>
                <a:cs typeface="Arial" pitchFamily="34" charset="0"/>
              </a:rPr>
              <a:t> </a:t>
            </a:r>
            <a:r>
              <a:rPr lang="es-ES" sz="3600" dirty="0" err="1">
                <a:solidFill>
                  <a:schemeClr val="accent4">
                    <a:lumMod val="75000"/>
                  </a:schemeClr>
                </a:solidFill>
                <a:latin typeface="Arial" pitchFamily="34" charset="0"/>
                <a:cs typeface="Arial" pitchFamily="34" charset="0"/>
              </a:rPr>
              <a:t>là</a:t>
            </a:r>
            <a:r>
              <a:rPr lang="es-ES" sz="3600" dirty="0">
                <a:solidFill>
                  <a:schemeClr val="accent4">
                    <a:lumMod val="75000"/>
                  </a:schemeClr>
                </a:solidFill>
                <a:latin typeface="Arial" pitchFamily="34" charset="0"/>
                <a:cs typeface="Arial" pitchFamily="34" charset="0"/>
              </a:rPr>
              <a:t> </a:t>
            </a:r>
            <a:r>
              <a:rPr lang="es-ES" sz="3600" dirty="0" err="1">
                <a:solidFill>
                  <a:schemeClr val="accent4">
                    <a:lumMod val="75000"/>
                  </a:schemeClr>
                </a:solidFill>
                <a:latin typeface="Arial" pitchFamily="34" charset="0"/>
                <a:cs typeface="Arial" pitchFamily="34" charset="0"/>
              </a:rPr>
              <a:t>hàm</a:t>
            </a:r>
            <a:r>
              <a:rPr lang="es-ES" sz="3600" dirty="0">
                <a:solidFill>
                  <a:schemeClr val="accent4">
                    <a:lumMod val="75000"/>
                  </a:schemeClr>
                </a:solidFill>
                <a:latin typeface="Arial" pitchFamily="34" charset="0"/>
                <a:cs typeface="Arial" pitchFamily="34" charset="0"/>
              </a:rPr>
              <a:t> </a:t>
            </a:r>
            <a:r>
              <a:rPr lang="es-ES" sz="3600" dirty="0" err="1">
                <a:solidFill>
                  <a:schemeClr val="accent4">
                    <a:lumMod val="75000"/>
                  </a:schemeClr>
                </a:solidFill>
                <a:latin typeface="Arial" pitchFamily="34" charset="0"/>
                <a:cs typeface="Arial" pitchFamily="34" charset="0"/>
              </a:rPr>
              <a:t>quá</a:t>
            </a:r>
            <a:r>
              <a:rPr lang="es-ES" sz="3600" dirty="0">
                <a:solidFill>
                  <a:schemeClr val="accent4">
                    <a:lumMod val="75000"/>
                  </a:schemeClr>
                </a:solidFill>
                <a:latin typeface="Arial" pitchFamily="34" charset="0"/>
                <a:cs typeface="Arial" pitchFamily="34" charset="0"/>
              </a:rPr>
              <a:t> </a:t>
            </a:r>
            <a:r>
              <a:rPr lang="es-ES" sz="3600" dirty="0" err="1">
                <a:solidFill>
                  <a:schemeClr val="accent4">
                    <a:lumMod val="75000"/>
                  </a:schemeClr>
                </a:solidFill>
                <a:latin typeface="Arial" pitchFamily="34" charset="0"/>
                <a:cs typeface="Arial" pitchFamily="34" charset="0"/>
              </a:rPr>
              <a:t>trình</a:t>
            </a:r>
            <a:r>
              <a:rPr lang="es-ES" sz="3600" dirty="0">
                <a:solidFill>
                  <a:schemeClr val="accent4">
                    <a:lumMod val="75000"/>
                  </a:schemeClr>
                </a:solidFill>
                <a:latin typeface="Arial" pitchFamily="34" charset="0"/>
                <a:cs typeface="Arial" pitchFamily="34" charset="0"/>
              </a:rPr>
              <a:t>.</a:t>
            </a:r>
            <a:r>
              <a:rPr lang="en-US" sz="3600" dirty="0">
                <a:solidFill>
                  <a:schemeClr val="accent4">
                    <a:lumMod val="75000"/>
                  </a:schemeClr>
                </a:solidFill>
                <a:latin typeface="Arial" pitchFamily="34" charset="0"/>
                <a:cs typeface="Arial" pitchFamily="34" charset="0"/>
              </a:rPr>
              <a:t/>
            </a:r>
            <a:br>
              <a:rPr lang="en-US" sz="3600" dirty="0">
                <a:solidFill>
                  <a:schemeClr val="accent4">
                    <a:lumMod val="75000"/>
                  </a:schemeClr>
                </a:solidFill>
                <a:latin typeface="Arial" pitchFamily="34" charset="0"/>
                <a:cs typeface="Arial" pitchFamily="34" charset="0"/>
              </a:rPr>
            </a:br>
            <a:r>
              <a:rPr lang="en-US" sz="3600" dirty="0">
                <a:latin typeface="Arial" pitchFamily="34" charset="0"/>
                <a:cs typeface="Arial" pitchFamily="34" charset="0"/>
              </a:rPr>
              <a:t>6. </a:t>
            </a:r>
            <a:r>
              <a:rPr lang="es-ES" sz="3600" dirty="0" err="1">
                <a:latin typeface="Arial" pitchFamily="34" charset="0"/>
                <a:cs typeface="Arial" pitchFamily="34" charset="0"/>
              </a:rPr>
              <a:t>Nhiệt</a:t>
            </a:r>
            <a:r>
              <a:rPr lang="es-ES" sz="3600" dirty="0">
                <a:latin typeface="Arial" pitchFamily="34" charset="0"/>
                <a:cs typeface="Arial" pitchFamily="34" charset="0"/>
              </a:rPr>
              <a:t> </a:t>
            </a:r>
            <a:r>
              <a:rPr lang="es-ES" sz="3600" dirty="0" err="1">
                <a:latin typeface="Arial" pitchFamily="34" charset="0"/>
                <a:cs typeface="Arial" pitchFamily="34" charset="0"/>
              </a:rPr>
              <a:t>dung</a:t>
            </a:r>
            <a:r>
              <a:rPr lang="es-ES" sz="3600" dirty="0">
                <a:latin typeface="Arial" pitchFamily="34" charset="0"/>
                <a:cs typeface="Arial" pitchFamily="34" charset="0"/>
              </a:rPr>
              <a:t> </a:t>
            </a:r>
            <a:r>
              <a:rPr lang="es-ES" sz="3600" dirty="0" err="1">
                <a:latin typeface="Arial" pitchFamily="34" charset="0"/>
                <a:cs typeface="Arial" pitchFamily="34" charset="0"/>
              </a:rPr>
              <a:t>đẳng</a:t>
            </a:r>
            <a:r>
              <a:rPr lang="es-ES" sz="3600" dirty="0">
                <a:latin typeface="Arial" pitchFamily="34" charset="0"/>
                <a:cs typeface="Arial" pitchFamily="34" charset="0"/>
              </a:rPr>
              <a:t> </a:t>
            </a:r>
            <a:r>
              <a:rPr lang="es-ES" sz="3600" dirty="0" err="1">
                <a:latin typeface="Arial" pitchFamily="34" charset="0"/>
                <a:cs typeface="Arial" pitchFamily="34" charset="0"/>
              </a:rPr>
              <a:t>áp</a:t>
            </a:r>
            <a:r>
              <a:rPr lang="es-ES" sz="3600" dirty="0">
                <a:latin typeface="Arial" pitchFamily="34" charset="0"/>
                <a:cs typeface="Arial" pitchFamily="34" charset="0"/>
              </a:rPr>
              <a:t> </a:t>
            </a:r>
            <a:r>
              <a:rPr lang="es-ES" sz="3600" dirty="0" err="1">
                <a:latin typeface="Arial" pitchFamily="34" charset="0"/>
                <a:cs typeface="Arial" pitchFamily="34" charset="0"/>
              </a:rPr>
              <a:t>và</a:t>
            </a:r>
            <a:r>
              <a:rPr lang="es-ES" sz="3600" dirty="0">
                <a:latin typeface="Arial" pitchFamily="34" charset="0"/>
                <a:cs typeface="Arial" pitchFamily="34" charset="0"/>
              </a:rPr>
              <a:t> </a:t>
            </a:r>
            <a:r>
              <a:rPr lang="es-ES" sz="3600" dirty="0" err="1">
                <a:latin typeface="Arial" pitchFamily="34" charset="0"/>
                <a:cs typeface="Arial" pitchFamily="34" charset="0"/>
              </a:rPr>
              <a:t>nhiệt</a:t>
            </a:r>
            <a:r>
              <a:rPr lang="es-ES" sz="3600" dirty="0">
                <a:latin typeface="Arial" pitchFamily="34" charset="0"/>
                <a:cs typeface="Arial" pitchFamily="34" charset="0"/>
              </a:rPr>
              <a:t> </a:t>
            </a:r>
            <a:r>
              <a:rPr lang="es-ES" sz="3600" dirty="0" err="1">
                <a:latin typeface="Arial" pitchFamily="34" charset="0"/>
                <a:cs typeface="Arial" pitchFamily="34" charset="0"/>
              </a:rPr>
              <a:t>dung</a:t>
            </a:r>
            <a:r>
              <a:rPr lang="es-ES" sz="3600" dirty="0">
                <a:latin typeface="Arial" pitchFamily="34" charset="0"/>
                <a:cs typeface="Arial" pitchFamily="34" charset="0"/>
              </a:rPr>
              <a:t> </a:t>
            </a:r>
            <a:r>
              <a:rPr lang="es-ES" sz="3600" dirty="0" err="1">
                <a:latin typeface="Arial" pitchFamily="34" charset="0"/>
                <a:cs typeface="Arial" pitchFamily="34" charset="0"/>
              </a:rPr>
              <a:t>đẳng</a:t>
            </a:r>
            <a:r>
              <a:rPr lang="es-ES" sz="3600" dirty="0">
                <a:latin typeface="Arial" pitchFamily="34" charset="0"/>
                <a:cs typeface="Arial" pitchFamily="34" charset="0"/>
              </a:rPr>
              <a:t> </a:t>
            </a:r>
            <a:r>
              <a:rPr lang="es-ES" sz="3600" dirty="0" err="1">
                <a:latin typeface="Arial" pitchFamily="34" charset="0"/>
                <a:cs typeface="Arial" pitchFamily="34" charset="0"/>
              </a:rPr>
              <a:t>tích</a:t>
            </a:r>
            <a:r>
              <a:rPr lang="es-ES" sz="3600" dirty="0">
                <a:latin typeface="Arial" pitchFamily="34" charset="0"/>
                <a:cs typeface="Arial" pitchFamily="34" charset="0"/>
              </a:rPr>
              <a:t> </a:t>
            </a:r>
            <a:r>
              <a:rPr lang="es-ES" sz="3600" dirty="0" err="1">
                <a:latin typeface="Arial" pitchFamily="34" charset="0"/>
                <a:cs typeface="Arial" pitchFamily="34" charset="0"/>
              </a:rPr>
              <a:t>là</a:t>
            </a:r>
            <a:r>
              <a:rPr lang="es-ES" sz="3600" dirty="0">
                <a:latin typeface="Arial" pitchFamily="34" charset="0"/>
                <a:cs typeface="Arial" pitchFamily="34" charset="0"/>
              </a:rPr>
              <a:t> </a:t>
            </a:r>
            <a:r>
              <a:rPr lang="es-ES" sz="3600" dirty="0" err="1">
                <a:latin typeface="Arial" pitchFamily="34" charset="0"/>
                <a:cs typeface="Arial" pitchFamily="34" charset="0"/>
              </a:rPr>
              <a:t>hàm</a:t>
            </a:r>
            <a:r>
              <a:rPr lang="es-ES" sz="3600" dirty="0">
                <a:latin typeface="Arial" pitchFamily="34" charset="0"/>
                <a:cs typeface="Arial" pitchFamily="34" charset="0"/>
              </a:rPr>
              <a:t> </a:t>
            </a:r>
            <a:r>
              <a:rPr lang="es-ES" sz="3600" dirty="0" err="1">
                <a:latin typeface="Arial" pitchFamily="34" charset="0"/>
                <a:cs typeface="Arial" pitchFamily="34" charset="0"/>
              </a:rPr>
              <a:t>trạng</a:t>
            </a:r>
            <a:r>
              <a:rPr lang="es-ES" sz="3600" dirty="0">
                <a:latin typeface="Arial" pitchFamily="34" charset="0"/>
                <a:cs typeface="Arial" pitchFamily="34" charset="0"/>
              </a:rPr>
              <a:t> </a:t>
            </a:r>
            <a:r>
              <a:rPr lang="es-ES" sz="3600" dirty="0" err="1">
                <a:latin typeface="Arial" pitchFamily="34" charset="0"/>
                <a:cs typeface="Arial" pitchFamily="34" charset="0"/>
              </a:rPr>
              <a:t>thái</a:t>
            </a:r>
            <a:r>
              <a:rPr lang="es-ES" sz="3600" dirty="0">
                <a:latin typeface="Arial" pitchFamily="34" charset="0"/>
                <a:cs typeface="Arial" pitchFamily="34" charset="0"/>
              </a:rPr>
              <a:t>.</a:t>
            </a:r>
            <a:r>
              <a:rPr lang="en-US" sz="3600" dirty="0">
                <a:latin typeface="Arial" pitchFamily="34" charset="0"/>
                <a:cs typeface="Arial" pitchFamily="34" charset="0"/>
              </a:rPr>
              <a:t/>
            </a:r>
            <a:br>
              <a:rPr lang="en-US" sz="3600" dirty="0">
                <a:latin typeface="Arial" pitchFamily="34" charset="0"/>
                <a:cs typeface="Arial" pitchFamily="34" charset="0"/>
              </a:rPr>
            </a:br>
            <a:endParaRPr lang="en-US" sz="3600" dirty="0">
              <a:latin typeface="Arial" pitchFamily="34" charset="0"/>
              <a:cs typeface="Arial" pitchFamily="34" charset="0"/>
            </a:endParaRPr>
          </a:p>
        </p:txBody>
      </p:sp>
      <p:sp>
        <p:nvSpPr>
          <p:cNvPr id="5" name="TextBox 4">
            <a:extLst>
              <a:ext uri="{FF2B5EF4-FFF2-40B4-BE49-F238E27FC236}">
                <a16:creationId xmlns="" xmlns:a16="http://schemas.microsoft.com/office/drawing/2014/main" id="{7E58E1D4-79CD-436A-9C8F-D09751017FAA}"/>
              </a:ext>
            </a:extLst>
          </p:cNvPr>
          <p:cNvSpPr txBox="1"/>
          <p:nvPr/>
        </p:nvSpPr>
        <p:spPr>
          <a:xfrm>
            <a:off x="5785586" y="527083"/>
            <a:ext cx="5397407" cy="584775"/>
          </a:xfrm>
          <a:prstGeom prst="rect">
            <a:avLst/>
          </a:prstGeom>
          <a:noFill/>
        </p:spPr>
        <p:txBody>
          <a:bodyPr wrap="square" rtlCol="0">
            <a:spAutoFit/>
          </a:bodyPr>
          <a:lstStyle/>
          <a:p>
            <a:r>
              <a:rPr lang="en-US" sz="3200" b="1" dirty="0">
                <a:solidFill>
                  <a:srgbClr val="FF0000"/>
                </a:solidFill>
                <a:effectLst>
                  <a:outerShdw blurRad="38100" dist="38100" dir="2700000" algn="tl">
                    <a:srgbClr val="000000">
                      <a:alpha val="43137"/>
                    </a:srgbClr>
                  </a:outerShdw>
                </a:effectLst>
                <a:latin typeface="Arial" pitchFamily="34" charset="0"/>
                <a:cs typeface="Arial" pitchFamily="34" charset="0"/>
              </a:rPr>
              <a:t>ĐÁP </a:t>
            </a:r>
            <a:r>
              <a:rPr lang="en-US" sz="32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ÁN: TẤT CẢ</a:t>
            </a:r>
            <a:endParaRPr lang="en-US" sz="3200" b="1" dirty="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402130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0897"/>
            <a:ext cx="11887200" cy="1295400"/>
          </a:xfrm>
        </p:spPr>
        <p:txBody>
          <a:bodyPr>
            <a:noAutofit/>
          </a:bodyPr>
          <a:lstStyle/>
          <a:p>
            <a:pPr marL="0" indent="0">
              <a:buNone/>
            </a:pP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NGUYÊN LÝ 1 CỦA NHIỆT ĐỘNG HỌC:</a:t>
            </a:r>
          </a:p>
          <a:p>
            <a:pPr marL="0" indent="0">
              <a:buNone/>
            </a:pPr>
            <a:r>
              <a:rPr lang="en-US" sz="2800" dirty="0" smtClean="0">
                <a:latin typeface="Arial" pitchFamily="34" charset="0"/>
                <a:cs typeface="Arial" pitchFamily="34" charset="0"/>
              </a:rPr>
              <a:t> </a:t>
            </a:r>
            <a:r>
              <a:rPr lang="en-US" sz="2800" dirty="0" smtClean="0">
                <a:solidFill>
                  <a:srgbClr val="0000FF"/>
                </a:solidFill>
                <a:latin typeface="Arial" pitchFamily="34" charset="0"/>
                <a:cs typeface="Arial" pitchFamily="34" charset="0"/>
              </a:rPr>
              <a:t>Q = </a:t>
            </a:r>
            <a:r>
              <a:rPr lang="en-US" sz="2800" dirty="0" smtClean="0">
                <a:solidFill>
                  <a:srgbClr val="0000FF"/>
                </a:solidFill>
                <a:latin typeface="Arial" pitchFamily="34" charset="0"/>
                <a:cs typeface="Arial" pitchFamily="34" charset="0"/>
                <a:sym typeface="Symbol"/>
              </a:rPr>
              <a:t>U + A’ (</a:t>
            </a:r>
            <a:r>
              <a:rPr lang="en-US" sz="2800" dirty="0" err="1" smtClean="0">
                <a:solidFill>
                  <a:srgbClr val="0000FF"/>
                </a:solidFill>
                <a:latin typeface="Arial" pitchFamily="34" charset="0"/>
                <a:cs typeface="Arial" pitchFamily="34" charset="0"/>
                <a:sym typeface="Symbol"/>
              </a:rPr>
              <a:t>công</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có</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ích</a:t>
            </a:r>
            <a:r>
              <a:rPr lang="en-US" sz="2800" dirty="0" smtClean="0">
                <a:solidFill>
                  <a:srgbClr val="0000FF"/>
                </a:solidFill>
                <a:latin typeface="Arial" pitchFamily="34" charset="0"/>
                <a:cs typeface="Arial" pitchFamily="34" charset="0"/>
                <a:sym typeface="Symbol"/>
              </a:rPr>
              <a:t>) + A (</a:t>
            </a:r>
            <a:r>
              <a:rPr lang="en-US" sz="2800" dirty="0" err="1" smtClean="0">
                <a:solidFill>
                  <a:srgbClr val="0000FF"/>
                </a:solidFill>
                <a:latin typeface="Arial" pitchFamily="34" charset="0"/>
                <a:cs typeface="Arial" pitchFamily="34" charset="0"/>
                <a:sym typeface="Symbol"/>
              </a:rPr>
              <a:t>công</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dãn</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nở</a:t>
            </a:r>
            <a:r>
              <a:rPr lang="en-US" sz="2800" dirty="0" smtClean="0">
                <a:solidFill>
                  <a:srgbClr val="0000FF"/>
                </a:solidFill>
                <a:latin typeface="Arial" pitchFamily="34" charset="0"/>
                <a:cs typeface="Arial" pitchFamily="34" charset="0"/>
                <a:sym typeface="Symbol"/>
              </a:rPr>
              <a:t>); </a:t>
            </a:r>
            <a:r>
              <a:rPr lang="vi-VN" sz="2800" dirty="0" smtClean="0">
                <a:solidFill>
                  <a:srgbClr val="0000FF"/>
                </a:solidFill>
                <a:latin typeface="Arial" pitchFamily="34" charset="0"/>
                <a:cs typeface="Arial" pitchFamily="34" charset="0"/>
                <a:sym typeface="Symbol"/>
              </a:rPr>
              <a:t>    </a:t>
            </a:r>
            <a:r>
              <a:rPr lang="en-US" sz="2800" dirty="0" smtClean="0">
                <a:solidFill>
                  <a:srgbClr val="0000FF"/>
                </a:solidFill>
                <a:latin typeface="Arial" pitchFamily="34" charset="0"/>
                <a:cs typeface="Arial" pitchFamily="34" charset="0"/>
                <a:sym typeface="Symbol"/>
              </a:rPr>
              <a:t>A</a:t>
            </a:r>
            <a:r>
              <a:rPr lang="en-US" sz="2800" dirty="0">
                <a:solidFill>
                  <a:srgbClr val="0000FF"/>
                </a:solidFill>
                <a:latin typeface="Arial" pitchFamily="34" charset="0"/>
                <a:cs typeface="Arial" pitchFamily="34" charset="0"/>
                <a:sym typeface="Symbol"/>
              </a:rPr>
              <a:t>’ </a:t>
            </a:r>
            <a:r>
              <a:rPr lang="en-US" sz="2800" dirty="0" smtClean="0">
                <a:solidFill>
                  <a:srgbClr val="0000FF"/>
                </a:solidFill>
                <a:latin typeface="Arial" pitchFamily="34" charset="0"/>
                <a:cs typeface="Arial" pitchFamily="34" charset="0"/>
                <a:sym typeface="Symbol"/>
              </a:rPr>
              <a:t> 0</a:t>
            </a:r>
          </a:p>
          <a:p>
            <a:pPr marL="0" indent="0">
              <a:buNone/>
            </a:pPr>
            <a:r>
              <a:rPr lang="en-US" sz="2800" dirty="0" smtClean="0">
                <a:latin typeface="Arial" pitchFamily="34" charset="0"/>
                <a:cs typeface="Arial" pitchFamily="34" charset="0"/>
                <a:sym typeface="Symbol"/>
              </a:rPr>
              <a:t> A’ – </a:t>
            </a:r>
            <a:r>
              <a:rPr lang="en-US" sz="2800" dirty="0" err="1" smtClean="0">
                <a:latin typeface="Arial" pitchFamily="34" charset="0"/>
                <a:cs typeface="Arial" pitchFamily="34" charset="0"/>
                <a:sym typeface="Symbol"/>
              </a:rPr>
              <a:t>Tất</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cả</a:t>
            </a:r>
            <a:r>
              <a:rPr lang="en-US" sz="2800" dirty="0" smtClean="0">
                <a:latin typeface="Arial" pitchFamily="34" charset="0"/>
                <a:cs typeface="Arial" pitchFamily="34" charset="0"/>
                <a:sym typeface="Symbol"/>
              </a:rPr>
              <a:t> </a:t>
            </a:r>
            <a:r>
              <a:rPr lang="en-US" dirty="0" err="1">
                <a:latin typeface="Arial" pitchFamily="34" charset="0"/>
                <a:cs typeface="Arial" pitchFamily="34" charset="0"/>
                <a:sym typeface="Symbol"/>
              </a:rPr>
              <a:t>c</a:t>
            </a:r>
            <a:r>
              <a:rPr lang="en-US" sz="2800" dirty="0" err="1" smtClean="0">
                <a:latin typeface="Arial" pitchFamily="34" charset="0"/>
                <a:cs typeface="Arial" pitchFamily="34" charset="0"/>
                <a:sym typeface="Symbol"/>
              </a:rPr>
              <a:t>ông</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mà</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hệ</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sinh</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trong</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quá</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trình</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trừ</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công</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dãn</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nở</a:t>
            </a:r>
            <a:r>
              <a:rPr lang="en-US" sz="2800" dirty="0" smtClean="0">
                <a:latin typeface="Arial" pitchFamily="34" charset="0"/>
                <a:cs typeface="Arial" pitchFamily="34" charset="0"/>
                <a:sym typeface="Symbol"/>
              </a:rPr>
              <a:t>.</a:t>
            </a:r>
            <a:endParaRPr lang="en-US" sz="2800" dirty="0">
              <a:latin typeface="Arial" pitchFamily="34" charset="0"/>
              <a:cs typeface="Arial" pitchFamily="34" charset="0"/>
            </a:endParaRPr>
          </a:p>
        </p:txBody>
      </p:sp>
      <p:sp>
        <p:nvSpPr>
          <p:cNvPr id="4" name="TextBox 3"/>
          <p:cNvSpPr txBox="1"/>
          <p:nvPr/>
        </p:nvSpPr>
        <p:spPr>
          <a:xfrm>
            <a:off x="203200" y="1676401"/>
            <a:ext cx="11684000" cy="2246769"/>
          </a:xfrm>
          <a:prstGeom prst="rect">
            <a:avLst/>
          </a:prstGeom>
          <a:noFill/>
        </p:spPr>
        <p:txBody>
          <a:bodyPr wrap="square" rtlCol="0">
            <a:spAutoFit/>
          </a:bodyPr>
          <a:lstStyle/>
          <a:p>
            <a:r>
              <a:rPr lang="en-US" sz="2800" b="1" dirty="0" smtClean="0">
                <a:solidFill>
                  <a:srgbClr val="C00000"/>
                </a:solidFill>
                <a:latin typeface="Arial" pitchFamily="34" charset="0"/>
                <a:cs typeface="Arial" pitchFamily="34" charset="0"/>
              </a:rPr>
              <a:t>QUÁ TRÌNH ĐẲNG NHIỆT ĐẲNG TÍCH</a:t>
            </a:r>
            <a:r>
              <a:rPr lang="en-US" sz="2800" dirty="0" smtClean="0">
                <a:solidFill>
                  <a:srgbClr val="C00000"/>
                </a:solidFill>
                <a:latin typeface="Arial" pitchFamily="34" charset="0"/>
                <a:cs typeface="Arial" pitchFamily="34" charset="0"/>
              </a:rPr>
              <a:t>: Q</a:t>
            </a:r>
            <a:r>
              <a:rPr lang="en-US" sz="2800" baseline="-25000" dirty="0" smtClean="0">
                <a:solidFill>
                  <a:srgbClr val="C00000"/>
                </a:solidFill>
                <a:latin typeface="Arial" pitchFamily="34" charset="0"/>
                <a:cs typeface="Arial" pitchFamily="34" charset="0"/>
              </a:rPr>
              <a:t>V</a:t>
            </a:r>
            <a:r>
              <a:rPr lang="en-US" sz="2800" dirty="0" smtClean="0">
                <a:solidFill>
                  <a:srgbClr val="C00000"/>
                </a:solidFill>
                <a:latin typeface="Arial" pitchFamily="34" charset="0"/>
                <a:cs typeface="Arial" pitchFamily="34" charset="0"/>
              </a:rPr>
              <a:t> = </a:t>
            </a:r>
            <a:r>
              <a:rPr lang="en-US" sz="2800" dirty="0">
                <a:solidFill>
                  <a:srgbClr val="C00000"/>
                </a:solidFill>
                <a:latin typeface="Arial" pitchFamily="34" charset="0"/>
                <a:cs typeface="Arial" pitchFamily="34" charset="0"/>
                <a:sym typeface="Symbol"/>
              </a:rPr>
              <a:t></a:t>
            </a:r>
            <a:r>
              <a:rPr lang="en-US" sz="2800" dirty="0" err="1" smtClean="0">
                <a:solidFill>
                  <a:srgbClr val="C00000"/>
                </a:solidFill>
                <a:latin typeface="Arial" pitchFamily="34" charset="0"/>
                <a:cs typeface="Arial" pitchFamily="34" charset="0"/>
                <a:sym typeface="Symbol"/>
              </a:rPr>
              <a:t>U</a:t>
            </a:r>
            <a:r>
              <a:rPr lang="en-US" sz="2800" baseline="-25000" dirty="0" err="1" smtClean="0">
                <a:solidFill>
                  <a:srgbClr val="C00000"/>
                </a:solidFill>
                <a:latin typeface="Arial" pitchFamily="34" charset="0"/>
                <a:cs typeface="Arial" pitchFamily="34" charset="0"/>
                <a:sym typeface="Symbol"/>
              </a:rPr>
              <a:t>v</a:t>
            </a:r>
            <a:r>
              <a:rPr lang="en-US" sz="2800" dirty="0" smtClean="0">
                <a:solidFill>
                  <a:srgbClr val="C00000"/>
                </a:solidFill>
                <a:latin typeface="Arial" pitchFamily="34" charset="0"/>
                <a:cs typeface="Arial" pitchFamily="34" charset="0"/>
                <a:sym typeface="Symbol"/>
              </a:rPr>
              <a:t> + </a:t>
            </a:r>
            <a:r>
              <a:rPr lang="en-US" sz="2800" dirty="0">
                <a:solidFill>
                  <a:srgbClr val="C00000"/>
                </a:solidFill>
                <a:latin typeface="Arial" pitchFamily="34" charset="0"/>
                <a:cs typeface="Arial" pitchFamily="34" charset="0"/>
                <a:sym typeface="Symbol"/>
              </a:rPr>
              <a:t>A</a:t>
            </a:r>
            <a:r>
              <a:rPr lang="en-US" sz="2800" dirty="0" smtClean="0">
                <a:solidFill>
                  <a:srgbClr val="C00000"/>
                </a:solidFill>
                <a:latin typeface="Arial" pitchFamily="34" charset="0"/>
                <a:cs typeface="Arial" pitchFamily="34" charset="0"/>
                <a:sym typeface="Symbol"/>
              </a:rPr>
              <a:t>’ </a:t>
            </a:r>
            <a:r>
              <a:rPr lang="en-US" sz="2800" dirty="0" smtClean="0">
                <a:latin typeface="Arial" pitchFamily="34" charset="0"/>
                <a:cs typeface="Arial" pitchFamily="34" charset="0"/>
                <a:sym typeface="Symbol"/>
              </a:rPr>
              <a:t> </a:t>
            </a:r>
          </a:p>
          <a:p>
            <a:r>
              <a:rPr lang="en-US" sz="2800" dirty="0" err="1" smtClean="0">
                <a:latin typeface="Arial" pitchFamily="34" charset="0"/>
                <a:cs typeface="Arial" pitchFamily="34" charset="0"/>
                <a:sym typeface="Symbol"/>
              </a:rPr>
              <a:t>Nếu</a:t>
            </a:r>
            <a:r>
              <a:rPr lang="en-US" sz="2800" dirty="0" smtClean="0">
                <a:latin typeface="Arial" pitchFamily="34" charset="0"/>
                <a:cs typeface="Arial" pitchFamily="34" charset="0"/>
                <a:sym typeface="Symbol"/>
              </a:rPr>
              <a:t> A’= 0  </a:t>
            </a:r>
            <a:r>
              <a:rPr lang="en-US" sz="2800" b="1" dirty="0">
                <a:solidFill>
                  <a:srgbClr val="008000"/>
                </a:solidFill>
              </a:rPr>
              <a:t>Q</a:t>
            </a:r>
            <a:r>
              <a:rPr lang="en-US" sz="2800" b="1" baseline="-25000" dirty="0">
                <a:solidFill>
                  <a:srgbClr val="008000"/>
                </a:solidFill>
              </a:rPr>
              <a:t>V</a:t>
            </a:r>
            <a:r>
              <a:rPr lang="en-US" sz="2800" b="1" dirty="0">
                <a:solidFill>
                  <a:srgbClr val="008000"/>
                </a:solidFill>
              </a:rPr>
              <a:t> = </a:t>
            </a:r>
            <a:r>
              <a:rPr lang="en-US" sz="2800" b="1" dirty="0">
                <a:solidFill>
                  <a:srgbClr val="008000"/>
                </a:solidFill>
                <a:latin typeface="Arial" pitchFamily="34" charset="0"/>
                <a:cs typeface="Arial" pitchFamily="34" charset="0"/>
                <a:sym typeface="Symbol"/>
              </a:rPr>
              <a:t>U </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pư</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thu</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nhiệt</a:t>
            </a:r>
            <a:r>
              <a:rPr lang="en-US" sz="2800" dirty="0" smtClean="0">
                <a:latin typeface="Arial" pitchFamily="34" charset="0"/>
                <a:cs typeface="Arial" pitchFamily="34" charset="0"/>
                <a:sym typeface="Symbol"/>
              </a:rPr>
              <a:t> </a:t>
            </a:r>
            <a:r>
              <a:rPr lang="en-US" sz="2800" dirty="0">
                <a:solidFill>
                  <a:srgbClr val="00B050"/>
                </a:solidFill>
              </a:rPr>
              <a:t>Q</a:t>
            </a:r>
            <a:r>
              <a:rPr lang="en-US" sz="2800" baseline="-25000" dirty="0">
                <a:solidFill>
                  <a:srgbClr val="00B050"/>
                </a:solidFill>
              </a:rPr>
              <a:t>V</a:t>
            </a:r>
            <a:r>
              <a:rPr lang="en-US" sz="2800" dirty="0">
                <a:solidFill>
                  <a:srgbClr val="00B050"/>
                </a:solidFill>
              </a:rPr>
              <a:t> = </a:t>
            </a:r>
            <a:r>
              <a:rPr lang="en-US" sz="2800" dirty="0">
                <a:solidFill>
                  <a:srgbClr val="00B050"/>
                </a:solidFill>
                <a:latin typeface="Arial" pitchFamily="34" charset="0"/>
                <a:cs typeface="Arial" pitchFamily="34" charset="0"/>
                <a:sym typeface="Symbol"/>
              </a:rPr>
              <a:t>U </a:t>
            </a:r>
            <a:r>
              <a:rPr lang="en-US" sz="2800" dirty="0" smtClean="0">
                <a:solidFill>
                  <a:srgbClr val="00B050"/>
                </a:solidFill>
                <a:latin typeface="Arial" pitchFamily="34" charset="0"/>
                <a:cs typeface="Arial" pitchFamily="34" charset="0"/>
                <a:sym typeface="Symbol"/>
              </a:rPr>
              <a:t>&gt; 0</a:t>
            </a:r>
          </a:p>
          <a:p>
            <a:r>
              <a:rPr lang="en-US" sz="2800" dirty="0" smtClean="0">
                <a:solidFill>
                  <a:srgbClr val="00B050"/>
                </a:solidFill>
                <a:latin typeface="Arial" pitchFamily="34" charset="0"/>
                <a:cs typeface="Arial" pitchFamily="34" charset="0"/>
                <a:sym typeface="Symbol"/>
              </a:rPr>
              <a:t>                                    </a:t>
            </a:r>
            <a:r>
              <a:rPr lang="en-US" sz="2800" dirty="0" err="1" smtClean="0">
                <a:latin typeface="Arial" pitchFamily="34" charset="0"/>
                <a:cs typeface="Arial" pitchFamily="34" charset="0"/>
                <a:sym typeface="Symbol"/>
              </a:rPr>
              <a:t>pư</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tỏa</a:t>
            </a:r>
            <a:r>
              <a:rPr lang="en-US" sz="2800" dirty="0" smtClean="0">
                <a:latin typeface="Arial" pitchFamily="34" charset="0"/>
                <a:cs typeface="Arial" pitchFamily="34" charset="0"/>
                <a:sym typeface="Symbol"/>
              </a:rPr>
              <a:t> </a:t>
            </a:r>
            <a:r>
              <a:rPr lang="en-US" sz="2800" dirty="0" err="1">
                <a:latin typeface="Arial" pitchFamily="34" charset="0"/>
                <a:cs typeface="Arial" pitchFamily="34" charset="0"/>
                <a:sym typeface="Symbol"/>
              </a:rPr>
              <a:t>nhiệt</a:t>
            </a:r>
            <a:r>
              <a:rPr lang="en-US" sz="2800" dirty="0">
                <a:latin typeface="Arial" pitchFamily="34" charset="0"/>
                <a:cs typeface="Arial" pitchFamily="34" charset="0"/>
                <a:sym typeface="Symbol"/>
              </a:rPr>
              <a:t> </a:t>
            </a:r>
            <a:r>
              <a:rPr lang="en-US" sz="2800" dirty="0">
                <a:solidFill>
                  <a:srgbClr val="00B050"/>
                </a:solidFill>
              </a:rPr>
              <a:t>Q</a:t>
            </a:r>
            <a:r>
              <a:rPr lang="en-US" sz="2800" baseline="-25000" dirty="0">
                <a:solidFill>
                  <a:srgbClr val="00B050"/>
                </a:solidFill>
              </a:rPr>
              <a:t>V</a:t>
            </a:r>
            <a:r>
              <a:rPr lang="en-US" sz="2800" dirty="0">
                <a:solidFill>
                  <a:srgbClr val="00B050"/>
                </a:solidFill>
              </a:rPr>
              <a:t> = </a:t>
            </a:r>
            <a:r>
              <a:rPr lang="en-US" sz="2800" dirty="0">
                <a:solidFill>
                  <a:srgbClr val="00B050"/>
                </a:solidFill>
                <a:latin typeface="Arial" pitchFamily="34" charset="0"/>
                <a:cs typeface="Arial" pitchFamily="34" charset="0"/>
                <a:sym typeface="Symbol"/>
              </a:rPr>
              <a:t>U </a:t>
            </a:r>
            <a:r>
              <a:rPr lang="en-US" sz="2800" dirty="0" smtClean="0">
                <a:solidFill>
                  <a:srgbClr val="00B050"/>
                </a:solidFill>
                <a:latin typeface="Arial" pitchFamily="34" charset="0"/>
                <a:cs typeface="Arial" pitchFamily="34" charset="0"/>
                <a:sym typeface="Symbol"/>
              </a:rPr>
              <a:t>&lt; </a:t>
            </a:r>
            <a:r>
              <a:rPr lang="en-US" sz="2800" dirty="0">
                <a:solidFill>
                  <a:srgbClr val="00B050"/>
                </a:solidFill>
                <a:latin typeface="Arial" pitchFamily="34" charset="0"/>
                <a:cs typeface="Arial" pitchFamily="34" charset="0"/>
                <a:sym typeface="Symbol"/>
              </a:rPr>
              <a:t>0</a:t>
            </a:r>
          </a:p>
          <a:p>
            <a:endParaRPr lang="en-US" sz="2800" dirty="0" smtClean="0">
              <a:latin typeface="Arial" pitchFamily="34" charset="0"/>
              <a:cs typeface="Arial" pitchFamily="34" charset="0"/>
              <a:sym typeface="Symbol"/>
            </a:endParaRPr>
          </a:p>
          <a:p>
            <a:endParaRPr lang="en-US" sz="2800" dirty="0">
              <a:latin typeface="Arial" pitchFamily="34" charset="0"/>
              <a:cs typeface="Arial" pitchFamily="34" charset="0"/>
            </a:endParaRPr>
          </a:p>
        </p:txBody>
      </p:sp>
      <p:sp>
        <p:nvSpPr>
          <p:cNvPr id="5" name="TextBox 4"/>
          <p:cNvSpPr txBox="1"/>
          <p:nvPr/>
        </p:nvSpPr>
        <p:spPr>
          <a:xfrm>
            <a:off x="203200" y="3200402"/>
            <a:ext cx="11684000" cy="2677656"/>
          </a:xfrm>
          <a:prstGeom prst="rect">
            <a:avLst/>
          </a:prstGeom>
          <a:noFill/>
        </p:spPr>
        <p:txBody>
          <a:bodyPr wrap="square" rtlCol="0">
            <a:spAutoFit/>
          </a:bodyPr>
          <a:lstStyle/>
          <a:p>
            <a:r>
              <a:rPr lang="en-US" sz="2800" b="1" dirty="0" smtClean="0">
                <a:solidFill>
                  <a:srgbClr val="C00000"/>
                </a:solidFill>
                <a:latin typeface="Arial" pitchFamily="34" charset="0"/>
                <a:cs typeface="Arial" pitchFamily="34" charset="0"/>
              </a:rPr>
              <a:t>QUÁ TRÌNH ĐẲNG NHIỆT ĐẲNG ÁP</a:t>
            </a:r>
            <a:r>
              <a:rPr lang="en-US" sz="2800" dirty="0" smtClean="0">
                <a:solidFill>
                  <a:srgbClr val="C00000"/>
                </a:solidFill>
                <a:latin typeface="Arial" pitchFamily="34" charset="0"/>
                <a:cs typeface="Arial" pitchFamily="34" charset="0"/>
              </a:rPr>
              <a:t>: Q</a:t>
            </a:r>
            <a:r>
              <a:rPr lang="en-US" sz="2800" baseline="-25000" dirty="0">
                <a:solidFill>
                  <a:srgbClr val="C00000"/>
                </a:solidFill>
                <a:latin typeface="Arial" pitchFamily="34" charset="0"/>
                <a:cs typeface="Arial" pitchFamily="34" charset="0"/>
              </a:rPr>
              <a:t>P</a:t>
            </a:r>
            <a:r>
              <a:rPr lang="en-US" sz="2800" dirty="0" smtClean="0">
                <a:solidFill>
                  <a:srgbClr val="C00000"/>
                </a:solidFill>
                <a:latin typeface="Arial" pitchFamily="34" charset="0"/>
                <a:cs typeface="Arial" pitchFamily="34" charset="0"/>
              </a:rPr>
              <a:t> = </a:t>
            </a:r>
            <a:r>
              <a:rPr lang="en-US" sz="2800" dirty="0" smtClean="0">
                <a:solidFill>
                  <a:srgbClr val="C00000"/>
                </a:solidFill>
                <a:latin typeface="Arial" pitchFamily="34" charset="0"/>
                <a:cs typeface="Arial" pitchFamily="34" charset="0"/>
                <a:sym typeface="Symbol"/>
              </a:rPr>
              <a:t>H + </a:t>
            </a:r>
            <a:r>
              <a:rPr lang="en-US" sz="2800" dirty="0">
                <a:solidFill>
                  <a:srgbClr val="C00000"/>
                </a:solidFill>
                <a:latin typeface="Arial" pitchFamily="34" charset="0"/>
                <a:cs typeface="Arial" pitchFamily="34" charset="0"/>
                <a:sym typeface="Symbol"/>
              </a:rPr>
              <a:t>A</a:t>
            </a:r>
            <a:r>
              <a:rPr lang="en-US" sz="2800" dirty="0" smtClean="0">
                <a:solidFill>
                  <a:srgbClr val="C00000"/>
                </a:solidFill>
                <a:latin typeface="Arial" pitchFamily="34" charset="0"/>
                <a:cs typeface="Arial" pitchFamily="34" charset="0"/>
                <a:sym typeface="Symbol"/>
              </a:rPr>
              <a:t>’  </a:t>
            </a:r>
          </a:p>
          <a:p>
            <a:r>
              <a:rPr lang="en-US" sz="2800" dirty="0" err="1" smtClean="0">
                <a:latin typeface="Arial" pitchFamily="34" charset="0"/>
                <a:cs typeface="Arial" pitchFamily="34" charset="0"/>
                <a:sym typeface="Symbol"/>
              </a:rPr>
              <a:t>Nếu</a:t>
            </a:r>
            <a:r>
              <a:rPr lang="en-US" sz="2800" dirty="0" smtClean="0">
                <a:latin typeface="Arial" pitchFamily="34" charset="0"/>
                <a:cs typeface="Arial" pitchFamily="34" charset="0"/>
                <a:sym typeface="Symbol"/>
              </a:rPr>
              <a:t> A’= 0  </a:t>
            </a:r>
            <a:r>
              <a:rPr lang="en-US" sz="2800" b="1" dirty="0" smtClean="0">
                <a:solidFill>
                  <a:srgbClr val="008000"/>
                </a:solidFill>
              </a:rPr>
              <a:t>Q</a:t>
            </a:r>
            <a:r>
              <a:rPr lang="en-US" sz="2800" b="1" baseline="-25000" dirty="0" smtClean="0">
                <a:solidFill>
                  <a:srgbClr val="008000"/>
                </a:solidFill>
              </a:rPr>
              <a:t>P</a:t>
            </a:r>
            <a:r>
              <a:rPr lang="en-US" sz="2800" b="1" dirty="0" smtClean="0">
                <a:solidFill>
                  <a:srgbClr val="008000"/>
                </a:solidFill>
              </a:rPr>
              <a:t> </a:t>
            </a:r>
            <a:r>
              <a:rPr lang="en-US" sz="2800" b="1" dirty="0">
                <a:solidFill>
                  <a:srgbClr val="008000"/>
                </a:solidFill>
              </a:rPr>
              <a:t>= </a:t>
            </a:r>
            <a:r>
              <a:rPr lang="en-US" sz="2800" b="1" dirty="0" smtClean="0">
                <a:solidFill>
                  <a:srgbClr val="008000"/>
                </a:solidFill>
                <a:latin typeface="Arial" pitchFamily="34" charset="0"/>
                <a:cs typeface="Arial" pitchFamily="34" charset="0"/>
                <a:sym typeface="Symbol"/>
              </a:rPr>
              <a:t>H </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pư</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thu</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nhiệt</a:t>
            </a:r>
            <a:r>
              <a:rPr lang="en-US" sz="2800" dirty="0" smtClean="0">
                <a:latin typeface="Arial" pitchFamily="34" charset="0"/>
                <a:cs typeface="Arial" pitchFamily="34" charset="0"/>
                <a:sym typeface="Symbol"/>
              </a:rPr>
              <a:t> </a:t>
            </a:r>
            <a:r>
              <a:rPr lang="en-US" sz="2800" dirty="0" smtClean="0">
                <a:solidFill>
                  <a:srgbClr val="00B050"/>
                </a:solidFill>
              </a:rPr>
              <a:t>Q</a:t>
            </a:r>
            <a:r>
              <a:rPr lang="en-US" sz="2800" baseline="-25000" dirty="0" smtClean="0">
                <a:solidFill>
                  <a:srgbClr val="00B050"/>
                </a:solidFill>
              </a:rPr>
              <a:t>P</a:t>
            </a:r>
            <a:r>
              <a:rPr lang="en-US" sz="2800" dirty="0" smtClean="0">
                <a:solidFill>
                  <a:srgbClr val="00B050"/>
                </a:solidFill>
              </a:rPr>
              <a:t> </a:t>
            </a:r>
            <a:r>
              <a:rPr lang="en-US" sz="2800" dirty="0">
                <a:solidFill>
                  <a:srgbClr val="00B050"/>
                </a:solidFill>
              </a:rPr>
              <a:t>= </a:t>
            </a:r>
            <a:r>
              <a:rPr lang="en-US" sz="2800" dirty="0" smtClean="0">
                <a:solidFill>
                  <a:srgbClr val="00B050"/>
                </a:solidFill>
                <a:latin typeface="Arial" pitchFamily="34" charset="0"/>
                <a:cs typeface="Arial" pitchFamily="34" charset="0"/>
                <a:sym typeface="Symbol"/>
              </a:rPr>
              <a:t>H &gt; 0</a:t>
            </a:r>
          </a:p>
          <a:p>
            <a:r>
              <a:rPr lang="en-US" sz="2800" dirty="0" smtClean="0">
                <a:solidFill>
                  <a:srgbClr val="00B050"/>
                </a:solidFill>
                <a:latin typeface="Arial" pitchFamily="34" charset="0"/>
                <a:cs typeface="Arial" pitchFamily="34" charset="0"/>
                <a:sym typeface="Symbol"/>
              </a:rPr>
              <a:t>                                    </a:t>
            </a:r>
            <a:r>
              <a:rPr lang="en-US" sz="2800" dirty="0" err="1" smtClean="0">
                <a:latin typeface="Arial" pitchFamily="34" charset="0"/>
                <a:cs typeface="Arial" pitchFamily="34" charset="0"/>
                <a:sym typeface="Symbol"/>
              </a:rPr>
              <a:t>pư</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tỏa</a:t>
            </a:r>
            <a:r>
              <a:rPr lang="en-US" sz="2800" dirty="0" smtClean="0">
                <a:latin typeface="Arial" pitchFamily="34" charset="0"/>
                <a:cs typeface="Arial" pitchFamily="34" charset="0"/>
                <a:sym typeface="Symbol"/>
              </a:rPr>
              <a:t> </a:t>
            </a:r>
            <a:r>
              <a:rPr lang="en-US" sz="2800" dirty="0" err="1">
                <a:latin typeface="Arial" pitchFamily="34" charset="0"/>
                <a:cs typeface="Arial" pitchFamily="34" charset="0"/>
                <a:sym typeface="Symbol"/>
              </a:rPr>
              <a:t>nhiệt</a:t>
            </a:r>
            <a:r>
              <a:rPr lang="en-US" sz="2800" dirty="0">
                <a:latin typeface="Arial" pitchFamily="34" charset="0"/>
                <a:cs typeface="Arial" pitchFamily="34" charset="0"/>
                <a:sym typeface="Symbol"/>
              </a:rPr>
              <a:t> </a:t>
            </a:r>
            <a:r>
              <a:rPr lang="en-US" sz="2800" dirty="0" smtClean="0">
                <a:solidFill>
                  <a:srgbClr val="00B050"/>
                </a:solidFill>
              </a:rPr>
              <a:t>Q</a:t>
            </a:r>
            <a:r>
              <a:rPr lang="en-US" sz="2800" baseline="-25000" dirty="0">
                <a:solidFill>
                  <a:srgbClr val="00B050"/>
                </a:solidFill>
              </a:rPr>
              <a:t>P</a:t>
            </a:r>
            <a:r>
              <a:rPr lang="en-US" sz="2800" dirty="0" smtClean="0">
                <a:solidFill>
                  <a:srgbClr val="00B050"/>
                </a:solidFill>
              </a:rPr>
              <a:t> </a:t>
            </a:r>
            <a:r>
              <a:rPr lang="en-US" sz="2800" dirty="0">
                <a:solidFill>
                  <a:srgbClr val="00B050"/>
                </a:solidFill>
              </a:rPr>
              <a:t>= </a:t>
            </a:r>
            <a:r>
              <a:rPr lang="en-US" sz="2800" dirty="0" smtClean="0">
                <a:solidFill>
                  <a:srgbClr val="00B050"/>
                </a:solidFill>
                <a:latin typeface="Arial" pitchFamily="34" charset="0"/>
                <a:cs typeface="Arial" pitchFamily="34" charset="0"/>
                <a:sym typeface="Symbol"/>
              </a:rPr>
              <a:t>H &lt; 0</a:t>
            </a:r>
          </a:p>
          <a:p>
            <a:endParaRPr lang="en-US" sz="2800" dirty="0">
              <a:solidFill>
                <a:schemeClr val="accent2">
                  <a:lumMod val="50000"/>
                </a:schemeClr>
              </a:solidFill>
              <a:latin typeface="Arial" pitchFamily="34" charset="0"/>
              <a:cs typeface="Arial" pitchFamily="34" charset="0"/>
              <a:sym typeface="Symbol"/>
            </a:endParaRPr>
          </a:p>
          <a:p>
            <a:endParaRPr lang="en-US" sz="2800" dirty="0" smtClean="0">
              <a:latin typeface="Arial" pitchFamily="34" charset="0"/>
              <a:cs typeface="Arial" pitchFamily="34" charset="0"/>
              <a:sym typeface="Symbol"/>
            </a:endParaRPr>
          </a:p>
          <a:p>
            <a:endParaRPr lang="en-US" sz="28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127065" y="4539230"/>
                <a:ext cx="12181115" cy="1961884"/>
              </a:xfrm>
              <a:prstGeom prst="rect">
                <a:avLst/>
              </a:prstGeom>
              <a:noFill/>
            </p:spPr>
            <p:txBody>
              <a:bodyPr wrap="square" rtlCol="0">
                <a:spAutoFit/>
              </a:bodyPr>
              <a:lstStyle/>
              <a:p>
                <a:r>
                  <a:rPr lang="en-US" sz="2000" b="1" dirty="0" smtClean="0">
                    <a:solidFill>
                      <a:srgbClr val="3366FF"/>
                    </a:solidFill>
                    <a:latin typeface="Arial" pitchFamily="34" charset="0"/>
                    <a:cs typeface="Arial" pitchFamily="34" charset="0"/>
                  </a:rPr>
                  <a:t>Hiệu </a:t>
                </a:r>
                <a:r>
                  <a:rPr lang="en-US" sz="2000" b="1" dirty="0" err="1" smtClean="0">
                    <a:solidFill>
                      <a:srgbClr val="3366FF"/>
                    </a:solidFill>
                    <a:latin typeface="Arial" pitchFamily="34" charset="0"/>
                    <a:cs typeface="Arial" pitchFamily="34" charset="0"/>
                  </a:rPr>
                  <a:t>ứng</a:t>
                </a:r>
                <a:r>
                  <a:rPr lang="en-US" sz="2000" b="1" dirty="0" smtClean="0">
                    <a:solidFill>
                      <a:srgbClr val="3366FF"/>
                    </a:solidFill>
                    <a:latin typeface="Arial" pitchFamily="34" charset="0"/>
                    <a:cs typeface="Arial" pitchFamily="34" charset="0"/>
                  </a:rPr>
                  <a:t> </a:t>
                </a:r>
                <a:r>
                  <a:rPr lang="en-US" sz="2000" b="1" dirty="0" err="1" smtClean="0">
                    <a:solidFill>
                      <a:srgbClr val="3366FF"/>
                    </a:solidFill>
                    <a:latin typeface="Arial" pitchFamily="34" charset="0"/>
                    <a:cs typeface="Arial" pitchFamily="34" charset="0"/>
                  </a:rPr>
                  <a:t>nhiệt</a:t>
                </a:r>
                <a:r>
                  <a:rPr lang="en-US" sz="2000" b="1" dirty="0" smtClean="0">
                    <a:solidFill>
                      <a:srgbClr val="3366FF"/>
                    </a:solidFill>
                    <a:latin typeface="Arial" pitchFamily="34" charset="0"/>
                    <a:cs typeface="Arial" pitchFamily="34" charset="0"/>
                  </a:rPr>
                  <a:t> </a:t>
                </a:r>
                <a:r>
                  <a:rPr lang="en-US" sz="2000" b="1" dirty="0" err="1" smtClean="0">
                    <a:solidFill>
                      <a:srgbClr val="3366FF"/>
                    </a:solidFill>
                    <a:latin typeface="Arial" pitchFamily="34" charset="0"/>
                    <a:cs typeface="Arial" pitchFamily="34" charset="0"/>
                  </a:rPr>
                  <a:t>đẳng</a:t>
                </a:r>
                <a:r>
                  <a:rPr lang="en-US" sz="2000" b="1" dirty="0" smtClean="0">
                    <a:solidFill>
                      <a:srgbClr val="3366FF"/>
                    </a:solidFill>
                    <a:latin typeface="Arial" pitchFamily="34" charset="0"/>
                    <a:cs typeface="Arial" pitchFamily="34" charset="0"/>
                  </a:rPr>
                  <a:t> </a:t>
                </a:r>
                <a:r>
                  <a:rPr lang="en-US" sz="2000" b="1" dirty="0" err="1" smtClean="0">
                    <a:solidFill>
                      <a:srgbClr val="3366FF"/>
                    </a:solidFill>
                    <a:latin typeface="Arial" pitchFamily="34" charset="0"/>
                    <a:cs typeface="Arial" pitchFamily="34" charset="0"/>
                  </a:rPr>
                  <a:t>áp</a:t>
                </a:r>
                <a:r>
                  <a:rPr lang="en-US" sz="2000" b="1" dirty="0" smtClean="0">
                    <a:solidFill>
                      <a:srgbClr val="3366FF"/>
                    </a:solidFill>
                    <a:latin typeface="Arial" pitchFamily="34" charset="0"/>
                    <a:cs typeface="Arial" pitchFamily="34" charset="0"/>
                  </a:rPr>
                  <a:t> (</a:t>
                </a:r>
                <a:r>
                  <a:rPr lang="en-US" sz="2000" b="1" dirty="0">
                    <a:solidFill>
                      <a:srgbClr val="3366FF"/>
                    </a:solidFill>
                    <a:latin typeface="Arial" pitchFamily="34" charset="0"/>
                    <a:cs typeface="Arial" pitchFamily="34" charset="0"/>
                  </a:rPr>
                  <a:t>Q</a:t>
                </a:r>
                <a:r>
                  <a:rPr lang="en-US" sz="2000" b="1" baseline="-25000" dirty="0">
                    <a:solidFill>
                      <a:srgbClr val="3366FF"/>
                    </a:solidFill>
                    <a:latin typeface="Arial" pitchFamily="34" charset="0"/>
                    <a:cs typeface="Arial" pitchFamily="34" charset="0"/>
                  </a:rPr>
                  <a:t>P</a:t>
                </a:r>
                <a:r>
                  <a:rPr lang="en-US" sz="2000" b="1" dirty="0">
                    <a:solidFill>
                      <a:srgbClr val="3366FF"/>
                    </a:solidFill>
                    <a:latin typeface="Arial" pitchFamily="34" charset="0"/>
                    <a:cs typeface="Arial" pitchFamily="34" charset="0"/>
                  </a:rPr>
                  <a:t> = </a:t>
                </a:r>
                <a:r>
                  <a:rPr lang="en-US" sz="2000" b="1" dirty="0">
                    <a:solidFill>
                      <a:srgbClr val="3366FF"/>
                    </a:solidFill>
                    <a:latin typeface="Arial" pitchFamily="34" charset="0"/>
                    <a:cs typeface="Arial" pitchFamily="34" charset="0"/>
                    <a:sym typeface="Symbol"/>
                  </a:rPr>
                  <a:t></a:t>
                </a:r>
                <a:r>
                  <a:rPr lang="en-US" sz="2000" b="1" dirty="0" smtClean="0">
                    <a:solidFill>
                      <a:srgbClr val="3366FF"/>
                    </a:solidFill>
                    <a:latin typeface="Arial" pitchFamily="34" charset="0"/>
                    <a:cs typeface="Arial" pitchFamily="34" charset="0"/>
                    <a:sym typeface="Symbol"/>
                  </a:rPr>
                  <a:t>H) hay </a:t>
                </a:r>
                <a:r>
                  <a:rPr lang="en-US" sz="2000" b="1" dirty="0" err="1" smtClean="0">
                    <a:solidFill>
                      <a:srgbClr val="3366FF"/>
                    </a:solidFill>
                    <a:latin typeface="Arial" pitchFamily="34" charset="0"/>
                    <a:cs typeface="Arial" pitchFamily="34" charset="0"/>
                    <a:sym typeface="Symbol"/>
                  </a:rPr>
                  <a:t>hiệu</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ứng</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nhiệt</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đẳng</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tích</a:t>
                </a:r>
                <a:r>
                  <a:rPr lang="en-US" sz="2000" b="1" dirty="0" smtClean="0">
                    <a:solidFill>
                      <a:srgbClr val="3366FF"/>
                    </a:solidFill>
                    <a:latin typeface="Arial" pitchFamily="34" charset="0"/>
                    <a:cs typeface="Arial" pitchFamily="34" charset="0"/>
                    <a:sym typeface="Symbol"/>
                  </a:rPr>
                  <a:t> (</a:t>
                </a:r>
                <a:r>
                  <a:rPr lang="en-US" sz="2000" b="1" dirty="0" smtClean="0">
                    <a:solidFill>
                      <a:srgbClr val="3366FF"/>
                    </a:solidFill>
                    <a:latin typeface="Arial" pitchFamily="34" charset="0"/>
                    <a:cs typeface="Arial" pitchFamily="34" charset="0"/>
                  </a:rPr>
                  <a:t>Q</a:t>
                </a:r>
                <a:r>
                  <a:rPr lang="en-US" sz="2000" b="1" baseline="-25000" dirty="0" smtClean="0">
                    <a:solidFill>
                      <a:srgbClr val="3366FF"/>
                    </a:solidFill>
                    <a:latin typeface="Arial" pitchFamily="34" charset="0"/>
                    <a:cs typeface="Arial" pitchFamily="34" charset="0"/>
                  </a:rPr>
                  <a:t>V</a:t>
                </a:r>
                <a:r>
                  <a:rPr lang="en-US" sz="2000" b="1" dirty="0" smtClean="0">
                    <a:solidFill>
                      <a:srgbClr val="3366FF"/>
                    </a:solidFill>
                    <a:latin typeface="Arial" pitchFamily="34" charset="0"/>
                    <a:cs typeface="Arial" pitchFamily="34" charset="0"/>
                  </a:rPr>
                  <a:t> </a:t>
                </a:r>
                <a:r>
                  <a:rPr lang="en-US" sz="2000" b="1" dirty="0">
                    <a:solidFill>
                      <a:srgbClr val="3366FF"/>
                    </a:solidFill>
                    <a:latin typeface="Arial" pitchFamily="34" charset="0"/>
                    <a:cs typeface="Arial" pitchFamily="34" charset="0"/>
                  </a:rPr>
                  <a:t>= </a:t>
                </a:r>
                <a:r>
                  <a:rPr lang="en-US" sz="2000" b="1" dirty="0">
                    <a:solidFill>
                      <a:srgbClr val="3366FF"/>
                    </a:solidFill>
                    <a:latin typeface="Arial" pitchFamily="34" charset="0"/>
                    <a:cs typeface="Arial" pitchFamily="34" charset="0"/>
                    <a:sym typeface="Symbol"/>
                  </a:rPr>
                  <a:t></a:t>
                </a:r>
                <a:r>
                  <a:rPr lang="en-US" sz="2000" b="1" dirty="0" smtClean="0">
                    <a:solidFill>
                      <a:srgbClr val="3366FF"/>
                    </a:solidFill>
                    <a:latin typeface="Arial" pitchFamily="34" charset="0"/>
                    <a:cs typeface="Arial" pitchFamily="34" charset="0"/>
                    <a:sym typeface="Symbol"/>
                  </a:rPr>
                  <a:t>U) </a:t>
                </a:r>
                <a:r>
                  <a:rPr lang="en-US" sz="2000" b="1" dirty="0" err="1" smtClean="0">
                    <a:solidFill>
                      <a:srgbClr val="3366FF"/>
                    </a:solidFill>
                    <a:latin typeface="Arial" pitchFamily="34" charset="0"/>
                    <a:cs typeface="Arial" pitchFamily="34" charset="0"/>
                    <a:sym typeface="Symbol"/>
                  </a:rPr>
                  <a:t>của</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pư</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hóa</a:t>
                </a:r>
                <a:r>
                  <a:rPr lang="en-US" sz="2000" b="1" dirty="0" smtClean="0">
                    <a:solidFill>
                      <a:srgbClr val="3366FF"/>
                    </a:solidFill>
                    <a:latin typeface="Arial" pitchFamily="34" charset="0"/>
                    <a:cs typeface="Arial" pitchFamily="34" charset="0"/>
                    <a:sym typeface="Symbol"/>
                  </a:rPr>
                  <a:t> </a:t>
                </a:r>
                <a:r>
                  <a:rPr lang="en-US" sz="2000" b="1" dirty="0" err="1" smtClean="0">
                    <a:solidFill>
                      <a:srgbClr val="3366FF"/>
                    </a:solidFill>
                    <a:latin typeface="Arial" pitchFamily="34" charset="0"/>
                    <a:cs typeface="Arial" pitchFamily="34" charset="0"/>
                    <a:sym typeface="Symbol"/>
                  </a:rPr>
                  <a:t>học</a:t>
                </a:r>
                <a:r>
                  <a:rPr lang="vi-VN" sz="2000" b="1" dirty="0" smtClean="0">
                    <a:solidFill>
                      <a:srgbClr val="3366FF"/>
                    </a:solidFill>
                    <a:latin typeface="Arial" pitchFamily="34" charset="0"/>
                    <a:cs typeface="Arial" pitchFamily="34" charset="0"/>
                    <a:sym typeface="Symbol"/>
                  </a:rPr>
                  <a:t> (A’ = 0)</a:t>
                </a:r>
                <a:r>
                  <a:rPr lang="en-US" sz="2000" b="1" dirty="0" smtClean="0">
                    <a:solidFill>
                      <a:srgbClr val="3366FF"/>
                    </a:solidFill>
                    <a:latin typeface="Arial" pitchFamily="34" charset="0"/>
                    <a:cs typeface="Arial" pitchFamily="34" charset="0"/>
                    <a:sym typeface="Symbol"/>
                  </a:rPr>
                  <a:t>: </a:t>
                </a:r>
              </a:p>
              <a:p>
                <a:pPr marL="342900" indent="-342900">
                  <a:buFont typeface="Wingdings" pitchFamily="2" charset="2"/>
                  <a:buChar char="ü"/>
                </a:pPr>
                <a:r>
                  <a:rPr lang="en-US" sz="2000" dirty="0" err="1" smtClean="0">
                    <a:solidFill>
                      <a:schemeClr val="accent4">
                        <a:lumMod val="50000"/>
                      </a:schemeClr>
                    </a:solidFill>
                    <a:latin typeface="Arial" pitchFamily="34" charset="0"/>
                    <a:cs typeface="Arial" pitchFamily="34" charset="0"/>
                    <a:sym typeface="Symbol"/>
                  </a:rPr>
                  <a:t>Phụ</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thuộc</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vào</a:t>
                </a:r>
                <a:r>
                  <a:rPr lang="en-US" sz="2000" dirty="0" smtClean="0">
                    <a:solidFill>
                      <a:schemeClr val="accent4">
                        <a:lumMod val="50000"/>
                      </a:schemeClr>
                    </a:solidFill>
                    <a:latin typeface="Arial" pitchFamily="34" charset="0"/>
                    <a:cs typeface="Arial" pitchFamily="34" charset="0"/>
                    <a:sym typeface="Symbol"/>
                  </a:rPr>
                  <a:t> </a:t>
                </a:r>
                <a:r>
                  <a:rPr lang="en-US" sz="2000" dirty="0" err="1">
                    <a:solidFill>
                      <a:schemeClr val="accent4">
                        <a:lumMod val="50000"/>
                      </a:schemeClr>
                    </a:solidFill>
                    <a:latin typeface="Arial" pitchFamily="34" charset="0"/>
                    <a:cs typeface="Arial" pitchFamily="34" charset="0"/>
                    <a:sym typeface="Symbol"/>
                  </a:rPr>
                  <a:t>b</a:t>
                </a:r>
                <a:r>
                  <a:rPr lang="en-US" sz="2000" dirty="0" err="1" smtClean="0">
                    <a:solidFill>
                      <a:schemeClr val="accent4">
                        <a:lumMod val="50000"/>
                      </a:schemeClr>
                    </a:solidFill>
                    <a:latin typeface="Arial" pitchFamily="34" charset="0"/>
                    <a:cs typeface="Arial" pitchFamily="34" charset="0"/>
                    <a:sym typeface="Symbol"/>
                  </a:rPr>
                  <a:t>ản</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chất</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và</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trạng</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thái</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của</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các</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chất</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đầu</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và</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sản</a:t>
                </a:r>
                <a:r>
                  <a:rPr lang="en-US" sz="2000" dirty="0" smtClean="0">
                    <a:solidFill>
                      <a:schemeClr val="accent4">
                        <a:lumMod val="50000"/>
                      </a:schemeClr>
                    </a:solidFill>
                    <a:latin typeface="Arial" pitchFamily="34" charset="0"/>
                    <a:cs typeface="Arial" pitchFamily="34" charset="0"/>
                    <a:sym typeface="Symbol"/>
                  </a:rPr>
                  <a:t> </a:t>
                </a:r>
                <a:r>
                  <a:rPr lang="en-US" sz="2000" dirty="0" err="1" smtClean="0">
                    <a:solidFill>
                      <a:schemeClr val="accent4">
                        <a:lumMod val="50000"/>
                      </a:schemeClr>
                    </a:solidFill>
                    <a:latin typeface="Arial" pitchFamily="34" charset="0"/>
                    <a:cs typeface="Arial" pitchFamily="34" charset="0"/>
                    <a:sym typeface="Symbol"/>
                  </a:rPr>
                  <a:t>phẩm</a:t>
                </a:r>
                <a:r>
                  <a:rPr lang="en-US" sz="2000" dirty="0" smtClean="0">
                    <a:solidFill>
                      <a:schemeClr val="accent4">
                        <a:lumMod val="50000"/>
                      </a:schemeClr>
                    </a:solidFill>
                    <a:latin typeface="Arial" pitchFamily="34" charset="0"/>
                    <a:cs typeface="Arial" pitchFamily="34" charset="0"/>
                    <a:sym typeface="Symbol"/>
                  </a:rPr>
                  <a:t>.</a:t>
                </a:r>
              </a:p>
              <a:p>
                <a:pPr marL="342900" indent="-342900">
                  <a:buFont typeface="Wingdings" pitchFamily="2" charset="2"/>
                  <a:buChar char="ü"/>
                </a:pPr>
                <a:r>
                  <a:rPr lang="en-US" sz="2000" dirty="0" err="1" smtClean="0">
                    <a:solidFill>
                      <a:srgbClr val="008000"/>
                    </a:solidFill>
                    <a:latin typeface="Arial" pitchFamily="34" charset="0"/>
                    <a:cs typeface="Arial" pitchFamily="34" charset="0"/>
                    <a:sym typeface="Symbol"/>
                  </a:rPr>
                  <a:t>Không</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phụ</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thuộc</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vào</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đường</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đi</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của</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quá</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trình</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nghĩa</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là</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không</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phụ</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thuộc</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vào</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số</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và</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đặc</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điểm</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của</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giai</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đoạn</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trung</a:t>
                </a:r>
                <a:r>
                  <a:rPr lang="en-US" sz="2000" dirty="0" smtClean="0">
                    <a:solidFill>
                      <a:srgbClr val="008000"/>
                    </a:solidFill>
                    <a:latin typeface="Arial" pitchFamily="34" charset="0"/>
                    <a:cs typeface="Arial" pitchFamily="34" charset="0"/>
                    <a:sym typeface="Symbol"/>
                  </a:rPr>
                  <a:t> </a:t>
                </a:r>
                <a:r>
                  <a:rPr lang="en-US" sz="2000" dirty="0" err="1" smtClean="0">
                    <a:solidFill>
                      <a:srgbClr val="008000"/>
                    </a:solidFill>
                    <a:latin typeface="Arial" pitchFamily="34" charset="0"/>
                    <a:cs typeface="Arial" pitchFamily="34" charset="0"/>
                    <a:sym typeface="Symbol"/>
                  </a:rPr>
                  <a:t>gian</a:t>
                </a:r>
                <a:r>
                  <a:rPr lang="en-US" sz="2000" dirty="0" smtClean="0">
                    <a:solidFill>
                      <a:srgbClr val="008000"/>
                    </a:solidFill>
                    <a:latin typeface="Arial" pitchFamily="34" charset="0"/>
                    <a:cs typeface="Arial" pitchFamily="34" charset="0"/>
                    <a:sym typeface="Symbol"/>
                  </a:rPr>
                  <a:t>.</a:t>
                </a:r>
              </a:p>
              <a:p>
                <a:pPr marL="342900" indent="-342900">
                  <a:buFont typeface="Wingdings" pitchFamily="2" charset="2"/>
                  <a:buChar char="ü"/>
                </a:pPr>
                <a:r>
                  <a:rPr lang="en-US" sz="2000" dirty="0" smtClean="0">
                    <a:solidFill>
                      <a:srgbClr val="9933FF"/>
                    </a:solidFill>
                    <a:latin typeface="Arial" pitchFamily="34" charset="0"/>
                    <a:cs typeface="Arial" pitchFamily="34" charset="0"/>
                    <a:sym typeface="Symbol"/>
                  </a:rPr>
                  <a:t>Phụ </a:t>
                </a:r>
                <a:r>
                  <a:rPr lang="en-US" sz="2000" dirty="0" err="1" smtClean="0">
                    <a:solidFill>
                      <a:srgbClr val="9933FF"/>
                    </a:solidFill>
                    <a:latin typeface="Arial" pitchFamily="34" charset="0"/>
                    <a:cs typeface="Arial" pitchFamily="34" charset="0"/>
                    <a:sym typeface="Symbol"/>
                  </a:rPr>
                  <a:t>thuộc</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vào</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nhiệt</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độ</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phản</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ứng</a:t>
                </a:r>
                <a:r>
                  <a:rPr lang="en-US" sz="2000" dirty="0" smtClean="0">
                    <a:solidFill>
                      <a:srgbClr val="9933FF"/>
                    </a:solidFill>
                    <a:latin typeface="Arial" pitchFamily="34" charset="0"/>
                    <a:cs typeface="Arial" pitchFamily="34" charset="0"/>
                    <a:sym typeface="Symbol"/>
                  </a:rPr>
                  <a:t>. (</a:t>
                </a:r>
                <a:r>
                  <a:rPr lang="en-US" sz="2000" dirty="0">
                    <a:solidFill>
                      <a:srgbClr val="9933FF"/>
                    </a:solidFill>
                    <a:latin typeface="Arial" pitchFamily="34" charset="0"/>
                    <a:cs typeface="Arial" pitchFamily="34" charset="0"/>
                    <a:sym typeface="Symbol"/>
                  </a:rPr>
                  <a:t>H </a:t>
                </a:r>
                <a:r>
                  <a:rPr lang="vi-VN" sz="2000" dirty="0" smtClean="0">
                    <a:solidFill>
                      <a:srgbClr val="9933FF"/>
                    </a:solidFill>
                    <a:latin typeface="Arial" pitchFamily="34" charset="0"/>
                    <a:cs typeface="Arial" pitchFamily="34" charset="0"/>
                    <a:sym typeface="Symbol"/>
                  </a:rPr>
                  <a:t>thay đổi theo nhiệt độ </a:t>
                </a:r>
                <a:r>
                  <a:rPr lang="en-US" sz="2000" dirty="0" err="1" smtClean="0">
                    <a:solidFill>
                      <a:srgbClr val="9933FF"/>
                    </a:solidFill>
                    <a:latin typeface="Arial" pitchFamily="34" charset="0"/>
                    <a:cs typeface="Arial" pitchFamily="34" charset="0"/>
                    <a:sym typeface="Symbol"/>
                  </a:rPr>
                  <a:t>không</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nhiều</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ví</a:t>
                </a:r>
                <a:r>
                  <a:rPr lang="en-US" sz="2000" dirty="0" smtClean="0">
                    <a:solidFill>
                      <a:srgbClr val="9933FF"/>
                    </a:solidFill>
                    <a:latin typeface="Arial" pitchFamily="34" charset="0"/>
                    <a:cs typeface="Arial" pitchFamily="34" charset="0"/>
                    <a:sym typeface="Symbol"/>
                  </a:rPr>
                  <a:t> </a:t>
                </a:r>
                <a:r>
                  <a:rPr lang="en-US" sz="2000" dirty="0" err="1" smtClean="0">
                    <a:solidFill>
                      <a:srgbClr val="9933FF"/>
                    </a:solidFill>
                    <a:latin typeface="Arial" pitchFamily="34" charset="0"/>
                    <a:cs typeface="Arial" pitchFamily="34" charset="0"/>
                    <a:sym typeface="Symbol"/>
                  </a:rPr>
                  <a:t>dụ</a:t>
                </a:r>
                <a:r>
                  <a:rPr lang="en-US" sz="2000" dirty="0" smtClean="0">
                    <a:solidFill>
                      <a:srgbClr val="9933FF"/>
                    </a:solidFill>
                    <a:latin typeface="Arial" pitchFamily="34" charset="0"/>
                    <a:cs typeface="Arial" pitchFamily="34" charset="0"/>
                    <a:sym typeface="Symbol"/>
                  </a:rPr>
                  <a:t> </a:t>
                </a:r>
                <a14:m>
                  <m:oMath xmlns:m="http://schemas.openxmlformats.org/officeDocument/2006/math">
                    <m:sSubSup>
                      <m:sSubSupPr>
                        <m:ctrlPr>
                          <a:rPr lang="en-US" sz="2000" b="1" i="1">
                            <a:solidFill>
                              <a:srgbClr val="9933FF"/>
                            </a:solidFill>
                            <a:latin typeface="Cambria Math"/>
                          </a:rPr>
                        </m:ctrlPr>
                      </m:sSubSupPr>
                      <m:e>
                        <m:r>
                          <a:rPr lang="en-US" sz="2000" b="1">
                            <a:solidFill>
                              <a:srgbClr val="9933FF"/>
                            </a:solidFill>
                            <a:latin typeface="Cambria Math" panose="02040503050406030204" pitchFamily="18" charset="0"/>
                          </a:rPr>
                          <m:t> </m:t>
                        </m:r>
                        <m:r>
                          <a:rPr lang="en-US" sz="2000" b="1">
                            <a:solidFill>
                              <a:srgbClr val="9933FF"/>
                            </a:solidFill>
                            <a:latin typeface="Cambria Math" panose="02040503050406030204" pitchFamily="18" charset="0"/>
                            <a:ea typeface="Cambria Math" panose="02040503050406030204" pitchFamily="18" charset="0"/>
                          </a:rPr>
                          <m:t>∆</m:t>
                        </m:r>
                        <m:r>
                          <a:rPr lang="en-US" sz="2000" b="1" i="1">
                            <a:solidFill>
                              <a:srgbClr val="9933FF"/>
                            </a:solidFill>
                            <a:latin typeface="Cambria Math"/>
                            <a:ea typeface="Cambria Math" panose="02040503050406030204" pitchFamily="18" charset="0"/>
                          </a:rPr>
                          <m:t>𝑯</m:t>
                        </m:r>
                      </m:e>
                      <m:sub>
                        <m:r>
                          <a:rPr lang="en-US" sz="2000" b="1" i="1">
                            <a:solidFill>
                              <a:srgbClr val="9933FF"/>
                            </a:solidFill>
                            <a:latin typeface="Cambria Math" panose="02040503050406030204" pitchFamily="18" charset="0"/>
                          </a:rPr>
                          <m:t>𝟐𝟗𝟖</m:t>
                        </m:r>
                        <m:r>
                          <a:rPr lang="en-US" sz="2000" b="1">
                            <a:solidFill>
                              <a:srgbClr val="9933FF"/>
                            </a:solidFill>
                            <a:latin typeface="Cambria Math" panose="02040503050406030204" pitchFamily="18" charset="0"/>
                          </a:rPr>
                          <m:t> </m:t>
                        </m:r>
                      </m:sub>
                      <m:sup>
                        <m:r>
                          <a:rPr lang="en-US" sz="2000" b="1" i="1">
                            <a:solidFill>
                              <a:srgbClr val="9933FF"/>
                            </a:solidFill>
                            <a:latin typeface="Cambria Math" panose="02040503050406030204" pitchFamily="18" charset="0"/>
                          </a:rPr>
                          <m:t>𝟎</m:t>
                        </m:r>
                      </m:sup>
                    </m:sSubSup>
                  </m:oMath>
                </a14:m>
                <a:r>
                  <a:rPr lang="en-US" sz="2000" dirty="0" smtClean="0">
                    <a:solidFill>
                      <a:srgbClr val="9933FF"/>
                    </a:solidFill>
                    <a:latin typeface="Arial" pitchFamily="34" charset="0"/>
                    <a:cs typeface="Arial" pitchFamily="34" charset="0"/>
                    <a:sym typeface="Symbol"/>
                  </a:rPr>
                  <a:t>  </a:t>
                </a:r>
                <a14:m>
                  <m:oMath xmlns:m="http://schemas.openxmlformats.org/officeDocument/2006/math">
                    <m:sSubSup>
                      <m:sSubSupPr>
                        <m:ctrlPr>
                          <a:rPr lang="en-US" sz="2000" b="1" i="1">
                            <a:solidFill>
                              <a:srgbClr val="9933FF"/>
                            </a:solidFill>
                            <a:latin typeface="Cambria Math"/>
                          </a:rPr>
                        </m:ctrlPr>
                      </m:sSubSupPr>
                      <m:e>
                        <m:r>
                          <a:rPr lang="en-US" sz="2000" b="1">
                            <a:solidFill>
                              <a:srgbClr val="9933FF"/>
                            </a:solidFill>
                            <a:latin typeface="Cambria Math" panose="02040503050406030204" pitchFamily="18" charset="0"/>
                          </a:rPr>
                          <m:t> </m:t>
                        </m:r>
                        <m:r>
                          <a:rPr lang="en-US" sz="2000" b="1">
                            <a:solidFill>
                              <a:srgbClr val="9933FF"/>
                            </a:solidFill>
                            <a:latin typeface="Cambria Math" panose="02040503050406030204" pitchFamily="18" charset="0"/>
                            <a:ea typeface="Cambria Math" panose="02040503050406030204" pitchFamily="18" charset="0"/>
                          </a:rPr>
                          <m:t>∆</m:t>
                        </m:r>
                        <m:r>
                          <a:rPr lang="en-US" sz="2000" b="1" i="1">
                            <a:solidFill>
                              <a:srgbClr val="9933FF"/>
                            </a:solidFill>
                            <a:latin typeface="Cambria Math"/>
                            <a:ea typeface="Cambria Math" panose="02040503050406030204" pitchFamily="18" charset="0"/>
                          </a:rPr>
                          <m:t>𝑯</m:t>
                        </m:r>
                      </m:e>
                      <m:sub>
                        <m:r>
                          <a:rPr lang="en-US" sz="2000" b="1" i="0" smtClean="0">
                            <a:solidFill>
                              <a:srgbClr val="9933FF"/>
                            </a:solidFill>
                            <a:latin typeface="Cambria Math"/>
                            <a:ea typeface="Cambria Math" panose="02040503050406030204" pitchFamily="18" charset="0"/>
                          </a:rPr>
                          <m:t>𝟒𝟎𝟎</m:t>
                        </m:r>
                        <m:r>
                          <a:rPr lang="en-US" sz="2000" b="1">
                            <a:solidFill>
                              <a:srgbClr val="9933FF"/>
                            </a:solidFill>
                            <a:latin typeface="Cambria Math" panose="02040503050406030204" pitchFamily="18" charset="0"/>
                          </a:rPr>
                          <m:t> </m:t>
                        </m:r>
                      </m:sub>
                      <m:sup>
                        <m:r>
                          <a:rPr lang="en-US" sz="2000" b="1" i="1">
                            <a:solidFill>
                              <a:srgbClr val="9933FF"/>
                            </a:solidFill>
                            <a:latin typeface="Cambria Math" panose="02040503050406030204" pitchFamily="18" charset="0"/>
                          </a:rPr>
                          <m:t>𝟎</m:t>
                        </m:r>
                      </m:sup>
                    </m:sSubSup>
                  </m:oMath>
                </a14:m>
                <a:r>
                  <a:rPr lang="en-US" sz="2000" dirty="0" smtClean="0">
                    <a:solidFill>
                      <a:srgbClr val="9933FF"/>
                    </a:solidFill>
                    <a:latin typeface="Arial" pitchFamily="34" charset="0"/>
                    <a:cs typeface="Arial" pitchFamily="34" charset="0"/>
                    <a:sym typeface="Symbol"/>
                  </a:rPr>
                  <a:t>)</a:t>
                </a:r>
              </a:p>
              <a:p>
                <a:pPr marL="342900" indent="-342900">
                  <a:buFont typeface="Wingdings" pitchFamily="2" charset="2"/>
                  <a:buChar char="ü"/>
                </a:pPr>
                <a:r>
                  <a:rPr lang="en-US" sz="2000" dirty="0" err="1" smtClean="0">
                    <a:solidFill>
                      <a:srgbClr val="002060"/>
                    </a:solidFill>
                    <a:latin typeface="Arial" pitchFamily="34" charset="0"/>
                    <a:cs typeface="Arial" pitchFamily="34" charset="0"/>
                    <a:sym typeface="Symbol"/>
                  </a:rPr>
                  <a:t>Tùy</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thuộc</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vào</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cách</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thiết</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lập</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các</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hệ</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số</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tỉ</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lượng</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của</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phương</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trình</a:t>
                </a:r>
                <a:r>
                  <a:rPr lang="en-US" sz="2000" dirty="0" smtClean="0">
                    <a:solidFill>
                      <a:srgbClr val="002060"/>
                    </a:solidFill>
                    <a:latin typeface="Arial" pitchFamily="34" charset="0"/>
                    <a:cs typeface="Arial" pitchFamily="34" charset="0"/>
                    <a:sym typeface="Symbol"/>
                  </a:rPr>
                  <a:t> </a:t>
                </a:r>
                <a:r>
                  <a:rPr lang="en-US" sz="2000" dirty="0" err="1" smtClean="0">
                    <a:solidFill>
                      <a:srgbClr val="002060"/>
                    </a:solidFill>
                    <a:latin typeface="Arial" pitchFamily="34" charset="0"/>
                    <a:cs typeface="Arial" pitchFamily="34" charset="0"/>
                    <a:sym typeface="Symbol"/>
                  </a:rPr>
                  <a:t>pư</a:t>
                </a:r>
                <a:r>
                  <a:rPr lang="en-US" sz="2000" dirty="0" smtClean="0">
                    <a:solidFill>
                      <a:srgbClr val="002060"/>
                    </a:solidFill>
                    <a:latin typeface="Arial" pitchFamily="34" charset="0"/>
                    <a:cs typeface="Arial" pitchFamily="34" charset="0"/>
                    <a:sym typeface="Symbol"/>
                  </a:rPr>
                  <a:t>.</a:t>
                </a:r>
                <a:r>
                  <a:rPr lang="en-US" sz="2000" dirty="0" smtClean="0">
                    <a:solidFill>
                      <a:srgbClr val="002060"/>
                    </a:solidFill>
                    <a:latin typeface="Arial" pitchFamily="34" charset="0"/>
                    <a:cs typeface="Arial" pitchFamily="34" charset="0"/>
                  </a:rPr>
                  <a:t> </a:t>
                </a:r>
                <a:endParaRPr lang="en-US" sz="2000" dirty="0">
                  <a:solidFill>
                    <a:srgbClr val="002060"/>
                  </a:solidFill>
                  <a:latin typeface="Arial" pitchFamily="34" charset="0"/>
                  <a:cs typeface="Arial"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27065" y="4539230"/>
                <a:ext cx="12181115" cy="1961884"/>
              </a:xfrm>
              <a:prstGeom prst="rect">
                <a:avLst/>
              </a:prstGeom>
              <a:blipFill rotWithShape="1">
                <a:blip r:embed="rId2"/>
                <a:stretch>
                  <a:fillRect l="-551" t="-1558" b="-4984"/>
                </a:stretch>
              </a:blipFill>
            </p:spPr>
            <p:txBody>
              <a:bodyPr/>
              <a:lstStyle/>
              <a:p>
                <a:r>
                  <a:rPr lang="en-US">
                    <a:noFill/>
                  </a:rPr>
                  <a:t> </a:t>
                </a:r>
              </a:p>
            </p:txBody>
          </p:sp>
        </mc:Fallback>
      </mc:AlternateContent>
    </p:spTree>
    <p:extLst>
      <p:ext uri="{BB962C8B-B14F-4D97-AF65-F5344CB8AC3E}">
        <p14:creationId xmlns:p14="http://schemas.microsoft.com/office/powerpoint/2010/main" val="26968209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A07BE66-C692-4F29-B9EA-F38F0E063F1D}"/>
              </a:ext>
            </a:extLst>
          </p:cNvPr>
          <p:cNvSpPr>
            <a:spLocks noGrp="1"/>
          </p:cNvSpPr>
          <p:nvPr>
            <p:ph idx="1"/>
          </p:nvPr>
        </p:nvSpPr>
        <p:spPr>
          <a:xfrm>
            <a:off x="428624" y="152400"/>
            <a:ext cx="11620501" cy="6181725"/>
          </a:xfrm>
        </p:spPr>
        <p:txBody>
          <a:bodyPr>
            <a:normAutofit fontScale="77500" lnSpcReduction="20000"/>
          </a:bodyPr>
          <a:lstStyle/>
          <a:p>
            <a:pPr marL="0" indent="0">
              <a:lnSpc>
                <a:spcPct val="150000"/>
              </a:lnSpc>
              <a:buNone/>
            </a:pPr>
            <a:r>
              <a:rPr lang="en-US" sz="3500" b="1" dirty="0" err="1">
                <a:solidFill>
                  <a:srgbClr val="0000FF"/>
                </a:solidFill>
                <a:latin typeface="Arial" pitchFamily="34" charset="0"/>
                <a:cs typeface="Arial" pitchFamily="34" charset="0"/>
              </a:rPr>
              <a:t>Câu</a:t>
            </a:r>
            <a:r>
              <a:rPr lang="en-US" sz="3500" b="1" dirty="0">
                <a:solidFill>
                  <a:srgbClr val="0000FF"/>
                </a:solidFill>
                <a:latin typeface="Arial" pitchFamily="34" charset="0"/>
                <a:cs typeface="Arial" pitchFamily="34" charset="0"/>
              </a:rPr>
              <a:t> </a:t>
            </a:r>
            <a:r>
              <a:rPr lang="vi-VN" sz="3500" b="1" dirty="0" smtClean="0">
                <a:solidFill>
                  <a:srgbClr val="0000FF"/>
                </a:solidFill>
                <a:latin typeface="Arial" pitchFamily="34" charset="0"/>
                <a:cs typeface="Arial" pitchFamily="34" charset="0"/>
              </a:rPr>
              <a:t>3</a:t>
            </a:r>
            <a:r>
              <a:rPr lang="en-US" sz="3500" dirty="0" smtClean="0">
                <a:latin typeface="Arial" pitchFamily="34" charset="0"/>
                <a:cs typeface="Arial" pitchFamily="34" charset="0"/>
              </a:rPr>
              <a:t>. </a:t>
            </a:r>
            <a:r>
              <a:rPr lang="en-US" sz="3500" dirty="0" err="1">
                <a:latin typeface="Arial" pitchFamily="34" charset="0"/>
                <a:cs typeface="Arial" pitchFamily="34" charset="0"/>
              </a:rPr>
              <a:t>Chọn</a:t>
            </a:r>
            <a:r>
              <a:rPr lang="en-US" sz="3500" dirty="0">
                <a:latin typeface="Arial" pitchFamily="34" charset="0"/>
                <a:cs typeface="Arial" pitchFamily="34" charset="0"/>
              </a:rPr>
              <a:t> </a:t>
            </a:r>
            <a:r>
              <a:rPr lang="en-US" sz="3500" dirty="0" err="1">
                <a:latin typeface="Arial" pitchFamily="34" charset="0"/>
                <a:cs typeface="Arial" pitchFamily="34" charset="0"/>
              </a:rPr>
              <a:t>ph</a:t>
            </a:r>
            <a:r>
              <a:rPr lang="vi-VN" sz="3500" dirty="0">
                <a:latin typeface="Arial" pitchFamily="34" charset="0"/>
                <a:cs typeface="Arial" pitchFamily="34" charset="0"/>
              </a:rPr>
              <a:t>ư</a:t>
            </a:r>
            <a:r>
              <a:rPr lang="en-US" sz="3500" dirty="0" err="1">
                <a:latin typeface="Arial" pitchFamily="34" charset="0"/>
                <a:cs typeface="Arial" pitchFamily="34" charset="0"/>
              </a:rPr>
              <a:t>ơng</a:t>
            </a:r>
            <a:r>
              <a:rPr lang="en-US" sz="3500" dirty="0">
                <a:latin typeface="Arial" pitchFamily="34" charset="0"/>
                <a:cs typeface="Arial" pitchFamily="34" charset="0"/>
              </a:rPr>
              <a:t> </a:t>
            </a:r>
            <a:r>
              <a:rPr lang="en-US" sz="3500" dirty="0" err="1">
                <a:latin typeface="Arial" pitchFamily="34" charset="0"/>
                <a:cs typeface="Arial" pitchFamily="34" charset="0"/>
              </a:rPr>
              <a:t>án</a:t>
            </a:r>
            <a:r>
              <a:rPr lang="en-US" sz="3500" dirty="0">
                <a:latin typeface="Arial" pitchFamily="34" charset="0"/>
                <a:cs typeface="Arial" pitchFamily="34" charset="0"/>
              </a:rPr>
              <a:t> </a:t>
            </a:r>
            <a:r>
              <a:rPr lang="en-US" sz="3500" b="1" dirty="0" err="1">
                <a:latin typeface="Arial" pitchFamily="34" charset="0"/>
                <a:cs typeface="Arial" pitchFamily="34" charset="0"/>
              </a:rPr>
              <a:t>đúng</a:t>
            </a:r>
            <a:r>
              <a:rPr lang="en-US" sz="3500" b="1" dirty="0">
                <a:latin typeface="Arial" pitchFamily="34" charset="0"/>
                <a:cs typeface="Arial" pitchFamily="34" charset="0"/>
              </a:rPr>
              <a:t>.</a:t>
            </a:r>
            <a:r>
              <a:rPr lang="en-US" sz="3500" dirty="0">
                <a:latin typeface="Arial" pitchFamily="34" charset="0"/>
                <a:cs typeface="Arial" pitchFamily="34" charset="0"/>
              </a:rPr>
              <a:t> Ở 1atm, 25</a:t>
            </a:r>
            <a:r>
              <a:rPr lang="en-US" sz="3500" baseline="30000" dirty="0">
                <a:latin typeface="Arial" pitchFamily="34" charset="0"/>
                <a:cs typeface="Arial" pitchFamily="34" charset="0"/>
              </a:rPr>
              <a:t>0</a:t>
            </a:r>
            <a:r>
              <a:rPr lang="en-US" sz="3500" dirty="0">
                <a:latin typeface="Arial" pitchFamily="34" charset="0"/>
                <a:cs typeface="Arial" pitchFamily="34" charset="0"/>
              </a:rPr>
              <a:t>C </a:t>
            </a:r>
            <a:r>
              <a:rPr lang="en-US" sz="3500" dirty="0" err="1">
                <a:latin typeface="Arial" pitchFamily="34" charset="0"/>
                <a:cs typeface="Arial" pitchFamily="34" charset="0"/>
              </a:rPr>
              <a:t>phản</a:t>
            </a:r>
            <a:r>
              <a:rPr lang="en-US" sz="3500" dirty="0">
                <a:latin typeface="Arial" pitchFamily="34" charset="0"/>
                <a:cs typeface="Arial" pitchFamily="34" charset="0"/>
              </a:rPr>
              <a:t> </a:t>
            </a:r>
            <a:r>
              <a:rPr lang="en-US" sz="3500" dirty="0" err="1">
                <a:latin typeface="Arial" pitchFamily="34" charset="0"/>
                <a:cs typeface="Arial" pitchFamily="34" charset="0"/>
              </a:rPr>
              <a:t>ứng</a:t>
            </a:r>
            <a:r>
              <a:rPr lang="en-US" sz="3500" dirty="0">
                <a:latin typeface="Arial" pitchFamily="34" charset="0"/>
                <a:cs typeface="Arial" pitchFamily="34" charset="0"/>
              </a:rPr>
              <a:t>: </a:t>
            </a:r>
          </a:p>
          <a:p>
            <a:pPr marL="0" indent="0">
              <a:lnSpc>
                <a:spcPct val="150000"/>
              </a:lnSpc>
              <a:buNone/>
            </a:pPr>
            <a:r>
              <a:rPr lang="en-US" sz="3500" dirty="0">
                <a:latin typeface="Arial" pitchFamily="34" charset="0"/>
                <a:cs typeface="Arial" pitchFamily="34" charset="0"/>
              </a:rPr>
              <a:t> Zn(r) + CuSO</a:t>
            </a:r>
            <a:r>
              <a:rPr lang="en-US" sz="3500" baseline="-25000" dirty="0">
                <a:latin typeface="Arial" pitchFamily="34" charset="0"/>
                <a:cs typeface="Arial" pitchFamily="34" charset="0"/>
              </a:rPr>
              <a:t>4</a:t>
            </a:r>
            <a:r>
              <a:rPr lang="en-US" sz="3500" dirty="0">
                <a:latin typeface="Arial" pitchFamily="34" charset="0"/>
                <a:cs typeface="Arial" pitchFamily="34" charset="0"/>
              </a:rPr>
              <a:t>(dd)  = ZnSO</a:t>
            </a:r>
            <a:r>
              <a:rPr lang="en-US" sz="3500" baseline="-25000" dirty="0">
                <a:latin typeface="Arial" pitchFamily="34" charset="0"/>
                <a:cs typeface="Arial" pitchFamily="34" charset="0"/>
              </a:rPr>
              <a:t>4</a:t>
            </a:r>
            <a:r>
              <a:rPr lang="en-US" sz="3500" dirty="0">
                <a:latin typeface="Arial" pitchFamily="34" charset="0"/>
                <a:cs typeface="Arial" pitchFamily="34" charset="0"/>
              </a:rPr>
              <a:t> (dd) + Cu(r) </a:t>
            </a:r>
            <a:r>
              <a:rPr lang="en-US" sz="3500" dirty="0" err="1">
                <a:latin typeface="Arial" pitchFamily="34" charset="0"/>
                <a:cs typeface="Arial" pitchFamily="34" charset="0"/>
              </a:rPr>
              <a:t>tỏa</a:t>
            </a:r>
            <a:r>
              <a:rPr lang="en-US" sz="3500" dirty="0">
                <a:latin typeface="Arial" pitchFamily="34" charset="0"/>
                <a:cs typeface="Arial" pitchFamily="34" charset="0"/>
              </a:rPr>
              <a:t> ra </a:t>
            </a:r>
            <a:r>
              <a:rPr lang="en-US" sz="3500" dirty="0" err="1">
                <a:latin typeface="Arial" pitchFamily="34" charset="0"/>
                <a:cs typeface="Arial" pitchFamily="34" charset="0"/>
              </a:rPr>
              <a:t>nhiệt</a:t>
            </a:r>
            <a:r>
              <a:rPr lang="en-US" sz="3500" dirty="0">
                <a:latin typeface="Arial" pitchFamily="34" charset="0"/>
                <a:cs typeface="Arial" pitchFamily="34" charset="0"/>
              </a:rPr>
              <a:t> l</a:t>
            </a:r>
            <a:r>
              <a:rPr lang="vi-VN" sz="3500" dirty="0">
                <a:latin typeface="Arial" pitchFamily="34" charset="0"/>
                <a:cs typeface="Arial" pitchFamily="34" charset="0"/>
              </a:rPr>
              <a:t>ư</a:t>
            </a:r>
            <a:r>
              <a:rPr lang="en-US" sz="3500" dirty="0" err="1">
                <a:latin typeface="Arial" pitchFamily="34" charset="0"/>
                <a:cs typeface="Arial" pitchFamily="34" charset="0"/>
              </a:rPr>
              <a:t>ợng</a:t>
            </a:r>
            <a:r>
              <a:rPr lang="en-US" sz="3500" dirty="0">
                <a:latin typeface="Arial" pitchFamily="34" charset="0"/>
                <a:cs typeface="Arial" pitchFamily="34" charset="0"/>
              </a:rPr>
              <a:t> 230kJ. </a:t>
            </a:r>
          </a:p>
          <a:p>
            <a:pPr marL="0" indent="0">
              <a:lnSpc>
                <a:spcPct val="150000"/>
              </a:lnSpc>
              <a:buNone/>
            </a:pPr>
            <a:r>
              <a:rPr lang="en-US" sz="3500" dirty="0">
                <a:latin typeface="Arial" pitchFamily="34" charset="0"/>
                <a:cs typeface="Arial" pitchFamily="34" charset="0"/>
              </a:rPr>
              <a:t> </a:t>
            </a:r>
            <a:r>
              <a:rPr lang="en-US" sz="3500" dirty="0" err="1">
                <a:solidFill>
                  <a:srgbClr val="CC00FF"/>
                </a:solidFill>
                <a:latin typeface="Arial" pitchFamily="34" charset="0"/>
                <a:cs typeface="Arial" pitchFamily="34" charset="0"/>
              </a:rPr>
              <a:t>Khi</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thực</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hiện</a:t>
            </a:r>
            <a:r>
              <a:rPr lang="en-US" sz="3500" dirty="0">
                <a:solidFill>
                  <a:srgbClr val="CC00FF"/>
                </a:solidFill>
                <a:latin typeface="Arial" pitchFamily="34" charset="0"/>
                <a:cs typeface="Arial" pitchFamily="34" charset="0"/>
              </a:rPr>
              <a:t> p</a:t>
            </a:r>
            <a:r>
              <a:rPr lang="vi-VN" sz="3500" dirty="0">
                <a:solidFill>
                  <a:srgbClr val="CC00FF"/>
                </a:solidFill>
                <a:latin typeface="Arial" pitchFamily="34" charset="0"/>
                <a:cs typeface="Arial" pitchFamily="34" charset="0"/>
              </a:rPr>
              <a:t>hản ứng</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trên</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trong</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nguyên</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tố</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Ganvanic</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vẫn</a:t>
            </a:r>
            <a:r>
              <a:rPr lang="en-US" sz="3500" dirty="0">
                <a:solidFill>
                  <a:srgbClr val="CC00FF"/>
                </a:solidFill>
                <a:latin typeface="Arial" pitchFamily="34" charset="0"/>
                <a:cs typeface="Arial" pitchFamily="34" charset="0"/>
              </a:rPr>
              <a:t> ở 1atm, 25</a:t>
            </a:r>
            <a:r>
              <a:rPr lang="en-US" sz="3500" baseline="30000" dirty="0">
                <a:solidFill>
                  <a:srgbClr val="CC00FF"/>
                </a:solidFill>
                <a:latin typeface="Arial" pitchFamily="34" charset="0"/>
                <a:cs typeface="Arial" pitchFamily="34" charset="0"/>
              </a:rPr>
              <a:t>0</a:t>
            </a:r>
            <a:r>
              <a:rPr lang="en-US" sz="3500" dirty="0">
                <a:solidFill>
                  <a:srgbClr val="CC00FF"/>
                </a:solidFill>
                <a:latin typeface="Arial" pitchFamily="34" charset="0"/>
                <a:cs typeface="Arial" pitchFamily="34" charset="0"/>
              </a:rPr>
              <a:t>C </a:t>
            </a:r>
            <a:r>
              <a:rPr lang="en-US" sz="3500" dirty="0" err="1">
                <a:solidFill>
                  <a:srgbClr val="CC00FF"/>
                </a:solidFill>
                <a:latin typeface="Arial" pitchFamily="34" charset="0"/>
                <a:cs typeface="Arial" pitchFamily="34" charset="0"/>
              </a:rPr>
              <a:t>thì</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nhiệt</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tỏa</a:t>
            </a:r>
            <a:r>
              <a:rPr lang="en-US" sz="3500" dirty="0">
                <a:solidFill>
                  <a:srgbClr val="CC00FF"/>
                </a:solidFill>
                <a:latin typeface="Arial" pitchFamily="34" charset="0"/>
                <a:cs typeface="Arial" pitchFamily="34" charset="0"/>
              </a:rPr>
              <a:t>  ra 20kJ </a:t>
            </a:r>
            <a:r>
              <a:rPr lang="en-US" sz="3500" dirty="0" err="1">
                <a:solidFill>
                  <a:srgbClr val="CC00FF"/>
                </a:solidFill>
                <a:latin typeface="Arial" pitchFamily="34" charset="0"/>
                <a:cs typeface="Arial" pitchFamily="34" charset="0"/>
              </a:rPr>
              <a:t>và</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công</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có</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ích</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công</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điện</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có</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giá</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trị</a:t>
            </a:r>
            <a:r>
              <a:rPr lang="en-US" sz="3500" dirty="0">
                <a:solidFill>
                  <a:srgbClr val="CC00FF"/>
                </a:solidFill>
                <a:latin typeface="Arial" pitchFamily="34" charset="0"/>
                <a:cs typeface="Arial" pitchFamily="34" charset="0"/>
              </a:rPr>
              <a:t> </a:t>
            </a:r>
            <a:r>
              <a:rPr lang="en-US" sz="3500" dirty="0" err="1">
                <a:solidFill>
                  <a:srgbClr val="CC00FF"/>
                </a:solidFill>
                <a:latin typeface="Arial" pitchFamily="34" charset="0"/>
                <a:cs typeface="Arial" pitchFamily="34" charset="0"/>
              </a:rPr>
              <a:t>là</a:t>
            </a:r>
            <a:r>
              <a:rPr lang="en-US" sz="3500" dirty="0">
                <a:solidFill>
                  <a:srgbClr val="CC00FF"/>
                </a:solidFill>
                <a:latin typeface="Arial" pitchFamily="34" charset="0"/>
                <a:cs typeface="Arial" pitchFamily="34" charset="0"/>
              </a:rPr>
              <a:t>:</a:t>
            </a:r>
          </a:p>
          <a:p>
            <a:pPr marL="514350" indent="-514350">
              <a:lnSpc>
                <a:spcPct val="150000"/>
              </a:lnSpc>
              <a:buFont typeface="+mj-lt"/>
              <a:buAutoNum type="alphaUcPeriod"/>
            </a:pPr>
            <a:r>
              <a:rPr lang="en-US" sz="3500" b="1" dirty="0">
                <a:solidFill>
                  <a:srgbClr val="FF0000"/>
                </a:solidFill>
                <a:latin typeface="Arial" pitchFamily="34" charset="0"/>
                <a:cs typeface="Arial" pitchFamily="34" charset="0"/>
              </a:rPr>
              <a:t>+ 210 kJ</a:t>
            </a:r>
          </a:p>
          <a:p>
            <a:pPr marL="514350" indent="-514350">
              <a:lnSpc>
                <a:spcPct val="150000"/>
              </a:lnSpc>
              <a:buFont typeface="+mj-lt"/>
              <a:buAutoNum type="alphaUcPeriod"/>
            </a:pPr>
            <a:r>
              <a:rPr lang="en-US" sz="3500" b="1" dirty="0">
                <a:solidFill>
                  <a:schemeClr val="accent6">
                    <a:lumMod val="50000"/>
                  </a:schemeClr>
                </a:solidFill>
                <a:latin typeface="Arial" pitchFamily="34" charset="0"/>
                <a:cs typeface="Arial" pitchFamily="34" charset="0"/>
              </a:rPr>
              <a:t>+ 250kJ</a:t>
            </a:r>
          </a:p>
          <a:p>
            <a:pPr marL="514350" indent="-514350">
              <a:lnSpc>
                <a:spcPct val="150000"/>
              </a:lnSpc>
              <a:buFont typeface="+mj-lt"/>
              <a:buAutoNum type="alphaUcPeriod"/>
            </a:pPr>
            <a:r>
              <a:rPr lang="en-US" sz="3500" b="1" dirty="0">
                <a:solidFill>
                  <a:srgbClr val="C00000"/>
                </a:solidFill>
                <a:latin typeface="Arial" pitchFamily="34" charset="0"/>
                <a:cs typeface="Arial" pitchFamily="34" charset="0"/>
              </a:rPr>
              <a:t>- 210kJ</a:t>
            </a:r>
          </a:p>
          <a:p>
            <a:pPr marL="514350" indent="-514350">
              <a:lnSpc>
                <a:spcPct val="150000"/>
              </a:lnSpc>
              <a:buFont typeface="+mj-lt"/>
              <a:buAutoNum type="alphaUcPeriod"/>
            </a:pPr>
            <a:r>
              <a:rPr lang="en-US" sz="3500" b="1" dirty="0">
                <a:solidFill>
                  <a:srgbClr val="0000FF"/>
                </a:solidFill>
                <a:latin typeface="Arial" pitchFamily="34" charset="0"/>
                <a:cs typeface="Arial" pitchFamily="34" charset="0"/>
              </a:rPr>
              <a:t>-250 kJ</a:t>
            </a:r>
          </a:p>
          <a:p>
            <a:pPr marL="514350" indent="-514350">
              <a:buFont typeface="+mj-lt"/>
              <a:buAutoNum type="alphaUcPeriod"/>
            </a:pP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TextBox 1"/>
              <p:cNvSpPr txBox="1"/>
              <p:nvPr/>
            </p:nvSpPr>
            <p:spPr>
              <a:xfrm>
                <a:off x="2386667" y="3736149"/>
                <a:ext cx="9764785" cy="555280"/>
              </a:xfrm>
              <a:prstGeom prst="rect">
                <a:avLst/>
              </a:prstGeom>
              <a:noFill/>
            </p:spPr>
            <p:txBody>
              <a:bodyPr wrap="square" rtlCol="0">
                <a:spAutoFit/>
              </a:bodyPr>
              <a:lstStyle/>
              <a:p>
                <a:r>
                  <a:rPr lang="vi-VN" sz="2800" dirty="0" smtClean="0">
                    <a:solidFill>
                      <a:srgbClr val="0000FF"/>
                    </a:solidFill>
                  </a:rPr>
                  <a:t>Pư trực tiếp: A’ = 0 </a:t>
                </a:r>
                <a:r>
                  <a:rPr lang="vi-VN" sz="2800" dirty="0" smtClean="0">
                    <a:solidFill>
                      <a:srgbClr val="0000FF"/>
                    </a:solidFill>
                    <a:sym typeface="Symbol"/>
                  </a:rPr>
                  <a:t></a:t>
                </a:r>
                <a:r>
                  <a:rPr lang="vi-VN" sz="2800" dirty="0" smtClean="0">
                    <a:solidFill>
                      <a:srgbClr val="0000FF"/>
                    </a:solidFill>
                  </a:rPr>
                  <a:t> Q</a:t>
                </a:r>
                <a:r>
                  <a:rPr lang="vi-VN" sz="2800" baseline="-25000" dirty="0">
                    <a:solidFill>
                      <a:srgbClr val="0000FF"/>
                    </a:solidFill>
                  </a:rPr>
                  <a:t>1</a:t>
                </a:r>
                <a:r>
                  <a:rPr lang="vi-VN" sz="2800" dirty="0" smtClean="0">
                    <a:solidFill>
                      <a:srgbClr val="0000FF"/>
                    </a:solidFill>
                  </a:rPr>
                  <a:t> = </a:t>
                </a:r>
                <a:r>
                  <a:rPr lang="en-US" sz="2800" b="1" dirty="0" smtClean="0">
                    <a:solidFill>
                      <a:srgbClr val="0000FF"/>
                    </a:solidFill>
                    <a:latin typeface="Arial" pitchFamily="34" charset="0"/>
                    <a:cs typeface="Arial" pitchFamily="34" charset="0"/>
                  </a:rPr>
                  <a:t>(</a:t>
                </a:r>
                <a:r>
                  <a:rPr lang="fr-FR" altLang="en-US" sz="2800" b="1" dirty="0">
                    <a:solidFill>
                      <a:srgbClr val="0000FF"/>
                    </a:solidFill>
                    <a:latin typeface="Arial" pitchFamily="34" charset="0"/>
                    <a:ea typeface="Times New Roman" panose="02020603050405020304" pitchFamily="18" charset="0"/>
                    <a:cs typeface="Arial" pitchFamily="34" charset="0"/>
                    <a:sym typeface="Symbol" panose="05050102010706020507" pitchFamily="18" charset="2"/>
                  </a:rPr>
                  <a:t></a:t>
                </a:r>
                <a14:m>
                  <m:oMath xmlns:m="http://schemas.openxmlformats.org/officeDocument/2006/math">
                    <m:sSubSup>
                      <m:sSubSupPr>
                        <m:ctrlPr>
                          <a:rPr lang="fr-FR" altLang="en-US" sz="2800" b="1" i="1">
                            <a:solidFill>
                              <a:srgbClr val="0000FF"/>
                            </a:solidFill>
                            <a:latin typeface="Cambria Math"/>
                            <a:cs typeface="Times New Roman" panose="02020603050405020304" pitchFamily="18" charset="0"/>
                            <a:sym typeface="Symbol" panose="05050102010706020507" pitchFamily="18" charset="2"/>
                          </a:rPr>
                        </m:ctrlPr>
                      </m:sSubSupPr>
                      <m:e>
                        <m:r>
                          <a:rPr lang="en-US" altLang="en-US" sz="2800" b="1">
                            <a:solidFill>
                              <a:srgbClr val="0000FF"/>
                            </a:solidFill>
                            <a:latin typeface="Cambria Math" panose="02040503050406030204" pitchFamily="18" charset="0"/>
                            <a:cs typeface="Times New Roman" panose="02020603050405020304" pitchFamily="18" charset="0"/>
                            <a:sym typeface="Symbol" panose="05050102010706020507" pitchFamily="18" charset="2"/>
                          </a:rPr>
                          <m:t>𝐇</m:t>
                        </m:r>
                      </m:e>
                      <m:sub>
                        <m:r>
                          <a:rPr lang="en-US" altLang="en-US" sz="2800" b="1">
                            <a:solidFill>
                              <a:srgbClr val="0000FF"/>
                            </a:solidFill>
                            <a:latin typeface="Cambria Math" panose="02040503050406030204" pitchFamily="18" charset="0"/>
                            <a:cs typeface="Times New Roman" panose="02020603050405020304" pitchFamily="18" charset="0"/>
                            <a:sym typeface="Symbol" panose="05050102010706020507" pitchFamily="18" charset="2"/>
                          </a:rPr>
                          <m:t>𝟐𝟗𝟖</m:t>
                        </m:r>
                      </m:sub>
                      <m:sup>
                        <m:r>
                          <a:rPr lang="en-US" altLang="en-US" sz="2800" b="1">
                            <a:solidFill>
                              <a:srgbClr val="0000FF"/>
                            </a:solidFill>
                            <a:latin typeface="Cambria Math" panose="02040503050406030204" pitchFamily="18" charset="0"/>
                            <a:cs typeface="Times New Roman" panose="02020603050405020304" pitchFamily="18" charset="0"/>
                            <a:sym typeface="Symbol" panose="05050102010706020507" pitchFamily="18" charset="2"/>
                          </a:rPr>
                          <m:t>𝟎</m:t>
                        </m:r>
                      </m:sup>
                    </m:sSubSup>
                  </m:oMath>
                </a14:m>
                <a:r>
                  <a:rPr lang="en-US" sz="2800" b="1" dirty="0">
                    <a:solidFill>
                      <a:srgbClr val="0000FF"/>
                    </a:solidFill>
                    <a:latin typeface="Arial" pitchFamily="34" charset="0"/>
                    <a:cs typeface="Arial" pitchFamily="34" charset="0"/>
                  </a:rPr>
                  <a:t>)</a:t>
                </a:r>
                <a:r>
                  <a:rPr lang="en-US" sz="2800" b="1" baseline="-25000" dirty="0" err="1" smtClean="0">
                    <a:solidFill>
                      <a:srgbClr val="0000FF"/>
                    </a:solidFill>
                    <a:latin typeface="Arial" pitchFamily="34" charset="0"/>
                    <a:cs typeface="Arial" pitchFamily="34" charset="0"/>
                  </a:rPr>
                  <a:t>pư</a:t>
                </a:r>
                <a:r>
                  <a:rPr lang="vi-VN" sz="2800" b="1" baseline="-25000" dirty="0" smtClean="0">
                    <a:solidFill>
                      <a:srgbClr val="0000FF"/>
                    </a:solidFill>
                    <a:latin typeface="Arial" pitchFamily="34" charset="0"/>
                    <a:cs typeface="Arial" pitchFamily="34" charset="0"/>
                  </a:rPr>
                  <a:t> </a:t>
                </a:r>
                <a:r>
                  <a:rPr lang="vi-VN" sz="2800" b="1" dirty="0" smtClean="0">
                    <a:solidFill>
                      <a:srgbClr val="0000FF"/>
                    </a:solidFill>
                    <a:latin typeface="Arial" pitchFamily="34" charset="0"/>
                    <a:cs typeface="Arial" pitchFamily="34" charset="0"/>
                  </a:rPr>
                  <a:t> =</a:t>
                </a:r>
                <a:r>
                  <a:rPr lang="en-US" sz="2800" b="1" dirty="0">
                    <a:solidFill>
                      <a:srgbClr val="0000FF"/>
                    </a:solidFill>
                    <a:latin typeface="Arial" pitchFamily="34" charset="0"/>
                    <a:cs typeface="Arial" pitchFamily="34" charset="0"/>
                  </a:rPr>
                  <a:t> (</a:t>
                </a:r>
                <a:r>
                  <a:rPr lang="fr-FR" altLang="en-US" sz="2800" b="1" dirty="0">
                    <a:solidFill>
                      <a:srgbClr val="0000FF"/>
                    </a:solidFill>
                    <a:latin typeface="Arial" pitchFamily="34" charset="0"/>
                    <a:ea typeface="Times New Roman" panose="02020603050405020304" pitchFamily="18" charset="0"/>
                    <a:cs typeface="Arial" pitchFamily="34" charset="0"/>
                    <a:sym typeface="Symbol" panose="05050102010706020507" pitchFamily="18" charset="2"/>
                  </a:rPr>
                  <a:t></a:t>
                </a:r>
                <a14:m>
                  <m:oMath xmlns:m="http://schemas.openxmlformats.org/officeDocument/2006/math">
                    <m:sSubSup>
                      <m:sSubSupPr>
                        <m:ctrlPr>
                          <a:rPr lang="fr-FR" altLang="en-US" sz="2800" b="1" i="1">
                            <a:solidFill>
                              <a:srgbClr val="0000FF"/>
                            </a:solidFill>
                            <a:latin typeface="Cambria Math"/>
                            <a:cs typeface="Times New Roman" panose="02020603050405020304" pitchFamily="18" charset="0"/>
                            <a:sym typeface="Symbol" panose="05050102010706020507" pitchFamily="18" charset="2"/>
                          </a:rPr>
                        </m:ctrlPr>
                      </m:sSubSupPr>
                      <m:e>
                        <m:r>
                          <a:rPr lang="en-US" altLang="en-US" sz="2800" b="1">
                            <a:solidFill>
                              <a:srgbClr val="0000FF"/>
                            </a:solidFill>
                            <a:latin typeface="Cambria Math" panose="02040503050406030204" pitchFamily="18" charset="0"/>
                            <a:cs typeface="Times New Roman" panose="02020603050405020304" pitchFamily="18" charset="0"/>
                            <a:sym typeface="Symbol" panose="05050102010706020507" pitchFamily="18" charset="2"/>
                          </a:rPr>
                          <m:t>𝐔</m:t>
                        </m:r>
                      </m:e>
                      <m:sub>
                        <m:r>
                          <a:rPr lang="en-US" altLang="en-US" sz="2800" b="1">
                            <a:solidFill>
                              <a:srgbClr val="0000FF"/>
                            </a:solidFill>
                            <a:latin typeface="Cambria Math" panose="02040503050406030204" pitchFamily="18" charset="0"/>
                            <a:cs typeface="Times New Roman" panose="02020603050405020304" pitchFamily="18" charset="0"/>
                            <a:sym typeface="Symbol" panose="05050102010706020507" pitchFamily="18" charset="2"/>
                          </a:rPr>
                          <m:t>𝟐𝟗𝟖</m:t>
                        </m:r>
                      </m:sub>
                      <m:sup>
                        <m:r>
                          <a:rPr lang="en-US" altLang="en-US" sz="2800" b="1">
                            <a:solidFill>
                              <a:srgbClr val="0000FF"/>
                            </a:solidFill>
                            <a:latin typeface="Cambria Math" panose="02040503050406030204" pitchFamily="18" charset="0"/>
                            <a:cs typeface="Times New Roman" panose="02020603050405020304" pitchFamily="18" charset="0"/>
                            <a:sym typeface="Symbol" panose="05050102010706020507" pitchFamily="18" charset="2"/>
                          </a:rPr>
                          <m:t>𝟎</m:t>
                        </m:r>
                      </m:sup>
                    </m:sSubSup>
                  </m:oMath>
                </a14:m>
                <a:r>
                  <a:rPr lang="en-US" sz="2800" b="1" dirty="0">
                    <a:solidFill>
                      <a:srgbClr val="0000FF"/>
                    </a:solidFill>
                    <a:latin typeface="Arial" pitchFamily="34" charset="0"/>
                    <a:cs typeface="Arial" pitchFamily="34" charset="0"/>
                  </a:rPr>
                  <a:t>)</a:t>
                </a:r>
                <a:r>
                  <a:rPr lang="en-US" sz="2800" b="1" baseline="-25000" dirty="0" err="1" smtClean="0">
                    <a:solidFill>
                      <a:srgbClr val="0000FF"/>
                    </a:solidFill>
                    <a:latin typeface="Arial" pitchFamily="34" charset="0"/>
                    <a:cs typeface="Arial" pitchFamily="34" charset="0"/>
                  </a:rPr>
                  <a:t>pư</a:t>
                </a:r>
                <a:r>
                  <a:rPr lang="vi-VN" sz="2800" b="1" dirty="0" smtClean="0">
                    <a:solidFill>
                      <a:srgbClr val="0000FF"/>
                    </a:solidFill>
                    <a:latin typeface="Arial" pitchFamily="34" charset="0"/>
                    <a:cs typeface="Arial" pitchFamily="34" charset="0"/>
                  </a:rPr>
                  <a:t> = -230 kJ </a:t>
                </a:r>
                <a:r>
                  <a:rPr lang="vi-VN" sz="2800" dirty="0" smtClean="0">
                    <a:solidFill>
                      <a:srgbClr val="0000FF"/>
                    </a:solidFill>
                  </a:rPr>
                  <a:t> </a:t>
                </a:r>
                <a:endParaRPr lang="en-US" sz="2800" dirty="0">
                  <a:solidFill>
                    <a:srgbClr val="0000FF"/>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386667" y="3736149"/>
                <a:ext cx="9764785" cy="555280"/>
              </a:xfrm>
              <a:prstGeom prst="rect">
                <a:avLst/>
              </a:prstGeom>
              <a:blipFill rotWithShape="1">
                <a:blip r:embed="rId2"/>
                <a:stretch>
                  <a:fillRect l="-1312" t="-7692" r="-375" b="-27473"/>
                </a:stretch>
              </a:blipFill>
            </p:spPr>
            <p:txBody>
              <a:bodyPr/>
              <a:lstStyle/>
              <a:p>
                <a:r>
                  <a:rPr lang="en-US">
                    <a:noFill/>
                  </a:rPr>
                  <a:t> </a:t>
                </a:r>
              </a:p>
            </p:txBody>
          </p:sp>
        </mc:Fallback>
      </mc:AlternateContent>
      <p:sp>
        <p:nvSpPr>
          <p:cNvPr id="4" name="TextBox 3"/>
          <p:cNvSpPr txBox="1"/>
          <p:nvPr/>
        </p:nvSpPr>
        <p:spPr>
          <a:xfrm>
            <a:off x="2910979" y="2773707"/>
            <a:ext cx="8112155" cy="861774"/>
          </a:xfrm>
          <a:prstGeom prst="rect">
            <a:avLst/>
          </a:prstGeom>
          <a:noFill/>
        </p:spPr>
        <p:txBody>
          <a:bodyPr wrap="square" rtlCol="0">
            <a:spAutoFit/>
          </a:bodyPr>
          <a:lstStyle/>
          <a:p>
            <a:r>
              <a:rPr lang="vi-VN" sz="3200" dirty="0" smtClean="0">
                <a:solidFill>
                  <a:srgbClr val="C00000"/>
                </a:solidFill>
              </a:rPr>
              <a:t>Q = </a:t>
            </a:r>
            <a:r>
              <a:rPr lang="vi-VN" sz="3200" dirty="0" smtClean="0">
                <a:solidFill>
                  <a:srgbClr val="C00000"/>
                </a:solidFill>
                <a:sym typeface="Symbol"/>
              </a:rPr>
              <a:t></a:t>
            </a:r>
            <a:r>
              <a:rPr lang="vi-VN" sz="3200" dirty="0" smtClean="0">
                <a:solidFill>
                  <a:srgbClr val="C00000"/>
                </a:solidFill>
              </a:rPr>
              <a:t>U + A</a:t>
            </a:r>
            <a:r>
              <a:rPr lang="vi-VN" sz="3200" baseline="-25000" dirty="0" smtClean="0">
                <a:solidFill>
                  <a:srgbClr val="C00000"/>
                </a:solidFill>
              </a:rPr>
              <a:t>dãnnở</a:t>
            </a:r>
            <a:r>
              <a:rPr lang="vi-VN" sz="3200" dirty="0" smtClean="0">
                <a:solidFill>
                  <a:srgbClr val="C00000"/>
                </a:solidFill>
              </a:rPr>
              <a:t>  + A’ </a:t>
            </a:r>
            <a:r>
              <a:rPr lang="vi-VN" sz="3200" dirty="0">
                <a:solidFill>
                  <a:srgbClr val="C00000"/>
                </a:solidFill>
              </a:rPr>
              <a:t>= </a:t>
            </a:r>
            <a:r>
              <a:rPr lang="vi-VN" sz="3200" dirty="0">
                <a:solidFill>
                  <a:srgbClr val="C00000"/>
                </a:solidFill>
                <a:sym typeface="Symbol"/>
              </a:rPr>
              <a:t></a:t>
            </a:r>
            <a:r>
              <a:rPr lang="vi-VN" sz="3200" dirty="0">
                <a:solidFill>
                  <a:srgbClr val="C00000"/>
                </a:solidFill>
              </a:rPr>
              <a:t>U </a:t>
            </a:r>
            <a:r>
              <a:rPr lang="vi-VN" sz="3200" dirty="0" smtClean="0">
                <a:solidFill>
                  <a:srgbClr val="C00000"/>
                </a:solidFill>
              </a:rPr>
              <a:t> </a:t>
            </a:r>
            <a:r>
              <a:rPr lang="vi-VN" sz="3200" dirty="0">
                <a:solidFill>
                  <a:srgbClr val="C00000"/>
                </a:solidFill>
              </a:rPr>
              <a:t>+ A</a:t>
            </a:r>
            <a:r>
              <a:rPr lang="vi-VN" sz="3200" dirty="0" smtClean="0">
                <a:solidFill>
                  <a:srgbClr val="C00000"/>
                </a:solidFill>
              </a:rPr>
              <a:t>’  (</a:t>
            </a:r>
            <a:r>
              <a:rPr lang="vi-VN" sz="3200" dirty="0" smtClean="0">
                <a:solidFill>
                  <a:srgbClr val="C00000"/>
                </a:solidFill>
                <a:sym typeface="Symbol"/>
              </a:rPr>
              <a:t>n = 0)</a:t>
            </a:r>
            <a:r>
              <a:rPr lang="vi-VN" sz="3200" dirty="0" smtClean="0">
                <a:solidFill>
                  <a:srgbClr val="C00000"/>
                </a:solidFill>
              </a:rPr>
              <a:t> </a:t>
            </a:r>
            <a:endParaRPr lang="en-US" sz="3200" dirty="0">
              <a:solidFill>
                <a:srgbClr val="C00000"/>
              </a:solidFill>
            </a:endParaRPr>
          </a:p>
          <a:p>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2478946" y="4633728"/>
                <a:ext cx="9177556" cy="986167"/>
              </a:xfrm>
              <a:prstGeom prst="rect">
                <a:avLst/>
              </a:prstGeom>
              <a:noFill/>
            </p:spPr>
            <p:txBody>
              <a:bodyPr wrap="square" rtlCol="0">
                <a:spAutoFit/>
              </a:bodyPr>
              <a:lstStyle/>
              <a:p>
                <a:r>
                  <a:rPr lang="vi-VN" sz="2800" dirty="0" smtClean="0">
                    <a:solidFill>
                      <a:srgbClr val="008000"/>
                    </a:solidFill>
                  </a:rPr>
                  <a:t>Pư trong pin: A’ &gt; 0 </a:t>
                </a:r>
                <a:r>
                  <a:rPr lang="vi-VN" sz="2800" dirty="0" smtClean="0">
                    <a:solidFill>
                      <a:srgbClr val="008000"/>
                    </a:solidFill>
                    <a:sym typeface="Symbol"/>
                  </a:rPr>
                  <a:t></a:t>
                </a:r>
                <a:r>
                  <a:rPr lang="vi-VN" sz="2800" dirty="0" smtClean="0">
                    <a:solidFill>
                      <a:srgbClr val="008000"/>
                    </a:solidFill>
                  </a:rPr>
                  <a:t> Q</a:t>
                </a:r>
                <a:r>
                  <a:rPr lang="vi-VN" sz="2800" baseline="-25000" dirty="0">
                    <a:solidFill>
                      <a:srgbClr val="008000"/>
                    </a:solidFill>
                  </a:rPr>
                  <a:t>2</a:t>
                </a:r>
                <a:r>
                  <a:rPr lang="vi-VN" sz="2800" dirty="0" smtClean="0">
                    <a:solidFill>
                      <a:srgbClr val="008000"/>
                    </a:solidFill>
                  </a:rPr>
                  <a:t> = </a:t>
                </a:r>
                <a:r>
                  <a:rPr lang="en-US" sz="2800" b="1" dirty="0" smtClean="0">
                    <a:solidFill>
                      <a:srgbClr val="008000"/>
                    </a:solidFill>
                    <a:latin typeface="Arial" pitchFamily="34" charset="0"/>
                    <a:cs typeface="Arial" pitchFamily="34" charset="0"/>
                  </a:rPr>
                  <a:t> </a:t>
                </a:r>
                <a:r>
                  <a:rPr lang="en-US" sz="2800" b="1" dirty="0">
                    <a:solidFill>
                      <a:srgbClr val="008000"/>
                    </a:solidFill>
                    <a:latin typeface="Arial" pitchFamily="34" charset="0"/>
                    <a:cs typeface="Arial" pitchFamily="34" charset="0"/>
                  </a:rPr>
                  <a:t>(</a:t>
                </a:r>
                <a:r>
                  <a:rPr lang="fr-FR" altLang="en-US" sz="2800" b="1" dirty="0">
                    <a:solidFill>
                      <a:srgbClr val="008000"/>
                    </a:solidFill>
                    <a:latin typeface="Arial" pitchFamily="34" charset="0"/>
                    <a:ea typeface="Times New Roman" panose="02020603050405020304" pitchFamily="18" charset="0"/>
                    <a:cs typeface="Arial" pitchFamily="34" charset="0"/>
                    <a:sym typeface="Symbol" panose="05050102010706020507" pitchFamily="18" charset="2"/>
                  </a:rPr>
                  <a:t></a:t>
                </a:r>
                <a14:m>
                  <m:oMath xmlns:m="http://schemas.openxmlformats.org/officeDocument/2006/math">
                    <m:sSubSup>
                      <m:sSubSupPr>
                        <m:ctrlPr>
                          <a:rPr lang="fr-FR" altLang="en-US" sz="2800" b="1" i="1">
                            <a:solidFill>
                              <a:srgbClr val="008000"/>
                            </a:solidFill>
                            <a:latin typeface="Cambria Math"/>
                            <a:cs typeface="Times New Roman" panose="02020603050405020304" pitchFamily="18" charset="0"/>
                            <a:sym typeface="Symbol" panose="05050102010706020507" pitchFamily="18" charset="2"/>
                          </a:rPr>
                        </m:ctrlPr>
                      </m:sSubSupPr>
                      <m:e>
                        <m:r>
                          <a:rPr lang="en-US" altLang="en-US" sz="2800" b="1">
                            <a:solidFill>
                              <a:srgbClr val="008000"/>
                            </a:solidFill>
                            <a:latin typeface="Cambria Math" panose="02040503050406030204" pitchFamily="18" charset="0"/>
                            <a:cs typeface="Times New Roman" panose="02020603050405020304" pitchFamily="18" charset="0"/>
                            <a:sym typeface="Symbol" panose="05050102010706020507" pitchFamily="18" charset="2"/>
                          </a:rPr>
                          <m:t>𝐔</m:t>
                        </m:r>
                      </m:e>
                      <m:sub>
                        <m:r>
                          <a:rPr lang="en-US" altLang="en-US" sz="2800" b="1">
                            <a:solidFill>
                              <a:srgbClr val="008000"/>
                            </a:solidFill>
                            <a:latin typeface="Cambria Math" panose="02040503050406030204" pitchFamily="18" charset="0"/>
                            <a:cs typeface="Times New Roman" panose="02020603050405020304" pitchFamily="18" charset="0"/>
                            <a:sym typeface="Symbol" panose="05050102010706020507" pitchFamily="18" charset="2"/>
                          </a:rPr>
                          <m:t>𝟐𝟗𝟖</m:t>
                        </m:r>
                      </m:sub>
                      <m:sup>
                        <m:r>
                          <a:rPr lang="en-US" altLang="en-US" sz="2800" b="1">
                            <a:solidFill>
                              <a:srgbClr val="008000"/>
                            </a:solidFill>
                            <a:latin typeface="Cambria Math" panose="02040503050406030204" pitchFamily="18" charset="0"/>
                            <a:cs typeface="Times New Roman" panose="02020603050405020304" pitchFamily="18" charset="0"/>
                            <a:sym typeface="Symbol" panose="05050102010706020507" pitchFamily="18" charset="2"/>
                          </a:rPr>
                          <m:t>𝟎</m:t>
                        </m:r>
                      </m:sup>
                    </m:sSubSup>
                  </m:oMath>
                </a14:m>
                <a:r>
                  <a:rPr lang="en-US" sz="2800" b="1" dirty="0">
                    <a:solidFill>
                      <a:srgbClr val="008000"/>
                    </a:solidFill>
                    <a:latin typeface="Arial" pitchFamily="34" charset="0"/>
                    <a:cs typeface="Arial" pitchFamily="34" charset="0"/>
                  </a:rPr>
                  <a:t>)</a:t>
                </a:r>
                <a:r>
                  <a:rPr lang="en-US" sz="2800" b="1" baseline="-25000" dirty="0" err="1" smtClean="0">
                    <a:solidFill>
                      <a:srgbClr val="008000"/>
                    </a:solidFill>
                    <a:latin typeface="Arial" pitchFamily="34" charset="0"/>
                    <a:cs typeface="Arial" pitchFamily="34" charset="0"/>
                  </a:rPr>
                  <a:t>pư</a:t>
                </a:r>
                <a:r>
                  <a:rPr lang="vi-VN" sz="2800" b="1" dirty="0" smtClean="0">
                    <a:solidFill>
                      <a:srgbClr val="008000"/>
                    </a:solidFill>
                    <a:latin typeface="Arial" pitchFamily="34" charset="0"/>
                    <a:cs typeface="Arial" pitchFamily="34" charset="0"/>
                  </a:rPr>
                  <a:t> + A’ = - 20 kJ</a:t>
                </a:r>
              </a:p>
              <a:p>
                <a:r>
                  <a:rPr lang="vi-VN" sz="2800" b="1" dirty="0" smtClean="0">
                    <a:solidFill>
                      <a:srgbClr val="FF0000"/>
                    </a:solidFill>
                    <a:latin typeface="Arial" pitchFamily="34" charset="0"/>
                    <a:cs typeface="Arial" pitchFamily="34" charset="0"/>
                    <a:sym typeface="Symbol"/>
                  </a:rPr>
                  <a:t> A’ = </a:t>
                </a:r>
                <a:r>
                  <a:rPr lang="vi-VN" sz="2800" b="1" dirty="0" smtClean="0">
                    <a:solidFill>
                      <a:srgbClr val="FF0000"/>
                    </a:solidFill>
                    <a:latin typeface="Arial" pitchFamily="34" charset="0"/>
                    <a:cs typeface="Arial" pitchFamily="34" charset="0"/>
                  </a:rPr>
                  <a:t> + 210 kJ</a:t>
                </a:r>
                <a:r>
                  <a:rPr lang="vi-VN" sz="2800" dirty="0" smtClean="0">
                    <a:solidFill>
                      <a:srgbClr val="FF0000"/>
                    </a:solidFill>
                  </a:rPr>
                  <a:t> </a:t>
                </a:r>
                <a:endParaRPr lang="en-US" sz="2800"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478946" y="4633728"/>
                <a:ext cx="9177556" cy="986167"/>
              </a:xfrm>
              <a:prstGeom prst="rect">
                <a:avLst/>
              </a:prstGeom>
              <a:blipFill rotWithShape="1">
                <a:blip r:embed="rId3"/>
                <a:stretch>
                  <a:fillRect l="-1395" t="-3704" b="-14815"/>
                </a:stretch>
              </a:blipFill>
            </p:spPr>
            <p:txBody>
              <a:bodyPr/>
              <a:lstStyle/>
              <a:p>
                <a:r>
                  <a:rPr lang="en-US">
                    <a:noFill/>
                  </a:rPr>
                  <a:t> </a:t>
                </a:r>
              </a:p>
            </p:txBody>
          </p:sp>
        </mc:Fallback>
      </mc:AlternateContent>
    </p:spTree>
    <p:extLst>
      <p:ext uri="{BB962C8B-B14F-4D97-AF65-F5344CB8AC3E}">
        <p14:creationId xmlns:p14="http://schemas.microsoft.com/office/powerpoint/2010/main" val="2712793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353" y="283737"/>
            <a:ext cx="11998911" cy="4351338"/>
          </a:xfrm>
        </p:spPr>
        <p:txBody>
          <a:bodyPr>
            <a:noAutofit/>
          </a:bodyPr>
          <a:lstStyle/>
          <a:p>
            <a:pPr marL="0" indent="0">
              <a:buNone/>
            </a:pPr>
            <a:r>
              <a:rPr lang="en-US" b="1" dirty="0" err="1" smtClean="0">
                <a:latin typeface="Arial" pitchFamily="34" charset="0"/>
                <a:cs typeface="Arial" pitchFamily="34" charset="0"/>
              </a:rPr>
              <a:t>Câu</a:t>
            </a:r>
            <a:r>
              <a:rPr lang="en-US" b="1" dirty="0" smtClean="0">
                <a:latin typeface="Arial" pitchFamily="34" charset="0"/>
                <a:cs typeface="Arial" pitchFamily="34" charset="0"/>
              </a:rPr>
              <a:t> </a:t>
            </a:r>
            <a:r>
              <a:rPr lang="vi-VN" b="1" dirty="0" smtClean="0">
                <a:latin typeface="Arial" pitchFamily="34" charset="0"/>
                <a:cs typeface="Arial" pitchFamily="34" charset="0"/>
              </a:rPr>
              <a:t>4</a:t>
            </a:r>
            <a:r>
              <a:rPr lang="en-US" dirty="0" smtClean="0">
                <a:latin typeface="Arial" pitchFamily="34" charset="0"/>
                <a:cs typeface="Arial" pitchFamily="34" charset="0"/>
              </a:rPr>
              <a:t>. </a:t>
            </a:r>
            <a:r>
              <a:rPr lang="en-US" dirty="0" err="1" smtClean="0">
                <a:latin typeface="Arial" pitchFamily="34" charset="0"/>
                <a:cs typeface="Arial" pitchFamily="34" charset="0"/>
              </a:rPr>
              <a:t>Chọn</a:t>
            </a:r>
            <a:r>
              <a:rPr lang="en-US" dirty="0" smtClean="0">
                <a:latin typeface="Arial" pitchFamily="34" charset="0"/>
                <a:cs typeface="Arial" pitchFamily="34" charset="0"/>
              </a:rPr>
              <a:t> </a:t>
            </a:r>
            <a:r>
              <a:rPr lang="en-US" dirty="0" err="1" smtClean="0">
                <a:latin typeface="Arial" pitchFamily="34" charset="0"/>
                <a:cs typeface="Arial" pitchFamily="34" charset="0"/>
              </a:rPr>
              <a:t>phát</a:t>
            </a:r>
            <a:r>
              <a:rPr lang="en-US" dirty="0" smtClean="0">
                <a:latin typeface="Arial" pitchFamily="34" charset="0"/>
                <a:cs typeface="Arial" pitchFamily="34" charset="0"/>
              </a:rPr>
              <a:t> </a:t>
            </a:r>
            <a:r>
              <a:rPr lang="en-US" dirty="0" err="1" smtClean="0">
                <a:latin typeface="Arial" pitchFamily="34" charset="0"/>
                <a:cs typeface="Arial" pitchFamily="34" charset="0"/>
              </a:rPr>
              <a:t>biểu</a:t>
            </a:r>
            <a:r>
              <a:rPr lang="en-US" dirty="0" smtClean="0">
                <a:latin typeface="Arial" pitchFamily="34" charset="0"/>
                <a:cs typeface="Arial" pitchFamily="34" charset="0"/>
              </a:rPr>
              <a:t> </a:t>
            </a:r>
            <a:r>
              <a:rPr lang="en-US" dirty="0" err="1" smtClean="0">
                <a:latin typeface="Arial" pitchFamily="34" charset="0"/>
                <a:cs typeface="Arial" pitchFamily="34" charset="0"/>
              </a:rPr>
              <a:t>đúng</a:t>
            </a:r>
            <a:r>
              <a:rPr lang="en-US" dirty="0" smtClean="0">
                <a:latin typeface="Arial" pitchFamily="34" charset="0"/>
                <a:cs typeface="Arial" pitchFamily="34" charset="0"/>
              </a:rPr>
              <a:t>. Theo </a:t>
            </a:r>
            <a:r>
              <a:rPr lang="en-US" dirty="0" err="1" smtClean="0">
                <a:latin typeface="Arial" pitchFamily="34" charset="0"/>
                <a:cs typeface="Arial" pitchFamily="34" charset="0"/>
              </a:rPr>
              <a:t>nhiệt</a:t>
            </a:r>
            <a:r>
              <a:rPr lang="en-US" dirty="0" smtClean="0">
                <a:latin typeface="Arial" pitchFamily="34" charset="0"/>
                <a:cs typeface="Arial" pitchFamily="34" charset="0"/>
              </a:rPr>
              <a:t> </a:t>
            </a:r>
            <a:r>
              <a:rPr lang="en-US" dirty="0" err="1" smtClean="0">
                <a:latin typeface="Arial" pitchFamily="34" charset="0"/>
                <a:cs typeface="Arial" pitchFamily="34" charset="0"/>
              </a:rPr>
              <a:t>động</a:t>
            </a:r>
            <a:r>
              <a:rPr lang="en-US" dirty="0" smtClean="0">
                <a:latin typeface="Arial" pitchFamily="34" charset="0"/>
                <a:cs typeface="Arial" pitchFamily="34" charset="0"/>
              </a:rPr>
              <a:t> </a:t>
            </a:r>
            <a:r>
              <a:rPr lang="en-US" dirty="0" err="1" smtClean="0">
                <a:latin typeface="Arial" pitchFamily="34" charset="0"/>
                <a:cs typeface="Arial" pitchFamily="34" charset="0"/>
              </a:rPr>
              <a:t>hóa</a:t>
            </a:r>
            <a:r>
              <a:rPr lang="en-US" dirty="0" smtClean="0">
                <a:latin typeface="Arial" pitchFamily="34" charset="0"/>
                <a:cs typeface="Arial" pitchFamily="34" charset="0"/>
              </a:rPr>
              <a:t> </a:t>
            </a:r>
            <a:r>
              <a:rPr lang="en-US" dirty="0" err="1" smtClean="0">
                <a:latin typeface="Arial" pitchFamily="34" charset="0"/>
                <a:cs typeface="Arial" pitchFamily="34" charset="0"/>
              </a:rPr>
              <a:t>học</a:t>
            </a:r>
            <a:r>
              <a:rPr lang="en-US" dirty="0" smtClean="0">
                <a:latin typeface="Arial" pitchFamily="34" charset="0"/>
                <a:cs typeface="Arial" pitchFamily="34" charset="0"/>
              </a:rPr>
              <a:t>:</a:t>
            </a:r>
          </a:p>
          <a:p>
            <a:pPr marL="0" indent="0">
              <a:buNone/>
            </a:pPr>
            <a:r>
              <a:rPr lang="en-US" dirty="0" smtClean="0">
                <a:solidFill>
                  <a:srgbClr val="3366FF"/>
                </a:solidFill>
                <a:latin typeface="Arial" pitchFamily="34" charset="0"/>
                <a:cs typeface="Arial" pitchFamily="34" charset="0"/>
              </a:rPr>
              <a:t>1</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Độ</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biến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thiên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thế</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đẳng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áp</a:t>
            </a:r>
            <a:r>
              <a:rPr lang="en-US" dirty="0" smtClean="0">
                <a:solidFill>
                  <a:srgbClr val="0000FF"/>
                </a:solidFill>
                <a:latin typeface="Arial" pitchFamily="34" charset="0"/>
                <a:cs typeface="Arial" pitchFamily="34" charset="0"/>
              </a:rPr>
              <a:t> </a:t>
            </a:r>
            <a:r>
              <a:rPr lang="en-US" dirty="0" smtClean="0">
                <a:solidFill>
                  <a:srgbClr val="0000FF"/>
                </a:solidFill>
                <a:latin typeface="Arial" pitchFamily="34" charset="0"/>
                <a:cs typeface="Arial" pitchFamily="34" charset="0"/>
                <a:sym typeface="Symbol"/>
              </a:rPr>
              <a:t></a:t>
            </a:r>
            <a:r>
              <a:rPr lang="en-US" dirty="0" smtClean="0">
                <a:solidFill>
                  <a:srgbClr val="0000FF"/>
                </a:solidFill>
                <a:latin typeface="Arial" pitchFamily="34" charset="0"/>
                <a:cs typeface="Arial" pitchFamily="34" charset="0"/>
              </a:rPr>
              <a:t>G </a:t>
            </a:r>
            <a:r>
              <a:rPr lang="en-US" dirty="0" err="1" smtClean="0">
                <a:solidFill>
                  <a:srgbClr val="0000FF"/>
                </a:solidFill>
                <a:latin typeface="Arial" pitchFamily="34" charset="0"/>
                <a:cs typeface="Arial" pitchFamily="34" charset="0"/>
              </a:rPr>
              <a:t>là</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đại</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lượng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tiêu</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chuẩn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xét</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chiều</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diễn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ra</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của</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quá</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trình</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hóa</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học</a:t>
            </a:r>
            <a:r>
              <a:rPr lang="en-US" dirty="0" smtClean="0">
                <a:solidFill>
                  <a:srgbClr val="0000FF"/>
                </a:solidFill>
                <a:latin typeface="Arial" pitchFamily="34" charset="0"/>
                <a:cs typeface="Arial" pitchFamily="34" charset="0"/>
              </a:rPr>
              <a:t> ở </a:t>
            </a:r>
            <a:r>
              <a:rPr lang="en-US" u="sng" dirty="0" err="1" smtClean="0">
                <a:solidFill>
                  <a:srgbClr val="0000FF"/>
                </a:solidFill>
                <a:latin typeface="Arial" pitchFamily="34" charset="0"/>
                <a:cs typeface="Arial" pitchFamily="34" charset="0"/>
              </a:rPr>
              <a:t>điều</a:t>
            </a:r>
            <a:r>
              <a:rPr lang="en-US" u="sng" dirty="0" smtClean="0">
                <a:solidFill>
                  <a:srgbClr val="0000FF"/>
                </a:solidFill>
                <a:latin typeface="Arial" pitchFamily="34" charset="0"/>
                <a:cs typeface="Arial" pitchFamily="34" charset="0"/>
              </a:rPr>
              <a:t> </a:t>
            </a:r>
            <a:r>
              <a:rPr lang="en-US" u="sng" dirty="0" err="1" smtClean="0">
                <a:solidFill>
                  <a:srgbClr val="0000FF"/>
                </a:solidFill>
                <a:latin typeface="Arial" pitchFamily="34" charset="0"/>
                <a:cs typeface="Arial" pitchFamily="34" charset="0"/>
              </a:rPr>
              <a:t>kiện</a:t>
            </a:r>
            <a:r>
              <a:rPr lang="en-US" u="sng" dirty="0" smtClean="0">
                <a:solidFill>
                  <a:srgbClr val="0000FF"/>
                </a:solidFill>
                <a:latin typeface="Arial" pitchFamily="34" charset="0"/>
                <a:cs typeface="Arial" pitchFamily="34" charset="0"/>
              </a:rPr>
              <a:t> </a:t>
            </a:r>
            <a:r>
              <a:rPr lang="en-US" b="1" u="sng" dirty="0" err="1">
                <a:solidFill>
                  <a:srgbClr val="0000FF"/>
                </a:solidFill>
                <a:latin typeface="Arial" pitchFamily="34" charset="0"/>
                <a:cs typeface="Arial" pitchFamily="34" charset="0"/>
              </a:rPr>
              <a:t>đẳng</a:t>
            </a:r>
            <a:r>
              <a:rPr lang="en-US" b="1" u="sng" dirty="0">
                <a:solidFill>
                  <a:srgbClr val="0000FF"/>
                </a:solidFill>
                <a:latin typeface="Arial" pitchFamily="34" charset="0"/>
                <a:cs typeface="Arial" pitchFamily="34" charset="0"/>
              </a:rPr>
              <a:t> </a:t>
            </a:r>
            <a:r>
              <a:rPr lang="en-US" b="1" u="sng" dirty="0" err="1">
                <a:solidFill>
                  <a:srgbClr val="0000FF"/>
                </a:solidFill>
                <a:latin typeface="Arial" pitchFamily="34" charset="0"/>
                <a:cs typeface="Arial" pitchFamily="34" charset="0"/>
              </a:rPr>
              <a:t>nhiệt</a:t>
            </a:r>
            <a:r>
              <a:rPr lang="en-US" b="1" u="sng" dirty="0">
                <a:solidFill>
                  <a:srgbClr val="0000FF"/>
                </a:solidFill>
                <a:latin typeface="Arial" pitchFamily="34" charset="0"/>
                <a:cs typeface="Arial" pitchFamily="34" charset="0"/>
              </a:rPr>
              <a:t> </a:t>
            </a:r>
            <a:r>
              <a:rPr lang="en-US" b="1" u="sng" dirty="0" err="1">
                <a:solidFill>
                  <a:srgbClr val="0000FF"/>
                </a:solidFill>
                <a:latin typeface="Arial" pitchFamily="34" charset="0"/>
                <a:cs typeface="Arial" pitchFamily="34" charset="0"/>
              </a:rPr>
              <a:t>đẳng</a:t>
            </a:r>
            <a:r>
              <a:rPr lang="en-US" b="1" u="sng" dirty="0">
                <a:solidFill>
                  <a:srgbClr val="0000FF"/>
                </a:solidFill>
                <a:latin typeface="Arial" pitchFamily="34" charset="0"/>
                <a:cs typeface="Arial" pitchFamily="34" charset="0"/>
              </a:rPr>
              <a:t> </a:t>
            </a:r>
            <a:r>
              <a:rPr lang="en-US" b="1" u="sng" dirty="0" err="1" smtClean="0">
                <a:solidFill>
                  <a:srgbClr val="0000FF"/>
                </a:solidFill>
                <a:latin typeface="Arial" pitchFamily="34" charset="0"/>
                <a:cs typeface="Arial" pitchFamily="34" charset="0"/>
              </a:rPr>
              <a:t>áp</a:t>
            </a:r>
            <a:r>
              <a:rPr lang="en-US" dirty="0" smtClean="0">
                <a:solidFill>
                  <a:srgbClr val="0000FF"/>
                </a:solidFill>
                <a:latin typeface="Arial" pitchFamily="34" charset="0"/>
                <a:cs typeface="Arial" pitchFamily="34" charset="0"/>
              </a:rPr>
              <a:t>: </a:t>
            </a:r>
            <a:r>
              <a:rPr lang="en-US" dirty="0">
                <a:solidFill>
                  <a:srgbClr val="0000FF"/>
                </a:solidFill>
                <a:latin typeface="Arial" pitchFamily="34" charset="0"/>
                <a:cs typeface="Arial" pitchFamily="34" charset="0"/>
                <a:sym typeface="Symbol"/>
              </a:rPr>
              <a:t></a:t>
            </a:r>
            <a:r>
              <a:rPr lang="en-US" dirty="0" smtClean="0">
                <a:solidFill>
                  <a:srgbClr val="0000FF"/>
                </a:solidFill>
                <a:latin typeface="Arial" pitchFamily="34" charset="0"/>
                <a:cs typeface="Arial" pitchFamily="34" charset="0"/>
                <a:sym typeface="Symbol"/>
              </a:rPr>
              <a:t>G  A’ </a:t>
            </a:r>
            <a:r>
              <a:rPr lang="en-US" dirty="0" err="1">
                <a:solidFill>
                  <a:srgbClr val="0000FF"/>
                </a:solidFill>
                <a:latin typeface="Arial" pitchFamily="34" charset="0"/>
                <a:cs typeface="Arial" pitchFamily="34" charset="0"/>
                <a:sym typeface="Symbol"/>
              </a:rPr>
              <a:t>t</a:t>
            </a:r>
            <a:r>
              <a:rPr lang="en-US" dirty="0" err="1" smtClean="0">
                <a:solidFill>
                  <a:srgbClr val="0000FF"/>
                </a:solidFill>
                <a:latin typeface="Arial" pitchFamily="34" charset="0"/>
                <a:cs typeface="Arial" pitchFamily="34" charset="0"/>
              </a:rPr>
              <a:t>rong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đó</a:t>
            </a:r>
            <a:r>
              <a:rPr lang="en-US" dirty="0" smtClean="0">
                <a:solidFill>
                  <a:srgbClr val="0000FF"/>
                </a:solidFill>
                <a:latin typeface="Arial" pitchFamily="34" charset="0"/>
                <a:cs typeface="Arial" pitchFamily="34" charset="0"/>
              </a:rPr>
              <a:t> </a:t>
            </a:r>
            <a:r>
              <a:rPr lang="vi-VN" dirty="0" smtClean="0">
                <a:solidFill>
                  <a:srgbClr val="0000FF"/>
                </a:solidFill>
                <a:latin typeface="Arial" pitchFamily="34" charset="0"/>
                <a:cs typeface="Arial" pitchFamily="34" charset="0"/>
              </a:rPr>
              <a:t>công có ích </a:t>
            </a:r>
            <a:r>
              <a:rPr lang="en-US" dirty="0" smtClean="0">
                <a:solidFill>
                  <a:srgbClr val="0000FF"/>
                </a:solidFill>
                <a:latin typeface="Arial" pitchFamily="34" charset="0"/>
                <a:cs typeface="Arial" pitchFamily="34" charset="0"/>
              </a:rPr>
              <a:t>A’ </a:t>
            </a:r>
            <a:r>
              <a:rPr lang="en-US" dirty="0" err="1" smtClean="0">
                <a:solidFill>
                  <a:srgbClr val="0000FF"/>
                </a:solidFill>
                <a:latin typeface="Arial" pitchFamily="34" charset="0"/>
                <a:cs typeface="Arial" pitchFamily="34" charset="0"/>
              </a:rPr>
              <a:t>là</a:t>
            </a:r>
            <a:r>
              <a:rPr lang="en-US" dirty="0" smtClean="0">
                <a:solidFill>
                  <a:srgbClr val="0000FF"/>
                </a:solidFill>
                <a:latin typeface="Arial" pitchFamily="34" charset="0"/>
                <a:cs typeface="Arial" pitchFamily="34" charset="0"/>
              </a:rPr>
              <a:t> </a:t>
            </a:r>
            <a:r>
              <a:rPr lang="vi-VN" dirty="0" smtClean="0">
                <a:solidFill>
                  <a:srgbClr val="0000FF"/>
                </a:solidFill>
                <a:latin typeface="Arial" pitchFamily="34" charset="0"/>
                <a:cs typeface="Arial" pitchFamily="34" charset="0"/>
              </a:rPr>
              <a:t>tất cả </a:t>
            </a:r>
            <a:r>
              <a:rPr lang="en-US" dirty="0" err="1" smtClean="0">
                <a:solidFill>
                  <a:srgbClr val="0000FF"/>
                </a:solidFill>
                <a:latin typeface="Arial" pitchFamily="34" charset="0"/>
                <a:cs typeface="Arial" pitchFamily="34" charset="0"/>
              </a:rPr>
              <a:t>công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mà</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hệ</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thực</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hiện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ngoại</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trừ</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công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dãn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nở</a:t>
            </a:r>
            <a:r>
              <a:rPr lang="en-US" dirty="0" smtClean="0">
                <a:solidFill>
                  <a:srgbClr val="0000FF"/>
                </a:solidFill>
                <a:latin typeface="Arial" pitchFamily="34" charset="0"/>
                <a:cs typeface="Arial" pitchFamily="34" charset="0"/>
              </a:rPr>
              <a:t>.</a:t>
            </a:r>
            <a:r>
              <a:rPr lang="en-US" dirty="0">
                <a:solidFill>
                  <a:srgbClr val="C00000"/>
                </a:solidFill>
                <a:latin typeface="Arial" pitchFamily="34" charset="0"/>
                <a:cs typeface="Arial" pitchFamily="34" charset="0"/>
              </a:rPr>
              <a:t> </a:t>
            </a:r>
            <a:r>
              <a:rPr lang="en-US" dirty="0">
                <a:solidFill>
                  <a:srgbClr val="0000FF"/>
                </a:solidFill>
                <a:latin typeface="Arial" pitchFamily="34" charset="0"/>
                <a:cs typeface="Arial" pitchFamily="34" charset="0"/>
              </a:rPr>
              <a:t>(</a:t>
            </a:r>
            <a:r>
              <a:rPr lang="en-US" dirty="0" smtClean="0">
                <a:solidFill>
                  <a:srgbClr val="0000FF"/>
                </a:solidFill>
                <a:latin typeface="Arial" pitchFamily="34" charset="0"/>
                <a:cs typeface="Arial" pitchFamily="34" charset="0"/>
              </a:rPr>
              <a:t>A’</a:t>
            </a:r>
            <a:r>
              <a:rPr lang="en-US" dirty="0" smtClean="0">
                <a:solidFill>
                  <a:srgbClr val="0000FF"/>
                </a:solidFill>
                <a:latin typeface="Arial" pitchFamily="34" charset="0"/>
                <a:cs typeface="Arial" pitchFamily="34" charset="0"/>
                <a:sym typeface="Symbol"/>
              </a:rPr>
              <a:t></a:t>
            </a:r>
            <a:r>
              <a:rPr lang="en-US" dirty="0" smtClean="0">
                <a:solidFill>
                  <a:srgbClr val="0000FF"/>
                </a:solidFill>
                <a:latin typeface="Arial" pitchFamily="34" charset="0"/>
                <a:cs typeface="Arial" pitchFamily="34" charset="0"/>
              </a:rPr>
              <a:t>0</a:t>
            </a:r>
            <a:r>
              <a:rPr lang="en-US" dirty="0">
                <a:solidFill>
                  <a:srgbClr val="0000FF"/>
                </a:solidFill>
                <a:latin typeface="Arial" pitchFamily="34" charset="0"/>
                <a:cs typeface="Arial" pitchFamily="34" charset="0"/>
              </a:rPr>
              <a:t>) </a:t>
            </a:r>
            <a:endParaRPr lang="en-US" dirty="0" smtClean="0">
              <a:solidFill>
                <a:srgbClr val="0000FF"/>
              </a:solidFill>
              <a:latin typeface="Arial" pitchFamily="34" charset="0"/>
              <a:cs typeface="Arial" pitchFamily="34" charset="0"/>
            </a:endParaRPr>
          </a:p>
          <a:p>
            <a:pPr marL="0" indent="0">
              <a:buNone/>
            </a:pPr>
            <a:r>
              <a:rPr lang="en-US" dirty="0" smtClean="0">
                <a:solidFill>
                  <a:schemeClr val="accent6">
                    <a:lumMod val="75000"/>
                  </a:schemeClr>
                </a:solidFill>
                <a:latin typeface="Arial" pitchFamily="34" charset="0"/>
                <a:cs typeface="Arial" pitchFamily="34" charset="0"/>
              </a:rPr>
              <a:t>2. </a:t>
            </a:r>
            <a:r>
              <a:rPr lang="en-US" dirty="0" err="1" smtClean="0">
                <a:solidFill>
                  <a:schemeClr val="accent6">
                    <a:lumMod val="75000"/>
                  </a:schemeClr>
                </a:solidFill>
                <a:latin typeface="Arial" pitchFamily="34" charset="0"/>
                <a:cs typeface="Arial" pitchFamily="34" charset="0"/>
              </a:rPr>
              <a:t>Công</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có</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ích</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sẽ</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cực</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đại</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khi</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quá</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trình</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thuận</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nghịch</a:t>
            </a:r>
            <a:r>
              <a:rPr lang="en-US" dirty="0" smtClean="0">
                <a:solidFill>
                  <a:schemeClr val="accent6">
                    <a:lumMod val="75000"/>
                  </a:schemeClr>
                </a:solidFill>
                <a:latin typeface="Arial" pitchFamily="34" charset="0"/>
                <a:cs typeface="Arial" pitchFamily="34" charset="0"/>
              </a:rPr>
              <a:t>:  </a:t>
            </a:r>
            <a:r>
              <a:rPr lang="en-US" dirty="0" err="1" smtClean="0">
                <a:solidFill>
                  <a:schemeClr val="accent6">
                    <a:lumMod val="75000"/>
                  </a:schemeClr>
                </a:solidFill>
                <a:latin typeface="Arial" pitchFamily="34" charset="0"/>
                <a:cs typeface="Arial" pitchFamily="34" charset="0"/>
              </a:rPr>
              <a:t>A’</a:t>
            </a:r>
            <a:r>
              <a:rPr lang="en-US" baseline="-25000" dirty="0" err="1" smtClean="0">
                <a:solidFill>
                  <a:schemeClr val="accent6">
                    <a:lumMod val="75000"/>
                  </a:schemeClr>
                </a:solidFill>
                <a:latin typeface="Arial" pitchFamily="34" charset="0"/>
                <a:cs typeface="Arial" pitchFamily="34" charset="0"/>
              </a:rPr>
              <a:t>max</a:t>
            </a:r>
            <a:r>
              <a:rPr lang="en-US" dirty="0" smtClean="0">
                <a:solidFill>
                  <a:schemeClr val="accent6">
                    <a:lumMod val="75000"/>
                  </a:schemeClr>
                </a:solidFill>
                <a:latin typeface="Arial" pitchFamily="34" charset="0"/>
                <a:cs typeface="Arial" pitchFamily="34" charset="0"/>
              </a:rPr>
              <a:t> = -</a:t>
            </a:r>
            <a:r>
              <a:rPr lang="en-US" dirty="0" smtClean="0">
                <a:solidFill>
                  <a:schemeClr val="accent6">
                    <a:lumMod val="75000"/>
                  </a:schemeClr>
                </a:solidFill>
                <a:latin typeface="Arial" pitchFamily="34" charset="0"/>
                <a:cs typeface="Arial" pitchFamily="34" charset="0"/>
                <a:sym typeface="Symbol"/>
              </a:rPr>
              <a:t>G hay  </a:t>
            </a:r>
            <a:r>
              <a:rPr lang="en-US" dirty="0" err="1" smtClean="0">
                <a:solidFill>
                  <a:schemeClr val="accent6">
                    <a:lumMod val="75000"/>
                  </a:schemeClr>
                </a:solidFill>
                <a:latin typeface="Arial" pitchFamily="34" charset="0"/>
                <a:cs typeface="Arial" pitchFamily="34" charset="0"/>
                <a:sym typeface="Symbol"/>
              </a:rPr>
              <a:t>biến</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thiên</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thế</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đẳng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nhiệt</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đẳng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áp</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là</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phần</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năng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lượng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của</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hệ</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có</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thể</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tự</a:t>
            </a:r>
            <a:r>
              <a:rPr lang="en-US" dirty="0" smtClean="0">
                <a:solidFill>
                  <a:schemeClr val="accent6">
                    <a:lumMod val="75000"/>
                  </a:schemeClr>
                </a:solidFill>
                <a:latin typeface="Arial" pitchFamily="34" charset="0"/>
                <a:cs typeface="Arial" pitchFamily="34" charset="0"/>
                <a:sym typeface="Symbol"/>
              </a:rPr>
              <a:t> do </a:t>
            </a:r>
            <a:r>
              <a:rPr lang="en-US" dirty="0" err="1" smtClean="0">
                <a:solidFill>
                  <a:schemeClr val="accent6">
                    <a:lumMod val="75000"/>
                  </a:schemeClr>
                </a:solidFill>
                <a:latin typeface="Arial" pitchFamily="34" charset="0"/>
                <a:cs typeface="Arial" pitchFamily="34" charset="0"/>
                <a:sym typeface="Symbol"/>
              </a:rPr>
              <a:t>chuyển</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thành</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công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có</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ích</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trong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điều</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kiện</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đẳng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nhiệt</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đẳng</a:t>
            </a:r>
            <a:r>
              <a:rPr lang="en-US" dirty="0" smtClean="0">
                <a:solidFill>
                  <a:schemeClr val="accent6">
                    <a:lumMod val="75000"/>
                  </a:schemeClr>
                </a:solidFill>
                <a:latin typeface="Arial" pitchFamily="34" charset="0"/>
                <a:cs typeface="Arial" pitchFamily="34" charset="0"/>
                <a:sym typeface="Symbol"/>
              </a:rPr>
              <a:t> </a:t>
            </a:r>
            <a:r>
              <a:rPr lang="en-US" dirty="0" err="1" smtClean="0">
                <a:solidFill>
                  <a:schemeClr val="accent6">
                    <a:lumMod val="75000"/>
                  </a:schemeClr>
                </a:solidFill>
                <a:latin typeface="Arial" pitchFamily="34" charset="0"/>
                <a:cs typeface="Arial" pitchFamily="34" charset="0"/>
                <a:sym typeface="Symbol"/>
              </a:rPr>
              <a:t>áp</a:t>
            </a:r>
            <a:r>
              <a:rPr lang="en-US" dirty="0" smtClean="0">
                <a:solidFill>
                  <a:schemeClr val="accent6">
                    <a:lumMod val="75000"/>
                  </a:schemeClr>
                </a:solidFill>
                <a:latin typeface="Arial" pitchFamily="34" charset="0"/>
                <a:cs typeface="Arial" pitchFamily="34" charset="0"/>
                <a:sym typeface="Symbol"/>
              </a:rPr>
              <a:t>.</a:t>
            </a:r>
            <a:endParaRPr lang="en-US" dirty="0" smtClean="0">
              <a:solidFill>
                <a:schemeClr val="accent6">
                  <a:lumMod val="75000"/>
                </a:schemeClr>
              </a:solidFill>
              <a:latin typeface="Arial" pitchFamily="34" charset="0"/>
              <a:cs typeface="Arial" pitchFamily="34" charset="0"/>
            </a:endParaRPr>
          </a:p>
          <a:p>
            <a:pPr marL="0" indent="0">
              <a:buNone/>
            </a:pPr>
            <a:r>
              <a:rPr lang="en-US" dirty="0" smtClean="0">
                <a:solidFill>
                  <a:srgbClr val="C00000"/>
                </a:solidFill>
                <a:latin typeface="Arial" pitchFamily="34" charset="0"/>
                <a:cs typeface="Arial" pitchFamily="34" charset="0"/>
              </a:rPr>
              <a:t>3. </a:t>
            </a:r>
            <a:r>
              <a:rPr lang="en-US" dirty="0" err="1" smtClean="0">
                <a:solidFill>
                  <a:srgbClr val="C00000"/>
                </a:solidFill>
                <a:latin typeface="Arial" pitchFamily="34" charset="0"/>
                <a:cs typeface="Arial" pitchFamily="34" charset="0"/>
              </a:rPr>
              <a:t>Hệ</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chỉ</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sinh</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công</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có</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ích</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trong</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quá</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trình</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tự</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xảy</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ra</a:t>
            </a:r>
            <a:r>
              <a:rPr lang="en-US" dirty="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gắn</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liền</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với</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sự</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giảm</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thế</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đẳng</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áp</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của</a:t>
            </a:r>
            <a:r>
              <a:rPr lang="en-US" dirty="0" smtClean="0">
                <a:solidFill>
                  <a:srgbClr val="C00000"/>
                </a:solidFill>
                <a:latin typeface="Arial" pitchFamily="34" charset="0"/>
                <a:cs typeface="Arial" pitchFamily="34" charset="0"/>
              </a:rPr>
              <a:t> </a:t>
            </a:r>
            <a:r>
              <a:rPr lang="en-US" dirty="0" err="1" smtClean="0">
                <a:solidFill>
                  <a:srgbClr val="C00000"/>
                </a:solidFill>
                <a:latin typeface="Arial" pitchFamily="34" charset="0"/>
                <a:cs typeface="Arial" pitchFamily="34" charset="0"/>
              </a:rPr>
              <a:t>hệ</a:t>
            </a:r>
            <a:r>
              <a:rPr lang="en-US" dirty="0" smtClean="0">
                <a:solidFill>
                  <a:srgbClr val="C00000"/>
                </a:solidFill>
                <a:latin typeface="Arial" pitchFamily="34" charset="0"/>
                <a:cs typeface="Arial" pitchFamily="34" charset="0"/>
              </a:rPr>
              <a:t>: </a:t>
            </a:r>
            <a:r>
              <a:rPr lang="en-US" dirty="0">
                <a:solidFill>
                  <a:srgbClr val="C00000"/>
                </a:solidFill>
                <a:latin typeface="Arial" pitchFamily="34" charset="0"/>
                <a:cs typeface="Arial" pitchFamily="34" charset="0"/>
                <a:sym typeface="Symbol"/>
              </a:rPr>
              <a:t></a:t>
            </a:r>
            <a:r>
              <a:rPr lang="en-US" dirty="0" smtClean="0">
                <a:solidFill>
                  <a:srgbClr val="C00000"/>
                </a:solidFill>
                <a:latin typeface="Arial" pitchFamily="34" charset="0"/>
                <a:cs typeface="Arial" pitchFamily="34" charset="0"/>
                <a:sym typeface="Symbol"/>
              </a:rPr>
              <a:t>G &lt; 0 . </a:t>
            </a:r>
            <a:r>
              <a:rPr lang="en-US" dirty="0" smtClean="0">
                <a:solidFill>
                  <a:srgbClr val="C00000"/>
                </a:solidFill>
                <a:latin typeface="Arial" pitchFamily="34" charset="0"/>
                <a:cs typeface="Arial" pitchFamily="34" charset="0"/>
              </a:rPr>
              <a:t> </a:t>
            </a:r>
          </a:p>
          <a:p>
            <a:pPr marL="0" indent="0">
              <a:buNone/>
            </a:pPr>
            <a:r>
              <a:rPr lang="en-US" dirty="0" smtClean="0">
                <a:latin typeface="Arial" pitchFamily="34" charset="0"/>
                <a:cs typeface="Arial" pitchFamily="34" charset="0"/>
              </a:rPr>
              <a:t>4. </a:t>
            </a:r>
            <a:r>
              <a:rPr lang="en-US" dirty="0" err="1">
                <a:latin typeface="Arial" pitchFamily="34" charset="0"/>
                <a:cs typeface="Arial" pitchFamily="34" charset="0"/>
              </a:rPr>
              <a:t>Q</a:t>
            </a:r>
            <a:r>
              <a:rPr lang="en-US" dirty="0" err="1" smtClean="0">
                <a:latin typeface="Arial" pitchFamily="34" charset="0"/>
                <a:cs typeface="Arial" pitchFamily="34" charset="0"/>
              </a:rPr>
              <a:t>uá</a:t>
            </a:r>
            <a:r>
              <a:rPr lang="en-US" dirty="0" smtClean="0">
                <a:latin typeface="Arial" pitchFamily="34" charset="0"/>
                <a:cs typeface="Arial" pitchFamily="34" charset="0"/>
              </a:rPr>
              <a:t> </a:t>
            </a:r>
            <a:r>
              <a:rPr lang="en-US" dirty="0" err="1" smtClean="0">
                <a:latin typeface="Arial" pitchFamily="34" charset="0"/>
                <a:cs typeface="Arial" pitchFamily="34" charset="0"/>
              </a:rPr>
              <a:t>trình</a:t>
            </a:r>
            <a:r>
              <a:rPr lang="en-US" dirty="0" smtClean="0">
                <a:latin typeface="Arial" pitchFamily="34" charset="0"/>
                <a:cs typeface="Arial" pitchFamily="34" charset="0"/>
              </a:rPr>
              <a:t> </a:t>
            </a:r>
            <a:r>
              <a:rPr lang="en-US" dirty="0" err="1" smtClean="0">
                <a:latin typeface="Arial" pitchFamily="34" charset="0"/>
                <a:cs typeface="Arial" pitchFamily="34" charset="0"/>
              </a:rPr>
              <a:t>không</a:t>
            </a:r>
            <a:r>
              <a:rPr lang="en-US" dirty="0" smtClean="0">
                <a:latin typeface="Arial" pitchFamily="34" charset="0"/>
                <a:cs typeface="Arial" pitchFamily="34" charset="0"/>
              </a:rPr>
              <a:t> </a:t>
            </a:r>
            <a:r>
              <a:rPr lang="en-US" dirty="0" err="1" smtClean="0">
                <a:latin typeface="Arial" pitchFamily="34" charset="0"/>
                <a:cs typeface="Arial" pitchFamily="34" charset="0"/>
              </a:rPr>
              <a:t>tự</a:t>
            </a:r>
            <a:r>
              <a:rPr lang="en-US" dirty="0" smtClean="0">
                <a:latin typeface="Arial" pitchFamily="34" charset="0"/>
                <a:cs typeface="Arial" pitchFamily="34" charset="0"/>
              </a:rPr>
              <a:t> </a:t>
            </a:r>
            <a:r>
              <a:rPr lang="en-US" dirty="0" err="1" smtClean="0">
                <a:latin typeface="Arial" pitchFamily="34" charset="0"/>
                <a:cs typeface="Arial" pitchFamily="34" charset="0"/>
              </a:rPr>
              <a:t>phát</a:t>
            </a:r>
            <a:r>
              <a:rPr lang="en-US" dirty="0" smtClean="0">
                <a:latin typeface="Arial" pitchFamily="34" charset="0"/>
                <a:cs typeface="Arial" pitchFamily="34" charset="0"/>
              </a:rPr>
              <a:t> </a:t>
            </a:r>
            <a:r>
              <a:rPr lang="en-US" dirty="0" err="1" smtClean="0">
                <a:latin typeface="Arial" pitchFamily="34" charset="0"/>
                <a:cs typeface="Arial" pitchFamily="34" charset="0"/>
              </a:rPr>
              <a:t>gắn</a:t>
            </a:r>
            <a:r>
              <a:rPr lang="en-US" dirty="0" smtClean="0">
                <a:latin typeface="Arial" pitchFamily="34" charset="0"/>
                <a:cs typeface="Arial" pitchFamily="34" charset="0"/>
              </a:rPr>
              <a:t> </a:t>
            </a:r>
            <a:r>
              <a:rPr lang="en-US" dirty="0" err="1" smtClean="0">
                <a:latin typeface="Arial" pitchFamily="34" charset="0"/>
                <a:cs typeface="Arial" pitchFamily="34" charset="0"/>
              </a:rPr>
              <a:t>liền</a:t>
            </a:r>
            <a:r>
              <a:rPr lang="en-US" dirty="0" smtClean="0">
                <a:latin typeface="Arial" pitchFamily="34" charset="0"/>
                <a:cs typeface="Arial" pitchFamily="34" charset="0"/>
              </a:rPr>
              <a:t> </a:t>
            </a:r>
            <a:r>
              <a:rPr lang="en-US" dirty="0" err="1" smtClean="0">
                <a:latin typeface="Arial" pitchFamily="34" charset="0"/>
                <a:cs typeface="Arial" pitchFamily="34" charset="0"/>
              </a:rPr>
              <a:t>với</a:t>
            </a:r>
            <a:r>
              <a:rPr lang="en-US" dirty="0" smtClean="0">
                <a:latin typeface="Arial" pitchFamily="34" charset="0"/>
                <a:cs typeface="Arial" pitchFamily="34" charset="0"/>
              </a:rPr>
              <a:t> </a:t>
            </a:r>
            <a:r>
              <a:rPr lang="en-US" dirty="0" err="1" smtClean="0">
                <a:latin typeface="Arial" pitchFamily="34" charset="0"/>
                <a:cs typeface="Arial" pitchFamily="34" charset="0"/>
              </a:rPr>
              <a:t>sự</a:t>
            </a:r>
            <a:r>
              <a:rPr lang="en-US" dirty="0" smtClean="0">
                <a:latin typeface="Arial" pitchFamily="34" charset="0"/>
                <a:cs typeface="Arial" pitchFamily="34" charset="0"/>
              </a:rPr>
              <a:t> </a:t>
            </a:r>
            <a:r>
              <a:rPr lang="en-US" dirty="0" err="1" smtClean="0">
                <a:latin typeface="Arial" pitchFamily="34" charset="0"/>
                <a:cs typeface="Arial" pitchFamily="34" charset="0"/>
              </a:rPr>
              <a:t>tăng</a:t>
            </a:r>
            <a:r>
              <a:rPr lang="en-US" dirty="0" smtClean="0">
                <a:latin typeface="Arial" pitchFamily="34" charset="0"/>
                <a:cs typeface="Arial" pitchFamily="34" charset="0"/>
              </a:rPr>
              <a:t> </a:t>
            </a:r>
            <a:r>
              <a:rPr lang="en-US" dirty="0" err="1" smtClean="0">
                <a:latin typeface="Arial" pitchFamily="34" charset="0"/>
                <a:cs typeface="Arial" pitchFamily="34" charset="0"/>
              </a:rPr>
              <a:t>thế</a:t>
            </a:r>
            <a:r>
              <a:rPr lang="en-US" dirty="0" smtClean="0">
                <a:latin typeface="Arial" pitchFamily="34" charset="0"/>
                <a:cs typeface="Arial" pitchFamily="34" charset="0"/>
              </a:rPr>
              <a:t> </a:t>
            </a:r>
            <a:r>
              <a:rPr lang="en-US" dirty="0" err="1" smtClean="0">
                <a:latin typeface="Arial" pitchFamily="34" charset="0"/>
                <a:cs typeface="Arial" pitchFamily="34" charset="0"/>
              </a:rPr>
              <a:t>đẳng</a:t>
            </a:r>
            <a:r>
              <a:rPr lang="en-US" dirty="0" smtClean="0">
                <a:latin typeface="Arial" pitchFamily="34" charset="0"/>
                <a:cs typeface="Arial" pitchFamily="34" charset="0"/>
              </a:rPr>
              <a:t> </a:t>
            </a:r>
            <a:r>
              <a:rPr lang="en-US" dirty="0" err="1" smtClean="0">
                <a:latin typeface="Arial" pitchFamily="34" charset="0"/>
                <a:cs typeface="Arial" pitchFamily="34" charset="0"/>
              </a:rPr>
              <a:t>áp</a:t>
            </a:r>
            <a:r>
              <a:rPr lang="en-US" dirty="0" smtClean="0">
                <a:latin typeface="Arial" pitchFamily="34" charset="0"/>
                <a:cs typeface="Arial" pitchFamily="34" charset="0"/>
              </a:rPr>
              <a:t>: </a:t>
            </a:r>
            <a:r>
              <a:rPr lang="en-US" dirty="0">
                <a:latin typeface="Arial" pitchFamily="34" charset="0"/>
                <a:cs typeface="Arial" pitchFamily="34" charset="0"/>
                <a:sym typeface="Symbol"/>
              </a:rPr>
              <a:t>G </a:t>
            </a:r>
            <a:r>
              <a:rPr lang="en-US" dirty="0" smtClean="0">
                <a:latin typeface="Arial" pitchFamily="34" charset="0"/>
                <a:cs typeface="Arial" pitchFamily="34" charset="0"/>
                <a:sym typeface="Symbol"/>
              </a:rPr>
              <a:t>&gt; 0.</a:t>
            </a:r>
          </a:p>
          <a:p>
            <a:pPr marL="0" indent="0">
              <a:buNone/>
            </a:pPr>
            <a:r>
              <a:rPr lang="en-US" dirty="0" smtClean="0">
                <a:solidFill>
                  <a:srgbClr val="FF00FF"/>
                </a:solidFill>
                <a:latin typeface="Arial" pitchFamily="34" charset="0"/>
                <a:cs typeface="Arial" pitchFamily="34" charset="0"/>
                <a:sym typeface="Symbol"/>
              </a:rPr>
              <a:t>5. </a:t>
            </a:r>
            <a:r>
              <a:rPr lang="en-US" dirty="0" err="1" smtClean="0">
                <a:solidFill>
                  <a:srgbClr val="FF00FF"/>
                </a:solidFill>
                <a:latin typeface="Arial" pitchFamily="34" charset="0"/>
                <a:cs typeface="Arial" pitchFamily="34" charset="0"/>
                <a:sym typeface="Symbol"/>
              </a:rPr>
              <a:t>Sự</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giảm</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thế</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đẳng</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áp</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càng</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lớn</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thì</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quá</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trình</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diễn</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ra</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càng</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mạnh</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Quá</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trình</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sẽ</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tự</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diễn</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ra</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cho</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đến</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khi</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hệ</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đạt</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trạng</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thái</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cân</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bằng</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lúc</a:t>
            </a:r>
            <a:r>
              <a:rPr lang="en-US" dirty="0" smtClean="0">
                <a:solidFill>
                  <a:srgbClr val="FF00FF"/>
                </a:solidFill>
                <a:latin typeface="Arial" pitchFamily="34" charset="0"/>
                <a:cs typeface="Arial" pitchFamily="34" charset="0"/>
                <a:sym typeface="Symbol"/>
              </a:rPr>
              <a:t> </a:t>
            </a:r>
            <a:r>
              <a:rPr lang="en-US" dirty="0" err="1" smtClean="0">
                <a:solidFill>
                  <a:srgbClr val="FF00FF"/>
                </a:solidFill>
                <a:latin typeface="Arial" pitchFamily="34" charset="0"/>
                <a:cs typeface="Arial" pitchFamily="34" charset="0"/>
                <a:sym typeface="Symbol"/>
              </a:rPr>
              <a:t>đó</a:t>
            </a:r>
            <a:r>
              <a:rPr lang="en-US" dirty="0" smtClean="0">
                <a:solidFill>
                  <a:srgbClr val="FF00FF"/>
                </a:solidFill>
                <a:latin typeface="Arial" pitchFamily="34" charset="0"/>
                <a:cs typeface="Arial" pitchFamily="34" charset="0"/>
                <a:sym typeface="Symbol"/>
              </a:rPr>
              <a:t> </a:t>
            </a:r>
            <a:r>
              <a:rPr lang="en-US" dirty="0">
                <a:solidFill>
                  <a:srgbClr val="FF00FF"/>
                </a:solidFill>
                <a:latin typeface="Arial" pitchFamily="34" charset="0"/>
                <a:cs typeface="Arial" pitchFamily="34" charset="0"/>
                <a:sym typeface="Symbol"/>
              </a:rPr>
              <a:t>G </a:t>
            </a:r>
            <a:r>
              <a:rPr lang="en-US" dirty="0" smtClean="0">
                <a:solidFill>
                  <a:srgbClr val="FF00FF"/>
                </a:solidFill>
                <a:latin typeface="Arial" pitchFamily="34" charset="0"/>
                <a:cs typeface="Arial" pitchFamily="34" charset="0"/>
                <a:sym typeface="Symbol"/>
              </a:rPr>
              <a:t>= 0. </a:t>
            </a:r>
            <a:endParaRPr lang="en-US" dirty="0">
              <a:solidFill>
                <a:srgbClr val="FF00FF"/>
              </a:solidFill>
              <a:latin typeface="Arial" pitchFamily="34" charset="0"/>
              <a:cs typeface="Arial" pitchFamily="34" charset="0"/>
            </a:endParaRPr>
          </a:p>
        </p:txBody>
      </p:sp>
      <p:sp>
        <p:nvSpPr>
          <p:cNvPr id="4" name="TextBox 3">
            <a:extLst>
              <a:ext uri="{FF2B5EF4-FFF2-40B4-BE49-F238E27FC236}">
                <a16:creationId xmlns="" xmlns:a16="http://schemas.microsoft.com/office/drawing/2014/main" id="{7E58E1D4-79CD-436A-9C8F-D09751017FAA}"/>
              </a:ext>
            </a:extLst>
          </p:cNvPr>
          <p:cNvSpPr txBox="1"/>
          <p:nvPr/>
        </p:nvSpPr>
        <p:spPr>
          <a:xfrm>
            <a:off x="8859914" y="274511"/>
            <a:ext cx="3822589" cy="523220"/>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rPr>
              <a:t>ĐÁP </a:t>
            </a: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ÁN: TẤT CẢ</a:t>
            </a:r>
            <a:endPar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172200" y="1971575"/>
                <a:ext cx="11895513" cy="5839676"/>
              </a:xfrm>
              <a:prstGeom prst="rect">
                <a:avLst/>
              </a:prstGeom>
              <a:solidFill>
                <a:schemeClr val="bg1"/>
              </a:solidFill>
            </p:spPr>
            <p:txBody>
              <a:bodyPr wrap="square" rtlCol="0">
                <a:spAutoFit/>
              </a:bodyPr>
              <a:lstStyle/>
              <a:p>
                <a:pPr>
                  <a:lnSpc>
                    <a:spcPct val="150000"/>
                  </a:lnSpc>
                </a:pPr>
                <a:r>
                  <a:rPr lang="en-US" sz="2400" b="1" dirty="0" smtClean="0">
                    <a:solidFill>
                      <a:srgbClr val="FF0000"/>
                    </a:solidFill>
                    <a:latin typeface="Arial" pitchFamily="34" charset="0"/>
                    <a:cs typeface="Arial" pitchFamily="34" charset="0"/>
                  </a:rPr>
                  <a:t>KHẢ NĂNG TỰ PHÁT CỦA QUÁ TRÌNH HÓA HỌC Ở ĐK ĐẲNG NHIỆT ĐẲNG ÁP</a:t>
                </a:r>
              </a:p>
              <a:p>
                <a:pPr>
                  <a:lnSpc>
                    <a:spcPct val="150000"/>
                  </a:lnSpc>
                </a:pPr>
                <a:r>
                  <a:rPr lang="en-US" sz="2400" b="1" dirty="0" smtClean="0">
                    <a:latin typeface="Arial" pitchFamily="34" charset="0"/>
                    <a:cs typeface="Arial" pitchFamily="34" charset="0"/>
                    <a:sym typeface="Symbol"/>
                  </a:rPr>
                  <a:t>                                        G</a:t>
                </a:r>
                <a:r>
                  <a:rPr lang="en-US" sz="2400" b="1" baseline="-25000" dirty="0" smtClean="0">
                    <a:latin typeface="Arial" pitchFamily="34" charset="0"/>
                    <a:cs typeface="Arial" pitchFamily="34" charset="0"/>
                    <a:sym typeface="Symbol"/>
                  </a:rPr>
                  <a:t>T</a:t>
                </a:r>
                <a:r>
                  <a:rPr lang="en-US" sz="2400" b="1" dirty="0" smtClean="0">
                    <a:latin typeface="Arial" pitchFamily="34" charset="0"/>
                    <a:cs typeface="Arial" pitchFamily="34" charset="0"/>
                    <a:sym typeface="Symbol"/>
                  </a:rPr>
                  <a:t> = H  -T.</a:t>
                </a:r>
                <a:r>
                  <a:rPr lang="en-US" sz="2400" b="1" dirty="0">
                    <a:latin typeface="Arial" pitchFamily="34" charset="0"/>
                    <a:cs typeface="Arial" pitchFamily="34" charset="0"/>
                    <a:sym typeface="Symbol"/>
                  </a:rPr>
                  <a:t> </a:t>
                </a:r>
                <a:r>
                  <a:rPr lang="en-US" sz="2400" b="1" dirty="0" smtClean="0">
                    <a:latin typeface="Arial" pitchFamily="34" charset="0"/>
                    <a:cs typeface="Arial" pitchFamily="34" charset="0"/>
                    <a:sym typeface="Symbol"/>
                  </a:rPr>
                  <a:t>S</a:t>
                </a:r>
              </a:p>
              <a:p>
                <a:pPr>
                  <a:lnSpc>
                    <a:spcPct val="150000"/>
                  </a:lnSpc>
                </a:pPr>
                <a:r>
                  <a:rPr lang="en-US" sz="2400" dirty="0" smtClean="0">
                    <a:solidFill>
                      <a:srgbClr val="C00000"/>
                    </a:solidFill>
                    <a:latin typeface="Arial" pitchFamily="34" charset="0"/>
                    <a:cs typeface="Arial" pitchFamily="34" charset="0"/>
                    <a:sym typeface="Symbol"/>
                  </a:rPr>
                  <a:t>  </a:t>
                </a:r>
                <a:r>
                  <a:rPr lang="en-US" sz="2800" dirty="0" smtClean="0">
                    <a:solidFill>
                      <a:srgbClr val="0000FF"/>
                    </a:solidFill>
                    <a:latin typeface="Arial" pitchFamily="34" charset="0"/>
                    <a:cs typeface="Arial" pitchFamily="34" charset="0"/>
                    <a:sym typeface="Symbol"/>
                  </a:rPr>
                  <a:t>H &lt; 0 ; S &lt; 0 : </a:t>
                </a:r>
                <a:r>
                  <a:rPr lang="en-US" sz="2800" dirty="0" err="1" smtClean="0">
                    <a:solidFill>
                      <a:srgbClr val="0000FF"/>
                    </a:solidFill>
                    <a:latin typeface="Arial" pitchFamily="34" charset="0"/>
                    <a:cs typeface="Arial" pitchFamily="34" charset="0"/>
                    <a:sym typeface="Symbol"/>
                  </a:rPr>
                  <a:t>Phản</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ứng</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có</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khả</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năng</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tự</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phát</a:t>
                </a:r>
                <a:r>
                  <a:rPr lang="en-US" sz="2800" dirty="0" smtClean="0">
                    <a:solidFill>
                      <a:srgbClr val="0000FF"/>
                    </a:solidFill>
                    <a:latin typeface="Arial" pitchFamily="34" charset="0"/>
                    <a:cs typeface="Arial" pitchFamily="34" charset="0"/>
                    <a:sym typeface="Symbol"/>
                  </a:rPr>
                  <a:t> ở </a:t>
                </a:r>
                <a:r>
                  <a:rPr lang="en-US" sz="2800" dirty="0" err="1" smtClean="0">
                    <a:solidFill>
                      <a:srgbClr val="0000FF"/>
                    </a:solidFill>
                    <a:latin typeface="Arial" pitchFamily="34" charset="0"/>
                    <a:cs typeface="Arial" pitchFamily="34" charset="0"/>
                    <a:sym typeface="Symbol"/>
                  </a:rPr>
                  <a:t>nhiệt</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độ</a:t>
                </a:r>
                <a:r>
                  <a:rPr lang="en-US" sz="2800" dirty="0" smtClean="0">
                    <a:solidFill>
                      <a:srgbClr val="0000FF"/>
                    </a:solidFill>
                    <a:latin typeface="Arial" pitchFamily="34" charset="0"/>
                    <a:cs typeface="Arial" pitchFamily="34" charset="0"/>
                    <a:sym typeface="Symbol"/>
                  </a:rPr>
                  <a:t> </a:t>
                </a:r>
                <a:r>
                  <a:rPr lang="en-US" sz="2800" dirty="0" err="1" smtClean="0">
                    <a:solidFill>
                      <a:srgbClr val="0000FF"/>
                    </a:solidFill>
                    <a:latin typeface="Arial" pitchFamily="34" charset="0"/>
                    <a:cs typeface="Arial" pitchFamily="34" charset="0"/>
                    <a:sym typeface="Symbol"/>
                  </a:rPr>
                  <a:t>thấp</a:t>
                </a:r>
                <a:r>
                  <a:rPr lang="en-US" sz="2800" dirty="0" smtClean="0">
                    <a:solidFill>
                      <a:srgbClr val="0000FF"/>
                    </a:solidFill>
                    <a:latin typeface="Arial" pitchFamily="34" charset="0"/>
                    <a:cs typeface="Arial" pitchFamily="34" charset="0"/>
                    <a:sym typeface="Symbol"/>
                  </a:rPr>
                  <a:t> (T &lt; </a:t>
                </a:r>
                <a14:m>
                  <m:oMath xmlns:m="http://schemas.openxmlformats.org/officeDocument/2006/math">
                    <m:f>
                      <m:fPr>
                        <m:ctrlPr>
                          <a:rPr lang="en-US" sz="2800" i="1" smtClean="0">
                            <a:solidFill>
                              <a:srgbClr val="0000FF"/>
                            </a:solidFill>
                            <a:latin typeface="Cambria Math"/>
                            <a:cs typeface="Arial" pitchFamily="34" charset="0"/>
                            <a:sym typeface="Symbol"/>
                          </a:rPr>
                        </m:ctrlPr>
                      </m:fPr>
                      <m:num>
                        <m:r>
                          <a:rPr lang="en-US" sz="2800" i="1" smtClean="0">
                            <a:solidFill>
                              <a:srgbClr val="0000FF"/>
                            </a:solidFill>
                            <a:latin typeface="Cambria Math"/>
                            <a:ea typeface="Cambria Math"/>
                            <a:cs typeface="Arial" pitchFamily="34" charset="0"/>
                            <a:sym typeface="Symbol"/>
                          </a:rPr>
                          <m:t>∆</m:t>
                        </m:r>
                        <m:r>
                          <a:rPr lang="en-US" sz="2800" b="0" i="1" smtClean="0">
                            <a:solidFill>
                              <a:srgbClr val="0000FF"/>
                            </a:solidFill>
                            <a:latin typeface="Cambria Math"/>
                            <a:ea typeface="Cambria Math"/>
                            <a:cs typeface="Arial" pitchFamily="34" charset="0"/>
                            <a:sym typeface="Symbol"/>
                          </a:rPr>
                          <m:t>𝐻</m:t>
                        </m:r>
                      </m:num>
                      <m:den>
                        <m:r>
                          <a:rPr lang="en-US" sz="2800" i="1" smtClean="0">
                            <a:solidFill>
                              <a:srgbClr val="0000FF"/>
                            </a:solidFill>
                            <a:latin typeface="Cambria Math"/>
                            <a:ea typeface="Cambria Math"/>
                            <a:cs typeface="Arial" pitchFamily="34" charset="0"/>
                            <a:sym typeface="Symbol"/>
                          </a:rPr>
                          <m:t>∆</m:t>
                        </m:r>
                        <m:r>
                          <a:rPr lang="en-US" sz="2800" b="0" i="1" smtClean="0">
                            <a:solidFill>
                              <a:srgbClr val="0000FF"/>
                            </a:solidFill>
                            <a:latin typeface="Cambria Math"/>
                            <a:ea typeface="Cambria Math"/>
                            <a:cs typeface="Arial" pitchFamily="34" charset="0"/>
                            <a:sym typeface="Symbol"/>
                          </a:rPr>
                          <m:t>𝑆</m:t>
                        </m:r>
                      </m:den>
                    </m:f>
                    <m:r>
                      <a:rPr lang="en-US" sz="2800" b="0" i="0" smtClean="0">
                        <a:solidFill>
                          <a:srgbClr val="0000FF"/>
                        </a:solidFill>
                        <a:latin typeface="Cambria Math"/>
                        <a:cs typeface="Arial" pitchFamily="34" charset="0"/>
                        <a:sym typeface="Symbol"/>
                      </a:rPr>
                      <m:t>).</m:t>
                    </m:r>
                  </m:oMath>
                </a14:m>
                <a:r>
                  <a:rPr lang="en-US" sz="2800" dirty="0" smtClean="0">
                    <a:solidFill>
                      <a:srgbClr val="0000FF"/>
                    </a:solidFill>
                    <a:latin typeface="Arial" pitchFamily="34" charset="0"/>
                    <a:cs typeface="Arial" pitchFamily="34" charset="0"/>
                    <a:sym typeface="Symbol"/>
                  </a:rPr>
                  <a:t> </a:t>
                </a:r>
              </a:p>
              <a:p>
                <a:pPr>
                  <a:lnSpc>
                    <a:spcPct val="150000"/>
                  </a:lnSpc>
                </a:pPr>
                <a:r>
                  <a:rPr lang="en-US" sz="2800" dirty="0" smtClean="0">
                    <a:solidFill>
                      <a:srgbClr val="C00000"/>
                    </a:solidFill>
                    <a:latin typeface="Arial" pitchFamily="34" charset="0"/>
                    <a:cs typeface="Arial" pitchFamily="34" charset="0"/>
                    <a:sym typeface="Symbol"/>
                  </a:rPr>
                  <a:t>  </a:t>
                </a:r>
                <a:r>
                  <a:rPr lang="en-US" sz="2800" dirty="0" smtClean="0">
                    <a:solidFill>
                      <a:srgbClr val="008000"/>
                    </a:solidFill>
                    <a:latin typeface="Arial" pitchFamily="34" charset="0"/>
                    <a:cs typeface="Arial" pitchFamily="34" charset="0"/>
                    <a:sym typeface="Symbol"/>
                  </a:rPr>
                  <a:t></a:t>
                </a:r>
                <a:r>
                  <a:rPr lang="en-US" sz="2800" dirty="0">
                    <a:solidFill>
                      <a:srgbClr val="008000"/>
                    </a:solidFill>
                    <a:latin typeface="Arial" pitchFamily="34" charset="0"/>
                    <a:cs typeface="Arial" pitchFamily="34" charset="0"/>
                    <a:sym typeface="Symbol"/>
                  </a:rPr>
                  <a:t>H </a:t>
                </a:r>
                <a:r>
                  <a:rPr lang="en-US" sz="2800" dirty="0" smtClean="0">
                    <a:solidFill>
                      <a:srgbClr val="008000"/>
                    </a:solidFill>
                    <a:latin typeface="Arial" pitchFamily="34" charset="0"/>
                    <a:cs typeface="Arial" pitchFamily="34" charset="0"/>
                    <a:sym typeface="Symbol"/>
                  </a:rPr>
                  <a:t>&lt; 0 </a:t>
                </a:r>
                <a:r>
                  <a:rPr lang="en-US" sz="2800" dirty="0">
                    <a:solidFill>
                      <a:srgbClr val="008000"/>
                    </a:solidFill>
                    <a:latin typeface="Arial" pitchFamily="34" charset="0"/>
                    <a:cs typeface="Arial" pitchFamily="34" charset="0"/>
                    <a:sym typeface="Symbol"/>
                  </a:rPr>
                  <a:t>; S </a:t>
                </a:r>
                <a:r>
                  <a:rPr lang="en-US" sz="2800" dirty="0" smtClean="0">
                    <a:solidFill>
                      <a:srgbClr val="008000"/>
                    </a:solidFill>
                    <a:latin typeface="Arial" pitchFamily="34" charset="0"/>
                    <a:cs typeface="Arial" pitchFamily="34" charset="0"/>
                    <a:sym typeface="Symbol"/>
                  </a:rPr>
                  <a:t>&gt; 0 </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Phản</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ứng</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có</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khả</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năng</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tự</a:t>
                </a:r>
                <a:r>
                  <a:rPr lang="en-US" sz="2800" dirty="0">
                    <a:solidFill>
                      <a:srgbClr val="008000"/>
                    </a:solidFill>
                    <a:latin typeface="Arial" pitchFamily="34" charset="0"/>
                    <a:cs typeface="Arial" pitchFamily="34" charset="0"/>
                    <a:sym typeface="Symbol"/>
                  </a:rPr>
                  <a:t> </a:t>
                </a:r>
                <a:r>
                  <a:rPr lang="en-US" sz="2800" dirty="0" err="1">
                    <a:solidFill>
                      <a:srgbClr val="008000"/>
                    </a:solidFill>
                    <a:latin typeface="Arial" pitchFamily="34" charset="0"/>
                    <a:cs typeface="Arial" pitchFamily="34" charset="0"/>
                    <a:sym typeface="Symbol"/>
                  </a:rPr>
                  <a:t>phát</a:t>
                </a:r>
                <a:r>
                  <a:rPr lang="en-US" sz="2800" dirty="0">
                    <a:solidFill>
                      <a:srgbClr val="008000"/>
                    </a:solidFill>
                    <a:latin typeface="Arial" pitchFamily="34" charset="0"/>
                    <a:cs typeface="Arial" pitchFamily="34" charset="0"/>
                    <a:sym typeface="Symbol"/>
                  </a:rPr>
                  <a:t> ở </a:t>
                </a:r>
                <a:r>
                  <a:rPr lang="en-US" sz="2800" dirty="0" err="1" smtClean="0">
                    <a:solidFill>
                      <a:srgbClr val="008000"/>
                    </a:solidFill>
                    <a:latin typeface="Arial" pitchFamily="34" charset="0"/>
                    <a:cs typeface="Arial" pitchFamily="34" charset="0"/>
                    <a:sym typeface="Symbol"/>
                  </a:rPr>
                  <a:t>mọi</a:t>
                </a:r>
                <a:r>
                  <a:rPr lang="en-US" sz="2800" dirty="0" smtClean="0">
                    <a:solidFill>
                      <a:srgbClr val="008000"/>
                    </a:solidFill>
                    <a:latin typeface="Arial" pitchFamily="34" charset="0"/>
                    <a:cs typeface="Arial" pitchFamily="34" charset="0"/>
                    <a:sym typeface="Symbol"/>
                  </a:rPr>
                  <a:t> </a:t>
                </a:r>
                <a:r>
                  <a:rPr lang="en-US" sz="2800" dirty="0" err="1" smtClean="0">
                    <a:solidFill>
                      <a:srgbClr val="008000"/>
                    </a:solidFill>
                    <a:latin typeface="Arial" pitchFamily="34" charset="0"/>
                    <a:cs typeface="Arial" pitchFamily="34" charset="0"/>
                    <a:sym typeface="Symbol"/>
                  </a:rPr>
                  <a:t>nhiệt</a:t>
                </a:r>
                <a:r>
                  <a:rPr lang="en-US" sz="2800" dirty="0" smtClean="0">
                    <a:solidFill>
                      <a:srgbClr val="008000"/>
                    </a:solidFill>
                    <a:latin typeface="Arial" pitchFamily="34" charset="0"/>
                    <a:cs typeface="Arial" pitchFamily="34" charset="0"/>
                    <a:sym typeface="Symbol"/>
                  </a:rPr>
                  <a:t> </a:t>
                </a:r>
                <a:r>
                  <a:rPr lang="en-US" sz="2800" dirty="0" err="1" smtClean="0">
                    <a:solidFill>
                      <a:srgbClr val="008000"/>
                    </a:solidFill>
                    <a:latin typeface="Arial" pitchFamily="34" charset="0"/>
                    <a:cs typeface="Arial" pitchFamily="34" charset="0"/>
                    <a:sym typeface="Symbol"/>
                  </a:rPr>
                  <a:t>độ</a:t>
                </a:r>
                <a:r>
                  <a:rPr lang="en-US" sz="2800" dirty="0" smtClean="0">
                    <a:solidFill>
                      <a:srgbClr val="008000"/>
                    </a:solidFill>
                    <a:latin typeface="Arial" pitchFamily="34" charset="0"/>
                    <a:cs typeface="Arial" pitchFamily="34" charset="0"/>
                    <a:sym typeface="Symbol"/>
                  </a:rPr>
                  <a:t>. </a:t>
                </a:r>
              </a:p>
              <a:p>
                <a:pPr>
                  <a:lnSpc>
                    <a:spcPct val="150000"/>
                  </a:lnSpc>
                </a:pPr>
                <a:r>
                  <a:rPr lang="en-US" sz="2800" b="1" dirty="0">
                    <a:solidFill>
                      <a:srgbClr val="C00000"/>
                    </a:solidFill>
                    <a:latin typeface="Arial" pitchFamily="34" charset="0"/>
                    <a:cs typeface="Arial" pitchFamily="34" charset="0"/>
                    <a:sym typeface="Symbol"/>
                  </a:rPr>
                  <a:t> </a:t>
                </a:r>
                <a:r>
                  <a:rPr lang="en-US" sz="2800" b="1" dirty="0" smtClean="0">
                    <a:solidFill>
                      <a:srgbClr val="C00000"/>
                    </a:solidFill>
                    <a:latin typeface="Arial" pitchFamily="34" charset="0"/>
                    <a:cs typeface="Arial" pitchFamily="34" charset="0"/>
                    <a:sym typeface="Symbol"/>
                  </a:rPr>
                  <a:t> </a:t>
                </a:r>
                <a:r>
                  <a:rPr lang="en-US" sz="2800" dirty="0" smtClean="0">
                    <a:solidFill>
                      <a:srgbClr val="002060"/>
                    </a:solidFill>
                    <a:latin typeface="Arial" pitchFamily="34" charset="0"/>
                    <a:cs typeface="Arial" pitchFamily="34" charset="0"/>
                    <a:sym typeface="Symbol"/>
                  </a:rPr>
                  <a:t></a:t>
                </a:r>
                <a:r>
                  <a:rPr lang="en-US" sz="2800" dirty="0">
                    <a:solidFill>
                      <a:srgbClr val="002060"/>
                    </a:solidFill>
                    <a:latin typeface="Arial" pitchFamily="34" charset="0"/>
                    <a:cs typeface="Arial" pitchFamily="34" charset="0"/>
                    <a:sym typeface="Symbol"/>
                  </a:rPr>
                  <a:t>H </a:t>
                </a:r>
                <a:r>
                  <a:rPr lang="en-US" sz="2800" dirty="0" smtClean="0">
                    <a:solidFill>
                      <a:srgbClr val="002060"/>
                    </a:solidFill>
                    <a:latin typeface="Arial" pitchFamily="34" charset="0"/>
                    <a:cs typeface="Arial" pitchFamily="34" charset="0"/>
                    <a:sym typeface="Symbol"/>
                  </a:rPr>
                  <a:t>&gt; 0 </a:t>
                </a:r>
                <a:r>
                  <a:rPr lang="en-US" sz="2800" dirty="0">
                    <a:solidFill>
                      <a:srgbClr val="002060"/>
                    </a:solidFill>
                    <a:latin typeface="Arial" pitchFamily="34" charset="0"/>
                    <a:cs typeface="Arial" pitchFamily="34" charset="0"/>
                    <a:sym typeface="Symbol"/>
                  </a:rPr>
                  <a:t>; S </a:t>
                </a:r>
                <a:r>
                  <a:rPr lang="en-US" sz="2800" dirty="0" smtClean="0">
                    <a:solidFill>
                      <a:srgbClr val="002060"/>
                    </a:solidFill>
                    <a:latin typeface="Arial" pitchFamily="34" charset="0"/>
                    <a:cs typeface="Arial" pitchFamily="34" charset="0"/>
                    <a:sym typeface="Symbol"/>
                  </a:rPr>
                  <a:t>&gt; 0 </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Phản</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ứng</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có</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khả</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năng</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tự</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phát</a:t>
                </a:r>
                <a:r>
                  <a:rPr lang="en-US" sz="2800" dirty="0">
                    <a:solidFill>
                      <a:srgbClr val="002060"/>
                    </a:solidFill>
                    <a:latin typeface="Arial" pitchFamily="34" charset="0"/>
                    <a:cs typeface="Arial" pitchFamily="34" charset="0"/>
                    <a:sym typeface="Symbol"/>
                  </a:rPr>
                  <a:t> ở </a:t>
                </a:r>
                <a:r>
                  <a:rPr lang="en-US" sz="2800" dirty="0" err="1">
                    <a:solidFill>
                      <a:srgbClr val="002060"/>
                    </a:solidFill>
                    <a:latin typeface="Arial" pitchFamily="34" charset="0"/>
                    <a:cs typeface="Arial" pitchFamily="34" charset="0"/>
                    <a:sym typeface="Symbol"/>
                  </a:rPr>
                  <a:t>nhiệt</a:t>
                </a:r>
                <a:r>
                  <a:rPr lang="en-US" sz="2800" dirty="0">
                    <a:solidFill>
                      <a:srgbClr val="002060"/>
                    </a:solidFill>
                    <a:latin typeface="Arial" pitchFamily="34" charset="0"/>
                    <a:cs typeface="Arial" pitchFamily="34" charset="0"/>
                    <a:sym typeface="Symbol"/>
                  </a:rPr>
                  <a:t> </a:t>
                </a:r>
                <a:r>
                  <a:rPr lang="en-US" sz="2800" dirty="0" err="1">
                    <a:solidFill>
                      <a:srgbClr val="002060"/>
                    </a:solidFill>
                    <a:latin typeface="Arial" pitchFamily="34" charset="0"/>
                    <a:cs typeface="Arial" pitchFamily="34" charset="0"/>
                    <a:sym typeface="Symbol"/>
                  </a:rPr>
                  <a:t>độ</a:t>
                </a:r>
                <a:r>
                  <a:rPr lang="en-US" sz="2800" dirty="0">
                    <a:solidFill>
                      <a:srgbClr val="002060"/>
                    </a:solidFill>
                    <a:latin typeface="Arial" pitchFamily="34" charset="0"/>
                    <a:cs typeface="Arial" pitchFamily="34" charset="0"/>
                    <a:sym typeface="Symbol"/>
                  </a:rPr>
                  <a:t> </a:t>
                </a:r>
                <a:r>
                  <a:rPr lang="en-US" sz="2800" dirty="0" err="1" smtClean="0">
                    <a:solidFill>
                      <a:srgbClr val="002060"/>
                    </a:solidFill>
                    <a:latin typeface="Arial" pitchFamily="34" charset="0"/>
                    <a:cs typeface="Arial" pitchFamily="34" charset="0"/>
                    <a:sym typeface="Symbol"/>
                  </a:rPr>
                  <a:t>cao</a:t>
                </a:r>
                <a:r>
                  <a:rPr lang="en-US" sz="2800" dirty="0" smtClean="0">
                    <a:solidFill>
                      <a:srgbClr val="002060"/>
                    </a:solidFill>
                    <a:latin typeface="Arial" pitchFamily="34" charset="0"/>
                    <a:cs typeface="Arial" pitchFamily="34" charset="0"/>
                    <a:sym typeface="Symbol"/>
                  </a:rPr>
                  <a:t> </a:t>
                </a:r>
                <a:r>
                  <a:rPr lang="en-US" sz="2800" dirty="0">
                    <a:solidFill>
                      <a:srgbClr val="002060"/>
                    </a:solidFill>
                    <a:latin typeface="Arial" pitchFamily="34" charset="0"/>
                    <a:cs typeface="Arial" pitchFamily="34" charset="0"/>
                    <a:sym typeface="Symbol"/>
                  </a:rPr>
                  <a:t>(T </a:t>
                </a:r>
                <a:r>
                  <a:rPr lang="en-US" sz="2800" dirty="0" smtClean="0">
                    <a:solidFill>
                      <a:srgbClr val="002060"/>
                    </a:solidFill>
                    <a:latin typeface="Arial" pitchFamily="34" charset="0"/>
                    <a:cs typeface="Arial" pitchFamily="34" charset="0"/>
                    <a:sym typeface="Symbol"/>
                  </a:rPr>
                  <a:t>&gt; </a:t>
                </a:r>
                <a14:m>
                  <m:oMath xmlns:m="http://schemas.openxmlformats.org/officeDocument/2006/math">
                    <m:f>
                      <m:fPr>
                        <m:ctrlPr>
                          <a:rPr lang="en-US" sz="2800" i="1">
                            <a:solidFill>
                              <a:srgbClr val="002060"/>
                            </a:solidFill>
                            <a:latin typeface="Cambria Math"/>
                            <a:cs typeface="Arial" pitchFamily="34" charset="0"/>
                            <a:sym typeface="Symbol"/>
                          </a:rPr>
                        </m:ctrlPr>
                      </m:fPr>
                      <m:num>
                        <m:r>
                          <a:rPr lang="en-US" sz="2800" i="1">
                            <a:solidFill>
                              <a:srgbClr val="002060"/>
                            </a:solidFill>
                            <a:latin typeface="Cambria Math"/>
                            <a:ea typeface="Cambria Math"/>
                            <a:cs typeface="Arial" pitchFamily="34" charset="0"/>
                            <a:sym typeface="Symbol"/>
                          </a:rPr>
                          <m:t>∆</m:t>
                        </m:r>
                        <m:r>
                          <a:rPr lang="en-US" sz="2800" i="1">
                            <a:solidFill>
                              <a:srgbClr val="002060"/>
                            </a:solidFill>
                            <a:latin typeface="Cambria Math"/>
                            <a:ea typeface="Cambria Math"/>
                            <a:cs typeface="Arial" pitchFamily="34" charset="0"/>
                            <a:sym typeface="Symbol"/>
                          </a:rPr>
                          <m:t>𝐻</m:t>
                        </m:r>
                      </m:num>
                      <m:den>
                        <m:r>
                          <a:rPr lang="en-US" sz="2800" i="1">
                            <a:solidFill>
                              <a:srgbClr val="002060"/>
                            </a:solidFill>
                            <a:latin typeface="Cambria Math"/>
                            <a:ea typeface="Cambria Math"/>
                            <a:cs typeface="Arial" pitchFamily="34" charset="0"/>
                            <a:sym typeface="Symbol"/>
                          </a:rPr>
                          <m:t>∆</m:t>
                        </m:r>
                        <m:r>
                          <a:rPr lang="en-US" sz="2800" i="1">
                            <a:solidFill>
                              <a:srgbClr val="002060"/>
                            </a:solidFill>
                            <a:latin typeface="Cambria Math"/>
                            <a:ea typeface="Cambria Math"/>
                            <a:cs typeface="Arial" pitchFamily="34" charset="0"/>
                            <a:sym typeface="Symbol"/>
                          </a:rPr>
                          <m:t>𝑆</m:t>
                        </m:r>
                      </m:den>
                    </m:f>
                    <m:r>
                      <a:rPr lang="en-US" sz="2800">
                        <a:solidFill>
                          <a:srgbClr val="002060"/>
                        </a:solidFill>
                        <a:latin typeface="Cambria Math"/>
                        <a:cs typeface="Arial" pitchFamily="34" charset="0"/>
                        <a:sym typeface="Symbol"/>
                      </a:rPr>
                      <m:t>)</m:t>
                    </m:r>
                  </m:oMath>
                </a14:m>
                <a:r>
                  <a:rPr lang="en-US" sz="2800" dirty="0" smtClean="0">
                    <a:solidFill>
                      <a:srgbClr val="002060"/>
                    </a:solidFill>
                    <a:latin typeface="Arial" pitchFamily="34" charset="0"/>
                    <a:cs typeface="Arial" pitchFamily="34" charset="0"/>
                    <a:sym typeface="Symbol"/>
                  </a:rPr>
                  <a:t>.</a:t>
                </a:r>
                <a:endParaRPr lang="en-US" sz="2800" dirty="0" smtClean="0">
                  <a:solidFill>
                    <a:srgbClr val="C00000"/>
                  </a:solidFill>
                  <a:latin typeface="Arial" pitchFamily="34" charset="0"/>
                  <a:cs typeface="Arial" pitchFamily="34" charset="0"/>
                  <a:sym typeface="Symbol"/>
                </a:endParaRPr>
              </a:p>
              <a:p>
                <a:pPr>
                  <a:lnSpc>
                    <a:spcPct val="150000"/>
                  </a:lnSpc>
                </a:pPr>
                <a:r>
                  <a:rPr lang="en-US" sz="2800" dirty="0">
                    <a:solidFill>
                      <a:srgbClr val="C00000"/>
                    </a:solidFill>
                    <a:latin typeface="Arial" pitchFamily="34" charset="0"/>
                    <a:cs typeface="Arial" pitchFamily="34" charset="0"/>
                    <a:sym typeface="Symbol"/>
                  </a:rPr>
                  <a:t> </a:t>
                </a:r>
                <a:r>
                  <a:rPr lang="en-US" sz="2800" dirty="0" smtClean="0">
                    <a:solidFill>
                      <a:srgbClr val="C00000"/>
                    </a:solidFill>
                    <a:latin typeface="Arial" pitchFamily="34" charset="0"/>
                    <a:cs typeface="Arial" pitchFamily="34" charset="0"/>
                    <a:sym typeface="Symbol"/>
                  </a:rPr>
                  <a:t> </a:t>
                </a:r>
                <a:r>
                  <a:rPr lang="en-US" sz="2800" dirty="0">
                    <a:solidFill>
                      <a:srgbClr val="C00000"/>
                    </a:solidFill>
                    <a:latin typeface="Arial" pitchFamily="34" charset="0"/>
                    <a:cs typeface="Arial" pitchFamily="34" charset="0"/>
                    <a:sym typeface="Symbol"/>
                  </a:rPr>
                  <a:t>H </a:t>
                </a:r>
                <a:r>
                  <a:rPr lang="en-US" sz="2800" dirty="0" smtClean="0">
                    <a:solidFill>
                      <a:srgbClr val="C00000"/>
                    </a:solidFill>
                    <a:latin typeface="Arial" pitchFamily="34" charset="0"/>
                    <a:cs typeface="Arial" pitchFamily="34" charset="0"/>
                    <a:sym typeface="Symbol"/>
                  </a:rPr>
                  <a:t>&gt; </a:t>
                </a:r>
                <a:r>
                  <a:rPr lang="en-US" sz="2800" dirty="0">
                    <a:solidFill>
                      <a:srgbClr val="C00000"/>
                    </a:solidFill>
                    <a:latin typeface="Arial" pitchFamily="34" charset="0"/>
                    <a:cs typeface="Arial" pitchFamily="34" charset="0"/>
                    <a:sym typeface="Symbol"/>
                  </a:rPr>
                  <a:t>0 ; S &lt; 0 : </a:t>
                </a:r>
                <a:r>
                  <a:rPr lang="en-US" sz="2800" dirty="0" err="1">
                    <a:solidFill>
                      <a:srgbClr val="C00000"/>
                    </a:solidFill>
                    <a:latin typeface="Arial" pitchFamily="34" charset="0"/>
                    <a:cs typeface="Arial" pitchFamily="34" charset="0"/>
                    <a:sym typeface="Symbol"/>
                  </a:rPr>
                  <a:t>Phản</a:t>
                </a:r>
                <a:r>
                  <a:rPr lang="en-US" sz="2800" dirty="0">
                    <a:solidFill>
                      <a:srgbClr val="C00000"/>
                    </a:solidFill>
                    <a:latin typeface="Arial" pitchFamily="34" charset="0"/>
                    <a:cs typeface="Arial" pitchFamily="34" charset="0"/>
                    <a:sym typeface="Symbol"/>
                  </a:rPr>
                  <a:t> </a:t>
                </a:r>
                <a:r>
                  <a:rPr lang="en-US" sz="2800" dirty="0" err="1">
                    <a:solidFill>
                      <a:srgbClr val="C00000"/>
                    </a:solidFill>
                    <a:latin typeface="Arial" pitchFamily="34" charset="0"/>
                    <a:cs typeface="Arial" pitchFamily="34" charset="0"/>
                    <a:sym typeface="Symbol"/>
                  </a:rPr>
                  <a:t>ứng</a:t>
                </a:r>
                <a:r>
                  <a:rPr lang="en-US" sz="2800" dirty="0">
                    <a:solidFill>
                      <a:srgbClr val="C00000"/>
                    </a:solidFill>
                    <a:latin typeface="Arial" pitchFamily="34" charset="0"/>
                    <a:cs typeface="Arial" pitchFamily="34" charset="0"/>
                    <a:sym typeface="Symbol"/>
                  </a:rPr>
                  <a:t> </a:t>
                </a:r>
                <a:r>
                  <a:rPr lang="en-US" sz="2800" dirty="0" err="1" smtClean="0">
                    <a:solidFill>
                      <a:srgbClr val="C00000"/>
                    </a:solidFill>
                    <a:latin typeface="Arial" pitchFamily="34" charset="0"/>
                    <a:cs typeface="Arial" pitchFamily="34" charset="0"/>
                    <a:sym typeface="Symbol"/>
                  </a:rPr>
                  <a:t>không</a:t>
                </a:r>
                <a:r>
                  <a:rPr lang="en-US" sz="2800" dirty="0" smtClean="0">
                    <a:solidFill>
                      <a:srgbClr val="C00000"/>
                    </a:solidFill>
                    <a:latin typeface="Arial" pitchFamily="34" charset="0"/>
                    <a:cs typeface="Arial" pitchFamily="34" charset="0"/>
                    <a:sym typeface="Symbol"/>
                  </a:rPr>
                  <a:t> </a:t>
                </a:r>
                <a:r>
                  <a:rPr lang="en-US" sz="2800" dirty="0" err="1" smtClean="0">
                    <a:solidFill>
                      <a:srgbClr val="C00000"/>
                    </a:solidFill>
                    <a:latin typeface="Arial" pitchFamily="34" charset="0"/>
                    <a:cs typeface="Arial" pitchFamily="34" charset="0"/>
                    <a:sym typeface="Symbol"/>
                  </a:rPr>
                  <a:t>có</a:t>
                </a:r>
                <a:r>
                  <a:rPr lang="en-US" sz="2800" dirty="0" smtClean="0">
                    <a:solidFill>
                      <a:srgbClr val="C00000"/>
                    </a:solidFill>
                    <a:latin typeface="Arial" pitchFamily="34" charset="0"/>
                    <a:cs typeface="Arial" pitchFamily="34" charset="0"/>
                    <a:sym typeface="Symbol"/>
                  </a:rPr>
                  <a:t> </a:t>
                </a:r>
                <a:r>
                  <a:rPr lang="en-US" sz="2800" dirty="0" err="1">
                    <a:solidFill>
                      <a:srgbClr val="C00000"/>
                    </a:solidFill>
                    <a:latin typeface="Arial" pitchFamily="34" charset="0"/>
                    <a:cs typeface="Arial" pitchFamily="34" charset="0"/>
                    <a:sym typeface="Symbol"/>
                  </a:rPr>
                  <a:t>khả</a:t>
                </a:r>
                <a:r>
                  <a:rPr lang="en-US" sz="2800" dirty="0">
                    <a:solidFill>
                      <a:srgbClr val="C00000"/>
                    </a:solidFill>
                    <a:latin typeface="Arial" pitchFamily="34" charset="0"/>
                    <a:cs typeface="Arial" pitchFamily="34" charset="0"/>
                    <a:sym typeface="Symbol"/>
                  </a:rPr>
                  <a:t> </a:t>
                </a:r>
                <a:r>
                  <a:rPr lang="en-US" sz="2800" dirty="0" err="1">
                    <a:solidFill>
                      <a:srgbClr val="C00000"/>
                    </a:solidFill>
                    <a:latin typeface="Arial" pitchFamily="34" charset="0"/>
                    <a:cs typeface="Arial" pitchFamily="34" charset="0"/>
                    <a:sym typeface="Symbol"/>
                  </a:rPr>
                  <a:t>năng</a:t>
                </a:r>
                <a:r>
                  <a:rPr lang="en-US" sz="2800" dirty="0">
                    <a:solidFill>
                      <a:srgbClr val="C00000"/>
                    </a:solidFill>
                    <a:latin typeface="Arial" pitchFamily="34" charset="0"/>
                    <a:cs typeface="Arial" pitchFamily="34" charset="0"/>
                    <a:sym typeface="Symbol"/>
                  </a:rPr>
                  <a:t> </a:t>
                </a:r>
                <a:r>
                  <a:rPr lang="en-US" sz="2800" dirty="0" err="1">
                    <a:solidFill>
                      <a:srgbClr val="C00000"/>
                    </a:solidFill>
                    <a:latin typeface="Arial" pitchFamily="34" charset="0"/>
                    <a:cs typeface="Arial" pitchFamily="34" charset="0"/>
                    <a:sym typeface="Symbol"/>
                  </a:rPr>
                  <a:t>tự</a:t>
                </a:r>
                <a:r>
                  <a:rPr lang="en-US" sz="2800" dirty="0">
                    <a:solidFill>
                      <a:srgbClr val="C00000"/>
                    </a:solidFill>
                    <a:latin typeface="Arial" pitchFamily="34" charset="0"/>
                    <a:cs typeface="Arial" pitchFamily="34" charset="0"/>
                    <a:sym typeface="Symbol"/>
                  </a:rPr>
                  <a:t> </a:t>
                </a:r>
                <a:r>
                  <a:rPr lang="en-US" sz="2800" dirty="0" err="1">
                    <a:solidFill>
                      <a:srgbClr val="C00000"/>
                    </a:solidFill>
                    <a:latin typeface="Arial" pitchFamily="34" charset="0"/>
                    <a:cs typeface="Arial" pitchFamily="34" charset="0"/>
                    <a:sym typeface="Symbol"/>
                  </a:rPr>
                  <a:t>phát</a:t>
                </a:r>
                <a:r>
                  <a:rPr lang="en-US" sz="2800" dirty="0">
                    <a:solidFill>
                      <a:srgbClr val="C00000"/>
                    </a:solidFill>
                    <a:latin typeface="Arial" pitchFamily="34" charset="0"/>
                    <a:cs typeface="Arial" pitchFamily="34" charset="0"/>
                    <a:sym typeface="Symbol"/>
                  </a:rPr>
                  <a:t> ở </a:t>
                </a:r>
                <a:r>
                  <a:rPr lang="en-US" sz="2800" dirty="0" err="1" smtClean="0">
                    <a:solidFill>
                      <a:srgbClr val="C00000"/>
                    </a:solidFill>
                    <a:latin typeface="Arial" pitchFamily="34" charset="0"/>
                    <a:cs typeface="Arial" pitchFamily="34" charset="0"/>
                    <a:sym typeface="Symbol"/>
                  </a:rPr>
                  <a:t>mọi</a:t>
                </a:r>
                <a:r>
                  <a:rPr lang="en-US" sz="2800" dirty="0" smtClean="0">
                    <a:solidFill>
                      <a:srgbClr val="C00000"/>
                    </a:solidFill>
                    <a:latin typeface="Arial" pitchFamily="34" charset="0"/>
                    <a:cs typeface="Arial" pitchFamily="34" charset="0"/>
                    <a:sym typeface="Symbol"/>
                  </a:rPr>
                  <a:t> </a:t>
                </a:r>
                <a:r>
                  <a:rPr lang="en-US" sz="2800" dirty="0" err="1" smtClean="0">
                    <a:solidFill>
                      <a:srgbClr val="C00000"/>
                    </a:solidFill>
                    <a:latin typeface="Arial" pitchFamily="34" charset="0"/>
                    <a:cs typeface="Arial" pitchFamily="34" charset="0"/>
                    <a:sym typeface="Symbol"/>
                  </a:rPr>
                  <a:t>nhiệt</a:t>
                </a:r>
                <a:r>
                  <a:rPr lang="en-US" sz="2800" dirty="0" smtClean="0">
                    <a:solidFill>
                      <a:srgbClr val="C00000"/>
                    </a:solidFill>
                    <a:latin typeface="Arial" pitchFamily="34" charset="0"/>
                    <a:cs typeface="Arial" pitchFamily="34" charset="0"/>
                    <a:sym typeface="Symbol"/>
                  </a:rPr>
                  <a:t> </a:t>
                </a:r>
                <a:r>
                  <a:rPr lang="en-US" sz="2800" dirty="0" err="1" smtClean="0">
                    <a:solidFill>
                      <a:srgbClr val="C00000"/>
                    </a:solidFill>
                    <a:latin typeface="Arial" pitchFamily="34" charset="0"/>
                    <a:cs typeface="Arial" pitchFamily="34" charset="0"/>
                    <a:sym typeface="Symbol"/>
                  </a:rPr>
                  <a:t>độ</a:t>
                </a:r>
                <a:r>
                  <a:rPr lang="en-US" sz="2800" dirty="0" smtClean="0">
                    <a:solidFill>
                      <a:srgbClr val="C00000"/>
                    </a:solidFill>
                    <a:latin typeface="Arial" pitchFamily="34" charset="0"/>
                    <a:cs typeface="Arial" pitchFamily="34" charset="0"/>
                    <a:sym typeface="Symbol"/>
                  </a:rPr>
                  <a:t>.</a:t>
                </a:r>
              </a:p>
              <a:p>
                <a:endParaRPr lang="en-US" sz="2400" dirty="0">
                  <a:solidFill>
                    <a:srgbClr val="C00000"/>
                  </a:solidFill>
                  <a:latin typeface="Arial" pitchFamily="34" charset="0"/>
                  <a:cs typeface="Arial" pitchFamily="34" charset="0"/>
                  <a:sym typeface="Symbol"/>
                </a:endParaRPr>
              </a:p>
              <a:p>
                <a:endParaRPr lang="en-US" sz="2400" b="1" dirty="0" smtClean="0">
                  <a:latin typeface="Arial" pitchFamily="34" charset="0"/>
                  <a:cs typeface="Arial" pitchFamily="34" charset="0"/>
                  <a:sym typeface="Symbol"/>
                </a:endParaRPr>
              </a:p>
              <a:p>
                <a:endParaRPr lang="en-US" sz="2400" b="1" dirty="0" smtClean="0">
                  <a:latin typeface="Arial" pitchFamily="34" charset="0"/>
                  <a:cs typeface="Arial" pitchFamily="34" charset="0"/>
                </a:endParaRPr>
              </a:p>
              <a:p>
                <a:endParaRPr lang="en-US" sz="2400" b="1" dirty="0">
                  <a:solidFill>
                    <a:srgbClr val="FF0000"/>
                  </a:solidFill>
                  <a:latin typeface="Arial" pitchFamily="34" charset="0"/>
                  <a:cs typeface="Arial"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72200" y="1971575"/>
                <a:ext cx="11895513" cy="5839676"/>
              </a:xfrm>
              <a:prstGeom prst="rect">
                <a:avLst/>
              </a:prstGeom>
              <a:blipFill rotWithShape="1">
                <a:blip r:embed="rId2"/>
                <a:stretch>
                  <a:fillRect l="-768"/>
                </a:stretch>
              </a:blipFill>
            </p:spPr>
            <p:txBody>
              <a:bodyPr/>
              <a:lstStyle/>
              <a:p>
                <a:r>
                  <a:rPr lang="en-US">
                    <a:noFill/>
                  </a:rPr>
                  <a:t> </a:t>
                </a:r>
              </a:p>
            </p:txBody>
          </p:sp>
        </mc:Fallback>
      </mc:AlternateContent>
    </p:spTree>
    <p:extLst>
      <p:ext uri="{BB962C8B-B14F-4D97-AF65-F5344CB8AC3E}">
        <p14:creationId xmlns:p14="http://schemas.microsoft.com/office/powerpoint/2010/main" val="214863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957" y="241754"/>
            <a:ext cx="10515600" cy="631825"/>
          </a:xfrm>
        </p:spPr>
        <p:txBody>
          <a:bodyPr/>
          <a:lstStyle/>
          <a:p>
            <a:pPr marL="0" indent="0">
              <a:buNone/>
            </a:pPr>
            <a:r>
              <a:rPr lang="en-US" dirty="0" smtClean="0">
                <a:latin typeface="Arial" pitchFamily="34" charset="0"/>
                <a:cs typeface="Arial" pitchFamily="34" charset="0"/>
              </a:rPr>
              <a:t>Theo </a:t>
            </a:r>
            <a:r>
              <a:rPr lang="en-US" dirty="0" err="1">
                <a:latin typeface="Arial" pitchFamily="34" charset="0"/>
                <a:cs typeface="Arial" pitchFamily="34" charset="0"/>
              </a:rPr>
              <a:t>nhiệt</a:t>
            </a:r>
            <a:r>
              <a:rPr lang="en-US" dirty="0">
                <a:latin typeface="Arial" pitchFamily="34" charset="0"/>
                <a:cs typeface="Arial" pitchFamily="34" charset="0"/>
              </a:rPr>
              <a:t> </a:t>
            </a:r>
            <a:r>
              <a:rPr lang="en-US" dirty="0" err="1">
                <a:latin typeface="Arial" pitchFamily="34" charset="0"/>
                <a:cs typeface="Arial" pitchFamily="34" charset="0"/>
              </a:rPr>
              <a:t>động</a:t>
            </a:r>
            <a:r>
              <a:rPr lang="en-US" dirty="0">
                <a:latin typeface="Arial" pitchFamily="34" charset="0"/>
                <a:cs typeface="Arial" pitchFamily="34" charset="0"/>
              </a:rPr>
              <a:t> </a:t>
            </a:r>
            <a:r>
              <a:rPr lang="en-US" dirty="0" err="1">
                <a:latin typeface="Arial" pitchFamily="34" charset="0"/>
                <a:cs typeface="Arial" pitchFamily="34" charset="0"/>
              </a:rPr>
              <a:t>hóa</a:t>
            </a:r>
            <a:r>
              <a:rPr lang="en-US" dirty="0">
                <a:latin typeface="Arial" pitchFamily="34" charset="0"/>
                <a:cs typeface="Arial" pitchFamily="34" charset="0"/>
              </a:rPr>
              <a:t> </a:t>
            </a:r>
            <a:r>
              <a:rPr lang="en-US" dirty="0" err="1" smtClean="0">
                <a:latin typeface="Arial" pitchFamily="34" charset="0"/>
                <a:cs typeface="Arial" pitchFamily="34" charset="0"/>
              </a:rPr>
              <a:t>học</a:t>
            </a:r>
            <a:r>
              <a:rPr lang="en-US" dirty="0" smtClean="0">
                <a:latin typeface="Arial" pitchFamily="34" charset="0"/>
                <a:cs typeface="Arial" pitchFamily="34" charset="0"/>
              </a:rPr>
              <a:t>, </a:t>
            </a:r>
            <a:r>
              <a:rPr lang="en-US" dirty="0" err="1" smtClean="0">
                <a:latin typeface="Arial" pitchFamily="34" charset="0"/>
                <a:cs typeface="Arial" pitchFamily="34" charset="0"/>
              </a:rPr>
              <a:t>pư</a:t>
            </a:r>
            <a:r>
              <a:rPr lang="en-US" dirty="0" smtClean="0">
                <a:latin typeface="Arial" pitchFamily="34" charset="0"/>
                <a:cs typeface="Arial" pitchFamily="34" charset="0"/>
              </a:rPr>
              <a:t> </a:t>
            </a:r>
            <a:r>
              <a:rPr lang="en-US" dirty="0">
                <a:latin typeface="Arial" pitchFamily="34" charset="0"/>
                <a:cs typeface="Arial" pitchFamily="34" charset="0"/>
              </a:rPr>
              <a:t>ở</a:t>
            </a:r>
            <a:r>
              <a:rPr lang="en-US" dirty="0" smtClean="0">
                <a:latin typeface="Arial" pitchFamily="34" charset="0"/>
                <a:cs typeface="Arial" pitchFamily="34" charset="0"/>
              </a:rPr>
              <a:t> </a:t>
            </a:r>
            <a:r>
              <a:rPr lang="en-US" dirty="0" err="1" smtClean="0">
                <a:latin typeface="Arial" pitchFamily="34" charset="0"/>
                <a:cs typeface="Arial" pitchFamily="34" charset="0"/>
              </a:rPr>
              <a:t>đk</a:t>
            </a:r>
            <a:r>
              <a:rPr lang="en-US" dirty="0" smtClean="0">
                <a:latin typeface="Arial" pitchFamily="34" charset="0"/>
                <a:cs typeface="Arial" pitchFamily="34" charset="0"/>
              </a:rPr>
              <a:t> </a:t>
            </a:r>
            <a:r>
              <a:rPr lang="en-US" dirty="0" err="1" smtClean="0">
                <a:latin typeface="Arial" pitchFamily="34" charset="0"/>
                <a:cs typeface="Arial" pitchFamily="34" charset="0"/>
              </a:rPr>
              <a:t>đẳng</a:t>
            </a:r>
            <a:r>
              <a:rPr lang="en-US" dirty="0" smtClean="0">
                <a:latin typeface="Arial" pitchFamily="34" charset="0"/>
                <a:cs typeface="Arial" pitchFamily="34" charset="0"/>
              </a:rPr>
              <a:t> </a:t>
            </a:r>
            <a:r>
              <a:rPr lang="en-US" dirty="0" err="1" smtClean="0">
                <a:latin typeface="Arial" pitchFamily="34" charset="0"/>
                <a:cs typeface="Arial" pitchFamily="34" charset="0"/>
              </a:rPr>
              <a:t>nhiệt</a:t>
            </a:r>
            <a:r>
              <a:rPr lang="en-US" dirty="0" smtClean="0">
                <a:latin typeface="Arial" pitchFamily="34" charset="0"/>
                <a:cs typeface="Arial" pitchFamily="34" charset="0"/>
              </a:rPr>
              <a:t> </a:t>
            </a:r>
            <a:r>
              <a:rPr lang="en-US" dirty="0" err="1" smtClean="0">
                <a:latin typeface="Arial" pitchFamily="34" charset="0"/>
                <a:cs typeface="Arial" pitchFamily="34" charset="0"/>
              </a:rPr>
              <a:t>đẳng</a:t>
            </a:r>
            <a:r>
              <a:rPr lang="en-US" dirty="0" smtClean="0">
                <a:latin typeface="Arial" pitchFamily="34" charset="0"/>
                <a:cs typeface="Arial" pitchFamily="34" charset="0"/>
              </a:rPr>
              <a:t> </a:t>
            </a:r>
            <a:r>
              <a:rPr lang="en-US" dirty="0" err="1" smtClean="0">
                <a:latin typeface="Arial" pitchFamily="34" charset="0"/>
                <a:cs typeface="Arial" pitchFamily="34" charset="0"/>
              </a:rPr>
              <a:t>áp</a:t>
            </a:r>
            <a:r>
              <a:rPr lang="en-US" dirty="0" smtClean="0">
                <a:latin typeface="Arial" pitchFamily="34" charset="0"/>
                <a:cs typeface="Arial" pitchFamily="34" charset="0"/>
              </a:rPr>
              <a:t> </a:t>
            </a:r>
            <a:r>
              <a:rPr lang="en-US" dirty="0" err="1" smtClean="0">
                <a:latin typeface="Arial" pitchFamily="34" charset="0"/>
                <a:cs typeface="Arial" pitchFamily="34" charset="0"/>
              </a:rPr>
              <a:t>có</a:t>
            </a:r>
            <a:r>
              <a:rPr lang="en-US" dirty="0" smtClean="0">
                <a:latin typeface="Arial" pitchFamily="34" charset="0"/>
                <a:cs typeface="Arial" pitchFamily="34" charset="0"/>
              </a:rPr>
              <a:t>: </a:t>
            </a:r>
            <a:endParaRPr lang="en-US"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4" name="TextBox 3"/>
              <p:cNvSpPr txBox="1"/>
              <p:nvPr/>
            </p:nvSpPr>
            <p:spPr>
              <a:xfrm>
                <a:off x="244927" y="824593"/>
                <a:ext cx="10499271" cy="471476"/>
              </a:xfrm>
              <a:prstGeom prst="rect">
                <a:avLst/>
              </a:prstGeom>
              <a:noFill/>
            </p:spPr>
            <p:txBody>
              <a:bodyPr wrap="square" rtlCol="0">
                <a:spAutoFit/>
              </a:bodyPr>
              <a:lstStyle/>
              <a:p>
                <a14:m>
                  <m:oMath xmlns:m="http://schemas.openxmlformats.org/officeDocument/2006/math">
                    <m:sSubSup>
                      <m:sSubSupPr>
                        <m:ctrlPr>
                          <a:rPr lang="en-US" sz="2400" i="1" smtClean="0">
                            <a:solidFill>
                              <a:srgbClr val="FF00FF"/>
                            </a:solidFill>
                            <a:latin typeface="Cambria Math"/>
                          </a:rPr>
                        </m:ctrlPr>
                      </m:sSubSupPr>
                      <m:e>
                        <m:r>
                          <a:rPr lang="en-US" sz="2400" i="1">
                            <a:solidFill>
                              <a:srgbClr val="FF00FF"/>
                            </a:solidFill>
                            <a:latin typeface="Cambria Math" panose="02040503050406030204" pitchFamily="18" charset="0"/>
                            <a:ea typeface="Cambria Math" panose="02040503050406030204" pitchFamily="18" charset="0"/>
                          </a:rPr>
                          <m:t>∆</m:t>
                        </m:r>
                        <m:r>
                          <a:rPr lang="en-US" sz="2400" i="1">
                            <a:solidFill>
                              <a:srgbClr val="FF00FF"/>
                            </a:solidFill>
                            <a:latin typeface="Cambria Math" panose="02040503050406030204" pitchFamily="18" charset="0"/>
                            <a:ea typeface="Cambria Math" panose="02040503050406030204" pitchFamily="18" charset="0"/>
                          </a:rPr>
                          <m:t>𝐺</m:t>
                        </m:r>
                      </m:e>
                      <m:sub>
                        <m:r>
                          <a:rPr lang="en-US" sz="2400" i="1">
                            <a:solidFill>
                              <a:srgbClr val="FF00FF"/>
                            </a:solidFill>
                            <a:latin typeface="Cambria Math" panose="02040503050406030204" pitchFamily="18" charset="0"/>
                          </a:rPr>
                          <m:t>298 </m:t>
                        </m:r>
                      </m:sub>
                      <m:sup>
                        <m:r>
                          <a:rPr lang="en-US" sz="2400" i="1">
                            <a:solidFill>
                              <a:srgbClr val="FF00FF"/>
                            </a:solidFill>
                            <a:latin typeface="Cambria Math" panose="02040503050406030204" pitchFamily="18" charset="0"/>
                          </a:rPr>
                          <m:t>0</m:t>
                        </m:r>
                      </m:sup>
                    </m:sSubSup>
                  </m:oMath>
                </a14:m>
                <a:r>
                  <a:rPr lang="en-US" sz="2400" dirty="0" smtClean="0">
                    <a:solidFill>
                      <a:srgbClr val="FF00FF"/>
                    </a:solidFill>
                    <a:latin typeface="Arial" pitchFamily="34" charset="0"/>
                    <a:cs typeface="Arial" pitchFamily="34" charset="0"/>
                  </a:rPr>
                  <a:t> &lt; - 40</a:t>
                </a:r>
                <a:r>
                  <a:rPr lang="vi-VN" sz="2400" dirty="0" smtClean="0">
                    <a:solidFill>
                      <a:srgbClr val="FF00FF"/>
                    </a:solidFill>
                    <a:latin typeface="Arial" pitchFamily="34" charset="0"/>
                    <a:cs typeface="Arial" pitchFamily="34" charset="0"/>
                  </a:rPr>
                  <a:t> </a:t>
                </a:r>
                <a:r>
                  <a:rPr lang="en-US" sz="2400" dirty="0" smtClean="0">
                    <a:solidFill>
                      <a:srgbClr val="FF00FF"/>
                    </a:solidFill>
                    <a:latin typeface="Arial" pitchFamily="34" charset="0"/>
                    <a:cs typeface="Arial" pitchFamily="34" charset="0"/>
                  </a:rPr>
                  <a:t>kJ : </a:t>
                </a:r>
                <a:r>
                  <a:rPr lang="en-US" sz="2400" dirty="0" err="1" smtClean="0">
                    <a:solidFill>
                      <a:srgbClr val="FF00FF"/>
                    </a:solidFill>
                    <a:latin typeface="Arial" pitchFamily="34" charset="0"/>
                    <a:cs typeface="Arial" pitchFamily="34" charset="0"/>
                  </a:rPr>
                  <a:t>pư</a:t>
                </a:r>
                <a:r>
                  <a:rPr lang="en-US" sz="2400" dirty="0" smtClean="0">
                    <a:solidFill>
                      <a:srgbClr val="FF00FF"/>
                    </a:solidFill>
                    <a:latin typeface="Arial" pitchFamily="34" charset="0"/>
                    <a:cs typeface="Arial" pitchFamily="34" charset="0"/>
                  </a:rPr>
                  <a:t> </a:t>
                </a:r>
                <a:r>
                  <a:rPr lang="en-US" sz="2400" dirty="0" err="1" smtClean="0">
                    <a:solidFill>
                      <a:srgbClr val="FF00FF"/>
                    </a:solidFill>
                    <a:latin typeface="Arial" pitchFamily="34" charset="0"/>
                    <a:cs typeface="Arial" pitchFamily="34" charset="0"/>
                  </a:rPr>
                  <a:t>có</a:t>
                </a:r>
                <a:r>
                  <a:rPr lang="en-US" sz="2400" dirty="0" smtClean="0">
                    <a:solidFill>
                      <a:srgbClr val="FF00FF"/>
                    </a:solidFill>
                    <a:latin typeface="Arial" pitchFamily="34" charset="0"/>
                    <a:cs typeface="Arial" pitchFamily="34" charset="0"/>
                  </a:rPr>
                  <a:t> </a:t>
                </a:r>
                <a:r>
                  <a:rPr lang="en-US" sz="2400" dirty="0" err="1" smtClean="0">
                    <a:solidFill>
                      <a:srgbClr val="FF00FF"/>
                    </a:solidFill>
                    <a:latin typeface="Arial" pitchFamily="34" charset="0"/>
                    <a:cs typeface="Arial" pitchFamily="34" charset="0"/>
                  </a:rPr>
                  <a:t>khả</a:t>
                </a:r>
                <a:r>
                  <a:rPr lang="en-US" sz="2400" dirty="0" smtClean="0">
                    <a:solidFill>
                      <a:srgbClr val="FF00FF"/>
                    </a:solidFill>
                    <a:latin typeface="Arial" pitchFamily="34" charset="0"/>
                    <a:cs typeface="Arial" pitchFamily="34" charset="0"/>
                  </a:rPr>
                  <a:t> </a:t>
                </a:r>
                <a:r>
                  <a:rPr lang="en-US" sz="2400" dirty="0" err="1" smtClean="0">
                    <a:solidFill>
                      <a:srgbClr val="FF00FF"/>
                    </a:solidFill>
                    <a:latin typeface="Arial" pitchFamily="34" charset="0"/>
                    <a:cs typeface="Arial" pitchFamily="34" charset="0"/>
                  </a:rPr>
                  <a:t>năng</a:t>
                </a:r>
                <a:r>
                  <a:rPr lang="en-US" sz="2400" dirty="0" smtClean="0">
                    <a:solidFill>
                      <a:srgbClr val="FF00FF"/>
                    </a:solidFill>
                    <a:latin typeface="Arial" pitchFamily="34" charset="0"/>
                    <a:cs typeface="Arial" pitchFamily="34" charset="0"/>
                  </a:rPr>
                  <a:t> </a:t>
                </a:r>
                <a:r>
                  <a:rPr lang="en-US" sz="2400" dirty="0" err="1" smtClean="0">
                    <a:solidFill>
                      <a:srgbClr val="FF00FF"/>
                    </a:solidFill>
                    <a:latin typeface="Arial" pitchFamily="34" charset="0"/>
                    <a:cs typeface="Arial" pitchFamily="34" charset="0"/>
                  </a:rPr>
                  <a:t>tự</a:t>
                </a:r>
                <a:r>
                  <a:rPr lang="en-US" sz="2400" dirty="0" smtClean="0">
                    <a:solidFill>
                      <a:srgbClr val="FF00FF"/>
                    </a:solidFill>
                    <a:latin typeface="Arial" pitchFamily="34" charset="0"/>
                    <a:cs typeface="Arial" pitchFamily="34" charset="0"/>
                  </a:rPr>
                  <a:t> </a:t>
                </a:r>
                <a:r>
                  <a:rPr lang="en-US" sz="2400" dirty="0" err="1" smtClean="0">
                    <a:solidFill>
                      <a:srgbClr val="FF00FF"/>
                    </a:solidFill>
                    <a:latin typeface="Arial" pitchFamily="34" charset="0"/>
                    <a:cs typeface="Arial" pitchFamily="34" charset="0"/>
                  </a:rPr>
                  <a:t>phát</a:t>
                </a:r>
                <a:r>
                  <a:rPr lang="en-US" sz="2400" dirty="0" smtClean="0">
                    <a:solidFill>
                      <a:srgbClr val="FF00FF"/>
                    </a:solidFill>
                    <a:latin typeface="Arial" pitchFamily="34" charset="0"/>
                    <a:cs typeface="Arial" pitchFamily="34" charset="0"/>
                  </a:rPr>
                  <a:t> </a:t>
                </a:r>
                <a:r>
                  <a:rPr lang="en-US" sz="2400" u="sng" dirty="0" err="1" smtClean="0">
                    <a:solidFill>
                      <a:srgbClr val="FF00FF"/>
                    </a:solidFill>
                    <a:latin typeface="Arial" pitchFamily="34" charset="0"/>
                    <a:cs typeface="Arial" pitchFamily="34" charset="0"/>
                  </a:rPr>
                  <a:t>hoàn</a:t>
                </a:r>
                <a:r>
                  <a:rPr lang="en-US" sz="2400" u="sng" dirty="0" smtClean="0">
                    <a:solidFill>
                      <a:srgbClr val="FF00FF"/>
                    </a:solidFill>
                    <a:latin typeface="Arial" pitchFamily="34" charset="0"/>
                    <a:cs typeface="Arial" pitchFamily="34" charset="0"/>
                  </a:rPr>
                  <a:t> </a:t>
                </a:r>
                <a:r>
                  <a:rPr lang="en-US" sz="2400" u="sng" dirty="0" err="1" smtClean="0">
                    <a:solidFill>
                      <a:srgbClr val="FF00FF"/>
                    </a:solidFill>
                    <a:latin typeface="Arial" pitchFamily="34" charset="0"/>
                    <a:cs typeface="Arial" pitchFamily="34" charset="0"/>
                  </a:rPr>
                  <a:t>toàn</a:t>
                </a:r>
                <a:r>
                  <a:rPr lang="en-US" sz="2400" u="sng" dirty="0" smtClean="0">
                    <a:solidFill>
                      <a:srgbClr val="FF00FF"/>
                    </a:solidFill>
                    <a:latin typeface="Arial" pitchFamily="34" charset="0"/>
                    <a:cs typeface="Arial" pitchFamily="34" charset="0"/>
                  </a:rPr>
                  <a:t> </a:t>
                </a:r>
                <a:r>
                  <a:rPr lang="en-US" sz="2400" dirty="0" smtClean="0">
                    <a:solidFill>
                      <a:srgbClr val="FF00FF"/>
                    </a:solidFill>
                    <a:latin typeface="Arial" pitchFamily="34" charset="0"/>
                    <a:cs typeface="Arial" pitchFamily="34" charset="0"/>
                  </a:rPr>
                  <a:t>ở 298</a:t>
                </a:r>
                <a:r>
                  <a:rPr lang="vi-VN" sz="2400" dirty="0" smtClean="0">
                    <a:solidFill>
                      <a:srgbClr val="FF00FF"/>
                    </a:solidFill>
                    <a:latin typeface="Arial" pitchFamily="34" charset="0"/>
                    <a:cs typeface="Arial" pitchFamily="34" charset="0"/>
                  </a:rPr>
                  <a:t> </a:t>
                </a:r>
                <a:r>
                  <a:rPr lang="en-US" sz="2400" dirty="0" smtClean="0">
                    <a:solidFill>
                      <a:srgbClr val="FF00FF"/>
                    </a:solidFill>
                    <a:latin typeface="Arial" pitchFamily="34" charset="0"/>
                    <a:cs typeface="Arial" pitchFamily="34" charset="0"/>
                  </a:rPr>
                  <a:t>K.</a:t>
                </a:r>
                <a:endParaRPr lang="en-US" sz="2400" dirty="0">
                  <a:solidFill>
                    <a:srgbClr val="FF00FF"/>
                  </a:solidFill>
                  <a:latin typeface="Arial" pitchFamily="34" charset="0"/>
                  <a:cs typeface="Arial" pitchFamily="34"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44927" y="824593"/>
                <a:ext cx="10499271" cy="471476"/>
              </a:xfrm>
              <a:prstGeom prst="rect">
                <a:avLst/>
              </a:prstGeom>
              <a:blipFill rotWithShape="1">
                <a:blip r:embed="rId2"/>
                <a:stretch>
                  <a:fillRect l="-116" t="-7692" b="-28205"/>
                </a:stretch>
              </a:blipFill>
            </p:spPr>
            <p:txBody>
              <a:bodyPr/>
              <a:lstStyle/>
              <a:p>
                <a:r>
                  <a:rPr lang="en-US">
                    <a:noFill/>
                  </a:rPr>
                  <a:t> </a:t>
                </a:r>
              </a:p>
            </p:txBody>
          </p:sp>
        </mc:Fallback>
      </mc:AlternateContent>
      <p:sp>
        <p:nvSpPr>
          <p:cNvPr id="5" name="TextBox 4"/>
          <p:cNvSpPr txBox="1"/>
          <p:nvPr/>
        </p:nvSpPr>
        <p:spPr>
          <a:xfrm>
            <a:off x="146957" y="1475696"/>
            <a:ext cx="11772900" cy="830997"/>
          </a:xfrm>
          <a:prstGeom prst="rect">
            <a:avLst/>
          </a:prstGeom>
          <a:noFill/>
        </p:spPr>
        <p:txBody>
          <a:bodyPr wrap="square" rtlCol="0">
            <a:spAutoFit/>
          </a:bodyPr>
          <a:lstStyle/>
          <a:p>
            <a:r>
              <a:rPr lang="en-US" sz="2400" dirty="0" smtClean="0">
                <a:solidFill>
                  <a:srgbClr val="C00000"/>
                </a:solidFill>
                <a:latin typeface="Arial" pitchFamily="34" charset="0"/>
                <a:cs typeface="Arial" pitchFamily="34" charset="0"/>
              </a:rPr>
              <a:t>Ở 298</a:t>
            </a:r>
            <a:r>
              <a:rPr lang="vi-VN" sz="2400" dirty="0" smtClean="0">
                <a:solidFill>
                  <a:srgbClr val="C00000"/>
                </a:solidFill>
                <a:latin typeface="Arial" pitchFamily="34" charset="0"/>
                <a:cs typeface="Arial" pitchFamily="34" charset="0"/>
              </a:rPr>
              <a:t> </a:t>
            </a:r>
            <a:r>
              <a:rPr lang="en-US" sz="2400" dirty="0" smtClean="0">
                <a:solidFill>
                  <a:srgbClr val="C00000"/>
                </a:solidFill>
                <a:latin typeface="Arial" pitchFamily="34" charset="0"/>
                <a:cs typeface="Arial" pitchFamily="34" charset="0"/>
              </a:rPr>
              <a:t>K </a:t>
            </a:r>
            <a:r>
              <a:rPr lang="en-US" sz="2400" dirty="0" err="1">
                <a:solidFill>
                  <a:srgbClr val="C00000"/>
                </a:solidFill>
                <a:latin typeface="Arial" pitchFamily="34" charset="0"/>
                <a:cs typeface="Arial" pitchFamily="34" charset="0"/>
              </a:rPr>
              <a:t>h</a:t>
            </a:r>
            <a:r>
              <a:rPr lang="en-US" sz="2400" dirty="0" err="1" smtClean="0">
                <a:solidFill>
                  <a:srgbClr val="C00000"/>
                </a:solidFill>
                <a:latin typeface="Arial" pitchFamily="34" charset="0"/>
                <a:cs typeface="Arial" pitchFamily="34" charset="0"/>
              </a:rPr>
              <a:t>ằng</a:t>
            </a:r>
            <a:r>
              <a:rPr lang="en-US" sz="2400" dirty="0" smtClean="0">
                <a:solidFill>
                  <a:srgbClr val="C00000"/>
                </a:solidFill>
                <a:latin typeface="Arial" pitchFamily="34" charset="0"/>
                <a:cs typeface="Arial" pitchFamily="34" charset="0"/>
              </a:rPr>
              <a:t> </a:t>
            </a:r>
            <a:r>
              <a:rPr lang="en-US" sz="2400" dirty="0" err="1" smtClean="0">
                <a:solidFill>
                  <a:srgbClr val="C00000"/>
                </a:solidFill>
                <a:latin typeface="Arial" pitchFamily="34" charset="0"/>
                <a:cs typeface="Arial" pitchFamily="34" charset="0"/>
              </a:rPr>
              <a:t>số</a:t>
            </a:r>
            <a:r>
              <a:rPr lang="en-US" sz="2400" dirty="0" smtClean="0">
                <a:solidFill>
                  <a:srgbClr val="C00000"/>
                </a:solidFill>
                <a:latin typeface="Arial" pitchFamily="34" charset="0"/>
                <a:cs typeface="Arial" pitchFamily="34" charset="0"/>
              </a:rPr>
              <a:t> </a:t>
            </a:r>
            <a:r>
              <a:rPr lang="en-US" sz="2400" dirty="0" err="1" smtClean="0">
                <a:solidFill>
                  <a:srgbClr val="C00000"/>
                </a:solidFill>
                <a:latin typeface="Arial" pitchFamily="34" charset="0"/>
                <a:cs typeface="Arial" pitchFamily="34" charset="0"/>
              </a:rPr>
              <a:t>cân</a:t>
            </a:r>
            <a:r>
              <a:rPr lang="en-US" sz="2400" dirty="0" smtClean="0">
                <a:solidFill>
                  <a:srgbClr val="C00000"/>
                </a:solidFill>
                <a:latin typeface="Arial" pitchFamily="34" charset="0"/>
                <a:cs typeface="Arial" pitchFamily="34" charset="0"/>
              </a:rPr>
              <a:t> </a:t>
            </a:r>
            <a:r>
              <a:rPr lang="en-US" sz="2400" dirty="0" err="1" smtClean="0">
                <a:solidFill>
                  <a:srgbClr val="C00000"/>
                </a:solidFill>
                <a:latin typeface="Arial" pitchFamily="34" charset="0"/>
                <a:cs typeface="Arial" pitchFamily="34" charset="0"/>
              </a:rPr>
              <a:t>bằng</a:t>
            </a:r>
            <a:r>
              <a:rPr lang="en-US" sz="2400" dirty="0" smtClean="0">
                <a:solidFill>
                  <a:srgbClr val="C00000"/>
                </a:solidFill>
                <a:latin typeface="Arial" pitchFamily="34" charset="0"/>
                <a:cs typeface="Arial" pitchFamily="34" charset="0"/>
              </a:rPr>
              <a:t> K &gt; 10</a:t>
            </a:r>
            <a:r>
              <a:rPr lang="en-US" sz="2400" baseline="30000" dirty="0" smtClean="0">
                <a:solidFill>
                  <a:srgbClr val="C00000"/>
                </a:solidFill>
                <a:latin typeface="Arial" pitchFamily="34" charset="0"/>
                <a:cs typeface="Arial" pitchFamily="34" charset="0"/>
              </a:rPr>
              <a:t>7</a:t>
            </a:r>
            <a:r>
              <a:rPr lang="en-US" sz="2400" dirty="0" smtClean="0">
                <a:solidFill>
                  <a:srgbClr val="C00000"/>
                </a:solidFill>
                <a:latin typeface="Arial" pitchFamily="34" charset="0"/>
                <a:cs typeface="Arial" pitchFamily="34" charset="0"/>
              </a:rPr>
              <a:t> : </a:t>
            </a:r>
            <a:r>
              <a:rPr lang="en-US" sz="2400" dirty="0" err="1" smtClean="0">
                <a:solidFill>
                  <a:srgbClr val="C00000"/>
                </a:solidFill>
                <a:latin typeface="Arial" pitchFamily="34" charset="0"/>
                <a:cs typeface="Arial" pitchFamily="34" charset="0"/>
              </a:rPr>
              <a:t>pư</a:t>
            </a:r>
            <a:r>
              <a:rPr lang="en-US" sz="2400" dirty="0" smtClean="0">
                <a:solidFill>
                  <a:srgbClr val="C00000"/>
                </a:solidFill>
                <a:latin typeface="Arial" pitchFamily="34" charset="0"/>
                <a:cs typeface="Arial" pitchFamily="34" charset="0"/>
              </a:rPr>
              <a:t> </a:t>
            </a:r>
            <a:r>
              <a:rPr lang="en-US" sz="2400" dirty="0" err="1">
                <a:solidFill>
                  <a:srgbClr val="C00000"/>
                </a:solidFill>
                <a:latin typeface="Arial" pitchFamily="34" charset="0"/>
                <a:cs typeface="Arial" pitchFamily="34" charset="0"/>
              </a:rPr>
              <a:t>có</a:t>
            </a:r>
            <a:r>
              <a:rPr lang="en-US" sz="2400" dirty="0">
                <a:solidFill>
                  <a:srgbClr val="C00000"/>
                </a:solidFill>
                <a:latin typeface="Arial" pitchFamily="34" charset="0"/>
                <a:cs typeface="Arial" pitchFamily="34" charset="0"/>
              </a:rPr>
              <a:t> </a:t>
            </a:r>
            <a:r>
              <a:rPr lang="en-US" sz="2400" dirty="0" err="1">
                <a:solidFill>
                  <a:srgbClr val="C00000"/>
                </a:solidFill>
                <a:latin typeface="Arial" pitchFamily="34" charset="0"/>
                <a:cs typeface="Arial" pitchFamily="34" charset="0"/>
              </a:rPr>
              <a:t>khả</a:t>
            </a:r>
            <a:r>
              <a:rPr lang="en-US" sz="2400" dirty="0">
                <a:solidFill>
                  <a:srgbClr val="C00000"/>
                </a:solidFill>
                <a:latin typeface="Arial" pitchFamily="34" charset="0"/>
                <a:cs typeface="Arial" pitchFamily="34" charset="0"/>
              </a:rPr>
              <a:t> </a:t>
            </a:r>
            <a:r>
              <a:rPr lang="en-US" sz="2400" dirty="0" err="1">
                <a:solidFill>
                  <a:srgbClr val="C00000"/>
                </a:solidFill>
                <a:latin typeface="Arial" pitchFamily="34" charset="0"/>
                <a:cs typeface="Arial" pitchFamily="34" charset="0"/>
              </a:rPr>
              <a:t>năng</a:t>
            </a:r>
            <a:r>
              <a:rPr lang="en-US" sz="2400" dirty="0">
                <a:solidFill>
                  <a:srgbClr val="C00000"/>
                </a:solidFill>
                <a:latin typeface="Arial" pitchFamily="34" charset="0"/>
                <a:cs typeface="Arial" pitchFamily="34" charset="0"/>
              </a:rPr>
              <a:t> </a:t>
            </a:r>
            <a:r>
              <a:rPr lang="en-US" sz="2400" dirty="0" err="1">
                <a:solidFill>
                  <a:srgbClr val="C00000"/>
                </a:solidFill>
                <a:latin typeface="Arial" pitchFamily="34" charset="0"/>
                <a:cs typeface="Arial" pitchFamily="34" charset="0"/>
              </a:rPr>
              <a:t>tự</a:t>
            </a:r>
            <a:r>
              <a:rPr lang="en-US" sz="2400" dirty="0">
                <a:solidFill>
                  <a:srgbClr val="C00000"/>
                </a:solidFill>
                <a:latin typeface="Arial" pitchFamily="34" charset="0"/>
                <a:cs typeface="Arial" pitchFamily="34" charset="0"/>
              </a:rPr>
              <a:t> </a:t>
            </a:r>
            <a:r>
              <a:rPr lang="en-US" sz="2400" dirty="0" err="1">
                <a:solidFill>
                  <a:srgbClr val="C00000"/>
                </a:solidFill>
                <a:latin typeface="Arial" pitchFamily="34" charset="0"/>
                <a:cs typeface="Arial" pitchFamily="34" charset="0"/>
              </a:rPr>
              <a:t>phát</a:t>
            </a:r>
            <a:r>
              <a:rPr lang="en-US" sz="2400" dirty="0">
                <a:solidFill>
                  <a:srgbClr val="C00000"/>
                </a:solidFill>
                <a:latin typeface="Arial" pitchFamily="34" charset="0"/>
                <a:cs typeface="Arial" pitchFamily="34" charset="0"/>
              </a:rPr>
              <a:t> </a:t>
            </a:r>
            <a:r>
              <a:rPr lang="en-US" sz="2400" u="sng" dirty="0" err="1">
                <a:solidFill>
                  <a:srgbClr val="C00000"/>
                </a:solidFill>
                <a:latin typeface="Arial" pitchFamily="34" charset="0"/>
                <a:cs typeface="Arial" pitchFamily="34" charset="0"/>
              </a:rPr>
              <a:t>hoàn</a:t>
            </a:r>
            <a:r>
              <a:rPr lang="en-US" sz="2400" u="sng" dirty="0">
                <a:solidFill>
                  <a:srgbClr val="C00000"/>
                </a:solidFill>
                <a:latin typeface="Arial" pitchFamily="34" charset="0"/>
                <a:cs typeface="Arial" pitchFamily="34" charset="0"/>
              </a:rPr>
              <a:t> </a:t>
            </a:r>
            <a:r>
              <a:rPr lang="en-US" sz="2400" u="sng" dirty="0" err="1">
                <a:solidFill>
                  <a:srgbClr val="C00000"/>
                </a:solidFill>
                <a:latin typeface="Arial" pitchFamily="34" charset="0"/>
                <a:cs typeface="Arial" pitchFamily="34" charset="0"/>
              </a:rPr>
              <a:t>toàn</a:t>
            </a:r>
            <a:r>
              <a:rPr lang="en-US" sz="2400" u="sng" dirty="0">
                <a:solidFill>
                  <a:srgbClr val="C00000"/>
                </a:solidFill>
                <a:latin typeface="Arial" pitchFamily="34" charset="0"/>
                <a:cs typeface="Arial" pitchFamily="34" charset="0"/>
              </a:rPr>
              <a:t> </a:t>
            </a:r>
            <a:r>
              <a:rPr lang="en-US" sz="2400" dirty="0">
                <a:solidFill>
                  <a:srgbClr val="C00000"/>
                </a:solidFill>
                <a:latin typeface="Arial" pitchFamily="34" charset="0"/>
                <a:cs typeface="Arial" pitchFamily="34" charset="0"/>
              </a:rPr>
              <a:t>ở </a:t>
            </a:r>
            <a:r>
              <a:rPr lang="en-US" sz="2400" dirty="0" smtClean="0">
                <a:solidFill>
                  <a:srgbClr val="C00000"/>
                </a:solidFill>
                <a:latin typeface="Arial" pitchFamily="34" charset="0"/>
                <a:cs typeface="Arial" pitchFamily="34" charset="0"/>
              </a:rPr>
              <a:t>298</a:t>
            </a:r>
            <a:r>
              <a:rPr lang="vi-VN" sz="2400" dirty="0" smtClean="0">
                <a:solidFill>
                  <a:srgbClr val="C00000"/>
                </a:solidFill>
                <a:latin typeface="Arial" pitchFamily="34" charset="0"/>
                <a:cs typeface="Arial" pitchFamily="34" charset="0"/>
              </a:rPr>
              <a:t> </a:t>
            </a:r>
            <a:r>
              <a:rPr lang="en-US" sz="2400" dirty="0" smtClean="0">
                <a:solidFill>
                  <a:srgbClr val="C00000"/>
                </a:solidFill>
                <a:latin typeface="Arial" pitchFamily="34" charset="0"/>
                <a:cs typeface="Arial" pitchFamily="34" charset="0"/>
              </a:rPr>
              <a:t>K</a:t>
            </a:r>
            <a:r>
              <a:rPr lang="en-US" sz="2400" dirty="0">
                <a:solidFill>
                  <a:srgbClr val="C00000"/>
                </a:solidFill>
                <a:latin typeface="Arial" pitchFamily="34" charset="0"/>
                <a:cs typeface="Arial" pitchFamily="34" charset="0"/>
              </a:rPr>
              <a:t>.</a:t>
            </a:r>
          </a:p>
          <a:p>
            <a:r>
              <a:rPr lang="en-US" sz="2400" dirty="0" smtClean="0">
                <a:latin typeface="Arial" pitchFamily="34" charset="0"/>
                <a:cs typeface="Arial" pitchFamily="34" charset="0"/>
              </a:rPr>
              <a:t> </a:t>
            </a:r>
            <a:endParaRPr lang="en-US" sz="24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p:cNvSpPr txBox="1"/>
              <p:nvPr/>
            </p:nvSpPr>
            <p:spPr>
              <a:xfrm>
                <a:off x="212271" y="2029107"/>
                <a:ext cx="9846128" cy="748475"/>
              </a:xfrm>
              <a:prstGeom prst="rect">
                <a:avLst/>
              </a:prstGeom>
              <a:noFill/>
            </p:spPr>
            <p:txBody>
              <a:bodyPr wrap="square" rtlCol="0">
                <a:spAutoFit/>
              </a:bodyPr>
              <a:lstStyle/>
              <a:p>
                <a14:m>
                  <m:oMath xmlns:m="http://schemas.openxmlformats.org/officeDocument/2006/math">
                    <m:sSubSup>
                      <m:sSubSupPr>
                        <m:ctrlPr>
                          <a:rPr lang="en-US" sz="2400" i="1" smtClean="0">
                            <a:solidFill>
                              <a:schemeClr val="accent4">
                                <a:lumMod val="50000"/>
                              </a:schemeClr>
                            </a:solidFill>
                            <a:latin typeface="Cambria Math"/>
                          </a:rPr>
                        </m:ctrlPr>
                      </m:sSubSupPr>
                      <m:e>
                        <m:r>
                          <a:rPr lang="en-US" sz="2400" b="0" i="1" smtClean="0">
                            <a:solidFill>
                              <a:schemeClr val="accent4">
                                <a:lumMod val="50000"/>
                              </a:schemeClr>
                            </a:solidFill>
                            <a:latin typeface="Cambria Math"/>
                          </a:rPr>
                          <m:t>− 40 </m:t>
                        </m:r>
                        <m:r>
                          <m:rPr>
                            <m:sty m:val="p"/>
                          </m:rPr>
                          <a:rPr lang="en-US" sz="2400" b="0" i="0" smtClean="0">
                            <a:solidFill>
                              <a:schemeClr val="accent4">
                                <a:lumMod val="50000"/>
                              </a:schemeClr>
                            </a:solidFill>
                            <a:latin typeface="Cambria Math"/>
                          </a:rPr>
                          <m:t>kJ</m:t>
                        </m:r>
                        <m:r>
                          <a:rPr lang="en-US" sz="2400" b="0" i="1" smtClean="0">
                            <a:solidFill>
                              <a:schemeClr val="accent4">
                                <a:lumMod val="50000"/>
                              </a:schemeClr>
                            </a:solidFill>
                            <a:latin typeface="Cambria Math"/>
                          </a:rPr>
                          <m:t>&lt; ∆</m:t>
                        </m:r>
                        <m:r>
                          <a:rPr lang="en-US" sz="2400" i="1">
                            <a:solidFill>
                              <a:schemeClr val="accent4">
                                <a:lumMod val="50000"/>
                              </a:schemeClr>
                            </a:solidFill>
                            <a:latin typeface="Cambria Math" panose="02040503050406030204" pitchFamily="18" charset="0"/>
                            <a:ea typeface="Cambria Math" panose="02040503050406030204" pitchFamily="18" charset="0"/>
                          </a:rPr>
                          <m:t>𝐺</m:t>
                        </m:r>
                      </m:e>
                      <m:sub>
                        <m:r>
                          <a:rPr lang="en-US" sz="2400" i="1">
                            <a:solidFill>
                              <a:schemeClr val="accent4">
                                <a:lumMod val="50000"/>
                              </a:schemeClr>
                            </a:solidFill>
                            <a:latin typeface="Cambria Math" panose="02040503050406030204" pitchFamily="18" charset="0"/>
                          </a:rPr>
                          <m:t>298 </m:t>
                        </m:r>
                      </m:sub>
                      <m:sup>
                        <m:r>
                          <a:rPr lang="en-US" sz="2400" i="1">
                            <a:solidFill>
                              <a:schemeClr val="accent4">
                                <a:lumMod val="50000"/>
                              </a:schemeClr>
                            </a:solidFill>
                            <a:latin typeface="Cambria Math" panose="02040503050406030204" pitchFamily="18" charset="0"/>
                          </a:rPr>
                          <m:t>0</m:t>
                        </m:r>
                      </m:sup>
                    </m:sSubSup>
                    <m:r>
                      <a:rPr lang="en-US" sz="2400" i="1">
                        <a:solidFill>
                          <a:schemeClr val="accent4">
                            <a:lumMod val="50000"/>
                          </a:schemeClr>
                        </a:solidFill>
                        <a:latin typeface="Cambria Math"/>
                      </a:rPr>
                      <m:t> </m:t>
                    </m:r>
                    <m:r>
                      <a:rPr lang="en-US" sz="2400" b="0" i="1" smtClean="0">
                        <a:solidFill>
                          <a:schemeClr val="accent4">
                            <a:lumMod val="50000"/>
                          </a:schemeClr>
                        </a:solidFill>
                        <a:latin typeface="Cambria Math"/>
                      </a:rPr>
                      <m:t>&lt; +40</m:t>
                    </m:r>
                    <m:r>
                      <a:rPr lang="vi-VN" sz="2400" b="0" i="1" smtClean="0">
                        <a:solidFill>
                          <a:schemeClr val="accent4">
                            <a:lumMod val="50000"/>
                          </a:schemeClr>
                        </a:solidFill>
                        <a:latin typeface="Cambria Math"/>
                      </a:rPr>
                      <m:t> </m:t>
                    </m:r>
                    <m:r>
                      <m:rPr>
                        <m:sty m:val="p"/>
                      </m:rPr>
                      <a:rPr lang="en-US" sz="2400" b="0" i="0" smtClean="0">
                        <a:solidFill>
                          <a:schemeClr val="accent4">
                            <a:lumMod val="50000"/>
                          </a:schemeClr>
                        </a:solidFill>
                        <a:latin typeface="Cambria Math"/>
                      </a:rPr>
                      <m:t>kJ</m:t>
                    </m:r>
                    <m:r>
                      <a:rPr lang="en-US" sz="2400" b="0" i="1" smtClean="0">
                        <a:solidFill>
                          <a:schemeClr val="accent4">
                            <a:lumMod val="50000"/>
                          </a:schemeClr>
                        </a:solidFill>
                        <a:latin typeface="Cambria Math"/>
                      </a:rPr>
                      <m:t> : </m:t>
                    </m:r>
                  </m:oMath>
                </a14:m>
                <a:r>
                  <a:rPr lang="en-US" sz="2400" dirty="0" err="1" smtClean="0">
                    <a:solidFill>
                      <a:schemeClr val="accent4">
                        <a:lumMod val="50000"/>
                      </a:schemeClr>
                    </a:solidFill>
                    <a:latin typeface="Arial" pitchFamily="34" charset="0"/>
                    <a:cs typeface="Arial" pitchFamily="34" charset="0"/>
                  </a:rPr>
                  <a:t>pư</a:t>
                </a:r>
                <a:r>
                  <a:rPr lang="vi-VN" sz="2400" dirty="0" smtClean="0">
                    <a:solidFill>
                      <a:schemeClr val="accent4">
                        <a:lumMod val="50000"/>
                      </a:schemeClr>
                    </a:solidFill>
                    <a:latin typeface="Arial" pitchFamily="34" charset="0"/>
                    <a:cs typeface="Arial" pitchFamily="34" charset="0"/>
                  </a:rPr>
                  <a:t> thuận nghịch trong thực tế ở 298 K. </a:t>
                </a:r>
                <a:endParaRPr lang="en-US" sz="2400" dirty="0">
                  <a:solidFill>
                    <a:schemeClr val="accent4">
                      <a:lumMod val="50000"/>
                    </a:schemeClr>
                  </a:solidFill>
                  <a:latin typeface="Arial" pitchFamily="34" charset="0"/>
                  <a:cs typeface="Arial" pitchFamily="34" charset="0"/>
                </a:endParaRPr>
              </a:p>
              <a:p>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12271" y="2029107"/>
                <a:ext cx="9846128" cy="748475"/>
              </a:xfrm>
              <a:prstGeom prst="rect">
                <a:avLst/>
              </a:prstGeom>
              <a:blipFill rotWithShape="1">
                <a:blip r:embed="rId3"/>
                <a:stretch>
                  <a:fillRect t="-4878"/>
                </a:stretch>
              </a:blipFill>
            </p:spPr>
            <p:txBody>
              <a:bodyPr/>
              <a:lstStyle/>
              <a:p>
                <a:r>
                  <a:rPr lang="en-US">
                    <a:noFill/>
                  </a:rPr>
                  <a:t> </a:t>
                </a:r>
              </a:p>
            </p:txBody>
          </p:sp>
        </mc:Fallback>
      </mc:AlternateContent>
      <p:sp>
        <p:nvSpPr>
          <p:cNvPr id="7" name="TextBox 6"/>
          <p:cNvSpPr txBox="1"/>
          <p:nvPr/>
        </p:nvSpPr>
        <p:spPr>
          <a:xfrm>
            <a:off x="146957" y="2690274"/>
            <a:ext cx="11201400" cy="1200329"/>
          </a:xfrm>
          <a:prstGeom prst="rect">
            <a:avLst/>
          </a:prstGeom>
          <a:noFill/>
        </p:spPr>
        <p:txBody>
          <a:bodyPr wrap="square" rtlCol="0">
            <a:spAutoFit/>
          </a:bodyPr>
          <a:lstStyle/>
          <a:p>
            <a:r>
              <a:rPr lang="vi-VN" sz="2400" dirty="0">
                <a:solidFill>
                  <a:srgbClr val="0000FF"/>
                </a:solidFill>
                <a:latin typeface="Arial" pitchFamily="34" charset="0"/>
                <a:cs typeface="Arial" pitchFamily="34" charset="0"/>
              </a:rPr>
              <a:t>S</a:t>
            </a:r>
            <a:r>
              <a:rPr lang="vi-VN" sz="2400" dirty="0" smtClean="0">
                <a:solidFill>
                  <a:srgbClr val="0000FF"/>
                </a:solidFill>
                <a:latin typeface="Arial" pitchFamily="34" charset="0"/>
                <a:cs typeface="Arial" pitchFamily="34" charset="0"/>
              </a:rPr>
              <a:t>inh công có ích ( A’ &gt;0) có nghĩa là phản </a:t>
            </a:r>
            <a:r>
              <a:rPr lang="vi-VN" sz="2400" dirty="0">
                <a:solidFill>
                  <a:srgbClr val="0000FF"/>
                </a:solidFill>
                <a:latin typeface="Arial" pitchFamily="34" charset="0"/>
                <a:cs typeface="Arial" pitchFamily="34" charset="0"/>
              </a:rPr>
              <a:t>ứng </a:t>
            </a:r>
            <a:r>
              <a:rPr lang="vi-VN" sz="2400" dirty="0" smtClean="0">
                <a:solidFill>
                  <a:srgbClr val="0000FF"/>
                </a:solidFill>
                <a:latin typeface="Arial" pitchFamily="34" charset="0"/>
                <a:cs typeface="Arial" pitchFamily="34" charset="0"/>
              </a:rPr>
              <a:t>đó tự </a:t>
            </a:r>
            <a:r>
              <a:rPr lang="vi-VN" sz="2400" dirty="0">
                <a:solidFill>
                  <a:srgbClr val="0000FF"/>
                </a:solidFill>
                <a:latin typeface="Arial" pitchFamily="34" charset="0"/>
                <a:cs typeface="Arial" pitchFamily="34" charset="0"/>
              </a:rPr>
              <a:t>phát </a:t>
            </a:r>
            <a:r>
              <a:rPr lang="vi-VN" sz="2400" dirty="0" smtClean="0">
                <a:solidFill>
                  <a:srgbClr val="0000FF"/>
                </a:solidFill>
                <a:latin typeface="Arial" pitchFamily="34" charset="0"/>
                <a:cs typeface="Arial" pitchFamily="34" charset="0"/>
              </a:rPr>
              <a:t>tại điều kiện đang xét.</a:t>
            </a:r>
          </a:p>
          <a:p>
            <a:r>
              <a:rPr lang="vi-VN" sz="2400" dirty="0" smtClean="0">
                <a:latin typeface="Arial" pitchFamily="34" charset="0"/>
                <a:cs typeface="Arial" pitchFamily="34" charset="0"/>
              </a:rPr>
              <a:t>Ví dụ: khi pư oxy hóa khử sinh ra dòng điện </a:t>
            </a:r>
            <a:r>
              <a:rPr lang="vi-VN" sz="2400" dirty="0">
                <a:latin typeface="Arial" pitchFamily="34" charset="0"/>
                <a:cs typeface="Arial" pitchFamily="34" charset="0"/>
                <a:sym typeface="Symbol"/>
              </a:rPr>
              <a:t>(công có ích là công điện) </a:t>
            </a:r>
            <a:r>
              <a:rPr lang="vi-VN" sz="2400" dirty="0" smtClean="0">
                <a:latin typeface="Arial" pitchFamily="34" charset="0"/>
                <a:cs typeface="Arial" pitchFamily="34" charset="0"/>
              </a:rPr>
              <a:t>trong pin điện hóa học, có nghĩa là pư đó (</a:t>
            </a:r>
            <a:r>
              <a:rPr lang="vi-VN" sz="2400" dirty="0" smtClean="0">
                <a:latin typeface="Arial" pitchFamily="34" charset="0"/>
                <a:cs typeface="Arial" pitchFamily="34" charset="0"/>
                <a:sym typeface="Symbol"/>
              </a:rPr>
              <a:t></a:t>
            </a:r>
            <a:r>
              <a:rPr lang="vi-VN" sz="2400" dirty="0">
                <a:latin typeface="Arial" pitchFamily="34" charset="0"/>
                <a:cs typeface="Arial" pitchFamily="34" charset="0"/>
                <a:sym typeface="Symbol"/>
              </a:rPr>
              <a:t>G &lt; </a:t>
            </a:r>
            <a:r>
              <a:rPr lang="vi-VN" sz="2400" dirty="0" smtClean="0">
                <a:latin typeface="Arial" pitchFamily="34" charset="0"/>
                <a:cs typeface="Arial" pitchFamily="34" charset="0"/>
                <a:sym typeface="Symbol"/>
              </a:rPr>
              <a:t>0)  xảy</a:t>
            </a:r>
            <a:r>
              <a:rPr lang="vi-VN" sz="2400" dirty="0" smtClean="0">
                <a:latin typeface="Arial" pitchFamily="34" charset="0"/>
                <a:cs typeface="Arial" pitchFamily="34" charset="0"/>
              </a:rPr>
              <a:t> ra </a:t>
            </a:r>
            <a:r>
              <a:rPr lang="vi-VN" sz="2400" dirty="0" smtClean="0">
                <a:latin typeface="Arial" pitchFamily="34" charset="0"/>
                <a:cs typeface="Arial" pitchFamily="34" charset="0"/>
                <a:sym typeface="Symbol"/>
              </a:rPr>
              <a:t>biến hóa năng thành điện năng.</a:t>
            </a:r>
            <a:endParaRPr lang="en-US" sz="24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106132" y="4084435"/>
                <a:ext cx="12192000" cy="850617"/>
              </a:xfrm>
              <a:prstGeom prst="rect">
                <a:avLst/>
              </a:prstGeom>
              <a:noFill/>
              <a:ln w="25400">
                <a:solidFill>
                  <a:schemeClr val="accent1"/>
                </a:solidFill>
              </a:ln>
            </p:spPr>
            <p:txBody>
              <a:bodyPr wrap="square" rtlCol="0">
                <a:spAutoFit/>
              </a:bodyPr>
              <a:lstStyle/>
              <a:p>
                <a14:m>
                  <m:oMath xmlns:m="http://schemas.openxmlformats.org/officeDocument/2006/math">
                    <m:sSubSup>
                      <m:sSubSupPr>
                        <m:ctrlPr>
                          <a:rPr lang="en-US" sz="2400" i="1" smtClean="0">
                            <a:solidFill>
                              <a:srgbClr val="008000"/>
                            </a:solidFill>
                            <a:latin typeface="Cambria Math"/>
                          </a:rPr>
                        </m:ctrlPr>
                      </m:sSubSupPr>
                      <m:e>
                        <m:r>
                          <a:rPr lang="en-US" sz="2400" i="1">
                            <a:solidFill>
                              <a:srgbClr val="008000"/>
                            </a:solidFill>
                            <a:latin typeface="Cambria Math" panose="02040503050406030204" pitchFamily="18" charset="0"/>
                            <a:ea typeface="Cambria Math" panose="02040503050406030204" pitchFamily="18" charset="0"/>
                          </a:rPr>
                          <m:t>∆</m:t>
                        </m:r>
                        <m:r>
                          <a:rPr lang="en-US" sz="2400" i="1">
                            <a:solidFill>
                              <a:srgbClr val="008000"/>
                            </a:solidFill>
                            <a:latin typeface="Cambria Math" panose="02040503050406030204" pitchFamily="18" charset="0"/>
                            <a:ea typeface="Cambria Math" panose="02040503050406030204" pitchFamily="18" charset="0"/>
                          </a:rPr>
                          <m:t>𝐺</m:t>
                        </m:r>
                      </m:e>
                      <m:sub>
                        <m:r>
                          <a:rPr lang="en-US" sz="2400" b="0" i="1" smtClean="0">
                            <a:solidFill>
                              <a:srgbClr val="008000"/>
                            </a:solidFill>
                            <a:latin typeface="Cambria Math"/>
                            <a:ea typeface="Cambria Math" panose="02040503050406030204" pitchFamily="18" charset="0"/>
                          </a:rPr>
                          <m:t>298</m:t>
                        </m:r>
                        <m:r>
                          <a:rPr lang="en-US" sz="2400" i="1">
                            <a:solidFill>
                              <a:srgbClr val="008000"/>
                            </a:solidFill>
                            <a:latin typeface="Cambria Math" panose="02040503050406030204" pitchFamily="18" charset="0"/>
                          </a:rPr>
                          <m:t> </m:t>
                        </m:r>
                      </m:sub>
                      <m:sup>
                        <m:r>
                          <a:rPr lang="en-US" sz="2400" i="1">
                            <a:solidFill>
                              <a:srgbClr val="008000"/>
                            </a:solidFill>
                            <a:latin typeface="Cambria Math" panose="02040503050406030204" pitchFamily="18" charset="0"/>
                          </a:rPr>
                          <m:t>0</m:t>
                        </m:r>
                      </m:sup>
                    </m:sSubSup>
                  </m:oMath>
                </a14:m>
                <a:r>
                  <a:rPr lang="en-US" sz="2400" dirty="0" smtClean="0">
                    <a:solidFill>
                      <a:srgbClr val="008000"/>
                    </a:solidFill>
                    <a:latin typeface="Arial" pitchFamily="34" charset="0"/>
                    <a:cs typeface="Arial" pitchFamily="34" charset="0"/>
                  </a:rPr>
                  <a:t>&gt; 0 </a:t>
                </a:r>
                <a:r>
                  <a:rPr lang="en-US" sz="2400" dirty="0" err="1" smtClean="0">
                    <a:solidFill>
                      <a:srgbClr val="008000"/>
                    </a:solidFill>
                    <a:latin typeface="Arial" pitchFamily="34" charset="0"/>
                    <a:cs typeface="Arial" pitchFamily="34" charset="0"/>
                  </a:rPr>
                  <a:t>thì</a:t>
                </a:r>
                <a:r>
                  <a:rPr lang="vi-VN"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pư</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không</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tự</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phát</a:t>
                </a:r>
                <a:r>
                  <a:rPr lang="en-US" sz="2400" dirty="0" smtClean="0">
                    <a:solidFill>
                      <a:srgbClr val="008000"/>
                    </a:solidFill>
                    <a:latin typeface="Arial" pitchFamily="34" charset="0"/>
                    <a:cs typeface="Arial" pitchFamily="34" charset="0"/>
                  </a:rPr>
                  <a:t> ở </a:t>
                </a:r>
                <a:r>
                  <a:rPr lang="en-US" sz="2400" dirty="0" err="1" smtClean="0">
                    <a:solidFill>
                      <a:srgbClr val="008000"/>
                    </a:solidFill>
                    <a:latin typeface="Arial" pitchFamily="34" charset="0"/>
                    <a:cs typeface="Arial" pitchFamily="34" charset="0"/>
                  </a:rPr>
                  <a:t>điều</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kiện</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chuẩn</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P</a:t>
                </a:r>
                <a:r>
                  <a:rPr lang="en-US" sz="2400" baseline="-25000" dirty="0" err="1" smtClean="0">
                    <a:solidFill>
                      <a:srgbClr val="008000"/>
                    </a:solidFill>
                    <a:latin typeface="Arial" pitchFamily="34" charset="0"/>
                    <a:cs typeface="Arial" pitchFamily="34" charset="0"/>
                  </a:rPr>
                  <a:t>khí</a:t>
                </a:r>
                <a:r>
                  <a:rPr lang="en-US" sz="2400" dirty="0" smtClean="0">
                    <a:solidFill>
                      <a:srgbClr val="008000"/>
                    </a:solidFill>
                    <a:latin typeface="Arial" pitchFamily="34" charset="0"/>
                    <a:cs typeface="Arial" pitchFamily="34" charset="0"/>
                  </a:rPr>
                  <a:t>=1atm;[C]=1 </a:t>
                </a:r>
                <a:r>
                  <a:rPr lang="en-US" sz="2400" dirty="0" err="1" smtClean="0">
                    <a:solidFill>
                      <a:srgbClr val="008000"/>
                    </a:solidFill>
                    <a:latin typeface="Arial" pitchFamily="34" charset="0"/>
                    <a:cs typeface="Arial" pitchFamily="34" charset="0"/>
                  </a:rPr>
                  <a:t>mol</a:t>
                </a:r>
                <a:r>
                  <a:rPr lang="en-US" sz="2400" dirty="0" smtClean="0">
                    <a:solidFill>
                      <a:srgbClr val="008000"/>
                    </a:solidFill>
                    <a:latin typeface="Arial" pitchFamily="34" charset="0"/>
                    <a:cs typeface="Arial" pitchFamily="34" charset="0"/>
                  </a:rPr>
                  <a:t>/l)</a:t>
                </a:r>
                <a:r>
                  <a:rPr lang="vi-VN" sz="2400" dirty="0" smtClean="0">
                    <a:solidFill>
                      <a:srgbClr val="008000"/>
                    </a:solidFill>
                    <a:latin typeface="Arial" pitchFamily="34" charset="0"/>
                    <a:cs typeface="Arial" pitchFamily="34" charset="0"/>
                  </a:rPr>
                  <a:t> </a:t>
                </a:r>
                <a:r>
                  <a:rPr lang="en-US" sz="2400" dirty="0" smtClean="0">
                    <a:solidFill>
                      <a:srgbClr val="008000"/>
                    </a:solidFill>
                    <a:latin typeface="Arial" pitchFamily="34" charset="0"/>
                    <a:cs typeface="Arial" pitchFamily="34" charset="0"/>
                  </a:rPr>
                  <a:t>ở 298</a:t>
                </a:r>
                <a:r>
                  <a:rPr lang="vi-VN" sz="2400" dirty="0" smtClean="0">
                    <a:solidFill>
                      <a:srgbClr val="008000"/>
                    </a:solidFill>
                    <a:latin typeface="Arial" pitchFamily="34" charset="0"/>
                    <a:cs typeface="Arial" pitchFamily="34" charset="0"/>
                  </a:rPr>
                  <a:t> </a:t>
                </a:r>
                <a:r>
                  <a:rPr lang="en-US" sz="2400" dirty="0" smtClean="0">
                    <a:solidFill>
                      <a:srgbClr val="008000"/>
                    </a:solidFill>
                    <a:latin typeface="Arial" pitchFamily="34" charset="0"/>
                    <a:cs typeface="Arial" pitchFamily="34" charset="0"/>
                  </a:rPr>
                  <a:t>K </a:t>
                </a:r>
                <a:r>
                  <a:rPr lang="en-US" sz="2400" dirty="0" err="1" smtClean="0">
                    <a:solidFill>
                      <a:srgbClr val="008000"/>
                    </a:solidFill>
                    <a:latin typeface="Arial" pitchFamily="34" charset="0"/>
                    <a:cs typeface="Arial" pitchFamily="34" charset="0"/>
                  </a:rPr>
                  <a:t>đẳng</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nhiệt</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đẳng</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áp</a:t>
                </a:r>
                <a:r>
                  <a:rPr lang="vi-VN" sz="2400" dirty="0" smtClean="0">
                    <a:solidFill>
                      <a:srgbClr val="008000"/>
                    </a:solidFill>
                    <a:latin typeface="Arial" pitchFamily="34" charset="0"/>
                    <a:cs typeface="Arial" pitchFamily="34" charset="0"/>
                  </a:rPr>
                  <a:t>,</a:t>
                </a:r>
                <a:r>
                  <a:rPr lang="en-US" sz="2400" dirty="0" err="1" smtClean="0">
                    <a:solidFill>
                      <a:srgbClr val="008000"/>
                    </a:solidFill>
                    <a:latin typeface="Arial" pitchFamily="34" charset="0"/>
                    <a:cs typeface="Arial" pitchFamily="34" charset="0"/>
                  </a:rPr>
                  <a:t>nhưng</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pư</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có</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khả</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năng</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tự</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phát</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trong</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thực</a:t>
                </a:r>
                <a:r>
                  <a:rPr lang="en-US" sz="2400" dirty="0" smtClean="0">
                    <a:solidFill>
                      <a:srgbClr val="008000"/>
                    </a:solidFill>
                    <a:latin typeface="Arial" pitchFamily="34" charset="0"/>
                    <a:cs typeface="Arial" pitchFamily="34" charset="0"/>
                  </a:rPr>
                  <a:t> </a:t>
                </a:r>
                <a:r>
                  <a:rPr lang="en-US" sz="2400" dirty="0" err="1" smtClean="0">
                    <a:solidFill>
                      <a:srgbClr val="008000"/>
                    </a:solidFill>
                    <a:latin typeface="Arial" pitchFamily="34" charset="0"/>
                    <a:cs typeface="Arial" pitchFamily="34" charset="0"/>
                  </a:rPr>
                  <a:t>tế</a:t>
                </a:r>
                <a:r>
                  <a:rPr lang="en-US" sz="2400" dirty="0" smtClean="0">
                    <a:solidFill>
                      <a:srgbClr val="008000"/>
                    </a:solidFill>
                    <a:latin typeface="Arial" pitchFamily="34" charset="0"/>
                    <a:cs typeface="Arial" pitchFamily="34" charset="0"/>
                  </a:rPr>
                  <a:t> 298</a:t>
                </a:r>
                <a:r>
                  <a:rPr lang="vi-VN" sz="2400" dirty="0" smtClean="0">
                    <a:solidFill>
                      <a:srgbClr val="008000"/>
                    </a:solidFill>
                    <a:latin typeface="Arial" pitchFamily="34" charset="0"/>
                    <a:cs typeface="Arial" pitchFamily="34" charset="0"/>
                  </a:rPr>
                  <a:t> </a:t>
                </a:r>
                <a:r>
                  <a:rPr lang="en-US" sz="2400" dirty="0" smtClean="0">
                    <a:solidFill>
                      <a:srgbClr val="008000"/>
                    </a:solidFill>
                    <a:latin typeface="Arial" pitchFamily="34" charset="0"/>
                    <a:cs typeface="Arial" pitchFamily="34" charset="0"/>
                  </a:rPr>
                  <a:t>K </a:t>
                </a:r>
                <a:r>
                  <a:rPr lang="en-US" sz="2400" dirty="0" err="1" smtClean="0">
                    <a:solidFill>
                      <a:srgbClr val="008000"/>
                    </a:solidFill>
                    <a:latin typeface="Arial" pitchFamily="34" charset="0"/>
                    <a:cs typeface="Arial" pitchFamily="34" charset="0"/>
                  </a:rPr>
                  <a:t>nếu</a:t>
                </a:r>
                <a:r>
                  <a:rPr lang="en-US" sz="2400" dirty="0" smtClean="0">
                    <a:solidFill>
                      <a:srgbClr val="008000"/>
                    </a:solidFill>
                    <a:latin typeface="Arial" pitchFamily="34" charset="0"/>
                    <a:cs typeface="Arial" pitchFamily="34" charset="0"/>
                  </a:rPr>
                  <a:t> </a:t>
                </a:r>
                <a14:m>
                  <m:oMath xmlns:m="http://schemas.openxmlformats.org/officeDocument/2006/math">
                    <m:sSubSup>
                      <m:sSubSupPr>
                        <m:ctrlPr>
                          <a:rPr lang="en-US" sz="2400" i="1">
                            <a:solidFill>
                              <a:srgbClr val="008000"/>
                            </a:solidFill>
                            <a:latin typeface="Cambria Math"/>
                          </a:rPr>
                        </m:ctrlPr>
                      </m:sSubSupPr>
                      <m:e>
                        <m:r>
                          <a:rPr lang="en-US" sz="2400" i="1">
                            <a:solidFill>
                              <a:srgbClr val="008000"/>
                            </a:solidFill>
                            <a:latin typeface="Cambria Math" panose="02040503050406030204" pitchFamily="18" charset="0"/>
                            <a:ea typeface="Cambria Math" panose="02040503050406030204" pitchFamily="18" charset="0"/>
                          </a:rPr>
                          <m:t>∆</m:t>
                        </m:r>
                        <m:r>
                          <a:rPr lang="en-US" sz="2400" i="1">
                            <a:solidFill>
                              <a:srgbClr val="008000"/>
                            </a:solidFill>
                            <a:latin typeface="Cambria Math" panose="02040503050406030204" pitchFamily="18" charset="0"/>
                            <a:ea typeface="Cambria Math" panose="02040503050406030204" pitchFamily="18" charset="0"/>
                          </a:rPr>
                          <m:t>𝐺</m:t>
                        </m:r>
                      </m:e>
                      <m:sub>
                        <m:r>
                          <a:rPr lang="en-US" sz="2400" i="1">
                            <a:solidFill>
                              <a:srgbClr val="008000"/>
                            </a:solidFill>
                            <a:latin typeface="Cambria Math"/>
                            <a:ea typeface="Cambria Math" panose="02040503050406030204" pitchFamily="18" charset="0"/>
                          </a:rPr>
                          <m:t>298</m:t>
                        </m:r>
                        <m:r>
                          <a:rPr lang="en-US" sz="2400" i="1">
                            <a:solidFill>
                              <a:srgbClr val="008000"/>
                            </a:solidFill>
                            <a:latin typeface="Cambria Math" panose="02040503050406030204" pitchFamily="18" charset="0"/>
                          </a:rPr>
                          <m:t> </m:t>
                        </m:r>
                      </m:sub>
                      <m:sup>
                        <m:r>
                          <a:rPr lang="en-US" sz="2400" i="1">
                            <a:solidFill>
                              <a:srgbClr val="008000"/>
                            </a:solidFill>
                            <a:latin typeface="Cambria Math" panose="02040503050406030204" pitchFamily="18" charset="0"/>
                          </a:rPr>
                          <m:t>0</m:t>
                        </m:r>
                      </m:sup>
                    </m:sSubSup>
                  </m:oMath>
                </a14:m>
                <a:r>
                  <a:rPr lang="en-US" sz="2400" dirty="0" smtClean="0">
                    <a:solidFill>
                      <a:srgbClr val="008000"/>
                    </a:solidFill>
                    <a:latin typeface="Arial" pitchFamily="34" charset="0"/>
                    <a:cs typeface="Arial" pitchFamily="34" charset="0"/>
                  </a:rPr>
                  <a:t> &lt; +40</a:t>
                </a:r>
                <a:r>
                  <a:rPr lang="vi-VN" sz="2400" dirty="0" smtClean="0">
                    <a:solidFill>
                      <a:srgbClr val="008000"/>
                    </a:solidFill>
                    <a:latin typeface="Arial" pitchFamily="34" charset="0"/>
                    <a:cs typeface="Arial" pitchFamily="34" charset="0"/>
                  </a:rPr>
                  <a:t> </a:t>
                </a:r>
                <a:r>
                  <a:rPr lang="en-US" sz="2400" dirty="0" smtClean="0">
                    <a:solidFill>
                      <a:srgbClr val="008000"/>
                    </a:solidFill>
                    <a:latin typeface="Arial" pitchFamily="34" charset="0"/>
                    <a:cs typeface="Arial" pitchFamily="34" charset="0"/>
                  </a:rPr>
                  <a:t>kJ.</a:t>
                </a:r>
                <a:endParaRPr lang="en-US" sz="2400" dirty="0">
                  <a:solidFill>
                    <a:srgbClr val="008000"/>
                  </a:solidFill>
                  <a:latin typeface="Arial" pitchFamily="34" charset="0"/>
                  <a:cs typeface="Arial"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6132" y="4084435"/>
                <a:ext cx="12192000" cy="850617"/>
              </a:xfrm>
              <a:prstGeom prst="rect">
                <a:avLst/>
              </a:prstGeom>
              <a:blipFill rotWithShape="1">
                <a:blip r:embed="rId4"/>
                <a:stretch>
                  <a:fillRect l="-649" t="-2778" b="-13194"/>
                </a:stretch>
              </a:blipFill>
              <a:ln w="25400">
                <a:solidFill>
                  <a:schemeClr val="accent1"/>
                </a:solidFill>
              </a:ln>
            </p:spPr>
            <p:txBody>
              <a:bodyPr/>
              <a:lstStyle/>
              <a:p>
                <a:r>
                  <a:rPr lang="en-US">
                    <a:noFill/>
                  </a:rPr>
                  <a:t> </a:t>
                </a:r>
              </a:p>
            </p:txBody>
          </p:sp>
        </mc:Fallback>
      </mc:AlternateContent>
      <p:sp>
        <p:nvSpPr>
          <p:cNvPr id="10" name="TextBox 9"/>
          <p:cNvSpPr txBox="1"/>
          <p:nvPr/>
        </p:nvSpPr>
        <p:spPr>
          <a:xfrm>
            <a:off x="106132" y="5122477"/>
            <a:ext cx="12085868" cy="1200329"/>
          </a:xfrm>
          <a:prstGeom prst="rect">
            <a:avLst/>
          </a:prstGeom>
          <a:noFill/>
        </p:spPr>
        <p:txBody>
          <a:bodyPr wrap="square" rtlCol="0">
            <a:spAutoFit/>
          </a:bodyPr>
          <a:lstStyle/>
          <a:p>
            <a:r>
              <a:rPr lang="en-US" sz="2400" dirty="0" smtClean="0">
                <a:latin typeface="Arial" pitchFamily="34" charset="0"/>
                <a:cs typeface="Arial" pitchFamily="34" charset="0"/>
              </a:rPr>
              <a:t> </a:t>
            </a:r>
            <a:r>
              <a:rPr lang="vi-VN" sz="2400" dirty="0" err="1">
                <a:latin typeface="Arial" pitchFamily="34" charset="0"/>
                <a:cs typeface="Arial" pitchFamily="34" charset="0"/>
              </a:rPr>
              <a:t>N</a:t>
            </a:r>
            <a:r>
              <a:rPr lang="en-US" sz="2400" dirty="0" err="1" smtClean="0">
                <a:latin typeface="Arial" pitchFamily="34" charset="0"/>
                <a:cs typeface="Arial" pitchFamily="34" charset="0"/>
              </a:rPr>
              <a:t>ếu</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quá</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trình</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hóa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học</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diễn</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ra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không</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phải</a:t>
            </a:r>
            <a:r>
              <a:rPr lang="en-US" sz="2400" dirty="0" smtClean="0">
                <a:latin typeface="Arial" pitchFamily="34" charset="0"/>
                <a:cs typeface="Arial" pitchFamily="34" charset="0"/>
              </a:rPr>
              <a:t> ở </a:t>
            </a:r>
            <a:r>
              <a:rPr lang="en-US" sz="2400" dirty="0" err="1" smtClean="0">
                <a:latin typeface="Arial" pitchFamily="34" charset="0"/>
                <a:cs typeface="Arial" pitchFamily="34" charset="0"/>
              </a:rPr>
              <a:t>đk</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đẳng</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nhiệt</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đẳng</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áp</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thì</a:t>
            </a:r>
            <a:r>
              <a:rPr lang="en-US" sz="2400" dirty="0" smtClean="0">
                <a:latin typeface="Arial" pitchFamily="34" charset="0"/>
                <a:cs typeface="Arial" pitchFamily="34" charset="0"/>
              </a:rPr>
              <a:t> </a:t>
            </a:r>
            <a:r>
              <a:rPr lang="en-US" sz="2400" dirty="0" smtClean="0">
                <a:latin typeface="Arial" pitchFamily="34" charset="0"/>
                <a:cs typeface="Arial" pitchFamily="34" charset="0"/>
                <a:sym typeface="Symbol" panose="05050102010706020507" pitchFamily="18" charset="2"/>
              </a:rPr>
              <a:t>G </a:t>
            </a:r>
            <a:r>
              <a:rPr lang="en-US" sz="2400" dirty="0" err="1" smtClean="0">
                <a:latin typeface="Arial" pitchFamily="34" charset="0"/>
                <a:cs typeface="Arial" pitchFamily="34" charset="0"/>
                <a:sym typeface="Symbol" panose="05050102010706020507" pitchFamily="18" charset="2"/>
              </a:rPr>
              <a:t>không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phải</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là</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tiêu</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chuẩn</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xét</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chiều</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quá</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trình</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Ví</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dụ</a:t>
            </a:r>
            <a:r>
              <a:rPr lang="vi-VN" sz="2400" dirty="0" smtClean="0">
                <a:latin typeface="Arial" pitchFamily="34" charset="0"/>
                <a:cs typeface="Arial" pitchFamily="34" charset="0"/>
                <a:sym typeface="Symbol" panose="05050102010706020507" pitchFamily="18" charset="2"/>
              </a:rPr>
              <a:t>:</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quá</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trình</a:t>
            </a:r>
            <a:r>
              <a:rPr lang="en-US" sz="2400" dirty="0" smtClean="0">
                <a:latin typeface="Arial" pitchFamily="34" charset="0"/>
                <a:cs typeface="Arial" pitchFamily="34" charset="0"/>
                <a:sym typeface="Symbol" panose="05050102010706020507" pitchFamily="18" charset="2"/>
              </a:rPr>
              <a:t> </a:t>
            </a:r>
            <a:r>
              <a:rPr lang="vi-VN" sz="2400" dirty="0" smtClean="0">
                <a:latin typeface="Arial" pitchFamily="34" charset="0"/>
                <a:cs typeface="Arial" pitchFamily="34" charset="0"/>
                <a:sym typeface="Symbol" panose="05050102010706020507" pitchFamily="18" charset="2"/>
              </a:rPr>
              <a:t>đẳng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tích</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đẳng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nhiệt</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thì</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xét</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chiều</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quá</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trình</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là</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biến</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thiên</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thế</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đẳng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tích</a:t>
            </a:r>
            <a:r>
              <a:rPr lang="en-US" sz="2400" dirty="0" smtClean="0">
                <a:latin typeface="Arial" pitchFamily="34" charset="0"/>
                <a:cs typeface="Arial" pitchFamily="34" charset="0"/>
                <a:sym typeface="Symbol" panose="05050102010706020507" pitchFamily="18" charset="2"/>
              </a:rPr>
              <a:t> F </a:t>
            </a:r>
            <a:r>
              <a:rPr lang="en-US" sz="2400" dirty="0" err="1" smtClean="0">
                <a:latin typeface="Arial" pitchFamily="34" charset="0"/>
                <a:cs typeface="Arial" pitchFamily="34" charset="0"/>
                <a:sym typeface="Symbol" panose="05050102010706020507" pitchFamily="18" charset="2"/>
              </a:rPr>
              <a:t>trong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đó</a:t>
            </a:r>
            <a:r>
              <a:rPr lang="en-US" sz="2400" dirty="0" smtClean="0">
                <a:latin typeface="Arial" pitchFamily="34" charset="0"/>
                <a:cs typeface="Arial" pitchFamily="34" charset="0"/>
                <a:sym typeface="Symbol" panose="05050102010706020507" pitchFamily="18" charset="2"/>
              </a:rPr>
              <a:t> F = U – TS</a:t>
            </a:r>
            <a:r>
              <a:rPr lang="vi-VN" sz="2400" dirty="0">
                <a:latin typeface="Arial" pitchFamily="34" charset="0"/>
                <a:cs typeface="Arial" pitchFamily="34" charset="0"/>
                <a:sym typeface="Symbol" panose="05050102010706020507" pitchFamily="18" charset="2"/>
              </a:rPr>
              <a:t> ;</a:t>
            </a:r>
            <a:r>
              <a:rPr lang="vi-VN" sz="2400" dirty="0" smtClean="0">
                <a:latin typeface="Arial" pitchFamily="34" charset="0"/>
                <a:cs typeface="Arial" pitchFamily="34" charset="0"/>
                <a:sym typeface="Symbol" panose="05050102010706020507" pitchFamily="18" charset="2"/>
              </a:rPr>
              <a:t>  </a:t>
            </a:r>
            <a:r>
              <a:rPr lang="en-US" sz="2400" dirty="0" smtClean="0">
                <a:latin typeface="Arial" pitchFamily="34" charset="0"/>
                <a:cs typeface="Arial" pitchFamily="34" charset="0"/>
                <a:sym typeface="Symbol" panose="05050102010706020507" pitchFamily="18" charset="2"/>
              </a:rPr>
              <a:t>F </a:t>
            </a:r>
            <a:r>
              <a:rPr lang="en-US" sz="2400" dirty="0" err="1" smtClean="0">
                <a:latin typeface="Arial" pitchFamily="34" charset="0"/>
                <a:cs typeface="Arial" pitchFamily="34" charset="0"/>
                <a:sym typeface="Symbol" panose="05050102010706020507" pitchFamily="18" charset="2"/>
              </a:rPr>
              <a:t>là</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thế</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đẳng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tích</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đẳng</a:t>
            </a:r>
            <a:r>
              <a:rPr lang="en-US" sz="2400" dirty="0" smtClean="0">
                <a:latin typeface="Arial" pitchFamily="34" charset="0"/>
                <a:cs typeface="Arial" pitchFamily="34" charset="0"/>
                <a:sym typeface="Symbol" panose="05050102010706020507" pitchFamily="18" charset="2"/>
              </a:rPr>
              <a:t> </a:t>
            </a:r>
            <a:r>
              <a:rPr lang="en-US" sz="2400" dirty="0" err="1" smtClean="0">
                <a:latin typeface="Arial" pitchFamily="34" charset="0"/>
                <a:cs typeface="Arial" pitchFamily="34" charset="0"/>
                <a:sym typeface="Symbol" panose="05050102010706020507" pitchFamily="18" charset="2"/>
              </a:rPr>
              <a:t>nhiệt</a:t>
            </a:r>
            <a:r>
              <a:rPr lang="en-US" sz="2400" dirty="0" smtClean="0">
                <a:latin typeface="Arial" pitchFamily="34" charset="0"/>
                <a:cs typeface="Arial" pitchFamily="34" charset="0"/>
                <a:sym typeface="Symbol" panose="05050102010706020507" pitchFamily="18" charset="2"/>
              </a:rPr>
              <a:t>.</a:t>
            </a:r>
            <a:endParaRPr lang="en-US" sz="2400" dirty="0">
              <a:latin typeface="Arial" pitchFamily="34" charset="0"/>
              <a:cs typeface="Arial" pitchFamily="34" charset="0"/>
            </a:endParaRPr>
          </a:p>
        </p:txBody>
      </p:sp>
    </p:spTree>
    <p:extLst>
      <p:ext uri="{BB962C8B-B14F-4D97-AF65-F5344CB8AC3E}">
        <p14:creationId xmlns:p14="http://schemas.microsoft.com/office/powerpoint/2010/main" val="575434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animBg="1"/>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49307C5-1799-47C7-953D-6EAE33F67E27}"/>
              </a:ext>
            </a:extLst>
          </p:cNvPr>
          <p:cNvSpPr>
            <a:spLocks noGrp="1"/>
          </p:cNvSpPr>
          <p:nvPr>
            <p:ph idx="1"/>
          </p:nvPr>
        </p:nvSpPr>
        <p:spPr>
          <a:xfrm>
            <a:off x="549590" y="0"/>
            <a:ext cx="11577095" cy="6579077"/>
          </a:xfrm>
        </p:spPr>
        <p:txBody>
          <a:bodyPr>
            <a:normAutofit fontScale="25000" lnSpcReduction="20000"/>
          </a:bodyPr>
          <a:lstStyle/>
          <a:p>
            <a:pPr marL="0" indent="0">
              <a:lnSpc>
                <a:spcPct val="120000"/>
              </a:lnSpc>
              <a:buNone/>
            </a:pPr>
            <a:r>
              <a:rPr lang="en-US" sz="12800" b="1" dirty="0" err="1">
                <a:latin typeface="Arial" pitchFamily="34" charset="0"/>
                <a:cs typeface="Arial" pitchFamily="34" charset="0"/>
              </a:rPr>
              <a:t>Câu</a:t>
            </a:r>
            <a:r>
              <a:rPr lang="en-US" sz="12800" b="1" dirty="0">
                <a:latin typeface="Arial" pitchFamily="34" charset="0"/>
                <a:cs typeface="Arial" pitchFamily="34" charset="0"/>
              </a:rPr>
              <a:t> </a:t>
            </a:r>
            <a:r>
              <a:rPr lang="vi-VN" sz="12800" b="1" dirty="0">
                <a:latin typeface="Arial" pitchFamily="34" charset="0"/>
                <a:cs typeface="Arial" pitchFamily="34" charset="0"/>
              </a:rPr>
              <a:t>5</a:t>
            </a:r>
            <a:r>
              <a:rPr lang="en-US" sz="12800" dirty="0" smtClean="0">
                <a:latin typeface="Arial" pitchFamily="34" charset="0"/>
                <a:cs typeface="Arial" pitchFamily="34" charset="0"/>
              </a:rPr>
              <a:t>. </a:t>
            </a:r>
            <a:r>
              <a:rPr lang="en-US" sz="12800" dirty="0" err="1">
                <a:latin typeface="Arial" pitchFamily="34" charset="0"/>
                <a:cs typeface="Arial" pitchFamily="34" charset="0"/>
              </a:rPr>
              <a:t>Chọn</a:t>
            </a:r>
            <a:r>
              <a:rPr lang="en-US" sz="12800" dirty="0">
                <a:latin typeface="Arial" pitchFamily="34" charset="0"/>
                <a:cs typeface="Arial" pitchFamily="34" charset="0"/>
              </a:rPr>
              <a:t> so </a:t>
            </a:r>
            <a:r>
              <a:rPr lang="en-US" sz="12800" dirty="0" err="1">
                <a:latin typeface="Arial" pitchFamily="34" charset="0"/>
                <a:cs typeface="Arial" pitchFamily="34" charset="0"/>
              </a:rPr>
              <a:t>sánh</a:t>
            </a:r>
            <a:r>
              <a:rPr lang="en-US" sz="12800" dirty="0">
                <a:latin typeface="Arial" pitchFamily="34" charset="0"/>
                <a:cs typeface="Arial" pitchFamily="34" charset="0"/>
              </a:rPr>
              <a:t> </a:t>
            </a:r>
            <a:r>
              <a:rPr lang="en-US" sz="12800" b="1" dirty="0" err="1">
                <a:latin typeface="Arial" pitchFamily="34" charset="0"/>
                <a:cs typeface="Arial" pitchFamily="34" charset="0"/>
              </a:rPr>
              <a:t>đúng</a:t>
            </a:r>
            <a:r>
              <a:rPr lang="en-US" sz="12800" b="1" dirty="0">
                <a:latin typeface="Arial" pitchFamily="34" charset="0"/>
                <a:cs typeface="Arial" pitchFamily="34" charset="0"/>
              </a:rPr>
              <a:t> </a:t>
            </a:r>
            <a:r>
              <a:rPr lang="en-US" sz="12800" dirty="0" err="1">
                <a:latin typeface="Arial" pitchFamily="34" charset="0"/>
                <a:cs typeface="Arial" pitchFamily="34" charset="0"/>
              </a:rPr>
              <a:t>về</a:t>
            </a:r>
            <a:r>
              <a:rPr lang="en-US" sz="12800" b="1" dirty="0">
                <a:latin typeface="Arial" pitchFamily="34" charset="0"/>
                <a:cs typeface="Arial" pitchFamily="34" charset="0"/>
              </a:rPr>
              <a:t> </a:t>
            </a:r>
            <a:r>
              <a:rPr lang="en-US" sz="12800" dirty="0">
                <a:latin typeface="Arial" pitchFamily="34" charset="0"/>
                <a:cs typeface="Arial" pitchFamily="34" charset="0"/>
              </a:rPr>
              <a:t>entropy </a:t>
            </a:r>
            <a:r>
              <a:rPr lang="en-US" sz="12800" dirty="0" err="1">
                <a:latin typeface="Arial" pitchFamily="34" charset="0"/>
                <a:cs typeface="Arial" pitchFamily="34" charset="0"/>
              </a:rPr>
              <a:t>của</a:t>
            </a:r>
            <a:r>
              <a:rPr lang="en-US" sz="12800" dirty="0">
                <a:latin typeface="Arial" pitchFamily="34" charset="0"/>
                <a:cs typeface="Arial" pitchFamily="34" charset="0"/>
              </a:rPr>
              <a:t> </a:t>
            </a:r>
            <a:r>
              <a:rPr lang="en-US" sz="12800" dirty="0" err="1">
                <a:latin typeface="Arial" pitchFamily="34" charset="0"/>
                <a:cs typeface="Arial" pitchFamily="34" charset="0"/>
              </a:rPr>
              <a:t>các</a:t>
            </a:r>
            <a:r>
              <a:rPr lang="en-US" sz="12800" dirty="0">
                <a:latin typeface="Arial" pitchFamily="34" charset="0"/>
                <a:cs typeface="Arial" pitchFamily="34" charset="0"/>
              </a:rPr>
              <a:t> </a:t>
            </a:r>
            <a:r>
              <a:rPr lang="en-US" sz="12800" dirty="0" err="1">
                <a:latin typeface="Arial" pitchFamily="34" charset="0"/>
                <a:cs typeface="Arial" pitchFamily="34" charset="0"/>
              </a:rPr>
              <a:t>chất</a:t>
            </a:r>
            <a:r>
              <a:rPr lang="en-US" sz="12800" dirty="0">
                <a:latin typeface="Arial" pitchFamily="34" charset="0"/>
                <a:cs typeface="Arial" pitchFamily="34" charset="0"/>
              </a:rPr>
              <a:t> </a:t>
            </a:r>
            <a:r>
              <a:rPr lang="en-US" sz="12800" dirty="0" err="1">
                <a:latin typeface="Arial" pitchFamily="34" charset="0"/>
                <a:cs typeface="Arial" pitchFamily="34" charset="0"/>
              </a:rPr>
              <a:t>sau</a:t>
            </a:r>
            <a:r>
              <a:rPr lang="vi-VN" sz="12800" dirty="0">
                <a:latin typeface="Arial" pitchFamily="34" charset="0"/>
                <a:cs typeface="Arial" pitchFamily="34" charset="0"/>
              </a:rPr>
              <a:t>:</a:t>
            </a:r>
            <a:endParaRPr lang="en-US" sz="12800" dirty="0">
              <a:latin typeface="Arial" pitchFamily="34" charset="0"/>
              <a:cs typeface="Arial" pitchFamily="34" charset="0"/>
            </a:endParaRPr>
          </a:p>
          <a:p>
            <a:pPr marL="514350" indent="-514350">
              <a:lnSpc>
                <a:spcPct val="120000"/>
              </a:lnSpc>
              <a:buFont typeface="+mj-lt"/>
              <a:buAutoNum type="arabicPeriod"/>
            </a:pPr>
            <a:r>
              <a:rPr lang="en-US" sz="12800" dirty="0">
                <a:solidFill>
                  <a:srgbClr val="9933FF"/>
                </a:solidFill>
                <a:latin typeface="Arial" pitchFamily="34" charset="0"/>
                <a:cs typeface="Arial" pitchFamily="34" charset="0"/>
              </a:rPr>
              <a:t>H</a:t>
            </a:r>
            <a:r>
              <a:rPr lang="en-US" sz="12800" baseline="-25000" dirty="0">
                <a:solidFill>
                  <a:srgbClr val="9933FF"/>
                </a:solidFill>
                <a:latin typeface="Arial" pitchFamily="34" charset="0"/>
                <a:cs typeface="Arial" pitchFamily="34" charset="0"/>
              </a:rPr>
              <a:t>2</a:t>
            </a:r>
            <a:r>
              <a:rPr lang="en-US" sz="12800" dirty="0">
                <a:solidFill>
                  <a:srgbClr val="9933FF"/>
                </a:solidFill>
                <a:latin typeface="Arial" pitchFamily="34" charset="0"/>
                <a:cs typeface="Arial" pitchFamily="34" charset="0"/>
              </a:rPr>
              <a:t>(k) &lt; F</a:t>
            </a:r>
            <a:r>
              <a:rPr lang="en-US" sz="12800" baseline="-25000" dirty="0">
                <a:solidFill>
                  <a:srgbClr val="9933FF"/>
                </a:solidFill>
                <a:latin typeface="Arial" pitchFamily="34" charset="0"/>
                <a:cs typeface="Arial" pitchFamily="34" charset="0"/>
              </a:rPr>
              <a:t>2</a:t>
            </a:r>
            <a:r>
              <a:rPr lang="en-US" sz="12800" dirty="0">
                <a:solidFill>
                  <a:srgbClr val="9933FF"/>
                </a:solidFill>
                <a:latin typeface="Arial" pitchFamily="34" charset="0"/>
                <a:cs typeface="Arial" pitchFamily="34" charset="0"/>
              </a:rPr>
              <a:t>(k) &lt; Cl</a:t>
            </a:r>
            <a:r>
              <a:rPr lang="en-US" sz="12800" baseline="-25000" dirty="0">
                <a:solidFill>
                  <a:srgbClr val="9933FF"/>
                </a:solidFill>
                <a:latin typeface="Arial" pitchFamily="34" charset="0"/>
                <a:cs typeface="Arial" pitchFamily="34" charset="0"/>
              </a:rPr>
              <a:t>2</a:t>
            </a:r>
            <a:r>
              <a:rPr lang="en-US" sz="12800" dirty="0">
                <a:solidFill>
                  <a:srgbClr val="9933FF"/>
                </a:solidFill>
                <a:latin typeface="Arial" pitchFamily="34" charset="0"/>
                <a:cs typeface="Arial" pitchFamily="34" charset="0"/>
              </a:rPr>
              <a:t>(k)</a:t>
            </a:r>
          </a:p>
          <a:p>
            <a:pPr marL="0" indent="0">
              <a:lnSpc>
                <a:spcPct val="120000"/>
              </a:lnSpc>
              <a:buNone/>
            </a:pPr>
            <a:r>
              <a:rPr lang="en-US" sz="12800" dirty="0">
                <a:solidFill>
                  <a:srgbClr val="C00000"/>
                </a:solidFill>
                <a:latin typeface="Arial" pitchFamily="34" charset="0"/>
                <a:cs typeface="Arial" pitchFamily="34" charset="0"/>
              </a:rPr>
              <a:t>2.</a:t>
            </a:r>
            <a:r>
              <a:rPr lang="en-US" sz="12800" dirty="0">
                <a:latin typeface="Arial" pitchFamily="34" charset="0"/>
                <a:cs typeface="Arial" pitchFamily="34" charset="0"/>
              </a:rPr>
              <a:t>  </a:t>
            </a:r>
            <a:r>
              <a:rPr lang="en-US" sz="12800" baseline="-25000" dirty="0">
                <a:solidFill>
                  <a:srgbClr val="C00000"/>
                </a:solidFill>
                <a:latin typeface="Arial" pitchFamily="34" charset="0"/>
                <a:cs typeface="Arial" pitchFamily="34" charset="0"/>
              </a:rPr>
              <a:t>3</a:t>
            </a:r>
            <a:r>
              <a:rPr lang="en-US" sz="12800" dirty="0">
                <a:solidFill>
                  <a:srgbClr val="C00000"/>
                </a:solidFill>
                <a:latin typeface="Arial" pitchFamily="34" charset="0"/>
                <a:cs typeface="Arial" pitchFamily="34" charset="0"/>
              </a:rPr>
              <a:t>Li (r) &lt; </a:t>
            </a:r>
            <a:r>
              <a:rPr lang="en-US" sz="12800" baseline="-25000" dirty="0">
                <a:solidFill>
                  <a:srgbClr val="C00000"/>
                </a:solidFill>
                <a:latin typeface="Arial" pitchFamily="34" charset="0"/>
                <a:cs typeface="Arial" pitchFamily="34" charset="0"/>
              </a:rPr>
              <a:t>11</a:t>
            </a:r>
            <a:r>
              <a:rPr lang="en-US" sz="12800" dirty="0">
                <a:solidFill>
                  <a:srgbClr val="C00000"/>
                </a:solidFill>
                <a:latin typeface="Arial" pitchFamily="34" charset="0"/>
                <a:cs typeface="Arial" pitchFamily="34" charset="0"/>
              </a:rPr>
              <a:t>Na (r) &lt; </a:t>
            </a:r>
            <a:r>
              <a:rPr lang="en-US" sz="12800" baseline="-25000" dirty="0">
                <a:solidFill>
                  <a:srgbClr val="C00000"/>
                </a:solidFill>
                <a:latin typeface="Arial" pitchFamily="34" charset="0"/>
                <a:cs typeface="Arial" pitchFamily="34" charset="0"/>
              </a:rPr>
              <a:t>19</a:t>
            </a:r>
            <a:r>
              <a:rPr lang="en-US" sz="12800" dirty="0">
                <a:solidFill>
                  <a:srgbClr val="C00000"/>
                </a:solidFill>
                <a:latin typeface="Arial" pitchFamily="34" charset="0"/>
                <a:cs typeface="Arial" pitchFamily="34" charset="0"/>
              </a:rPr>
              <a:t>K (r)</a:t>
            </a:r>
          </a:p>
          <a:p>
            <a:pPr marL="0" indent="0">
              <a:lnSpc>
                <a:spcPct val="120000"/>
              </a:lnSpc>
              <a:buNone/>
            </a:pPr>
            <a:r>
              <a:rPr lang="en-US" sz="12800" dirty="0">
                <a:solidFill>
                  <a:srgbClr val="CC00FF"/>
                </a:solidFill>
                <a:latin typeface="Arial" pitchFamily="34" charset="0"/>
                <a:cs typeface="Arial" pitchFamily="34" charset="0"/>
              </a:rPr>
              <a:t>3.  CH</a:t>
            </a:r>
            <a:r>
              <a:rPr lang="en-US" sz="12800" baseline="-25000" dirty="0">
                <a:solidFill>
                  <a:srgbClr val="CC00FF"/>
                </a:solidFill>
                <a:latin typeface="Arial" pitchFamily="34" charset="0"/>
                <a:cs typeface="Arial" pitchFamily="34" charset="0"/>
              </a:rPr>
              <a:t>3</a:t>
            </a:r>
            <a:r>
              <a:rPr lang="en-US" sz="12800" dirty="0">
                <a:solidFill>
                  <a:srgbClr val="CC00FF"/>
                </a:solidFill>
                <a:latin typeface="Arial" pitchFamily="34" charset="0"/>
                <a:cs typeface="Arial" pitchFamily="34" charset="0"/>
              </a:rPr>
              <a:t>OH (</a:t>
            </a:r>
            <a:r>
              <a:rPr lang="en-US" sz="12800" dirty="0" err="1">
                <a:solidFill>
                  <a:srgbClr val="CC00FF"/>
                </a:solidFill>
                <a:latin typeface="Arial" pitchFamily="34" charset="0"/>
                <a:cs typeface="Arial" pitchFamily="34" charset="0"/>
              </a:rPr>
              <a:t>lỏng</a:t>
            </a:r>
            <a:r>
              <a:rPr lang="en-US" sz="12800" dirty="0">
                <a:solidFill>
                  <a:srgbClr val="CC00FF"/>
                </a:solidFill>
                <a:latin typeface="Arial" pitchFamily="34" charset="0"/>
                <a:cs typeface="Arial" pitchFamily="34" charset="0"/>
              </a:rPr>
              <a:t>) &lt; C</a:t>
            </a:r>
            <a:r>
              <a:rPr lang="en-US" sz="12800" baseline="-25000" dirty="0">
                <a:solidFill>
                  <a:srgbClr val="CC00FF"/>
                </a:solidFill>
                <a:latin typeface="Arial" pitchFamily="34" charset="0"/>
                <a:cs typeface="Arial" pitchFamily="34" charset="0"/>
              </a:rPr>
              <a:t>2</a:t>
            </a:r>
            <a:r>
              <a:rPr lang="en-US" sz="12800" dirty="0">
                <a:solidFill>
                  <a:srgbClr val="CC00FF"/>
                </a:solidFill>
                <a:latin typeface="Arial" pitchFamily="34" charset="0"/>
                <a:cs typeface="Arial" pitchFamily="34" charset="0"/>
              </a:rPr>
              <a:t>H</a:t>
            </a:r>
            <a:r>
              <a:rPr lang="en-US" sz="12800" baseline="-25000" dirty="0">
                <a:solidFill>
                  <a:srgbClr val="CC00FF"/>
                </a:solidFill>
                <a:latin typeface="Arial" pitchFamily="34" charset="0"/>
                <a:cs typeface="Arial" pitchFamily="34" charset="0"/>
              </a:rPr>
              <a:t>5</a:t>
            </a:r>
            <a:r>
              <a:rPr lang="en-US" sz="12800" dirty="0">
                <a:solidFill>
                  <a:srgbClr val="CC00FF"/>
                </a:solidFill>
                <a:latin typeface="Arial" pitchFamily="34" charset="0"/>
                <a:cs typeface="Arial" pitchFamily="34" charset="0"/>
              </a:rPr>
              <a:t>OH (</a:t>
            </a:r>
            <a:r>
              <a:rPr lang="en-US" sz="12800" dirty="0" err="1">
                <a:solidFill>
                  <a:srgbClr val="CC00FF"/>
                </a:solidFill>
                <a:latin typeface="Arial" pitchFamily="34" charset="0"/>
                <a:cs typeface="Arial" pitchFamily="34" charset="0"/>
              </a:rPr>
              <a:t>lỏng</a:t>
            </a:r>
            <a:r>
              <a:rPr lang="en-US" sz="12800" dirty="0">
                <a:solidFill>
                  <a:srgbClr val="CC00FF"/>
                </a:solidFill>
                <a:latin typeface="Arial" pitchFamily="34" charset="0"/>
                <a:cs typeface="Arial" pitchFamily="34" charset="0"/>
              </a:rPr>
              <a:t>) </a:t>
            </a:r>
          </a:p>
          <a:p>
            <a:pPr marL="0" indent="0">
              <a:lnSpc>
                <a:spcPct val="120000"/>
              </a:lnSpc>
              <a:buNone/>
            </a:pPr>
            <a:r>
              <a:rPr lang="en-US" sz="12800" dirty="0">
                <a:solidFill>
                  <a:srgbClr val="0000FF"/>
                </a:solidFill>
                <a:latin typeface="Arial" pitchFamily="34" charset="0"/>
                <a:cs typeface="Arial" pitchFamily="34" charset="0"/>
              </a:rPr>
              <a:t>4. </a:t>
            </a:r>
            <a:r>
              <a:rPr lang="en-US" sz="12800" dirty="0" smtClean="0">
                <a:solidFill>
                  <a:srgbClr val="0000FF"/>
                </a:solidFill>
                <a:latin typeface="Arial" pitchFamily="34" charset="0"/>
                <a:cs typeface="Arial" pitchFamily="34" charset="0"/>
              </a:rPr>
              <a:t> H</a:t>
            </a:r>
            <a:r>
              <a:rPr lang="en-US" sz="12800" baseline="-25000" dirty="0" smtClean="0">
                <a:solidFill>
                  <a:srgbClr val="0000FF"/>
                </a:solidFill>
                <a:latin typeface="Arial" pitchFamily="34" charset="0"/>
                <a:cs typeface="Arial" pitchFamily="34" charset="0"/>
              </a:rPr>
              <a:t>2</a:t>
            </a:r>
            <a:r>
              <a:rPr lang="en-US" sz="12800" dirty="0" smtClean="0">
                <a:solidFill>
                  <a:srgbClr val="0000FF"/>
                </a:solidFill>
                <a:latin typeface="Arial" pitchFamily="34" charset="0"/>
                <a:cs typeface="Arial" pitchFamily="34" charset="0"/>
              </a:rPr>
              <a:t>O </a:t>
            </a:r>
            <a:r>
              <a:rPr lang="en-US" sz="12800" dirty="0">
                <a:solidFill>
                  <a:srgbClr val="0000FF"/>
                </a:solidFill>
                <a:latin typeface="Arial" pitchFamily="34" charset="0"/>
                <a:cs typeface="Arial" pitchFamily="34" charset="0"/>
              </a:rPr>
              <a:t>(</a:t>
            </a:r>
            <a:r>
              <a:rPr lang="en-US" sz="12800" dirty="0" err="1">
                <a:solidFill>
                  <a:srgbClr val="0000FF"/>
                </a:solidFill>
                <a:latin typeface="Arial" pitchFamily="34" charset="0"/>
                <a:cs typeface="Arial" pitchFamily="34" charset="0"/>
              </a:rPr>
              <a:t>lỏng</a:t>
            </a:r>
            <a:r>
              <a:rPr lang="en-US" sz="12800" dirty="0">
                <a:solidFill>
                  <a:srgbClr val="0000FF"/>
                </a:solidFill>
                <a:latin typeface="Arial" pitchFamily="34" charset="0"/>
                <a:cs typeface="Arial" pitchFamily="34" charset="0"/>
              </a:rPr>
              <a:t>) &lt; H</a:t>
            </a:r>
            <a:r>
              <a:rPr lang="en-US" sz="12800" baseline="-25000" dirty="0">
                <a:solidFill>
                  <a:srgbClr val="0000FF"/>
                </a:solidFill>
                <a:latin typeface="Arial" pitchFamily="34" charset="0"/>
                <a:cs typeface="Arial" pitchFamily="34" charset="0"/>
              </a:rPr>
              <a:t>2</a:t>
            </a:r>
            <a:r>
              <a:rPr lang="en-US" sz="12800" dirty="0">
                <a:solidFill>
                  <a:srgbClr val="0000FF"/>
                </a:solidFill>
                <a:latin typeface="Arial" pitchFamily="34" charset="0"/>
                <a:cs typeface="Arial" pitchFamily="34" charset="0"/>
              </a:rPr>
              <a:t>O (</a:t>
            </a:r>
            <a:r>
              <a:rPr lang="en-US" sz="12800" dirty="0" err="1">
                <a:solidFill>
                  <a:srgbClr val="0000FF"/>
                </a:solidFill>
                <a:latin typeface="Arial" pitchFamily="34" charset="0"/>
                <a:cs typeface="Arial" pitchFamily="34" charset="0"/>
              </a:rPr>
              <a:t>khí</a:t>
            </a:r>
            <a:r>
              <a:rPr lang="en-US" sz="12800" dirty="0">
                <a:solidFill>
                  <a:srgbClr val="0000FF"/>
                </a:solidFill>
                <a:latin typeface="Arial" pitchFamily="34" charset="0"/>
                <a:cs typeface="Arial" pitchFamily="34" charset="0"/>
              </a:rPr>
              <a:t>) &lt; H</a:t>
            </a:r>
            <a:r>
              <a:rPr lang="en-US" sz="12800" baseline="-25000" dirty="0">
                <a:solidFill>
                  <a:srgbClr val="0000FF"/>
                </a:solidFill>
                <a:latin typeface="Arial" pitchFamily="34" charset="0"/>
                <a:cs typeface="Arial" pitchFamily="34" charset="0"/>
              </a:rPr>
              <a:t>2</a:t>
            </a:r>
            <a:r>
              <a:rPr lang="en-US" sz="12800" dirty="0">
                <a:solidFill>
                  <a:srgbClr val="0000FF"/>
                </a:solidFill>
                <a:latin typeface="Arial" pitchFamily="34" charset="0"/>
                <a:cs typeface="Arial" pitchFamily="34" charset="0"/>
              </a:rPr>
              <a:t>S (</a:t>
            </a:r>
            <a:r>
              <a:rPr lang="en-US" sz="12800" dirty="0" err="1">
                <a:solidFill>
                  <a:srgbClr val="0000FF"/>
                </a:solidFill>
                <a:latin typeface="Arial" pitchFamily="34" charset="0"/>
                <a:cs typeface="Arial" pitchFamily="34" charset="0"/>
              </a:rPr>
              <a:t>khí</a:t>
            </a:r>
            <a:r>
              <a:rPr lang="en-US" sz="12800" dirty="0">
                <a:solidFill>
                  <a:srgbClr val="0000FF"/>
                </a:solidFill>
                <a:latin typeface="Arial" pitchFamily="34" charset="0"/>
                <a:cs typeface="Arial" pitchFamily="34" charset="0"/>
              </a:rPr>
              <a:t>)</a:t>
            </a:r>
          </a:p>
          <a:p>
            <a:pPr marL="0" indent="0">
              <a:lnSpc>
                <a:spcPct val="120000"/>
              </a:lnSpc>
              <a:buNone/>
            </a:pPr>
            <a:r>
              <a:rPr lang="en-US" sz="12800" dirty="0">
                <a:solidFill>
                  <a:schemeClr val="accent4">
                    <a:lumMod val="50000"/>
                  </a:schemeClr>
                </a:solidFill>
                <a:latin typeface="Arial" pitchFamily="34" charset="0"/>
                <a:cs typeface="Arial" pitchFamily="34" charset="0"/>
              </a:rPr>
              <a:t>5.  I</a:t>
            </a:r>
            <a:r>
              <a:rPr lang="en-US" sz="12800" baseline="-25000" dirty="0">
                <a:solidFill>
                  <a:schemeClr val="accent4">
                    <a:lumMod val="50000"/>
                  </a:schemeClr>
                </a:solidFill>
                <a:latin typeface="Arial" pitchFamily="34" charset="0"/>
                <a:cs typeface="Arial" pitchFamily="34" charset="0"/>
              </a:rPr>
              <a:t>2</a:t>
            </a:r>
            <a:r>
              <a:rPr lang="en-US" sz="12800" dirty="0">
                <a:solidFill>
                  <a:schemeClr val="accent4">
                    <a:lumMod val="50000"/>
                  </a:schemeClr>
                </a:solidFill>
                <a:latin typeface="Arial" pitchFamily="34" charset="0"/>
                <a:cs typeface="Arial" pitchFamily="34" charset="0"/>
              </a:rPr>
              <a:t> (</a:t>
            </a:r>
            <a:r>
              <a:rPr lang="en-US" sz="12800" dirty="0" err="1">
                <a:solidFill>
                  <a:schemeClr val="accent4">
                    <a:lumMod val="50000"/>
                  </a:schemeClr>
                </a:solidFill>
                <a:latin typeface="Arial" pitchFamily="34" charset="0"/>
                <a:cs typeface="Arial" pitchFamily="34" charset="0"/>
              </a:rPr>
              <a:t>rắn</a:t>
            </a:r>
            <a:r>
              <a:rPr lang="en-US" sz="12800" dirty="0">
                <a:solidFill>
                  <a:schemeClr val="accent4">
                    <a:lumMod val="50000"/>
                  </a:schemeClr>
                </a:solidFill>
                <a:latin typeface="Arial" pitchFamily="34" charset="0"/>
                <a:cs typeface="Arial" pitchFamily="34" charset="0"/>
              </a:rPr>
              <a:t>)  &lt;  Br</a:t>
            </a:r>
            <a:r>
              <a:rPr lang="en-US" sz="12800" baseline="-25000" dirty="0">
                <a:solidFill>
                  <a:schemeClr val="accent4">
                    <a:lumMod val="50000"/>
                  </a:schemeClr>
                </a:solidFill>
                <a:latin typeface="Arial" pitchFamily="34" charset="0"/>
                <a:cs typeface="Arial" pitchFamily="34" charset="0"/>
              </a:rPr>
              <a:t>2</a:t>
            </a:r>
            <a:r>
              <a:rPr lang="en-US" sz="12800" dirty="0">
                <a:solidFill>
                  <a:schemeClr val="accent4">
                    <a:lumMod val="50000"/>
                  </a:schemeClr>
                </a:solidFill>
                <a:latin typeface="Arial" pitchFamily="34" charset="0"/>
                <a:cs typeface="Arial" pitchFamily="34" charset="0"/>
              </a:rPr>
              <a:t> (</a:t>
            </a:r>
            <a:r>
              <a:rPr lang="en-US" sz="12800" dirty="0" err="1">
                <a:solidFill>
                  <a:schemeClr val="accent4">
                    <a:lumMod val="50000"/>
                  </a:schemeClr>
                </a:solidFill>
                <a:latin typeface="Arial" pitchFamily="34" charset="0"/>
                <a:cs typeface="Arial" pitchFamily="34" charset="0"/>
              </a:rPr>
              <a:t>lỏng</a:t>
            </a:r>
            <a:r>
              <a:rPr lang="en-US" sz="12800" dirty="0">
                <a:solidFill>
                  <a:schemeClr val="accent4">
                    <a:lumMod val="50000"/>
                  </a:schemeClr>
                </a:solidFill>
                <a:latin typeface="Arial" pitchFamily="34" charset="0"/>
                <a:cs typeface="Arial" pitchFamily="34" charset="0"/>
              </a:rPr>
              <a:t>)	</a:t>
            </a:r>
            <a:r>
              <a:rPr lang="en-US" sz="12800" dirty="0">
                <a:latin typeface="Arial" pitchFamily="34" charset="0"/>
                <a:cs typeface="Arial" pitchFamily="34" charset="0"/>
              </a:rPr>
              <a:t>		</a:t>
            </a:r>
          </a:p>
          <a:p>
            <a:pPr marL="0" indent="0">
              <a:lnSpc>
                <a:spcPct val="120000"/>
              </a:lnSpc>
              <a:buNone/>
            </a:pPr>
            <a:r>
              <a:rPr lang="en-US" sz="12800" dirty="0">
                <a:solidFill>
                  <a:srgbClr val="00B050"/>
                </a:solidFill>
                <a:latin typeface="Arial" pitchFamily="34" charset="0"/>
                <a:cs typeface="Arial" pitchFamily="34" charset="0"/>
              </a:rPr>
              <a:t>6.  N</a:t>
            </a:r>
            <a:r>
              <a:rPr lang="en-US" sz="12800" baseline="-25000" dirty="0">
                <a:solidFill>
                  <a:srgbClr val="00B050"/>
                </a:solidFill>
                <a:latin typeface="Arial" pitchFamily="34" charset="0"/>
                <a:cs typeface="Arial" pitchFamily="34" charset="0"/>
              </a:rPr>
              <a:t>2</a:t>
            </a:r>
            <a:r>
              <a:rPr lang="en-US" sz="12800" dirty="0">
                <a:solidFill>
                  <a:srgbClr val="00B050"/>
                </a:solidFill>
                <a:latin typeface="Arial" pitchFamily="34" charset="0"/>
                <a:cs typeface="Arial" pitchFamily="34" charset="0"/>
              </a:rPr>
              <a:t> (25</a:t>
            </a:r>
            <a:r>
              <a:rPr lang="en-US" sz="12800" baseline="30000" dirty="0">
                <a:solidFill>
                  <a:srgbClr val="00B050"/>
                </a:solidFill>
                <a:latin typeface="Arial" pitchFamily="34" charset="0"/>
                <a:cs typeface="Arial" pitchFamily="34" charset="0"/>
              </a:rPr>
              <a:t>o</a:t>
            </a:r>
            <a:r>
              <a:rPr lang="en-US" sz="12800" dirty="0">
                <a:solidFill>
                  <a:srgbClr val="00B050"/>
                </a:solidFill>
                <a:latin typeface="Arial" pitchFamily="34" charset="0"/>
                <a:cs typeface="Arial" pitchFamily="34" charset="0"/>
              </a:rPr>
              <a:t>C, </a:t>
            </a:r>
            <a:r>
              <a:rPr lang="en-US" sz="12800" dirty="0" err="1">
                <a:solidFill>
                  <a:srgbClr val="00B050"/>
                </a:solidFill>
                <a:latin typeface="Arial" pitchFamily="34" charset="0"/>
                <a:cs typeface="Arial" pitchFamily="34" charset="0"/>
              </a:rPr>
              <a:t>khí</a:t>
            </a:r>
            <a:r>
              <a:rPr lang="en-US" sz="12800" dirty="0">
                <a:solidFill>
                  <a:srgbClr val="00B050"/>
                </a:solidFill>
                <a:latin typeface="Arial" pitchFamily="34" charset="0"/>
                <a:cs typeface="Arial" pitchFamily="34" charset="0"/>
              </a:rPr>
              <a:t>)  &lt;  N</a:t>
            </a:r>
            <a:r>
              <a:rPr lang="en-US" sz="12800" baseline="-25000" dirty="0">
                <a:solidFill>
                  <a:srgbClr val="00B050"/>
                </a:solidFill>
                <a:latin typeface="Arial" pitchFamily="34" charset="0"/>
                <a:cs typeface="Arial" pitchFamily="34" charset="0"/>
              </a:rPr>
              <a:t>2</a:t>
            </a:r>
            <a:r>
              <a:rPr lang="en-US" sz="12800" dirty="0">
                <a:solidFill>
                  <a:srgbClr val="00B050"/>
                </a:solidFill>
                <a:latin typeface="Arial" pitchFamily="34" charset="0"/>
                <a:cs typeface="Arial" pitchFamily="34" charset="0"/>
              </a:rPr>
              <a:t> (100</a:t>
            </a:r>
            <a:r>
              <a:rPr lang="en-US" sz="12800" baseline="30000" dirty="0">
                <a:solidFill>
                  <a:srgbClr val="00B050"/>
                </a:solidFill>
                <a:latin typeface="Arial" pitchFamily="34" charset="0"/>
                <a:cs typeface="Arial" pitchFamily="34" charset="0"/>
              </a:rPr>
              <a:t>o</a:t>
            </a:r>
            <a:r>
              <a:rPr lang="en-US" sz="12800" dirty="0">
                <a:solidFill>
                  <a:srgbClr val="00B050"/>
                </a:solidFill>
                <a:latin typeface="Arial" pitchFamily="34" charset="0"/>
                <a:cs typeface="Arial" pitchFamily="34" charset="0"/>
              </a:rPr>
              <a:t>C, </a:t>
            </a:r>
            <a:r>
              <a:rPr lang="en-US" sz="12800" dirty="0" err="1">
                <a:solidFill>
                  <a:srgbClr val="00B050"/>
                </a:solidFill>
                <a:latin typeface="Arial" pitchFamily="34" charset="0"/>
                <a:cs typeface="Arial" pitchFamily="34" charset="0"/>
              </a:rPr>
              <a:t>khí</a:t>
            </a:r>
            <a:r>
              <a:rPr lang="en-US" sz="12800" dirty="0">
                <a:solidFill>
                  <a:srgbClr val="00B050"/>
                </a:solidFill>
                <a:latin typeface="Arial" pitchFamily="34" charset="0"/>
                <a:cs typeface="Arial" pitchFamily="34" charset="0"/>
              </a:rPr>
              <a:t>)</a:t>
            </a:r>
          </a:p>
          <a:p>
            <a:pPr marL="0" indent="0">
              <a:lnSpc>
                <a:spcPct val="120000"/>
              </a:lnSpc>
              <a:buNone/>
            </a:pPr>
            <a:r>
              <a:rPr lang="en-US" sz="12800" dirty="0">
                <a:solidFill>
                  <a:schemeClr val="accent1">
                    <a:lumMod val="75000"/>
                  </a:schemeClr>
                </a:solidFill>
                <a:latin typeface="Arial" pitchFamily="34" charset="0"/>
                <a:cs typeface="Arial" pitchFamily="34" charset="0"/>
              </a:rPr>
              <a:t>7.  O</a:t>
            </a:r>
            <a:r>
              <a:rPr lang="en-US" sz="12800" baseline="-25000" dirty="0">
                <a:solidFill>
                  <a:schemeClr val="accent1">
                    <a:lumMod val="75000"/>
                  </a:schemeClr>
                </a:solidFill>
                <a:latin typeface="Arial" pitchFamily="34" charset="0"/>
                <a:cs typeface="Arial" pitchFamily="34" charset="0"/>
              </a:rPr>
              <a:t>2</a:t>
            </a:r>
            <a:r>
              <a:rPr lang="en-US" sz="12800" dirty="0">
                <a:solidFill>
                  <a:schemeClr val="accent1">
                    <a:lumMod val="75000"/>
                  </a:schemeClr>
                </a:solidFill>
                <a:latin typeface="Arial" pitchFamily="34" charset="0"/>
                <a:cs typeface="Arial" pitchFamily="34" charset="0"/>
              </a:rPr>
              <a:t> (</a:t>
            </a:r>
            <a:r>
              <a:rPr lang="en-US" sz="12800" dirty="0" smtClean="0">
                <a:solidFill>
                  <a:schemeClr val="accent1">
                    <a:lumMod val="75000"/>
                  </a:schemeClr>
                </a:solidFill>
                <a:latin typeface="Arial" pitchFamily="34" charset="0"/>
                <a:cs typeface="Arial" pitchFamily="34" charset="0"/>
              </a:rPr>
              <a:t>1</a:t>
            </a:r>
            <a:r>
              <a:rPr lang="vi-VN" sz="12800" dirty="0" smtClean="0">
                <a:solidFill>
                  <a:schemeClr val="accent1">
                    <a:lumMod val="75000"/>
                  </a:schemeClr>
                </a:solidFill>
                <a:latin typeface="Arial" pitchFamily="34" charset="0"/>
                <a:cs typeface="Arial" pitchFamily="34" charset="0"/>
              </a:rPr>
              <a:t> </a:t>
            </a:r>
            <a:r>
              <a:rPr lang="en-US" sz="12800" dirty="0" err="1" smtClean="0">
                <a:solidFill>
                  <a:schemeClr val="accent1">
                    <a:lumMod val="75000"/>
                  </a:schemeClr>
                </a:solidFill>
                <a:latin typeface="Arial" pitchFamily="34" charset="0"/>
                <a:cs typeface="Arial" pitchFamily="34" charset="0"/>
              </a:rPr>
              <a:t>atm</a:t>
            </a:r>
            <a:r>
              <a:rPr lang="en-US" sz="12800" dirty="0">
                <a:solidFill>
                  <a:schemeClr val="accent1">
                    <a:lumMod val="75000"/>
                  </a:schemeClr>
                </a:solidFill>
                <a:latin typeface="Arial" pitchFamily="34" charset="0"/>
                <a:cs typeface="Arial" pitchFamily="34" charset="0"/>
              </a:rPr>
              <a:t>, 25</a:t>
            </a:r>
            <a:r>
              <a:rPr lang="en-US" sz="12800" baseline="30000" dirty="0">
                <a:solidFill>
                  <a:schemeClr val="accent1">
                    <a:lumMod val="75000"/>
                  </a:schemeClr>
                </a:solidFill>
                <a:latin typeface="Arial" pitchFamily="34" charset="0"/>
                <a:cs typeface="Arial" pitchFamily="34" charset="0"/>
              </a:rPr>
              <a:t>o</a:t>
            </a:r>
            <a:r>
              <a:rPr lang="en-US" sz="12800" dirty="0">
                <a:solidFill>
                  <a:schemeClr val="accent1">
                    <a:lumMod val="75000"/>
                  </a:schemeClr>
                </a:solidFill>
                <a:latin typeface="Arial" pitchFamily="34" charset="0"/>
                <a:cs typeface="Arial" pitchFamily="34" charset="0"/>
              </a:rPr>
              <a:t>C, </a:t>
            </a:r>
            <a:r>
              <a:rPr lang="en-US" sz="12800" dirty="0" err="1">
                <a:solidFill>
                  <a:schemeClr val="accent1">
                    <a:lumMod val="75000"/>
                  </a:schemeClr>
                </a:solidFill>
                <a:latin typeface="Arial" pitchFamily="34" charset="0"/>
                <a:cs typeface="Arial" pitchFamily="34" charset="0"/>
              </a:rPr>
              <a:t>khí</a:t>
            </a:r>
            <a:r>
              <a:rPr lang="en-US" sz="12800" dirty="0">
                <a:solidFill>
                  <a:schemeClr val="accent1">
                    <a:lumMod val="75000"/>
                  </a:schemeClr>
                </a:solidFill>
                <a:latin typeface="Arial" pitchFamily="34" charset="0"/>
                <a:cs typeface="Arial" pitchFamily="34" charset="0"/>
              </a:rPr>
              <a:t>) &gt;  O</a:t>
            </a:r>
            <a:r>
              <a:rPr lang="en-US" sz="12800" baseline="-25000" dirty="0">
                <a:solidFill>
                  <a:schemeClr val="accent1">
                    <a:lumMod val="75000"/>
                  </a:schemeClr>
                </a:solidFill>
                <a:latin typeface="Arial" pitchFamily="34" charset="0"/>
                <a:cs typeface="Arial" pitchFamily="34" charset="0"/>
              </a:rPr>
              <a:t>2</a:t>
            </a:r>
            <a:r>
              <a:rPr lang="en-US" sz="12800" dirty="0">
                <a:solidFill>
                  <a:schemeClr val="accent1">
                    <a:lumMod val="75000"/>
                  </a:schemeClr>
                </a:solidFill>
                <a:latin typeface="Arial" pitchFamily="34" charset="0"/>
                <a:cs typeface="Arial" pitchFamily="34" charset="0"/>
              </a:rPr>
              <a:t> (</a:t>
            </a:r>
            <a:r>
              <a:rPr lang="en-US" sz="12800" dirty="0" smtClean="0">
                <a:solidFill>
                  <a:schemeClr val="accent1">
                    <a:lumMod val="75000"/>
                  </a:schemeClr>
                </a:solidFill>
                <a:latin typeface="Arial" pitchFamily="34" charset="0"/>
                <a:cs typeface="Arial" pitchFamily="34" charset="0"/>
              </a:rPr>
              <a:t>5</a:t>
            </a:r>
            <a:r>
              <a:rPr lang="vi-VN" sz="12800" dirty="0" smtClean="0">
                <a:solidFill>
                  <a:schemeClr val="accent1">
                    <a:lumMod val="75000"/>
                  </a:schemeClr>
                </a:solidFill>
                <a:latin typeface="Arial" pitchFamily="34" charset="0"/>
                <a:cs typeface="Arial" pitchFamily="34" charset="0"/>
              </a:rPr>
              <a:t> </a:t>
            </a:r>
            <a:r>
              <a:rPr lang="en-US" sz="12800" dirty="0" err="1" smtClean="0">
                <a:solidFill>
                  <a:schemeClr val="accent1">
                    <a:lumMod val="75000"/>
                  </a:schemeClr>
                </a:solidFill>
                <a:latin typeface="Arial" pitchFamily="34" charset="0"/>
                <a:cs typeface="Arial" pitchFamily="34" charset="0"/>
              </a:rPr>
              <a:t>atm</a:t>
            </a:r>
            <a:r>
              <a:rPr lang="en-US" sz="12800" dirty="0">
                <a:solidFill>
                  <a:schemeClr val="accent1">
                    <a:lumMod val="75000"/>
                  </a:schemeClr>
                </a:solidFill>
                <a:latin typeface="Arial" pitchFamily="34" charset="0"/>
                <a:cs typeface="Arial" pitchFamily="34" charset="0"/>
              </a:rPr>
              <a:t>, 25</a:t>
            </a:r>
            <a:r>
              <a:rPr lang="en-US" sz="12800" baseline="30000" dirty="0">
                <a:solidFill>
                  <a:schemeClr val="accent1">
                    <a:lumMod val="75000"/>
                  </a:schemeClr>
                </a:solidFill>
                <a:latin typeface="Arial" pitchFamily="34" charset="0"/>
                <a:cs typeface="Arial" pitchFamily="34" charset="0"/>
              </a:rPr>
              <a:t>o</a:t>
            </a:r>
            <a:r>
              <a:rPr lang="en-US" sz="12800" dirty="0">
                <a:solidFill>
                  <a:schemeClr val="accent1">
                    <a:lumMod val="75000"/>
                  </a:schemeClr>
                </a:solidFill>
                <a:latin typeface="Arial" pitchFamily="34" charset="0"/>
                <a:cs typeface="Arial" pitchFamily="34" charset="0"/>
              </a:rPr>
              <a:t>C, </a:t>
            </a:r>
            <a:r>
              <a:rPr lang="en-US" sz="12800" dirty="0" err="1">
                <a:solidFill>
                  <a:schemeClr val="accent1">
                    <a:lumMod val="75000"/>
                  </a:schemeClr>
                </a:solidFill>
                <a:latin typeface="Arial" pitchFamily="34" charset="0"/>
                <a:cs typeface="Arial" pitchFamily="34" charset="0"/>
              </a:rPr>
              <a:t>khí</a:t>
            </a:r>
            <a:r>
              <a:rPr lang="en-US" sz="12800" dirty="0">
                <a:solidFill>
                  <a:schemeClr val="accent1">
                    <a:lumMod val="75000"/>
                  </a:schemeClr>
                </a:solidFill>
                <a:latin typeface="Arial" pitchFamily="34" charset="0"/>
                <a:cs typeface="Arial" pitchFamily="34" charset="0"/>
              </a:rPr>
              <a:t>)</a:t>
            </a:r>
          </a:p>
          <a:p>
            <a:pPr marL="0" indent="0">
              <a:lnSpc>
                <a:spcPct val="120000"/>
              </a:lnSpc>
              <a:buNone/>
            </a:pPr>
            <a:r>
              <a:rPr lang="en-US" sz="12800" dirty="0" smtClean="0">
                <a:latin typeface="Arial" pitchFamily="34" charset="0"/>
                <a:cs typeface="Arial" pitchFamily="34" charset="0"/>
              </a:rPr>
              <a:t>8.  C(</a:t>
            </a:r>
            <a:r>
              <a:rPr lang="en-US" sz="12800" dirty="0" err="1" smtClean="0">
                <a:latin typeface="Arial" pitchFamily="34" charset="0"/>
                <a:cs typeface="Arial" pitchFamily="34" charset="0"/>
              </a:rPr>
              <a:t>graphit</a:t>
            </a:r>
            <a:r>
              <a:rPr lang="en-US" sz="12800" dirty="0">
                <a:latin typeface="Arial" pitchFamily="34" charset="0"/>
                <a:cs typeface="Arial" pitchFamily="34" charset="0"/>
              </a:rPr>
              <a:t>) </a:t>
            </a:r>
            <a:r>
              <a:rPr lang="en-US" sz="12800" dirty="0" smtClean="0">
                <a:latin typeface="Arial" pitchFamily="34" charset="0"/>
                <a:cs typeface="Arial" pitchFamily="34" charset="0"/>
              </a:rPr>
              <a:t>&gt; </a:t>
            </a:r>
            <a:r>
              <a:rPr lang="en-US" sz="12800" dirty="0">
                <a:latin typeface="Arial" pitchFamily="34" charset="0"/>
                <a:cs typeface="Arial" pitchFamily="34" charset="0"/>
              </a:rPr>
              <a:t>C(</a:t>
            </a:r>
            <a:r>
              <a:rPr lang="en-US" sz="12800" dirty="0" err="1">
                <a:latin typeface="Arial" pitchFamily="34" charset="0"/>
                <a:cs typeface="Arial" pitchFamily="34" charset="0"/>
              </a:rPr>
              <a:t>kim</a:t>
            </a:r>
            <a:r>
              <a:rPr lang="en-US" sz="12800" dirty="0">
                <a:latin typeface="Arial" pitchFamily="34" charset="0"/>
                <a:cs typeface="Arial" pitchFamily="34" charset="0"/>
              </a:rPr>
              <a:t> c</a:t>
            </a:r>
            <a:r>
              <a:rPr lang="vi-VN" sz="12800" dirty="0">
                <a:latin typeface="Arial" pitchFamily="34" charset="0"/>
                <a:cs typeface="Arial" pitchFamily="34" charset="0"/>
              </a:rPr>
              <a:t>ư</a:t>
            </a:r>
            <a:r>
              <a:rPr lang="en-US" sz="12800" dirty="0" err="1">
                <a:latin typeface="Arial" pitchFamily="34" charset="0"/>
                <a:cs typeface="Arial" pitchFamily="34" charset="0"/>
              </a:rPr>
              <a:t>ơng</a:t>
            </a:r>
            <a:r>
              <a:rPr lang="en-US" sz="12800" dirty="0">
                <a:latin typeface="Arial" pitchFamily="34" charset="0"/>
                <a:cs typeface="Arial" pitchFamily="34" charset="0"/>
              </a:rPr>
              <a:t>) ở </a:t>
            </a:r>
            <a:r>
              <a:rPr lang="en-US" sz="12800" dirty="0" smtClean="0">
                <a:latin typeface="Arial" pitchFamily="34" charset="0"/>
                <a:cs typeface="Arial" pitchFamily="34" charset="0"/>
              </a:rPr>
              <a:t>298 K</a:t>
            </a:r>
          </a:p>
          <a:p>
            <a:pPr marL="0" indent="0">
              <a:lnSpc>
                <a:spcPct val="120000"/>
              </a:lnSpc>
              <a:buNone/>
            </a:pPr>
            <a:r>
              <a:rPr lang="en-US" sz="12800" dirty="0" smtClean="0">
                <a:solidFill>
                  <a:schemeClr val="accent4">
                    <a:lumMod val="50000"/>
                  </a:schemeClr>
                </a:solidFill>
                <a:latin typeface="Arial" pitchFamily="34" charset="0"/>
                <a:cs typeface="Arial" pitchFamily="34" charset="0"/>
              </a:rPr>
              <a:t>9. CH</a:t>
            </a:r>
            <a:r>
              <a:rPr lang="en-US" sz="12800" baseline="-25000" dirty="0" smtClean="0">
                <a:solidFill>
                  <a:schemeClr val="accent4">
                    <a:lumMod val="50000"/>
                  </a:schemeClr>
                </a:solidFill>
                <a:latin typeface="Arial" pitchFamily="34" charset="0"/>
                <a:cs typeface="Arial" pitchFamily="34" charset="0"/>
              </a:rPr>
              <a:t>4</a:t>
            </a:r>
            <a:r>
              <a:rPr lang="en-US" sz="12800" dirty="0" smtClean="0">
                <a:solidFill>
                  <a:schemeClr val="accent4">
                    <a:lumMod val="50000"/>
                  </a:schemeClr>
                </a:solidFill>
                <a:latin typeface="Arial" pitchFamily="34" charset="0"/>
                <a:cs typeface="Arial" pitchFamily="34" charset="0"/>
              </a:rPr>
              <a:t> (k) &lt; C</a:t>
            </a:r>
            <a:r>
              <a:rPr lang="en-US" sz="12800" baseline="-25000" dirty="0" smtClean="0">
                <a:solidFill>
                  <a:schemeClr val="accent4">
                    <a:lumMod val="50000"/>
                  </a:schemeClr>
                </a:solidFill>
                <a:latin typeface="Arial" pitchFamily="34" charset="0"/>
                <a:cs typeface="Arial" pitchFamily="34" charset="0"/>
              </a:rPr>
              <a:t>2</a:t>
            </a:r>
            <a:r>
              <a:rPr lang="en-US" sz="12800" dirty="0" smtClean="0">
                <a:solidFill>
                  <a:schemeClr val="accent4">
                    <a:lumMod val="50000"/>
                  </a:schemeClr>
                </a:solidFill>
                <a:latin typeface="Arial" pitchFamily="34" charset="0"/>
                <a:cs typeface="Arial" pitchFamily="34" charset="0"/>
              </a:rPr>
              <a:t>H</a:t>
            </a:r>
            <a:r>
              <a:rPr lang="en-US" sz="12800" baseline="-25000" dirty="0" smtClean="0">
                <a:solidFill>
                  <a:schemeClr val="accent4">
                    <a:lumMod val="50000"/>
                  </a:schemeClr>
                </a:solidFill>
                <a:latin typeface="Arial" pitchFamily="34" charset="0"/>
                <a:cs typeface="Arial" pitchFamily="34" charset="0"/>
              </a:rPr>
              <a:t>6</a:t>
            </a:r>
            <a:r>
              <a:rPr lang="en-US" sz="12800" dirty="0" smtClean="0">
                <a:solidFill>
                  <a:schemeClr val="accent4">
                    <a:lumMod val="50000"/>
                  </a:schemeClr>
                </a:solidFill>
                <a:latin typeface="Arial" pitchFamily="34" charset="0"/>
                <a:cs typeface="Arial" pitchFamily="34" charset="0"/>
              </a:rPr>
              <a:t>(k) &lt; C</a:t>
            </a:r>
            <a:r>
              <a:rPr lang="en-US" sz="12800" baseline="-25000" dirty="0" smtClean="0">
                <a:solidFill>
                  <a:schemeClr val="accent4">
                    <a:lumMod val="50000"/>
                  </a:schemeClr>
                </a:solidFill>
                <a:latin typeface="Arial" pitchFamily="34" charset="0"/>
                <a:cs typeface="Arial" pitchFamily="34" charset="0"/>
              </a:rPr>
              <a:t>3</a:t>
            </a:r>
            <a:r>
              <a:rPr lang="en-US" sz="12800" dirty="0" smtClean="0">
                <a:solidFill>
                  <a:schemeClr val="accent4">
                    <a:lumMod val="50000"/>
                  </a:schemeClr>
                </a:solidFill>
                <a:latin typeface="Arial" pitchFamily="34" charset="0"/>
                <a:cs typeface="Arial" pitchFamily="34" charset="0"/>
              </a:rPr>
              <a:t>H</a:t>
            </a:r>
            <a:r>
              <a:rPr lang="en-US" sz="12800" baseline="-25000" dirty="0" smtClean="0">
                <a:solidFill>
                  <a:schemeClr val="accent4">
                    <a:lumMod val="50000"/>
                  </a:schemeClr>
                </a:solidFill>
                <a:latin typeface="Arial" pitchFamily="34" charset="0"/>
                <a:cs typeface="Arial" pitchFamily="34" charset="0"/>
              </a:rPr>
              <a:t>8</a:t>
            </a:r>
            <a:r>
              <a:rPr lang="en-US" sz="12800" dirty="0" smtClean="0">
                <a:solidFill>
                  <a:schemeClr val="accent4">
                    <a:lumMod val="50000"/>
                  </a:schemeClr>
                </a:solidFill>
                <a:latin typeface="Arial" pitchFamily="34" charset="0"/>
                <a:cs typeface="Arial" pitchFamily="34" charset="0"/>
              </a:rPr>
              <a:t> (k)</a:t>
            </a:r>
          </a:p>
          <a:p>
            <a:pPr marL="0" indent="0">
              <a:lnSpc>
                <a:spcPct val="120000"/>
              </a:lnSpc>
              <a:buNone/>
            </a:pPr>
            <a:r>
              <a:rPr lang="en-US" sz="12800" dirty="0" smtClean="0">
                <a:solidFill>
                  <a:srgbClr val="C00000"/>
                </a:solidFill>
                <a:latin typeface="Arial" pitchFamily="34" charset="0"/>
                <a:cs typeface="Arial" pitchFamily="34" charset="0"/>
              </a:rPr>
              <a:t>10. O</a:t>
            </a:r>
            <a:r>
              <a:rPr lang="en-US" sz="12800" baseline="-25000" dirty="0" smtClean="0">
                <a:solidFill>
                  <a:srgbClr val="C00000"/>
                </a:solidFill>
                <a:latin typeface="Arial" pitchFamily="34" charset="0"/>
                <a:cs typeface="Arial" pitchFamily="34" charset="0"/>
              </a:rPr>
              <a:t>2</a:t>
            </a:r>
            <a:r>
              <a:rPr lang="en-US" sz="12800" dirty="0" smtClean="0">
                <a:solidFill>
                  <a:srgbClr val="C00000"/>
                </a:solidFill>
                <a:latin typeface="Arial" pitchFamily="34" charset="0"/>
                <a:cs typeface="Arial" pitchFamily="34" charset="0"/>
              </a:rPr>
              <a:t>(</a:t>
            </a:r>
            <a:r>
              <a:rPr lang="en-US" sz="12800" dirty="0" err="1" smtClean="0">
                <a:solidFill>
                  <a:srgbClr val="C00000"/>
                </a:solidFill>
                <a:latin typeface="Arial" pitchFamily="34" charset="0"/>
                <a:cs typeface="Arial" pitchFamily="34" charset="0"/>
              </a:rPr>
              <a:t>tinh</a:t>
            </a:r>
            <a:r>
              <a:rPr lang="en-US" sz="12800" dirty="0" smtClean="0">
                <a:solidFill>
                  <a:srgbClr val="C00000"/>
                </a:solidFill>
                <a:latin typeface="Arial" pitchFamily="34" charset="0"/>
                <a:cs typeface="Arial" pitchFamily="34" charset="0"/>
              </a:rPr>
              <a:t> </a:t>
            </a:r>
            <a:r>
              <a:rPr lang="en-US" sz="12800" dirty="0" err="1" smtClean="0">
                <a:solidFill>
                  <a:srgbClr val="C00000"/>
                </a:solidFill>
                <a:latin typeface="Arial" pitchFamily="34" charset="0"/>
                <a:cs typeface="Arial" pitchFamily="34" charset="0"/>
              </a:rPr>
              <a:t>thể</a:t>
            </a:r>
            <a:r>
              <a:rPr lang="en-US" sz="12800" dirty="0" smtClean="0">
                <a:solidFill>
                  <a:srgbClr val="C00000"/>
                </a:solidFill>
                <a:latin typeface="Arial" pitchFamily="34" charset="0"/>
                <a:cs typeface="Arial" pitchFamily="34" charset="0"/>
              </a:rPr>
              <a:t> </a:t>
            </a:r>
            <a:r>
              <a:rPr lang="en-US" sz="12800" dirty="0" err="1" smtClean="0">
                <a:solidFill>
                  <a:srgbClr val="C00000"/>
                </a:solidFill>
                <a:latin typeface="Arial" pitchFamily="34" charset="0"/>
                <a:cs typeface="Arial" pitchFamily="34" charset="0"/>
              </a:rPr>
              <a:t>hoàn</a:t>
            </a:r>
            <a:r>
              <a:rPr lang="en-US" sz="12800" dirty="0" smtClean="0">
                <a:solidFill>
                  <a:srgbClr val="C00000"/>
                </a:solidFill>
                <a:latin typeface="Arial" pitchFamily="34" charset="0"/>
                <a:cs typeface="Arial" pitchFamily="34" charset="0"/>
              </a:rPr>
              <a:t> </a:t>
            </a:r>
            <a:r>
              <a:rPr lang="en-US" sz="12800" dirty="0" err="1" smtClean="0">
                <a:solidFill>
                  <a:srgbClr val="C00000"/>
                </a:solidFill>
                <a:latin typeface="Arial" pitchFamily="34" charset="0"/>
                <a:cs typeface="Arial" pitchFamily="34" charset="0"/>
              </a:rPr>
              <a:t>chỉnh</a:t>
            </a:r>
            <a:r>
              <a:rPr lang="en-US" sz="12800" dirty="0" smtClean="0">
                <a:solidFill>
                  <a:srgbClr val="C00000"/>
                </a:solidFill>
                <a:latin typeface="Arial" pitchFamily="34" charset="0"/>
                <a:cs typeface="Arial" pitchFamily="34" charset="0"/>
              </a:rPr>
              <a:t>) = CO</a:t>
            </a:r>
            <a:r>
              <a:rPr lang="en-US" sz="12800" baseline="-25000" dirty="0" smtClean="0">
                <a:solidFill>
                  <a:srgbClr val="C00000"/>
                </a:solidFill>
                <a:latin typeface="Arial" pitchFamily="34" charset="0"/>
                <a:cs typeface="Arial" pitchFamily="34" charset="0"/>
              </a:rPr>
              <a:t>2</a:t>
            </a:r>
            <a:r>
              <a:rPr lang="en-US" sz="12800" dirty="0" smtClean="0">
                <a:solidFill>
                  <a:srgbClr val="C00000"/>
                </a:solidFill>
                <a:latin typeface="Arial" pitchFamily="34" charset="0"/>
                <a:cs typeface="Arial" pitchFamily="34" charset="0"/>
              </a:rPr>
              <a:t>(</a:t>
            </a:r>
            <a:r>
              <a:rPr lang="en-US" sz="12800" dirty="0" err="1" smtClean="0">
                <a:solidFill>
                  <a:srgbClr val="C00000"/>
                </a:solidFill>
                <a:latin typeface="Arial" pitchFamily="34" charset="0"/>
                <a:cs typeface="Arial" pitchFamily="34" charset="0"/>
              </a:rPr>
              <a:t>tinh</a:t>
            </a:r>
            <a:r>
              <a:rPr lang="en-US" sz="12800" dirty="0" smtClean="0">
                <a:solidFill>
                  <a:srgbClr val="C00000"/>
                </a:solidFill>
                <a:latin typeface="Arial" pitchFamily="34" charset="0"/>
                <a:cs typeface="Arial" pitchFamily="34" charset="0"/>
              </a:rPr>
              <a:t> </a:t>
            </a:r>
            <a:r>
              <a:rPr lang="en-US" sz="12800" dirty="0" err="1">
                <a:solidFill>
                  <a:srgbClr val="C00000"/>
                </a:solidFill>
                <a:latin typeface="Arial" pitchFamily="34" charset="0"/>
                <a:cs typeface="Arial" pitchFamily="34" charset="0"/>
              </a:rPr>
              <a:t>thể</a:t>
            </a:r>
            <a:r>
              <a:rPr lang="en-US" sz="12800" dirty="0">
                <a:solidFill>
                  <a:srgbClr val="C00000"/>
                </a:solidFill>
                <a:latin typeface="Arial" pitchFamily="34" charset="0"/>
                <a:cs typeface="Arial" pitchFamily="34" charset="0"/>
              </a:rPr>
              <a:t> </a:t>
            </a:r>
            <a:r>
              <a:rPr lang="en-US" sz="12800" dirty="0" err="1">
                <a:solidFill>
                  <a:srgbClr val="C00000"/>
                </a:solidFill>
                <a:latin typeface="Arial" pitchFamily="34" charset="0"/>
                <a:cs typeface="Arial" pitchFamily="34" charset="0"/>
              </a:rPr>
              <a:t>hoàn</a:t>
            </a:r>
            <a:r>
              <a:rPr lang="en-US" sz="12800" dirty="0">
                <a:solidFill>
                  <a:srgbClr val="C00000"/>
                </a:solidFill>
                <a:latin typeface="Arial" pitchFamily="34" charset="0"/>
                <a:cs typeface="Arial" pitchFamily="34" charset="0"/>
              </a:rPr>
              <a:t> </a:t>
            </a:r>
            <a:r>
              <a:rPr lang="en-US" sz="12800" dirty="0" err="1">
                <a:solidFill>
                  <a:srgbClr val="C00000"/>
                </a:solidFill>
                <a:latin typeface="Arial" pitchFamily="34" charset="0"/>
                <a:cs typeface="Arial" pitchFamily="34" charset="0"/>
              </a:rPr>
              <a:t>chỉnh</a:t>
            </a:r>
            <a:r>
              <a:rPr lang="en-US" sz="12800" dirty="0" smtClean="0">
                <a:solidFill>
                  <a:srgbClr val="C00000"/>
                </a:solidFill>
                <a:latin typeface="Arial" pitchFamily="34" charset="0"/>
                <a:cs typeface="Arial" pitchFamily="34" charset="0"/>
              </a:rPr>
              <a:t>) ở 0K</a:t>
            </a:r>
          </a:p>
          <a:p>
            <a:pPr marL="1371600" indent="-1371600">
              <a:lnSpc>
                <a:spcPct val="120000"/>
              </a:lnSpc>
              <a:buAutoNum type="arabicPeriod" startAt="9"/>
            </a:pPr>
            <a:endParaRPr lang="en-US" sz="12800" dirty="0" smtClean="0">
              <a:latin typeface="Arial" pitchFamily="34" charset="0"/>
              <a:cs typeface="Arial" pitchFamily="34" charset="0"/>
            </a:endParaRPr>
          </a:p>
          <a:p>
            <a:pPr marL="1371600" indent="-1371600">
              <a:lnSpc>
                <a:spcPct val="120000"/>
              </a:lnSpc>
              <a:buAutoNum type="arabicPeriod" startAt="8"/>
            </a:pPr>
            <a:endParaRPr lang="en-US" sz="12800" dirty="0">
              <a:latin typeface="Arial" pitchFamily="34" charset="0"/>
              <a:cs typeface="Arial" pitchFamily="34" charset="0"/>
            </a:endParaRP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endParaRPr lang="en-US" sz="3200" dirty="0">
              <a:latin typeface="Times New Roman" panose="02020603050405020304" pitchFamily="18" charset="0"/>
              <a:cs typeface="Times New Roman" panose="02020603050405020304" pitchFamily="18" charset="0"/>
            </a:endParaRPr>
          </a:p>
          <a:p>
            <a:pPr marL="0" lvl="0" indent="0">
              <a:buNone/>
            </a:pPr>
            <a:r>
              <a:rPr lang="en-US" dirty="0"/>
              <a:t/>
            </a:r>
            <a:br>
              <a:rPr lang="en-US" dirty="0"/>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905E23F3-C724-4636-9077-B72CBF14CB69}"/>
              </a:ext>
            </a:extLst>
          </p:cNvPr>
          <p:cNvSpPr txBox="1"/>
          <p:nvPr/>
        </p:nvSpPr>
        <p:spPr>
          <a:xfrm>
            <a:off x="6245631" y="821599"/>
            <a:ext cx="4759025" cy="707886"/>
          </a:xfrm>
          <a:prstGeom prst="rect">
            <a:avLst/>
          </a:prstGeom>
          <a:noFill/>
        </p:spPr>
        <p:txBody>
          <a:bodyPr wrap="square" rtlCol="0">
            <a:spAutoFit/>
          </a:bodyPr>
          <a:lstStyle/>
          <a:p>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ĐÁP ÁN: TẤT CẢ</a:t>
            </a:r>
          </a:p>
        </p:txBody>
      </p:sp>
      <p:sp>
        <p:nvSpPr>
          <p:cNvPr id="2" name="TextBox 1"/>
          <p:cNvSpPr txBox="1"/>
          <p:nvPr/>
        </p:nvSpPr>
        <p:spPr>
          <a:xfrm>
            <a:off x="62144" y="6116715"/>
            <a:ext cx="11629748" cy="646331"/>
          </a:xfrm>
          <a:prstGeom prst="rect">
            <a:avLst/>
          </a:prstGeom>
          <a:solidFill>
            <a:schemeClr val="bg1"/>
          </a:solidFill>
        </p:spPr>
        <p:txBody>
          <a:bodyPr wrap="square" rtlCol="0">
            <a:spAutoFit/>
          </a:bodyPr>
          <a:lstStyle/>
          <a:p>
            <a:r>
              <a:rPr lang="vi-VN" altLang="en-US" dirty="0">
                <a:solidFill>
                  <a:srgbClr val="006600"/>
                </a:solidFill>
                <a:latin typeface="Arial" panose="020B0604020202020204" pitchFamily="34" charset="0"/>
              </a:rPr>
              <a:t>Entropi của </a:t>
            </a:r>
            <a:r>
              <a:rPr lang="vi-VN" altLang="en-US" dirty="0" smtClean="0">
                <a:solidFill>
                  <a:srgbClr val="006600"/>
                </a:solidFill>
                <a:latin typeface="Arial" panose="020B0604020202020204" pitchFamily="34" charset="0"/>
              </a:rPr>
              <a:t>mọi </a:t>
            </a:r>
            <a:r>
              <a:rPr lang="vi-VN" altLang="en-US" b="1" u="sng" dirty="0" smtClean="0">
                <a:solidFill>
                  <a:srgbClr val="006600"/>
                </a:solidFill>
                <a:latin typeface="Arial" panose="020B0604020202020204" pitchFamily="34" charset="0"/>
              </a:rPr>
              <a:t>chất </a:t>
            </a:r>
            <a:r>
              <a:rPr lang="vi-VN" altLang="en-US" b="1" u="sng" dirty="0">
                <a:solidFill>
                  <a:srgbClr val="006600"/>
                </a:solidFill>
                <a:latin typeface="Arial" panose="020B0604020202020204" pitchFamily="34" charset="0"/>
              </a:rPr>
              <a:t>rắn nguyên chất có cấu tạo tinh thể hoàn chỉnh </a:t>
            </a:r>
            <a:r>
              <a:rPr lang="vi-VN" altLang="en-US" dirty="0">
                <a:solidFill>
                  <a:srgbClr val="006600"/>
                </a:solidFill>
                <a:latin typeface="Arial" panose="020B0604020202020204" pitchFamily="34" charset="0"/>
              </a:rPr>
              <a:t>lý tưởng </a:t>
            </a:r>
            <a:r>
              <a:rPr lang="vi-VN" altLang="en-US" dirty="0" smtClean="0">
                <a:solidFill>
                  <a:srgbClr val="006600"/>
                </a:solidFill>
                <a:latin typeface="Arial" panose="020B0604020202020204" pitchFamily="34" charset="0"/>
              </a:rPr>
              <a:t>(đơn </a:t>
            </a:r>
            <a:r>
              <a:rPr lang="vi-VN" altLang="en-US" dirty="0">
                <a:solidFill>
                  <a:srgbClr val="006600"/>
                </a:solidFill>
                <a:latin typeface="Arial" panose="020B0604020202020204" pitchFamily="34" charset="0"/>
              </a:rPr>
              <a:t>chất hay hợp </a:t>
            </a:r>
            <a:r>
              <a:rPr lang="vi-VN" altLang="en-US" dirty="0" smtClean="0">
                <a:solidFill>
                  <a:srgbClr val="006600"/>
                </a:solidFill>
                <a:latin typeface="Arial" panose="020B0604020202020204" pitchFamily="34" charset="0"/>
              </a:rPr>
              <a:t>chất) </a:t>
            </a:r>
            <a:r>
              <a:rPr lang="vi-VN" altLang="en-US" dirty="0">
                <a:solidFill>
                  <a:srgbClr val="006600"/>
                </a:solidFill>
                <a:latin typeface="Arial" panose="020B0604020202020204" pitchFamily="34" charset="0"/>
              </a:rPr>
              <a:t>đều bằng không ở </a:t>
            </a:r>
            <a:r>
              <a:rPr lang="vi-VN" altLang="en-US" b="1" u="sng" dirty="0">
                <a:solidFill>
                  <a:srgbClr val="006600"/>
                </a:solidFill>
                <a:latin typeface="Arial" panose="020B0604020202020204" pitchFamily="34" charset="0"/>
              </a:rPr>
              <a:t>không độ tuyệt đối </a:t>
            </a:r>
            <a:r>
              <a:rPr lang="vi-VN" altLang="en-US" dirty="0">
                <a:solidFill>
                  <a:srgbClr val="006600"/>
                </a:solidFill>
                <a:latin typeface="Arial" panose="020B0604020202020204" pitchFamily="34" charset="0"/>
              </a:rPr>
              <a:t>(</a:t>
            </a:r>
            <a:r>
              <a:rPr lang="vi-VN" altLang="en-US" dirty="0" smtClean="0">
                <a:solidFill>
                  <a:srgbClr val="006600"/>
                </a:solidFill>
                <a:latin typeface="Arial" panose="020B0604020202020204" pitchFamily="34" charset="0"/>
              </a:rPr>
              <a:t>0 K).</a:t>
            </a:r>
            <a:endParaRPr lang="en-US" dirty="0"/>
          </a:p>
        </p:txBody>
      </p:sp>
    </p:spTree>
    <p:extLst>
      <p:ext uri="{BB962C8B-B14F-4D97-AF65-F5344CB8AC3E}">
        <p14:creationId xmlns:p14="http://schemas.microsoft.com/office/powerpoint/2010/main" val="222130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708BE08-3564-4CE4-B0AB-86A5CB59894A}"/>
              </a:ext>
            </a:extLst>
          </p:cNvPr>
          <p:cNvSpPr>
            <a:spLocks noGrp="1"/>
          </p:cNvSpPr>
          <p:nvPr>
            <p:ph idx="1"/>
          </p:nvPr>
        </p:nvSpPr>
        <p:spPr>
          <a:xfrm>
            <a:off x="54923" y="55306"/>
            <a:ext cx="12192000" cy="5379483"/>
          </a:xfrm>
        </p:spPr>
        <p:txBody>
          <a:bodyPr>
            <a:normAutofit lnSpcReduction="10000"/>
          </a:bodyPr>
          <a:lstStyle/>
          <a:p>
            <a:pPr marL="0" indent="0">
              <a:lnSpc>
                <a:spcPct val="150000"/>
              </a:lnSpc>
              <a:buNone/>
            </a:pPr>
            <a:r>
              <a:rPr lang="en-US" sz="3000" b="1" dirty="0" err="1">
                <a:latin typeface="Arial" pitchFamily="34" charset="0"/>
                <a:cs typeface="Arial" pitchFamily="34" charset="0"/>
              </a:rPr>
              <a:t>Câu</a:t>
            </a:r>
            <a:r>
              <a:rPr lang="en-US" sz="3000" b="1" dirty="0">
                <a:latin typeface="Arial" pitchFamily="34" charset="0"/>
                <a:cs typeface="Arial" pitchFamily="34" charset="0"/>
              </a:rPr>
              <a:t> </a:t>
            </a:r>
            <a:r>
              <a:rPr lang="vi-VN" sz="3000" b="1" dirty="0">
                <a:latin typeface="Arial" pitchFamily="34" charset="0"/>
                <a:cs typeface="Arial" pitchFamily="34" charset="0"/>
              </a:rPr>
              <a:t>6</a:t>
            </a:r>
            <a:r>
              <a:rPr lang="en-US" sz="3000" b="1" dirty="0" smtClean="0">
                <a:latin typeface="Arial" pitchFamily="34" charset="0"/>
                <a:cs typeface="Arial" pitchFamily="34" charset="0"/>
              </a:rPr>
              <a:t>.</a:t>
            </a:r>
            <a:r>
              <a:rPr lang="en-US" sz="3000" dirty="0" smtClean="0">
                <a:latin typeface="Arial" pitchFamily="34" charset="0"/>
                <a:cs typeface="Arial" pitchFamily="34" charset="0"/>
              </a:rPr>
              <a:t> </a:t>
            </a:r>
            <a:r>
              <a:rPr lang="en-US" sz="3000" dirty="0" err="1" smtClean="0">
                <a:latin typeface="Arial" pitchFamily="34" charset="0"/>
                <a:cs typeface="Arial" pitchFamily="34" charset="0"/>
              </a:rPr>
              <a:t>Chọn</a:t>
            </a:r>
            <a:r>
              <a:rPr lang="en-US" sz="3000" dirty="0" smtClean="0">
                <a:latin typeface="Arial" pitchFamily="34" charset="0"/>
                <a:cs typeface="Arial" pitchFamily="34" charset="0"/>
              </a:rPr>
              <a:t> </a:t>
            </a:r>
            <a:r>
              <a:rPr lang="en-US" sz="3000" dirty="0" err="1" smtClean="0">
                <a:latin typeface="Arial" pitchFamily="34" charset="0"/>
                <a:cs typeface="Arial" pitchFamily="34" charset="0"/>
              </a:rPr>
              <a:t>trường</a:t>
            </a:r>
            <a:r>
              <a:rPr lang="en-US" sz="3000" dirty="0" smtClean="0">
                <a:latin typeface="Arial" pitchFamily="34" charset="0"/>
                <a:cs typeface="Arial" pitchFamily="34" charset="0"/>
              </a:rPr>
              <a:t> </a:t>
            </a:r>
            <a:r>
              <a:rPr lang="en-US" sz="3000" dirty="0" err="1" smtClean="0">
                <a:latin typeface="Arial" pitchFamily="34" charset="0"/>
                <a:cs typeface="Arial" pitchFamily="34" charset="0"/>
              </a:rPr>
              <a:t>hợp</a:t>
            </a:r>
            <a:r>
              <a:rPr lang="en-US" sz="3000" dirty="0" smtClean="0">
                <a:latin typeface="Arial" pitchFamily="34" charset="0"/>
                <a:cs typeface="Arial" pitchFamily="34" charset="0"/>
              </a:rPr>
              <a:t> </a:t>
            </a:r>
            <a:r>
              <a:rPr lang="en-US" sz="3000" dirty="0" err="1" smtClean="0">
                <a:latin typeface="Arial" pitchFamily="34" charset="0"/>
                <a:cs typeface="Arial" pitchFamily="34" charset="0"/>
              </a:rPr>
              <a:t>đúng</a:t>
            </a:r>
            <a:r>
              <a:rPr lang="en-US" sz="3000" dirty="0" smtClean="0">
                <a:latin typeface="Arial" pitchFamily="34" charset="0"/>
                <a:cs typeface="Arial" pitchFamily="34" charset="0"/>
              </a:rPr>
              <a:t>. </a:t>
            </a:r>
            <a:r>
              <a:rPr lang="en-US" sz="3000" dirty="0" err="1" smtClean="0">
                <a:latin typeface="Arial" pitchFamily="34" charset="0"/>
                <a:cs typeface="Arial" pitchFamily="34" charset="0"/>
              </a:rPr>
              <a:t>Xét</a:t>
            </a:r>
            <a:r>
              <a:rPr lang="en-US" sz="3000" dirty="0" smtClean="0">
                <a:latin typeface="Arial" pitchFamily="34" charset="0"/>
                <a:cs typeface="Arial" pitchFamily="34" charset="0"/>
              </a:rPr>
              <a:t> </a:t>
            </a:r>
            <a:r>
              <a:rPr lang="en-US" sz="3000" dirty="0" err="1" smtClean="0">
                <a:latin typeface="Arial" pitchFamily="34" charset="0"/>
                <a:cs typeface="Arial" pitchFamily="34" charset="0"/>
              </a:rPr>
              <a:t>dấu</a:t>
            </a:r>
            <a:r>
              <a:rPr lang="en-US" sz="3000" dirty="0" smtClean="0">
                <a:latin typeface="Arial" pitchFamily="34" charset="0"/>
                <a:cs typeface="Arial" pitchFamily="34" charset="0"/>
              </a:rPr>
              <a:t> </a:t>
            </a:r>
            <a:r>
              <a:rPr lang="en-US" sz="3200" dirty="0">
                <a:latin typeface="Arial" pitchFamily="34" charset="0"/>
                <a:cs typeface="Arial" pitchFamily="34" charset="0"/>
                <a:sym typeface="Symbol" panose="05050102010706020507" pitchFamily="18" charset="2"/>
              </a:rPr>
              <a:t></a:t>
            </a:r>
            <a:r>
              <a:rPr lang="en-US" sz="3200" dirty="0" smtClean="0">
                <a:latin typeface="Arial" pitchFamily="34" charset="0"/>
                <a:cs typeface="Arial" pitchFamily="34" charset="0"/>
                <a:sym typeface="Symbol" panose="05050102010706020507" pitchFamily="18" charset="2"/>
              </a:rPr>
              <a:t>S </a:t>
            </a:r>
            <a:r>
              <a:rPr lang="en-US" sz="3200" dirty="0" err="1" smtClean="0">
                <a:latin typeface="Arial" pitchFamily="34" charset="0"/>
                <a:cs typeface="Arial" pitchFamily="34" charset="0"/>
                <a:sym typeface="Symbol" panose="05050102010706020507" pitchFamily="18" charset="2"/>
              </a:rPr>
              <a:t>cho</a:t>
            </a:r>
            <a:r>
              <a:rPr lang="en-US" sz="3200" dirty="0" smtClean="0">
                <a:latin typeface="Arial" pitchFamily="34" charset="0"/>
                <a:cs typeface="Arial" pitchFamily="34" charset="0"/>
                <a:sym typeface="Symbol" panose="05050102010706020507" pitchFamily="18" charset="2"/>
              </a:rPr>
              <a:t> </a:t>
            </a:r>
            <a:r>
              <a:rPr lang="en-US" sz="3200" dirty="0" err="1" smtClean="0">
                <a:latin typeface="Arial" pitchFamily="34" charset="0"/>
                <a:cs typeface="Arial" pitchFamily="34" charset="0"/>
                <a:sym typeface="Symbol" panose="05050102010706020507" pitchFamily="18" charset="2"/>
              </a:rPr>
              <a:t>các</a:t>
            </a:r>
            <a:r>
              <a:rPr lang="en-US" sz="3200" dirty="0" smtClean="0">
                <a:latin typeface="Arial" pitchFamily="34" charset="0"/>
                <a:cs typeface="Arial" pitchFamily="34" charset="0"/>
                <a:sym typeface="Symbol" panose="05050102010706020507" pitchFamily="18" charset="2"/>
              </a:rPr>
              <a:t> </a:t>
            </a:r>
            <a:r>
              <a:rPr lang="en-US" sz="3200" dirty="0" err="1" smtClean="0">
                <a:latin typeface="Arial" pitchFamily="34" charset="0"/>
                <a:cs typeface="Arial" pitchFamily="34" charset="0"/>
                <a:sym typeface="Symbol" panose="05050102010706020507" pitchFamily="18" charset="2"/>
              </a:rPr>
              <a:t>trường</a:t>
            </a:r>
            <a:r>
              <a:rPr lang="en-US" sz="3200" dirty="0" smtClean="0">
                <a:latin typeface="Arial" pitchFamily="34" charset="0"/>
                <a:cs typeface="Arial" pitchFamily="34" charset="0"/>
                <a:sym typeface="Symbol" panose="05050102010706020507" pitchFamily="18" charset="2"/>
              </a:rPr>
              <a:t> </a:t>
            </a:r>
            <a:r>
              <a:rPr lang="en-US" sz="3200" dirty="0" err="1" smtClean="0">
                <a:latin typeface="Arial" pitchFamily="34" charset="0"/>
                <a:cs typeface="Arial" pitchFamily="34" charset="0"/>
                <a:sym typeface="Symbol" panose="05050102010706020507" pitchFamily="18" charset="2"/>
              </a:rPr>
              <a:t>hợp</a:t>
            </a:r>
            <a:r>
              <a:rPr lang="en-US" sz="3200" dirty="0" smtClean="0">
                <a:latin typeface="Arial" pitchFamily="34" charset="0"/>
                <a:cs typeface="Arial" pitchFamily="34" charset="0"/>
                <a:sym typeface="Symbol" panose="05050102010706020507" pitchFamily="18" charset="2"/>
              </a:rPr>
              <a:t> </a:t>
            </a:r>
            <a:r>
              <a:rPr lang="en-US" sz="3200" dirty="0" err="1" smtClean="0">
                <a:latin typeface="Arial" pitchFamily="34" charset="0"/>
                <a:cs typeface="Arial" pitchFamily="34" charset="0"/>
                <a:sym typeface="Symbol" panose="05050102010706020507" pitchFamily="18" charset="2"/>
              </a:rPr>
              <a:t>sau</a:t>
            </a:r>
            <a:r>
              <a:rPr lang="en-US" sz="3200" dirty="0" smtClean="0">
                <a:latin typeface="Arial" pitchFamily="34" charset="0"/>
                <a:cs typeface="Arial" pitchFamily="34" charset="0"/>
                <a:sym typeface="Symbol" panose="05050102010706020507" pitchFamily="18" charset="2"/>
              </a:rPr>
              <a:t>:</a:t>
            </a:r>
            <a:r>
              <a:rPr lang="en-US" sz="3000" dirty="0" smtClean="0">
                <a:latin typeface="Arial" pitchFamily="34" charset="0"/>
                <a:cs typeface="Arial" pitchFamily="34" charset="0"/>
              </a:rPr>
              <a:t> </a:t>
            </a:r>
            <a:endParaRPr lang="en-US" sz="3000" dirty="0">
              <a:latin typeface="Arial" pitchFamily="34" charset="0"/>
              <a:cs typeface="Arial" pitchFamily="34" charset="0"/>
              <a:sym typeface="Symbol" panose="05050102010706020507" pitchFamily="18" charset="2"/>
            </a:endParaRPr>
          </a:p>
          <a:p>
            <a:pPr marL="514350" indent="-514350">
              <a:lnSpc>
                <a:spcPct val="150000"/>
              </a:lnSpc>
              <a:buFont typeface="+mj-lt"/>
              <a:buAutoNum type="arabicPeriod"/>
            </a:pPr>
            <a:r>
              <a:rPr lang="en-US" sz="3000" dirty="0" err="1">
                <a:solidFill>
                  <a:srgbClr val="0000FF"/>
                </a:solidFill>
                <a:latin typeface="Arial" pitchFamily="34" charset="0"/>
                <a:cs typeface="Arial" pitchFamily="34" charset="0"/>
                <a:sym typeface="Symbol" panose="05050102010706020507" pitchFamily="18" charset="2"/>
              </a:rPr>
              <a:t>Quá</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trình</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khuếch</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tán</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khí</a:t>
            </a:r>
            <a:r>
              <a:rPr lang="en-US" sz="3000" dirty="0">
                <a:solidFill>
                  <a:srgbClr val="0000FF"/>
                </a:solidFill>
                <a:latin typeface="Arial" pitchFamily="34" charset="0"/>
                <a:cs typeface="Arial" pitchFamily="34" charset="0"/>
                <a:sym typeface="Symbol" panose="05050102010706020507" pitchFamily="18" charset="2"/>
              </a:rPr>
              <a:t> ở </a:t>
            </a:r>
            <a:r>
              <a:rPr lang="en-US" sz="3000" dirty="0" err="1">
                <a:solidFill>
                  <a:srgbClr val="0000FF"/>
                </a:solidFill>
                <a:latin typeface="Arial" pitchFamily="34" charset="0"/>
                <a:cs typeface="Arial" pitchFamily="34" charset="0"/>
                <a:sym typeface="Symbol" panose="05050102010706020507" pitchFamily="18" charset="2"/>
              </a:rPr>
              <a:t>hai</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bình</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thông</a:t>
            </a:r>
            <a:r>
              <a:rPr lang="en-US" sz="3000" dirty="0">
                <a:solidFill>
                  <a:srgbClr val="0000FF"/>
                </a:solidFill>
                <a:latin typeface="Arial" pitchFamily="34" charset="0"/>
                <a:cs typeface="Arial" pitchFamily="34" charset="0"/>
                <a:sym typeface="Symbol" panose="05050102010706020507" pitchFamily="18" charset="2"/>
              </a:rPr>
              <a:t> </a:t>
            </a:r>
            <a:r>
              <a:rPr lang="en-US" sz="3000" dirty="0" err="1">
                <a:solidFill>
                  <a:srgbClr val="0000FF"/>
                </a:solidFill>
                <a:latin typeface="Arial" pitchFamily="34" charset="0"/>
                <a:cs typeface="Arial" pitchFamily="34" charset="0"/>
                <a:sym typeface="Symbol" panose="05050102010706020507" pitchFamily="18" charset="2"/>
              </a:rPr>
              <a:t>nhau</a:t>
            </a:r>
            <a:r>
              <a:rPr lang="vi-VN" sz="3000" dirty="0">
                <a:solidFill>
                  <a:srgbClr val="0000FF"/>
                </a:solidFill>
                <a:latin typeface="Arial" pitchFamily="34" charset="0"/>
                <a:cs typeface="Arial" pitchFamily="34" charset="0"/>
                <a:sym typeface="Symbol" panose="05050102010706020507" pitchFamily="18" charset="2"/>
              </a:rPr>
              <a:t> có dung </a:t>
            </a:r>
            <a:r>
              <a:rPr lang="vi-VN" sz="3000" dirty="0" smtClean="0">
                <a:solidFill>
                  <a:srgbClr val="0000FF"/>
                </a:solidFill>
                <a:latin typeface="Arial" pitchFamily="34" charset="0"/>
                <a:cs typeface="Arial" pitchFamily="34" charset="0"/>
                <a:sym typeface="Symbol" panose="05050102010706020507" pitchFamily="18" charset="2"/>
              </a:rPr>
              <a:t>tích </a:t>
            </a:r>
            <a:r>
              <a:rPr lang="vi-VN" sz="3000" dirty="0">
                <a:solidFill>
                  <a:srgbClr val="0000FF"/>
                </a:solidFill>
                <a:latin typeface="Arial" pitchFamily="34" charset="0"/>
                <a:cs typeface="Arial" pitchFamily="34" charset="0"/>
                <a:sym typeface="Symbol" panose="05050102010706020507" pitchFamily="18" charset="2"/>
              </a:rPr>
              <a:t>bằng </a:t>
            </a:r>
            <a:r>
              <a:rPr lang="vi-VN" sz="3000" dirty="0" smtClean="0">
                <a:solidFill>
                  <a:srgbClr val="0000FF"/>
                </a:solidFill>
                <a:latin typeface="Arial" pitchFamily="34" charset="0"/>
                <a:cs typeface="Arial" pitchFamily="34" charset="0"/>
                <a:sym typeface="Symbol" panose="05050102010706020507" pitchFamily="18" charset="2"/>
              </a:rPr>
              <a:t>nhau</a:t>
            </a:r>
            <a:r>
              <a:rPr lang="en-US" sz="3000" dirty="0">
                <a:solidFill>
                  <a:srgbClr val="0000FF"/>
                </a:solidFill>
                <a:latin typeface="Arial" pitchFamily="34" charset="0"/>
                <a:cs typeface="Arial" pitchFamily="34" charset="0"/>
                <a:sym typeface="Symbol" panose="05050102010706020507" pitchFamily="18" charset="2"/>
              </a:rPr>
              <a:t>.</a:t>
            </a:r>
            <a:r>
              <a:rPr lang="en-US" sz="3000" dirty="0" smtClean="0">
                <a:solidFill>
                  <a:srgbClr val="0000FF"/>
                </a:solidFill>
                <a:latin typeface="Arial" pitchFamily="34" charset="0"/>
                <a:cs typeface="Arial" pitchFamily="34" charset="0"/>
                <a:sym typeface="Symbol" panose="05050102010706020507" pitchFamily="18" charset="2"/>
              </a:rPr>
              <a:t> </a:t>
            </a:r>
          </a:p>
          <a:p>
            <a:pPr marL="514350" indent="-514350">
              <a:lnSpc>
                <a:spcPct val="150000"/>
              </a:lnSpc>
              <a:buFont typeface="+mj-lt"/>
              <a:buAutoNum type="arabicPeriod"/>
            </a:pPr>
            <a:r>
              <a:rPr lang="en-US" sz="3000" dirty="0" smtClean="0">
                <a:solidFill>
                  <a:srgbClr val="C00000"/>
                </a:solidFill>
                <a:latin typeface="Arial" pitchFamily="34" charset="0"/>
                <a:cs typeface="Arial" pitchFamily="34" charset="0"/>
              </a:rPr>
              <a:t>CO</a:t>
            </a:r>
            <a:r>
              <a:rPr lang="en-US" sz="3000" baseline="-25000" dirty="0" smtClean="0">
                <a:solidFill>
                  <a:srgbClr val="C00000"/>
                </a:solidFill>
                <a:latin typeface="Arial" pitchFamily="34" charset="0"/>
                <a:cs typeface="Arial" pitchFamily="34" charset="0"/>
              </a:rPr>
              <a:t>3</a:t>
            </a:r>
            <a:r>
              <a:rPr lang="en-US" sz="3000" baseline="30000" dirty="0" smtClean="0">
                <a:solidFill>
                  <a:srgbClr val="C00000"/>
                </a:solidFill>
                <a:latin typeface="Arial" pitchFamily="34" charset="0"/>
                <a:cs typeface="Arial" pitchFamily="34" charset="0"/>
              </a:rPr>
              <a:t>2-</a:t>
            </a:r>
            <a:r>
              <a:rPr lang="en-US" sz="3000" dirty="0">
                <a:solidFill>
                  <a:srgbClr val="C00000"/>
                </a:solidFill>
                <a:latin typeface="Arial" pitchFamily="34" charset="0"/>
                <a:cs typeface="Arial" pitchFamily="34" charset="0"/>
              </a:rPr>
              <a:t>(</a:t>
            </a:r>
            <a:r>
              <a:rPr lang="en-US" sz="3000" dirty="0" err="1">
                <a:solidFill>
                  <a:srgbClr val="C00000"/>
                </a:solidFill>
                <a:latin typeface="Arial" pitchFamily="34" charset="0"/>
                <a:cs typeface="Arial" pitchFamily="34" charset="0"/>
              </a:rPr>
              <a:t>aq</a:t>
            </a:r>
            <a:r>
              <a:rPr lang="en-US" sz="3000" dirty="0">
                <a:solidFill>
                  <a:srgbClr val="C00000"/>
                </a:solidFill>
                <a:latin typeface="Arial" pitchFamily="34" charset="0"/>
                <a:cs typeface="Arial" pitchFamily="34" charset="0"/>
              </a:rPr>
              <a:t>) </a:t>
            </a:r>
            <a:r>
              <a:rPr lang="en-US" sz="3000" dirty="0" smtClean="0">
                <a:solidFill>
                  <a:srgbClr val="C00000"/>
                </a:solidFill>
                <a:latin typeface="Arial" pitchFamily="34" charset="0"/>
                <a:cs typeface="Arial" pitchFamily="34" charset="0"/>
              </a:rPr>
              <a:t>+ 2H</a:t>
            </a:r>
            <a:r>
              <a:rPr lang="en-US" sz="3000" baseline="30000" dirty="0">
                <a:solidFill>
                  <a:srgbClr val="C00000"/>
                </a:solidFill>
                <a:latin typeface="Arial" pitchFamily="34" charset="0"/>
                <a:cs typeface="Arial" pitchFamily="34" charset="0"/>
              </a:rPr>
              <a:t>+</a:t>
            </a:r>
            <a:r>
              <a:rPr lang="en-US" sz="3000" dirty="0">
                <a:solidFill>
                  <a:srgbClr val="C00000"/>
                </a:solidFill>
                <a:latin typeface="Arial" pitchFamily="34" charset="0"/>
                <a:cs typeface="Arial" pitchFamily="34" charset="0"/>
              </a:rPr>
              <a:t>(</a:t>
            </a:r>
            <a:r>
              <a:rPr lang="en-US" sz="3000" dirty="0" err="1">
                <a:solidFill>
                  <a:srgbClr val="C00000"/>
                </a:solidFill>
                <a:latin typeface="Arial" pitchFamily="34" charset="0"/>
                <a:cs typeface="Arial" pitchFamily="34" charset="0"/>
              </a:rPr>
              <a:t>aq</a:t>
            </a:r>
            <a:r>
              <a:rPr lang="en-US" sz="3000" dirty="0" smtClean="0">
                <a:solidFill>
                  <a:srgbClr val="C00000"/>
                </a:solidFill>
                <a:latin typeface="Arial" pitchFamily="34" charset="0"/>
                <a:cs typeface="Arial" pitchFamily="34" charset="0"/>
              </a:rPr>
              <a:t>) = </a:t>
            </a:r>
            <a:r>
              <a:rPr lang="en-US" sz="3000" dirty="0">
                <a:solidFill>
                  <a:srgbClr val="C00000"/>
                </a:solidFill>
                <a:latin typeface="Arial" pitchFamily="34" charset="0"/>
                <a:cs typeface="Arial" pitchFamily="34" charset="0"/>
              </a:rPr>
              <a:t>CO</a:t>
            </a:r>
            <a:r>
              <a:rPr lang="en-US" sz="3000" baseline="-25000" dirty="0">
                <a:solidFill>
                  <a:srgbClr val="C00000"/>
                </a:solidFill>
                <a:latin typeface="Arial" pitchFamily="34" charset="0"/>
                <a:cs typeface="Arial" pitchFamily="34" charset="0"/>
              </a:rPr>
              <a:t>2</a:t>
            </a:r>
            <a:r>
              <a:rPr lang="en-US" sz="3000" dirty="0">
                <a:solidFill>
                  <a:srgbClr val="C00000"/>
                </a:solidFill>
                <a:latin typeface="Arial" pitchFamily="34" charset="0"/>
                <a:cs typeface="Arial" pitchFamily="34" charset="0"/>
              </a:rPr>
              <a:t>(k) </a:t>
            </a:r>
            <a:r>
              <a:rPr lang="en-US" sz="3000" dirty="0" smtClean="0">
                <a:solidFill>
                  <a:srgbClr val="C00000"/>
                </a:solidFill>
                <a:latin typeface="Arial" pitchFamily="34" charset="0"/>
                <a:cs typeface="Arial" pitchFamily="34" charset="0"/>
              </a:rPr>
              <a:t>+ H</a:t>
            </a:r>
            <a:r>
              <a:rPr lang="en-US" sz="3000" baseline="-25000" dirty="0" smtClean="0">
                <a:solidFill>
                  <a:srgbClr val="C00000"/>
                </a:solidFill>
                <a:latin typeface="Arial" pitchFamily="34" charset="0"/>
                <a:cs typeface="Arial" pitchFamily="34" charset="0"/>
              </a:rPr>
              <a:t>2</a:t>
            </a:r>
            <a:r>
              <a:rPr lang="en-US" sz="3000" dirty="0" smtClean="0">
                <a:solidFill>
                  <a:srgbClr val="C00000"/>
                </a:solidFill>
                <a:latin typeface="Arial" pitchFamily="34" charset="0"/>
                <a:cs typeface="Arial" pitchFamily="34" charset="0"/>
              </a:rPr>
              <a:t>O(</a:t>
            </a:r>
            <a:r>
              <a:rPr lang="en-US" sz="3000" dirty="0" err="1" smtClean="0">
                <a:solidFill>
                  <a:srgbClr val="C00000"/>
                </a:solidFill>
                <a:latin typeface="Arial" pitchFamily="34" charset="0"/>
                <a:cs typeface="Arial" pitchFamily="34" charset="0"/>
              </a:rPr>
              <a:t>lỏng</a:t>
            </a:r>
            <a:r>
              <a:rPr lang="en-US" sz="3000" dirty="0" smtClean="0">
                <a:solidFill>
                  <a:srgbClr val="C00000"/>
                </a:solidFill>
                <a:latin typeface="Arial" pitchFamily="34" charset="0"/>
                <a:cs typeface="Arial" pitchFamily="34" charset="0"/>
              </a:rPr>
              <a:t>);  </a:t>
            </a:r>
            <a:r>
              <a:rPr lang="en-US" sz="3000" dirty="0">
                <a:solidFill>
                  <a:srgbClr val="C00000"/>
                </a:solidFill>
                <a:latin typeface="Arial" pitchFamily="34" charset="0"/>
                <a:cs typeface="Arial" pitchFamily="34" charset="0"/>
              </a:rPr>
              <a:t>ở 25</a:t>
            </a:r>
            <a:r>
              <a:rPr lang="en-US" sz="3000" baseline="30000" dirty="0">
                <a:solidFill>
                  <a:srgbClr val="C00000"/>
                </a:solidFill>
                <a:latin typeface="Arial" pitchFamily="34" charset="0"/>
                <a:cs typeface="Arial" pitchFamily="34" charset="0"/>
              </a:rPr>
              <a:t>0</a:t>
            </a:r>
            <a:r>
              <a:rPr lang="en-US" sz="3000" dirty="0">
                <a:solidFill>
                  <a:srgbClr val="C00000"/>
                </a:solidFill>
                <a:latin typeface="Arial" pitchFamily="34" charset="0"/>
                <a:cs typeface="Arial" pitchFamily="34" charset="0"/>
              </a:rPr>
              <a:t>C</a:t>
            </a:r>
          </a:p>
          <a:p>
            <a:pPr marL="514350" indent="-514350">
              <a:lnSpc>
                <a:spcPct val="150000"/>
              </a:lnSpc>
              <a:buFont typeface="+mj-lt"/>
              <a:buAutoNum type="arabicPeriod"/>
            </a:pPr>
            <a:r>
              <a:rPr lang="en-US" sz="3000" dirty="0" smtClean="0">
                <a:solidFill>
                  <a:srgbClr val="9933FF"/>
                </a:solidFill>
                <a:latin typeface="Arial" pitchFamily="34" charset="0"/>
                <a:cs typeface="Arial" pitchFamily="34" charset="0"/>
              </a:rPr>
              <a:t>H</a:t>
            </a:r>
            <a:r>
              <a:rPr lang="en-US" sz="3000" baseline="-25000" dirty="0" smtClean="0">
                <a:solidFill>
                  <a:srgbClr val="9933FF"/>
                </a:solidFill>
                <a:latin typeface="Arial" pitchFamily="34" charset="0"/>
                <a:cs typeface="Arial" pitchFamily="34" charset="0"/>
              </a:rPr>
              <a:t>2</a:t>
            </a:r>
            <a:r>
              <a:rPr lang="en-US" sz="3000" dirty="0" smtClean="0">
                <a:solidFill>
                  <a:srgbClr val="9933FF"/>
                </a:solidFill>
                <a:latin typeface="Arial" pitchFamily="34" charset="0"/>
                <a:cs typeface="Arial" pitchFamily="34" charset="0"/>
              </a:rPr>
              <a:t>O(</a:t>
            </a:r>
            <a:r>
              <a:rPr lang="en-US" sz="3000" dirty="0" err="1" smtClean="0">
                <a:solidFill>
                  <a:srgbClr val="9933FF"/>
                </a:solidFill>
                <a:latin typeface="Arial" pitchFamily="34" charset="0"/>
                <a:cs typeface="Arial" pitchFamily="34" charset="0"/>
              </a:rPr>
              <a:t>lỏng</a:t>
            </a:r>
            <a:r>
              <a:rPr lang="en-US" sz="3000" dirty="0">
                <a:solidFill>
                  <a:srgbClr val="9933FF"/>
                </a:solidFill>
                <a:latin typeface="Arial" pitchFamily="34" charset="0"/>
                <a:cs typeface="Arial" pitchFamily="34" charset="0"/>
              </a:rPr>
              <a:t>) </a:t>
            </a:r>
            <a:r>
              <a:rPr lang="en-US" sz="3000" b="1" dirty="0" smtClean="0">
                <a:solidFill>
                  <a:srgbClr val="9933FF"/>
                </a:solidFill>
                <a:latin typeface="Arial" pitchFamily="34" charset="0"/>
                <a:cs typeface="Arial" pitchFamily="34" charset="0"/>
              </a:rPr>
              <a:t>⇌ </a:t>
            </a:r>
            <a:r>
              <a:rPr lang="en-US" sz="3000" dirty="0" smtClean="0">
                <a:solidFill>
                  <a:srgbClr val="9933FF"/>
                </a:solidFill>
                <a:latin typeface="Arial" pitchFamily="34" charset="0"/>
                <a:cs typeface="Arial" pitchFamily="34" charset="0"/>
              </a:rPr>
              <a:t>H</a:t>
            </a:r>
            <a:r>
              <a:rPr lang="en-US" sz="3000" baseline="-25000" dirty="0" smtClean="0">
                <a:solidFill>
                  <a:srgbClr val="9933FF"/>
                </a:solidFill>
                <a:latin typeface="Arial" pitchFamily="34" charset="0"/>
                <a:cs typeface="Arial" pitchFamily="34" charset="0"/>
              </a:rPr>
              <a:t>2</a:t>
            </a:r>
            <a:r>
              <a:rPr lang="en-US" sz="3000" dirty="0" smtClean="0">
                <a:solidFill>
                  <a:srgbClr val="9933FF"/>
                </a:solidFill>
                <a:latin typeface="Arial" pitchFamily="34" charset="0"/>
                <a:cs typeface="Arial" pitchFamily="34" charset="0"/>
              </a:rPr>
              <a:t>O(</a:t>
            </a:r>
            <a:r>
              <a:rPr lang="en-US" sz="3000" dirty="0" err="1" smtClean="0">
                <a:solidFill>
                  <a:srgbClr val="9933FF"/>
                </a:solidFill>
                <a:latin typeface="Arial" pitchFamily="34" charset="0"/>
                <a:cs typeface="Arial" pitchFamily="34" charset="0"/>
              </a:rPr>
              <a:t>rắn</a:t>
            </a:r>
            <a:r>
              <a:rPr lang="en-US" sz="3000" dirty="0" smtClean="0">
                <a:solidFill>
                  <a:srgbClr val="9933FF"/>
                </a:solidFill>
                <a:latin typeface="Arial" pitchFamily="34" charset="0"/>
                <a:cs typeface="Arial" pitchFamily="34" charset="0"/>
              </a:rPr>
              <a:t>); ở </a:t>
            </a:r>
            <a:r>
              <a:rPr lang="en-US" sz="3000" dirty="0">
                <a:solidFill>
                  <a:srgbClr val="9933FF"/>
                </a:solidFill>
                <a:latin typeface="Arial" pitchFamily="34" charset="0"/>
                <a:cs typeface="Arial" pitchFamily="34" charset="0"/>
              </a:rPr>
              <a:t>0</a:t>
            </a:r>
            <a:r>
              <a:rPr lang="en-US" sz="3000" baseline="30000" dirty="0">
                <a:solidFill>
                  <a:srgbClr val="9933FF"/>
                </a:solidFill>
                <a:latin typeface="Arial" pitchFamily="34" charset="0"/>
                <a:cs typeface="Arial" pitchFamily="34" charset="0"/>
              </a:rPr>
              <a:t>0</a:t>
            </a:r>
            <a:r>
              <a:rPr lang="en-US" sz="3000" dirty="0">
                <a:solidFill>
                  <a:srgbClr val="9933FF"/>
                </a:solidFill>
                <a:latin typeface="Arial" pitchFamily="34" charset="0"/>
                <a:cs typeface="Arial" pitchFamily="34" charset="0"/>
              </a:rPr>
              <a:t>C 1atm  </a:t>
            </a:r>
          </a:p>
          <a:p>
            <a:pPr marL="514350" indent="-514350">
              <a:lnSpc>
                <a:spcPct val="150000"/>
              </a:lnSpc>
              <a:buFont typeface="+mj-lt"/>
              <a:buAutoNum type="arabicPeriod"/>
            </a:pPr>
            <a:r>
              <a:rPr lang="en-US" sz="3000" dirty="0">
                <a:solidFill>
                  <a:srgbClr val="008000"/>
                </a:solidFill>
                <a:latin typeface="Arial" pitchFamily="34" charset="0"/>
                <a:cs typeface="Arial" pitchFamily="34" charset="0"/>
              </a:rPr>
              <a:t>C</a:t>
            </a:r>
            <a:r>
              <a:rPr lang="en-US" sz="3000" baseline="-25000" dirty="0">
                <a:solidFill>
                  <a:srgbClr val="008000"/>
                </a:solidFill>
                <a:latin typeface="Arial" pitchFamily="34" charset="0"/>
                <a:cs typeface="Arial" pitchFamily="34" charset="0"/>
              </a:rPr>
              <a:t>2</a:t>
            </a:r>
            <a:r>
              <a:rPr lang="en-US" sz="3000" dirty="0">
                <a:solidFill>
                  <a:srgbClr val="008000"/>
                </a:solidFill>
                <a:latin typeface="Arial" pitchFamily="34" charset="0"/>
                <a:cs typeface="Arial" pitchFamily="34" charset="0"/>
              </a:rPr>
              <a:t>H</a:t>
            </a:r>
            <a:r>
              <a:rPr lang="en-US" sz="3000" baseline="-25000" dirty="0">
                <a:solidFill>
                  <a:srgbClr val="008000"/>
                </a:solidFill>
                <a:latin typeface="Arial" pitchFamily="34" charset="0"/>
                <a:cs typeface="Arial" pitchFamily="34" charset="0"/>
              </a:rPr>
              <a:t>4</a:t>
            </a:r>
            <a:r>
              <a:rPr lang="en-US" sz="3000" dirty="0">
                <a:solidFill>
                  <a:srgbClr val="008000"/>
                </a:solidFill>
                <a:latin typeface="Arial" pitchFamily="34" charset="0"/>
                <a:cs typeface="Arial" pitchFamily="34" charset="0"/>
              </a:rPr>
              <a:t>(k)   </a:t>
            </a:r>
            <a:r>
              <a:rPr lang="en-US" sz="3000" dirty="0" smtClean="0">
                <a:solidFill>
                  <a:srgbClr val="008000"/>
                </a:solidFill>
                <a:latin typeface="Arial" pitchFamily="34" charset="0"/>
                <a:cs typeface="Arial" pitchFamily="34" charset="0"/>
              </a:rPr>
              <a:t>+   3O</a:t>
            </a:r>
            <a:r>
              <a:rPr lang="en-US" sz="3000" baseline="-25000" dirty="0" smtClean="0">
                <a:solidFill>
                  <a:srgbClr val="008000"/>
                </a:solidFill>
                <a:latin typeface="Arial" pitchFamily="34" charset="0"/>
                <a:cs typeface="Arial" pitchFamily="34" charset="0"/>
              </a:rPr>
              <a:t>2</a:t>
            </a:r>
            <a:r>
              <a:rPr lang="en-US" sz="3000" dirty="0" smtClean="0">
                <a:solidFill>
                  <a:srgbClr val="008000"/>
                </a:solidFill>
                <a:latin typeface="Arial" pitchFamily="34" charset="0"/>
                <a:cs typeface="Arial" pitchFamily="34" charset="0"/>
              </a:rPr>
              <a:t>(k</a:t>
            </a:r>
            <a:r>
              <a:rPr lang="en-US" sz="3000" dirty="0">
                <a:solidFill>
                  <a:srgbClr val="008000"/>
                </a:solidFill>
                <a:latin typeface="Arial" pitchFamily="34" charset="0"/>
                <a:cs typeface="Arial" pitchFamily="34" charset="0"/>
              </a:rPr>
              <a:t>)  </a:t>
            </a:r>
            <a:r>
              <a:rPr lang="en-US" sz="3000" dirty="0" smtClean="0">
                <a:solidFill>
                  <a:srgbClr val="008000"/>
                </a:solidFill>
                <a:latin typeface="Arial" pitchFamily="34" charset="0"/>
                <a:cs typeface="Arial" pitchFamily="34" charset="0"/>
              </a:rPr>
              <a:t>=  </a:t>
            </a:r>
            <a:r>
              <a:rPr lang="en-US" sz="3000" dirty="0">
                <a:solidFill>
                  <a:srgbClr val="008000"/>
                </a:solidFill>
                <a:latin typeface="Arial" pitchFamily="34" charset="0"/>
                <a:cs typeface="Arial" pitchFamily="34" charset="0"/>
              </a:rPr>
              <a:t>2CO</a:t>
            </a:r>
            <a:r>
              <a:rPr lang="en-US" sz="3000" baseline="-25000" dirty="0">
                <a:solidFill>
                  <a:srgbClr val="008000"/>
                </a:solidFill>
                <a:latin typeface="Arial" pitchFamily="34" charset="0"/>
                <a:cs typeface="Arial" pitchFamily="34" charset="0"/>
              </a:rPr>
              <a:t>2</a:t>
            </a:r>
            <a:r>
              <a:rPr lang="en-US" sz="3000" dirty="0">
                <a:solidFill>
                  <a:srgbClr val="008000"/>
                </a:solidFill>
                <a:latin typeface="Arial" pitchFamily="34" charset="0"/>
                <a:cs typeface="Arial" pitchFamily="34" charset="0"/>
              </a:rPr>
              <a:t>(k)  +  </a:t>
            </a:r>
            <a:r>
              <a:rPr lang="en-US" sz="3000" dirty="0" smtClean="0">
                <a:solidFill>
                  <a:srgbClr val="008000"/>
                </a:solidFill>
                <a:latin typeface="Arial" pitchFamily="34" charset="0"/>
                <a:cs typeface="Arial" pitchFamily="34" charset="0"/>
              </a:rPr>
              <a:t>2H</a:t>
            </a:r>
            <a:r>
              <a:rPr lang="en-US" sz="3000" baseline="-25000" dirty="0" smtClean="0">
                <a:solidFill>
                  <a:srgbClr val="008000"/>
                </a:solidFill>
                <a:latin typeface="Arial" pitchFamily="34" charset="0"/>
                <a:cs typeface="Arial" pitchFamily="34" charset="0"/>
              </a:rPr>
              <a:t>2</a:t>
            </a:r>
            <a:r>
              <a:rPr lang="en-US" sz="3000" dirty="0" smtClean="0">
                <a:solidFill>
                  <a:srgbClr val="008000"/>
                </a:solidFill>
                <a:latin typeface="Arial" pitchFamily="34" charset="0"/>
                <a:cs typeface="Arial" pitchFamily="34" charset="0"/>
              </a:rPr>
              <a:t>O(k);  </a:t>
            </a:r>
            <a:r>
              <a:rPr lang="en-US" sz="3000" dirty="0">
                <a:solidFill>
                  <a:srgbClr val="008000"/>
                </a:solidFill>
                <a:latin typeface="Arial" pitchFamily="34" charset="0"/>
                <a:cs typeface="Arial" pitchFamily="34" charset="0"/>
              </a:rPr>
              <a:t>ở 25</a:t>
            </a:r>
            <a:r>
              <a:rPr lang="en-US" sz="3000" baseline="30000" dirty="0">
                <a:solidFill>
                  <a:srgbClr val="008000"/>
                </a:solidFill>
                <a:latin typeface="Arial" pitchFamily="34" charset="0"/>
                <a:cs typeface="Arial" pitchFamily="34" charset="0"/>
              </a:rPr>
              <a:t>0</a:t>
            </a:r>
            <a:r>
              <a:rPr lang="en-US" sz="3000" dirty="0">
                <a:solidFill>
                  <a:srgbClr val="008000"/>
                </a:solidFill>
                <a:latin typeface="Arial" pitchFamily="34" charset="0"/>
                <a:cs typeface="Arial" pitchFamily="34" charset="0"/>
              </a:rPr>
              <a:t>C</a:t>
            </a:r>
            <a:endParaRPr lang="en-US" sz="3000" dirty="0">
              <a:solidFill>
                <a:srgbClr val="008000"/>
              </a:solidFill>
              <a:latin typeface="Arial" pitchFamily="34" charset="0"/>
              <a:cs typeface="Arial" pitchFamily="34" charset="0"/>
              <a:sym typeface="Symbol" panose="05050102010706020507" pitchFamily="18" charset="2"/>
            </a:endParaRPr>
          </a:p>
          <a:p>
            <a:pPr marL="514350" indent="-514350">
              <a:lnSpc>
                <a:spcPct val="150000"/>
              </a:lnSpc>
              <a:buFont typeface="+mj-lt"/>
              <a:buAutoNum type="arabicPeriod"/>
            </a:pPr>
            <a:r>
              <a:rPr lang="en-US" sz="3000" dirty="0">
                <a:solidFill>
                  <a:schemeClr val="accent1">
                    <a:lumMod val="50000"/>
                  </a:schemeClr>
                </a:solidFill>
                <a:latin typeface="Arial" pitchFamily="34" charset="0"/>
                <a:cs typeface="Arial" pitchFamily="34" charset="0"/>
              </a:rPr>
              <a:t>C(gr)    </a:t>
            </a:r>
            <a:r>
              <a:rPr lang="en-US" sz="3000" dirty="0" smtClean="0">
                <a:solidFill>
                  <a:schemeClr val="accent1">
                    <a:lumMod val="50000"/>
                  </a:schemeClr>
                </a:solidFill>
                <a:latin typeface="Arial" pitchFamily="34" charset="0"/>
                <a:cs typeface="Arial" pitchFamily="34" charset="0"/>
              </a:rPr>
              <a:t> </a:t>
            </a:r>
            <a:r>
              <a:rPr lang="en-US" sz="3000" dirty="0">
                <a:solidFill>
                  <a:schemeClr val="accent1">
                    <a:lumMod val="50000"/>
                  </a:schemeClr>
                </a:solidFill>
                <a:latin typeface="Arial" pitchFamily="34" charset="0"/>
                <a:cs typeface="Arial" pitchFamily="34" charset="0"/>
              </a:rPr>
              <a:t>+    </a:t>
            </a:r>
            <a:r>
              <a:rPr lang="en-US" sz="3000" dirty="0" smtClean="0">
                <a:solidFill>
                  <a:schemeClr val="accent1">
                    <a:lumMod val="50000"/>
                  </a:schemeClr>
                </a:solidFill>
                <a:latin typeface="Arial" pitchFamily="34" charset="0"/>
                <a:cs typeface="Arial" pitchFamily="34" charset="0"/>
              </a:rPr>
              <a:t>O</a:t>
            </a:r>
            <a:r>
              <a:rPr lang="en-US" sz="3000" baseline="-25000" dirty="0" smtClean="0">
                <a:solidFill>
                  <a:schemeClr val="accent1">
                    <a:lumMod val="50000"/>
                  </a:schemeClr>
                </a:solidFill>
                <a:latin typeface="Arial" pitchFamily="34" charset="0"/>
                <a:cs typeface="Arial" pitchFamily="34" charset="0"/>
              </a:rPr>
              <a:t>2</a:t>
            </a:r>
            <a:r>
              <a:rPr lang="en-US" sz="3000" dirty="0" smtClean="0">
                <a:solidFill>
                  <a:schemeClr val="accent1">
                    <a:lumMod val="50000"/>
                  </a:schemeClr>
                </a:solidFill>
                <a:latin typeface="Arial" pitchFamily="34" charset="0"/>
                <a:cs typeface="Arial" pitchFamily="34" charset="0"/>
              </a:rPr>
              <a:t> </a:t>
            </a:r>
            <a:r>
              <a:rPr lang="en-US" sz="3000" dirty="0">
                <a:solidFill>
                  <a:schemeClr val="accent1">
                    <a:lumMod val="50000"/>
                  </a:schemeClr>
                </a:solidFill>
                <a:latin typeface="Arial" pitchFamily="34" charset="0"/>
                <a:cs typeface="Arial" pitchFamily="34" charset="0"/>
              </a:rPr>
              <a:t>(r)  </a:t>
            </a:r>
            <a:r>
              <a:rPr lang="en-US" sz="3000" dirty="0" smtClean="0">
                <a:solidFill>
                  <a:schemeClr val="accent1">
                    <a:lumMod val="50000"/>
                  </a:schemeClr>
                </a:solidFill>
                <a:latin typeface="Arial" pitchFamily="34" charset="0"/>
                <a:cs typeface="Arial" pitchFamily="34" charset="0"/>
              </a:rPr>
              <a:t> </a:t>
            </a:r>
            <a:r>
              <a:rPr lang="en-US" sz="3000" dirty="0">
                <a:solidFill>
                  <a:schemeClr val="accent1">
                    <a:lumMod val="50000"/>
                  </a:schemeClr>
                </a:solidFill>
                <a:latin typeface="Arial" pitchFamily="34" charset="0"/>
                <a:cs typeface="Arial" pitchFamily="34" charset="0"/>
              </a:rPr>
              <a:t>= </a:t>
            </a:r>
            <a:r>
              <a:rPr lang="en-US" sz="3000" dirty="0" smtClean="0">
                <a:solidFill>
                  <a:schemeClr val="accent1">
                    <a:lumMod val="50000"/>
                  </a:schemeClr>
                </a:solidFill>
                <a:latin typeface="Arial" pitchFamily="34" charset="0"/>
                <a:cs typeface="Arial" pitchFamily="34" charset="0"/>
              </a:rPr>
              <a:t> </a:t>
            </a:r>
            <a:r>
              <a:rPr lang="en-US" sz="3000" dirty="0">
                <a:solidFill>
                  <a:schemeClr val="accent1">
                    <a:lumMod val="50000"/>
                  </a:schemeClr>
                </a:solidFill>
                <a:latin typeface="Arial" pitchFamily="34" charset="0"/>
                <a:cs typeface="Arial" pitchFamily="34" charset="0"/>
              </a:rPr>
              <a:t>CO</a:t>
            </a:r>
            <a:r>
              <a:rPr lang="en-US" sz="3000" baseline="-25000" dirty="0">
                <a:solidFill>
                  <a:schemeClr val="accent1">
                    <a:lumMod val="50000"/>
                  </a:schemeClr>
                </a:solidFill>
                <a:latin typeface="Arial" pitchFamily="34" charset="0"/>
                <a:cs typeface="Arial" pitchFamily="34" charset="0"/>
              </a:rPr>
              <a:t>2</a:t>
            </a:r>
            <a:r>
              <a:rPr lang="en-US" sz="3000" dirty="0">
                <a:solidFill>
                  <a:schemeClr val="accent1">
                    <a:lumMod val="50000"/>
                  </a:schemeClr>
                </a:solidFill>
                <a:latin typeface="Arial" pitchFamily="34" charset="0"/>
                <a:cs typeface="Arial" pitchFamily="34" charset="0"/>
              </a:rPr>
              <a:t>(r </a:t>
            </a:r>
            <a:r>
              <a:rPr lang="en-US" sz="3000" dirty="0" smtClean="0">
                <a:solidFill>
                  <a:schemeClr val="accent1">
                    <a:lumMod val="50000"/>
                  </a:schemeClr>
                </a:solidFill>
                <a:latin typeface="Arial" pitchFamily="34" charset="0"/>
                <a:cs typeface="Arial" pitchFamily="34" charset="0"/>
              </a:rPr>
              <a:t>);  </a:t>
            </a:r>
            <a:r>
              <a:rPr lang="en-US" sz="3000" dirty="0">
                <a:solidFill>
                  <a:schemeClr val="accent1">
                    <a:lumMod val="50000"/>
                  </a:schemeClr>
                </a:solidFill>
                <a:latin typeface="Arial" pitchFamily="34" charset="0"/>
                <a:cs typeface="Arial" pitchFamily="34" charset="0"/>
              </a:rPr>
              <a:t>ở </a:t>
            </a:r>
            <a:r>
              <a:rPr lang="en-US" sz="3000" dirty="0" smtClean="0">
                <a:solidFill>
                  <a:schemeClr val="accent1">
                    <a:lumMod val="50000"/>
                  </a:schemeClr>
                </a:solidFill>
                <a:latin typeface="Arial" pitchFamily="34" charset="0"/>
                <a:cs typeface="Arial" pitchFamily="34" charset="0"/>
              </a:rPr>
              <a:t>0</a:t>
            </a:r>
            <a:r>
              <a:rPr lang="vi-VN" sz="3000" dirty="0" smtClean="0">
                <a:solidFill>
                  <a:schemeClr val="accent1">
                    <a:lumMod val="50000"/>
                  </a:schemeClr>
                </a:solidFill>
                <a:latin typeface="Arial" pitchFamily="34" charset="0"/>
                <a:cs typeface="Arial" pitchFamily="34" charset="0"/>
              </a:rPr>
              <a:t> </a:t>
            </a:r>
            <a:r>
              <a:rPr lang="en-US" sz="3000" dirty="0" smtClean="0">
                <a:solidFill>
                  <a:schemeClr val="accent1">
                    <a:lumMod val="50000"/>
                  </a:schemeClr>
                </a:solidFill>
                <a:latin typeface="Arial" pitchFamily="34" charset="0"/>
                <a:cs typeface="Arial" pitchFamily="34" charset="0"/>
              </a:rPr>
              <a:t>K</a:t>
            </a:r>
            <a:endParaRPr lang="en-US" sz="3000" dirty="0">
              <a:solidFill>
                <a:schemeClr val="accent1">
                  <a:lumMod val="50000"/>
                </a:schemeClr>
              </a:solidFill>
              <a:latin typeface="Arial" pitchFamily="34" charset="0"/>
              <a:cs typeface="Arial" pitchFamily="34" charset="0"/>
              <a:sym typeface="Symbol" panose="05050102010706020507" pitchFamily="18" charset="2"/>
            </a:endParaRPr>
          </a:p>
          <a:p>
            <a:pPr marL="514350" indent="-514350">
              <a:buFont typeface="+mj-lt"/>
              <a:buAutoNum type="arabicPeriod"/>
            </a:pPr>
            <a:endParaRPr lang="en-US" sz="3000" dirty="0">
              <a:latin typeface="Times New Roman" panose="02020603050405020304" pitchFamily="18" charset="0"/>
              <a:cs typeface="Times New Roman" panose="02020603050405020304" pitchFamily="18" charset="0"/>
              <a:sym typeface="Symbol" panose="05050102010706020507" pitchFamily="18" charset="2"/>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 name="TextBox 1"/>
          <p:cNvSpPr txBox="1"/>
          <p:nvPr/>
        </p:nvSpPr>
        <p:spPr>
          <a:xfrm>
            <a:off x="122985" y="5320498"/>
            <a:ext cx="11736279" cy="1231106"/>
          </a:xfrm>
          <a:prstGeom prst="rect">
            <a:avLst/>
          </a:prstGeom>
          <a:noFill/>
        </p:spPr>
        <p:txBody>
          <a:bodyPr wrap="square" rtlCol="0">
            <a:spAutoFit/>
          </a:bodyPr>
          <a:lstStyle/>
          <a:p>
            <a:r>
              <a:rPr lang="en-US" altLang="en-US" sz="2800" dirty="0" err="1">
                <a:solidFill>
                  <a:srgbClr val="990000"/>
                </a:solidFill>
                <a:latin typeface="Arial" panose="020B0604020202020204" pitchFamily="34" charset="0"/>
              </a:rPr>
              <a:t>Biến</a:t>
            </a:r>
            <a:r>
              <a:rPr lang="en-US" altLang="en-US" sz="2800" dirty="0">
                <a:solidFill>
                  <a:srgbClr val="990000"/>
                </a:solidFill>
                <a:latin typeface="Arial" panose="020B0604020202020204" pitchFamily="34" charset="0"/>
              </a:rPr>
              <a:t> </a:t>
            </a:r>
            <a:r>
              <a:rPr lang="en-US" altLang="en-US" sz="2800" dirty="0" err="1">
                <a:solidFill>
                  <a:srgbClr val="990000"/>
                </a:solidFill>
                <a:latin typeface="Arial" panose="020B0604020202020204" pitchFamily="34" charset="0"/>
              </a:rPr>
              <a:t>thiên</a:t>
            </a:r>
            <a:r>
              <a:rPr lang="en-US" altLang="en-US" sz="2800" dirty="0">
                <a:solidFill>
                  <a:srgbClr val="990000"/>
                </a:solidFill>
                <a:latin typeface="Arial" panose="020B0604020202020204" pitchFamily="34" charset="0"/>
              </a:rPr>
              <a:t> </a:t>
            </a:r>
            <a:r>
              <a:rPr lang="vi-VN" altLang="en-US" sz="2800" dirty="0">
                <a:solidFill>
                  <a:srgbClr val="990000"/>
                </a:solidFill>
                <a:latin typeface="Arial" panose="020B0604020202020204" pitchFamily="34" charset="0"/>
              </a:rPr>
              <a:t>e</a:t>
            </a:r>
            <a:r>
              <a:rPr lang="en-US" altLang="en-US" sz="2800" dirty="0" err="1">
                <a:solidFill>
                  <a:srgbClr val="990000"/>
                </a:solidFill>
                <a:latin typeface="Arial" panose="020B0604020202020204" pitchFamily="34" charset="0"/>
              </a:rPr>
              <a:t>ntropy</a:t>
            </a:r>
            <a:r>
              <a:rPr lang="en-US" altLang="en-US" sz="2800" dirty="0">
                <a:solidFill>
                  <a:srgbClr val="990000"/>
                </a:solidFill>
                <a:latin typeface="Arial" panose="020B0604020202020204" pitchFamily="34" charset="0"/>
              </a:rPr>
              <a:t> (</a:t>
            </a:r>
            <a:r>
              <a:rPr lang="en-US" altLang="en-US" sz="2800" dirty="0">
                <a:solidFill>
                  <a:srgbClr val="990000"/>
                </a:solidFill>
                <a:latin typeface="Arial" panose="020B0604020202020204" pitchFamily="34" charset="0"/>
                <a:sym typeface="Symbol" panose="05050102010706020507" pitchFamily="18" charset="2"/>
              </a:rPr>
              <a:t>S</a:t>
            </a:r>
            <a:r>
              <a:rPr lang="en-US" altLang="en-US" sz="2800" baseline="-25000" dirty="0">
                <a:solidFill>
                  <a:srgbClr val="990000"/>
                </a:solidFill>
                <a:latin typeface="Arial" panose="020B0604020202020204" pitchFamily="34" charset="0"/>
                <a:sym typeface="Symbol" panose="05050102010706020507" pitchFamily="18" charset="2"/>
              </a:rPr>
              <a:t>0</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trong</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các</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quá</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trình</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biến</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đổi</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các</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chất</a:t>
            </a:r>
            <a:r>
              <a:rPr lang="en-US" altLang="en-US" sz="2800" dirty="0">
                <a:solidFill>
                  <a:srgbClr val="990000"/>
                </a:solidFill>
                <a:latin typeface="Arial" panose="020B0604020202020204" pitchFamily="34" charset="0"/>
                <a:sym typeface="Symbol" panose="05050102010706020507" pitchFamily="18" charset="2"/>
              </a:rPr>
              <a:t> ở </a:t>
            </a:r>
            <a:r>
              <a:rPr lang="en-US" altLang="en-US" sz="2800" dirty="0" err="1">
                <a:solidFill>
                  <a:srgbClr val="990000"/>
                </a:solidFill>
                <a:latin typeface="Arial" panose="020B0604020202020204" pitchFamily="34" charset="0"/>
                <a:sym typeface="Symbol" panose="05050102010706020507" pitchFamily="18" charset="2"/>
              </a:rPr>
              <a:t>dạng</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b="1" u="sng" dirty="0" err="1">
                <a:solidFill>
                  <a:srgbClr val="990000"/>
                </a:solidFill>
                <a:latin typeface="Arial" panose="020B0604020202020204" pitchFamily="34" charset="0"/>
                <a:sym typeface="Symbol" panose="05050102010706020507" pitchFamily="18" charset="2"/>
              </a:rPr>
              <a:t>tinh</a:t>
            </a:r>
            <a:r>
              <a:rPr lang="en-US" altLang="en-US" sz="2800" b="1" u="sng" dirty="0">
                <a:solidFill>
                  <a:srgbClr val="990000"/>
                </a:solidFill>
                <a:latin typeface="Arial" panose="020B0604020202020204" pitchFamily="34" charset="0"/>
                <a:sym typeface="Symbol" panose="05050102010706020507" pitchFamily="18" charset="2"/>
              </a:rPr>
              <a:t> </a:t>
            </a:r>
            <a:r>
              <a:rPr lang="en-US" altLang="en-US" sz="2800" b="1" u="sng" dirty="0" err="1">
                <a:solidFill>
                  <a:srgbClr val="990000"/>
                </a:solidFill>
                <a:latin typeface="Arial" panose="020B0604020202020204" pitchFamily="34" charset="0"/>
                <a:sym typeface="Symbol" panose="05050102010706020507" pitchFamily="18" charset="2"/>
              </a:rPr>
              <a:t>thể</a:t>
            </a:r>
            <a:r>
              <a:rPr lang="en-US" altLang="en-US" sz="2800" b="1" u="sng" dirty="0">
                <a:solidFill>
                  <a:srgbClr val="990000"/>
                </a:solidFill>
                <a:latin typeface="Arial" panose="020B0604020202020204" pitchFamily="34" charset="0"/>
                <a:sym typeface="Symbol" panose="05050102010706020507" pitchFamily="18" charset="2"/>
              </a:rPr>
              <a:t> </a:t>
            </a:r>
            <a:r>
              <a:rPr lang="en-US" altLang="en-US" sz="2800" b="1" u="sng" dirty="0" err="1">
                <a:solidFill>
                  <a:srgbClr val="990000"/>
                </a:solidFill>
                <a:latin typeface="Arial" panose="020B0604020202020204" pitchFamily="34" charset="0"/>
                <a:sym typeface="Symbol" panose="05050102010706020507" pitchFamily="18" charset="2"/>
              </a:rPr>
              <a:t>hoàn</a:t>
            </a:r>
            <a:r>
              <a:rPr lang="en-US" altLang="en-US" sz="2800" b="1" u="sng" dirty="0">
                <a:solidFill>
                  <a:srgbClr val="990000"/>
                </a:solidFill>
                <a:latin typeface="Arial" panose="020B0604020202020204" pitchFamily="34" charset="0"/>
                <a:sym typeface="Symbol" panose="05050102010706020507" pitchFamily="18" charset="2"/>
              </a:rPr>
              <a:t> </a:t>
            </a:r>
            <a:r>
              <a:rPr lang="en-US" altLang="en-US" sz="2800" b="1" u="sng" dirty="0" err="1">
                <a:solidFill>
                  <a:srgbClr val="990000"/>
                </a:solidFill>
                <a:latin typeface="Arial" panose="020B0604020202020204" pitchFamily="34" charset="0"/>
                <a:sym typeface="Symbol" panose="05050102010706020507" pitchFamily="18" charset="2"/>
              </a:rPr>
              <a:t>hảo</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đều</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bằng</a:t>
            </a:r>
            <a:r>
              <a:rPr lang="en-US" altLang="en-US" sz="2800" dirty="0">
                <a:solidFill>
                  <a:srgbClr val="990000"/>
                </a:solidFill>
                <a:latin typeface="Arial" panose="020B0604020202020204" pitchFamily="34" charset="0"/>
                <a:sym typeface="Symbol" panose="05050102010706020507" pitchFamily="18" charset="2"/>
              </a:rPr>
              <a:t> </a:t>
            </a:r>
            <a:r>
              <a:rPr lang="en-US" altLang="en-US" sz="2800" dirty="0" err="1">
                <a:solidFill>
                  <a:srgbClr val="990000"/>
                </a:solidFill>
                <a:latin typeface="Arial" panose="020B0604020202020204" pitchFamily="34" charset="0"/>
                <a:sym typeface="Symbol" panose="05050102010706020507" pitchFamily="18" charset="2"/>
              </a:rPr>
              <a:t>không</a:t>
            </a:r>
            <a:r>
              <a:rPr lang="en-US" altLang="en-US" sz="2800" dirty="0">
                <a:solidFill>
                  <a:srgbClr val="990000"/>
                </a:solidFill>
                <a:latin typeface="Arial" panose="020B0604020202020204" pitchFamily="34" charset="0"/>
                <a:sym typeface="Symbol" panose="05050102010706020507" pitchFamily="18" charset="2"/>
              </a:rPr>
              <a:t> ở </a:t>
            </a:r>
            <a:r>
              <a:rPr lang="en-US" altLang="en-US" sz="2800" b="1" dirty="0" smtClean="0">
                <a:solidFill>
                  <a:srgbClr val="990000"/>
                </a:solidFill>
                <a:latin typeface="Arial" panose="020B0604020202020204" pitchFamily="34" charset="0"/>
                <a:sym typeface="Symbol" panose="05050102010706020507" pitchFamily="18" charset="2"/>
              </a:rPr>
              <a:t>0</a:t>
            </a:r>
            <a:r>
              <a:rPr lang="vi-VN" altLang="en-US" sz="2800" b="1" dirty="0" smtClean="0">
                <a:solidFill>
                  <a:srgbClr val="990000"/>
                </a:solidFill>
                <a:latin typeface="Arial" panose="020B0604020202020204" pitchFamily="34" charset="0"/>
                <a:sym typeface="Symbol" panose="05050102010706020507" pitchFamily="18" charset="2"/>
              </a:rPr>
              <a:t> </a:t>
            </a:r>
            <a:r>
              <a:rPr lang="en-US" altLang="en-US" sz="2800" b="1" dirty="0" smtClean="0">
                <a:solidFill>
                  <a:srgbClr val="990000"/>
                </a:solidFill>
                <a:latin typeface="Arial" panose="020B0604020202020204" pitchFamily="34" charset="0"/>
                <a:sym typeface="Symbol" panose="05050102010706020507" pitchFamily="18" charset="2"/>
              </a:rPr>
              <a:t>K</a:t>
            </a:r>
            <a:r>
              <a:rPr lang="en-US" altLang="en-US" sz="2800" dirty="0">
                <a:solidFill>
                  <a:srgbClr val="990000"/>
                </a:solidFill>
                <a:latin typeface="Arial" panose="020B0604020202020204" pitchFamily="34" charset="0"/>
                <a:sym typeface="Symbol" panose="05050102010706020507" pitchFamily="18" charset="2"/>
              </a:rPr>
              <a:t>.</a:t>
            </a:r>
          </a:p>
          <a:p>
            <a:endParaRPr lang="en-US" dirty="0"/>
          </a:p>
        </p:txBody>
      </p:sp>
      <p:sp>
        <p:nvSpPr>
          <p:cNvPr id="6" name="TextBox 5"/>
          <p:cNvSpPr txBox="1"/>
          <p:nvPr/>
        </p:nvSpPr>
        <p:spPr>
          <a:xfrm>
            <a:off x="6596109" y="3126615"/>
            <a:ext cx="5595891" cy="523220"/>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a:t>
            </a: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H &lt; 0; S &lt; 0; </a:t>
            </a:r>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a:t>
            </a: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V &gt; 0 (</a:t>
            </a:r>
            <a:r>
              <a:rPr lang="en-US" sz="2800" b="1" dirty="0" err="1"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lk</a:t>
            </a: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 hydro)</a:t>
            </a:r>
            <a:endParaRPr lang="en-US" sz="2800" b="1" dirty="0">
              <a:solidFill>
                <a:srgbClr val="FF0000"/>
              </a:solidFill>
              <a:effectLst>
                <a:outerShdw blurRad="38100" dist="38100" dir="2700000" algn="tl">
                  <a:srgbClr val="000000">
                    <a:alpha val="43137"/>
                  </a:srgbClr>
                </a:outerShdw>
              </a:effectLst>
            </a:endParaRPr>
          </a:p>
        </p:txBody>
      </p:sp>
      <p:sp>
        <p:nvSpPr>
          <p:cNvPr id="7" name="TextBox 6"/>
          <p:cNvSpPr txBox="1"/>
          <p:nvPr/>
        </p:nvSpPr>
        <p:spPr>
          <a:xfrm>
            <a:off x="1580226" y="1406567"/>
            <a:ext cx="10744940" cy="954107"/>
          </a:xfrm>
          <a:prstGeom prst="rect">
            <a:avLst/>
          </a:prstGeom>
          <a:noFill/>
        </p:spPr>
        <p:txBody>
          <a:bodyPr wrap="square" rtlCol="0">
            <a:spAutoFit/>
          </a:bodyPr>
          <a:lstStyle/>
          <a:p>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     H = 0; S &gt; 0</a:t>
            </a:r>
          </a:p>
          <a:p>
            <a:r>
              <a:rPr lang="en-US" sz="2800" dirty="0" smtClean="0">
                <a:latin typeface="Arial" pitchFamily="34" charset="0"/>
                <a:cs typeface="Arial" pitchFamily="34" charset="0"/>
                <a:sym typeface="Symbol"/>
              </a:rPr>
              <a:t></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hệ</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cô</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lập</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quá</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trình</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diễn</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ra</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theo</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chiều</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hướng</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làm</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tăng</a:t>
            </a:r>
            <a:r>
              <a:rPr lang="en-US" sz="2800" dirty="0" smtClean="0">
                <a:latin typeface="Arial" pitchFamily="34" charset="0"/>
                <a:cs typeface="Arial" pitchFamily="34" charset="0"/>
                <a:sym typeface="Symbol" panose="05050102010706020507" pitchFamily="18" charset="2"/>
              </a:rPr>
              <a:t> </a:t>
            </a:r>
            <a:r>
              <a:rPr lang="en-US" sz="2800" dirty="0" err="1" smtClean="0">
                <a:latin typeface="Arial" pitchFamily="34" charset="0"/>
                <a:cs typeface="Arial" pitchFamily="34" charset="0"/>
                <a:sym typeface="Symbol" panose="05050102010706020507" pitchFamily="18" charset="2"/>
              </a:rPr>
              <a:t>entropi</a:t>
            </a:r>
            <a:r>
              <a:rPr lang="en-US" sz="2800" dirty="0" smtClean="0">
                <a:latin typeface="Arial" pitchFamily="34" charset="0"/>
                <a:cs typeface="Arial" pitchFamily="34" charset="0"/>
                <a:sym typeface="Symbol" panose="05050102010706020507" pitchFamily="18" charset="2"/>
              </a:rPr>
              <a:t>.</a:t>
            </a:r>
            <a:endParaRPr lang="en-US" sz="2800" dirty="0"/>
          </a:p>
        </p:txBody>
      </p:sp>
      <p:sp>
        <p:nvSpPr>
          <p:cNvPr id="5" name="TextBox 4"/>
          <p:cNvSpPr txBox="1"/>
          <p:nvPr/>
        </p:nvSpPr>
        <p:spPr>
          <a:xfrm>
            <a:off x="9587883" y="2369552"/>
            <a:ext cx="1331651" cy="523220"/>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S &gt; 0</a:t>
            </a:r>
            <a:endParaRPr lang="en-US" sz="2800" dirty="0">
              <a:latin typeface="Arial" pitchFamily="34" charset="0"/>
              <a:cs typeface="Arial" pitchFamily="34" charset="0"/>
            </a:endParaRPr>
          </a:p>
        </p:txBody>
      </p:sp>
      <p:sp>
        <p:nvSpPr>
          <p:cNvPr id="9" name="TextBox 8"/>
          <p:cNvSpPr txBox="1"/>
          <p:nvPr/>
        </p:nvSpPr>
        <p:spPr>
          <a:xfrm>
            <a:off x="9901736" y="3813920"/>
            <a:ext cx="1305019" cy="523220"/>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S  </a:t>
            </a: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0</a:t>
            </a:r>
            <a:endParaRPr lang="en-US" sz="2800" dirty="0">
              <a:latin typeface="Arial" pitchFamily="34" charset="0"/>
              <a:cs typeface="Arial" pitchFamily="34" charset="0"/>
            </a:endParaRPr>
          </a:p>
        </p:txBody>
      </p:sp>
      <p:sp>
        <p:nvSpPr>
          <p:cNvPr id="10" name="TextBox 9"/>
          <p:cNvSpPr txBox="1"/>
          <p:nvPr/>
        </p:nvSpPr>
        <p:spPr>
          <a:xfrm>
            <a:off x="7075499" y="4639172"/>
            <a:ext cx="1305019" cy="523220"/>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S </a:t>
            </a:r>
            <a:r>
              <a:rPr lang="en-US" sz="28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panose="05050102010706020507" pitchFamily="18" charset="2"/>
              </a:rPr>
              <a:t>= 0</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278544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p:bldP spid="6" grpId="0"/>
      <p:bldP spid="7" grpId="0"/>
      <p:bldP spid="5"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04A08B-F80B-404B-9685-4FABB440EB0D}"/>
              </a:ext>
            </a:extLst>
          </p:cNvPr>
          <p:cNvSpPr>
            <a:spLocks noGrp="1"/>
          </p:cNvSpPr>
          <p:nvPr>
            <p:ph type="title"/>
          </p:nvPr>
        </p:nvSpPr>
        <p:spPr>
          <a:xfrm>
            <a:off x="7027311" y="725089"/>
            <a:ext cx="4808668" cy="1325563"/>
          </a:xfrm>
        </p:spPr>
        <p:txBody>
          <a:bodyPr>
            <a:normAutofit/>
          </a:bodyPr>
          <a:lstStyle/>
          <a:p>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ĐÁP ÁN: TẤT CẢ</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12C5C7C2-8597-4963-888A-DF874C7C3B61}"/>
                  </a:ext>
                </a:extLst>
              </p:cNvPr>
              <p:cNvSpPr>
                <a:spLocks noGrp="1"/>
              </p:cNvSpPr>
              <p:nvPr>
                <p:ph idx="1"/>
              </p:nvPr>
            </p:nvSpPr>
            <p:spPr>
              <a:xfrm>
                <a:off x="141742" y="66888"/>
                <a:ext cx="11948719" cy="6858000"/>
              </a:xfrm>
            </p:spPr>
            <p:txBody>
              <a:bodyPr>
                <a:normAutofit fontScale="77500" lnSpcReduction="20000"/>
              </a:bodyPr>
              <a:lstStyle/>
              <a:p>
                <a:pPr marL="0" indent="0">
                  <a:lnSpc>
                    <a:spcPct val="150000"/>
                  </a:lnSpc>
                  <a:buNone/>
                </a:pPr>
                <a:r>
                  <a:rPr lang="en-US" sz="3800" b="1" dirty="0" err="1" smtClean="0">
                    <a:latin typeface="Arial" pitchFamily="34" charset="0"/>
                    <a:cs typeface="Arial" pitchFamily="34" charset="0"/>
                  </a:rPr>
                  <a:t>Câu</a:t>
                </a:r>
                <a:r>
                  <a:rPr lang="en-US" sz="3800" b="1" dirty="0" smtClean="0">
                    <a:latin typeface="Arial" pitchFamily="34" charset="0"/>
                    <a:cs typeface="Arial" pitchFamily="34" charset="0"/>
                  </a:rPr>
                  <a:t> </a:t>
                </a:r>
                <a:r>
                  <a:rPr lang="vi-VN" sz="3800" b="1" dirty="0" smtClean="0">
                    <a:latin typeface="Arial" pitchFamily="34" charset="0"/>
                    <a:cs typeface="Arial" pitchFamily="34" charset="0"/>
                  </a:rPr>
                  <a:t>7</a:t>
                </a:r>
                <a:r>
                  <a:rPr lang="vi-VN" sz="3800" dirty="0" smtClean="0">
                    <a:latin typeface="Arial" pitchFamily="34" charset="0"/>
                    <a:cs typeface="Arial" pitchFamily="34" charset="0"/>
                  </a:rPr>
                  <a:t>.</a:t>
                </a:r>
                <a:r>
                  <a:rPr lang="en-US" sz="3800" dirty="0" smtClean="0">
                    <a:latin typeface="Arial" pitchFamily="34" charset="0"/>
                    <a:cs typeface="Arial" pitchFamily="34" charset="0"/>
                  </a:rPr>
                  <a:t> </a:t>
                </a:r>
                <a:r>
                  <a:rPr lang="vi-VN" sz="3800" dirty="0">
                    <a:latin typeface="Arial" pitchFamily="34" charset="0"/>
                    <a:cs typeface="Arial" pitchFamily="34" charset="0"/>
                  </a:rPr>
                  <a:t>P</a:t>
                </a:r>
                <a:r>
                  <a:rPr lang="en-US" sz="3800" dirty="0" err="1">
                    <a:latin typeface="Arial" pitchFamily="34" charset="0"/>
                    <a:cs typeface="Arial" pitchFamily="34" charset="0"/>
                  </a:rPr>
                  <a:t>hản</a:t>
                </a:r>
                <a:r>
                  <a:rPr lang="en-US" sz="3800" dirty="0">
                    <a:latin typeface="Arial" pitchFamily="34" charset="0"/>
                    <a:cs typeface="Arial" pitchFamily="34" charset="0"/>
                  </a:rPr>
                  <a:t> </a:t>
                </a:r>
                <a:r>
                  <a:rPr lang="en-US" sz="3800" dirty="0" err="1">
                    <a:latin typeface="Arial" pitchFamily="34" charset="0"/>
                    <a:cs typeface="Arial" pitchFamily="34" charset="0"/>
                  </a:rPr>
                  <a:t>ứng</a:t>
                </a:r>
                <a:r>
                  <a:rPr lang="en-US" sz="3800" dirty="0">
                    <a:latin typeface="Arial" pitchFamily="34" charset="0"/>
                    <a:cs typeface="Arial" pitchFamily="34" charset="0"/>
                  </a:rPr>
                  <a:t> </a:t>
                </a:r>
                <a:r>
                  <a:rPr lang="en-US" sz="3800" dirty="0" err="1">
                    <a:latin typeface="Arial" pitchFamily="34" charset="0"/>
                    <a:cs typeface="Arial" pitchFamily="34" charset="0"/>
                  </a:rPr>
                  <a:t>nào</a:t>
                </a:r>
                <a:r>
                  <a:rPr lang="en-US" sz="3800" dirty="0">
                    <a:latin typeface="Arial" pitchFamily="34" charset="0"/>
                    <a:cs typeface="Arial" pitchFamily="34" charset="0"/>
                  </a:rPr>
                  <a:t> </a:t>
                </a:r>
                <a:r>
                  <a:rPr lang="en-US" sz="3800" dirty="0" err="1">
                    <a:latin typeface="Arial" pitchFamily="34" charset="0"/>
                    <a:cs typeface="Arial" pitchFamily="34" charset="0"/>
                  </a:rPr>
                  <a:t>được</a:t>
                </a:r>
                <a:r>
                  <a:rPr lang="en-US" sz="3800" dirty="0">
                    <a:latin typeface="Arial" pitchFamily="34" charset="0"/>
                    <a:cs typeface="Arial" pitchFamily="34" charset="0"/>
                  </a:rPr>
                  <a:t> </a:t>
                </a:r>
                <a:r>
                  <a:rPr lang="en-US" sz="3800" dirty="0" err="1">
                    <a:latin typeface="Arial" pitchFamily="34" charset="0"/>
                    <a:cs typeface="Arial" pitchFamily="34" charset="0"/>
                  </a:rPr>
                  <a:t>xem</a:t>
                </a:r>
                <a:r>
                  <a:rPr lang="en-US" sz="3800" dirty="0">
                    <a:latin typeface="Arial" pitchFamily="34" charset="0"/>
                    <a:cs typeface="Arial" pitchFamily="34" charset="0"/>
                  </a:rPr>
                  <a:t> </a:t>
                </a:r>
                <a:r>
                  <a:rPr lang="en-US" sz="3800" dirty="0" err="1">
                    <a:latin typeface="Arial" pitchFamily="34" charset="0"/>
                    <a:cs typeface="Arial" pitchFamily="34" charset="0"/>
                  </a:rPr>
                  <a:t>là</a:t>
                </a:r>
                <a:r>
                  <a:rPr lang="en-US" sz="3800" dirty="0">
                    <a:latin typeface="Arial" pitchFamily="34" charset="0"/>
                    <a:cs typeface="Arial" pitchFamily="34" charset="0"/>
                  </a:rPr>
                  <a:t> </a:t>
                </a:r>
                <a:r>
                  <a:rPr lang="en-US" sz="3800" dirty="0" err="1">
                    <a:latin typeface="Arial" pitchFamily="34" charset="0"/>
                    <a:cs typeface="Arial" pitchFamily="34" charset="0"/>
                  </a:rPr>
                  <a:t>phản</a:t>
                </a:r>
                <a:r>
                  <a:rPr lang="en-US" sz="3800" dirty="0">
                    <a:latin typeface="Arial" pitchFamily="34" charset="0"/>
                    <a:cs typeface="Arial" pitchFamily="34" charset="0"/>
                  </a:rPr>
                  <a:t> </a:t>
                </a:r>
                <a:r>
                  <a:rPr lang="en-US" sz="3800" dirty="0" err="1">
                    <a:latin typeface="Arial" pitchFamily="34" charset="0"/>
                    <a:cs typeface="Arial" pitchFamily="34" charset="0"/>
                  </a:rPr>
                  <a:t>ứng</a:t>
                </a:r>
                <a:r>
                  <a:rPr lang="en-US" sz="3800" dirty="0">
                    <a:latin typeface="Arial" pitchFamily="34" charset="0"/>
                    <a:cs typeface="Arial" pitchFamily="34" charset="0"/>
                  </a:rPr>
                  <a:t> </a:t>
                </a:r>
                <a:r>
                  <a:rPr lang="en-US" sz="3800" dirty="0" err="1">
                    <a:latin typeface="Arial" pitchFamily="34" charset="0"/>
                    <a:cs typeface="Arial" pitchFamily="34" charset="0"/>
                  </a:rPr>
                  <a:t>tạo</a:t>
                </a:r>
                <a:r>
                  <a:rPr lang="en-US" sz="3800" dirty="0">
                    <a:latin typeface="Arial" pitchFamily="34" charset="0"/>
                    <a:cs typeface="Arial" pitchFamily="34" charset="0"/>
                  </a:rPr>
                  <a:t> </a:t>
                </a:r>
                <a:r>
                  <a:rPr lang="en-US" sz="3800" dirty="0" err="1" smtClean="0">
                    <a:latin typeface="Arial" pitchFamily="34" charset="0"/>
                    <a:cs typeface="Arial" pitchFamily="34" charset="0"/>
                  </a:rPr>
                  <a:t>thành</a:t>
                </a:r>
                <a:r>
                  <a:rPr lang="en-US" sz="3800" dirty="0" smtClean="0">
                    <a:latin typeface="Arial" pitchFamily="34" charset="0"/>
                    <a:cs typeface="Arial" pitchFamily="34" charset="0"/>
                  </a:rPr>
                  <a:t> ở </a:t>
                </a:r>
                <a:r>
                  <a:rPr lang="vi-VN" sz="3800" dirty="0" smtClean="0">
                    <a:solidFill>
                      <a:schemeClr val="accent4">
                        <a:lumMod val="50000"/>
                      </a:schemeClr>
                    </a:solidFill>
                    <a:latin typeface="Arial" pitchFamily="34" charset="0"/>
                    <a:cs typeface="Arial" pitchFamily="34" charset="0"/>
                  </a:rPr>
                  <a:t>25</a:t>
                </a:r>
                <a:r>
                  <a:rPr lang="vi-VN" sz="3800" baseline="30000" dirty="0" smtClean="0">
                    <a:solidFill>
                      <a:schemeClr val="accent4">
                        <a:lumMod val="50000"/>
                      </a:schemeClr>
                    </a:solidFill>
                    <a:latin typeface="Arial" pitchFamily="34" charset="0"/>
                    <a:cs typeface="Arial" pitchFamily="34" charset="0"/>
                  </a:rPr>
                  <a:t>0</a:t>
                </a:r>
                <a:r>
                  <a:rPr lang="vi-VN" sz="3800" dirty="0" smtClean="0">
                    <a:solidFill>
                      <a:schemeClr val="accent4">
                        <a:lumMod val="50000"/>
                      </a:schemeClr>
                    </a:solidFill>
                    <a:latin typeface="Arial" pitchFamily="34" charset="0"/>
                    <a:cs typeface="Arial" pitchFamily="34" charset="0"/>
                  </a:rPr>
                  <a:t>C</a:t>
                </a:r>
                <a:r>
                  <a:rPr lang="en-US" sz="3800" dirty="0" smtClean="0">
                    <a:solidFill>
                      <a:schemeClr val="accent4">
                        <a:lumMod val="50000"/>
                      </a:schemeClr>
                    </a:solidFill>
                    <a:latin typeface="Arial" pitchFamily="34" charset="0"/>
                    <a:cs typeface="Arial" pitchFamily="34" charset="0"/>
                  </a:rPr>
                  <a:t> </a:t>
                </a:r>
                <a:r>
                  <a:rPr lang="vi-VN" sz="3800" dirty="0" smtClean="0">
                    <a:latin typeface="Arial" pitchFamily="34" charset="0"/>
                    <a:cs typeface="Arial" pitchFamily="34" charset="0"/>
                  </a:rPr>
                  <a:t>:</a:t>
                </a:r>
                <a:endParaRPr lang="en-US" sz="3800" dirty="0">
                  <a:latin typeface="Arial" pitchFamily="34" charset="0"/>
                  <a:cs typeface="Arial" pitchFamily="34" charset="0"/>
                </a:endParaRPr>
              </a:p>
              <a:p>
                <a:pPr marL="0" indent="0">
                  <a:lnSpc>
                    <a:spcPct val="150000"/>
                  </a:lnSpc>
                  <a:buNone/>
                </a:pPr>
                <a:r>
                  <a:rPr lang="en-US" sz="3800" dirty="0">
                    <a:solidFill>
                      <a:srgbClr val="0000FF"/>
                    </a:solidFill>
                    <a:latin typeface="Arial" pitchFamily="34" charset="0"/>
                    <a:cs typeface="Arial" pitchFamily="34" charset="0"/>
                  </a:rPr>
                  <a:t>1.</a:t>
                </a:r>
                <a:r>
                  <a:rPr lang="vi-VN" sz="3800" dirty="0">
                    <a:solidFill>
                      <a:srgbClr val="0000FF"/>
                    </a:solidFill>
                    <a:latin typeface="Arial" pitchFamily="34" charset="0"/>
                    <a:cs typeface="Arial" pitchFamily="34" charset="0"/>
                  </a:rPr>
                  <a:t>   </a:t>
                </a:r>
                <a:r>
                  <a:rPr lang="en-US" sz="3800" dirty="0">
                    <a:latin typeface="Arial" pitchFamily="34" charset="0"/>
                    <a:cs typeface="Arial" pitchFamily="34" charset="0"/>
                  </a:rPr>
                  <a:t> </a:t>
                </a:r>
                <a14:m>
                  <m:oMath xmlns:m="http://schemas.openxmlformats.org/officeDocument/2006/math">
                    <m:f>
                      <m:fPr>
                        <m:ctrlPr>
                          <a:rPr lang="en-US" sz="3800" i="1" smtClean="0">
                            <a:solidFill>
                              <a:srgbClr val="0000FF"/>
                            </a:solidFill>
                            <a:latin typeface="Cambria Math"/>
                            <a:cs typeface="Arial" pitchFamily="34" charset="0"/>
                          </a:rPr>
                        </m:ctrlPr>
                      </m:fPr>
                      <m:num>
                        <m:r>
                          <a:rPr lang="en-US" sz="3800" b="0" i="1" smtClean="0">
                            <a:solidFill>
                              <a:srgbClr val="0000FF"/>
                            </a:solidFill>
                            <a:latin typeface="Cambria Math"/>
                            <a:cs typeface="Arial" pitchFamily="34" charset="0"/>
                          </a:rPr>
                          <m:t>3</m:t>
                        </m:r>
                      </m:num>
                      <m:den>
                        <m:r>
                          <a:rPr lang="en-US" sz="3800" b="0" i="1" smtClean="0">
                            <a:solidFill>
                              <a:srgbClr val="0000FF"/>
                            </a:solidFill>
                            <a:latin typeface="Cambria Math"/>
                            <a:cs typeface="Arial" pitchFamily="34" charset="0"/>
                          </a:rPr>
                          <m:t>2</m:t>
                        </m:r>
                      </m:den>
                    </m:f>
                  </m:oMath>
                </a14:m>
                <a:r>
                  <a:rPr lang="en-US" sz="3800" dirty="0" smtClean="0">
                    <a:solidFill>
                      <a:srgbClr val="0000FF"/>
                    </a:solidFill>
                    <a:latin typeface="Arial" pitchFamily="34" charset="0"/>
                    <a:cs typeface="Arial" pitchFamily="34" charset="0"/>
                  </a:rPr>
                  <a:t>O</a:t>
                </a:r>
                <a:r>
                  <a:rPr lang="en-US" sz="3800" baseline="-25000" dirty="0" smtClean="0">
                    <a:solidFill>
                      <a:srgbClr val="0000FF"/>
                    </a:solidFill>
                    <a:latin typeface="Arial" pitchFamily="34" charset="0"/>
                    <a:cs typeface="Arial" pitchFamily="34" charset="0"/>
                  </a:rPr>
                  <a:t>2</a:t>
                </a:r>
                <a:r>
                  <a:rPr lang="en-US" sz="3800" dirty="0" smtClean="0">
                    <a:solidFill>
                      <a:srgbClr val="0000FF"/>
                    </a:solidFill>
                    <a:latin typeface="Arial" pitchFamily="34" charset="0"/>
                    <a:cs typeface="Arial" pitchFamily="34" charset="0"/>
                  </a:rPr>
                  <a:t>(k)  </a:t>
                </a:r>
                <a:r>
                  <a:rPr lang="en-US" sz="3800" dirty="0">
                    <a:solidFill>
                      <a:srgbClr val="0000FF"/>
                    </a:solidFill>
                    <a:latin typeface="Arial" pitchFamily="34" charset="0"/>
                    <a:cs typeface="Arial" pitchFamily="34" charset="0"/>
                  </a:rPr>
                  <a:t>= </a:t>
                </a:r>
                <a:r>
                  <a:rPr lang="en-US" sz="3800" dirty="0" smtClean="0">
                    <a:solidFill>
                      <a:srgbClr val="0000FF"/>
                    </a:solidFill>
                    <a:latin typeface="Arial" pitchFamily="34" charset="0"/>
                    <a:cs typeface="Arial" pitchFamily="34" charset="0"/>
                  </a:rPr>
                  <a:t>O</a:t>
                </a:r>
                <a:r>
                  <a:rPr lang="en-US" sz="3800" baseline="-25000" dirty="0" smtClean="0">
                    <a:solidFill>
                      <a:srgbClr val="0000FF"/>
                    </a:solidFill>
                    <a:latin typeface="Arial" pitchFamily="34" charset="0"/>
                    <a:cs typeface="Arial" pitchFamily="34" charset="0"/>
                  </a:rPr>
                  <a:t>3</a:t>
                </a:r>
                <a:r>
                  <a:rPr lang="en-US" sz="3800" dirty="0" smtClean="0">
                    <a:solidFill>
                      <a:srgbClr val="0000FF"/>
                    </a:solidFill>
                    <a:latin typeface="Arial" pitchFamily="34" charset="0"/>
                    <a:cs typeface="Arial" pitchFamily="34" charset="0"/>
                  </a:rPr>
                  <a:t>(k) </a:t>
                </a:r>
                <a:r>
                  <a:rPr lang="en-US" sz="3800" dirty="0">
                    <a:solidFill>
                      <a:srgbClr val="0000FF"/>
                    </a:solidFill>
                    <a:latin typeface="Arial" pitchFamily="34" charset="0"/>
                    <a:cs typeface="Arial" pitchFamily="34" charset="0"/>
                  </a:rPr>
                  <a:t>	</a:t>
                </a:r>
                <a:r>
                  <a:rPr lang="en-US" sz="3800" dirty="0">
                    <a:latin typeface="Arial" pitchFamily="34" charset="0"/>
                    <a:cs typeface="Arial" pitchFamily="34" charset="0"/>
                  </a:rPr>
                  <a:t>		</a:t>
                </a:r>
                <a:endParaRPr lang="vi-VN" sz="3800" dirty="0">
                  <a:latin typeface="Arial" pitchFamily="34" charset="0"/>
                  <a:cs typeface="Arial" pitchFamily="34" charset="0"/>
                </a:endParaRPr>
              </a:p>
              <a:p>
                <a:pPr marL="0" indent="0">
                  <a:lnSpc>
                    <a:spcPct val="150000"/>
                  </a:lnSpc>
                  <a:buNone/>
                </a:pPr>
                <a:r>
                  <a:rPr lang="vi-VN" sz="3800" dirty="0">
                    <a:solidFill>
                      <a:schemeClr val="accent6">
                        <a:lumMod val="50000"/>
                      </a:schemeClr>
                    </a:solidFill>
                    <a:latin typeface="Arial" pitchFamily="34" charset="0"/>
                    <a:cs typeface="Arial" pitchFamily="34" charset="0"/>
                  </a:rPr>
                  <a:t>2</a:t>
                </a:r>
                <a:r>
                  <a:rPr lang="en-US" sz="3800" dirty="0">
                    <a:solidFill>
                      <a:schemeClr val="accent6">
                        <a:lumMod val="50000"/>
                      </a:schemeClr>
                    </a:solidFill>
                    <a:latin typeface="Arial" pitchFamily="34" charset="0"/>
                    <a:cs typeface="Arial" pitchFamily="34" charset="0"/>
                  </a:rPr>
                  <a:t>. </a:t>
                </a:r>
                <a:r>
                  <a:rPr lang="vi-VN" sz="3800" dirty="0">
                    <a:solidFill>
                      <a:schemeClr val="accent6">
                        <a:lumMod val="50000"/>
                      </a:schemeClr>
                    </a:solidFill>
                    <a:latin typeface="Arial" pitchFamily="34" charset="0"/>
                    <a:cs typeface="Arial" pitchFamily="34" charset="0"/>
                  </a:rPr>
                  <a:t>   </a:t>
                </a:r>
                <a:r>
                  <a:rPr lang="vi-VN" sz="3800" dirty="0" smtClean="0">
                    <a:solidFill>
                      <a:schemeClr val="tx1"/>
                    </a:solidFill>
                    <a:latin typeface="Arial" pitchFamily="34" charset="0"/>
                    <a:cs typeface="Arial" pitchFamily="34" charset="0"/>
                  </a:rPr>
                  <a:t>2Fe</a:t>
                </a:r>
                <a:r>
                  <a:rPr lang="en-US" sz="3800" dirty="0" smtClean="0">
                    <a:solidFill>
                      <a:schemeClr val="tx1"/>
                    </a:solidFill>
                    <a:latin typeface="Arial" pitchFamily="34" charset="0"/>
                    <a:cs typeface="Arial" pitchFamily="34" charset="0"/>
                  </a:rPr>
                  <a:t>(</a:t>
                </a:r>
                <a:r>
                  <a:rPr lang="pt-BR" sz="3800" dirty="0">
                    <a:solidFill>
                      <a:schemeClr val="tx1"/>
                    </a:solidFill>
                    <a:latin typeface="Arial" pitchFamily="34" charset="0"/>
                    <a:cs typeface="Arial" pitchFamily="34" charset="0"/>
                  </a:rPr>
                  <a:t>r</a:t>
                </a:r>
                <a:r>
                  <a:rPr lang="pt-BR" sz="3800" dirty="0" smtClean="0">
                    <a:solidFill>
                      <a:schemeClr val="tx1"/>
                    </a:solidFill>
                    <a:latin typeface="Arial" pitchFamily="34" charset="0"/>
                    <a:cs typeface="Arial" pitchFamily="34" charset="0"/>
                  </a:rPr>
                  <a:t>) </a:t>
                </a:r>
                <a:r>
                  <a:rPr lang="pt-BR" sz="3800" dirty="0">
                    <a:solidFill>
                      <a:schemeClr val="tx1"/>
                    </a:solidFill>
                    <a:latin typeface="Arial" pitchFamily="34" charset="0"/>
                    <a:cs typeface="Arial" pitchFamily="34" charset="0"/>
                  </a:rPr>
                  <a:t>+ </a:t>
                </a:r>
                <a14:m>
                  <m:oMath xmlns:m="http://schemas.openxmlformats.org/officeDocument/2006/math">
                    <m:f>
                      <m:fPr>
                        <m:ctrlPr>
                          <a:rPr lang="pt-BR" sz="3800" i="1" smtClean="0">
                            <a:solidFill>
                              <a:schemeClr val="tx1"/>
                            </a:solidFill>
                            <a:latin typeface="Cambria Math"/>
                            <a:cs typeface="Times New Roman" panose="02020603050405020304" pitchFamily="18" charset="0"/>
                          </a:rPr>
                        </m:ctrlPr>
                      </m:fPr>
                      <m:num>
                        <m:r>
                          <a:rPr lang="vi-VN" sz="3800" b="0" i="1" smtClean="0">
                            <a:solidFill>
                              <a:schemeClr val="tx1"/>
                            </a:solidFill>
                            <a:latin typeface="Cambria Math" panose="02040503050406030204" pitchFamily="18" charset="0"/>
                            <a:cs typeface="Times New Roman" panose="02020603050405020304" pitchFamily="18" charset="0"/>
                          </a:rPr>
                          <m:t>3</m:t>
                        </m:r>
                      </m:num>
                      <m:den>
                        <m:r>
                          <a:rPr lang="vi-VN" sz="3800" b="0" i="1" smtClean="0">
                            <a:solidFill>
                              <a:schemeClr val="tx1"/>
                            </a:solidFill>
                            <a:latin typeface="Cambria Math" panose="02040503050406030204" pitchFamily="18" charset="0"/>
                            <a:cs typeface="Times New Roman" panose="02020603050405020304" pitchFamily="18" charset="0"/>
                          </a:rPr>
                          <m:t>2</m:t>
                        </m:r>
                      </m:den>
                    </m:f>
                  </m:oMath>
                </a14:m>
                <a:r>
                  <a:rPr lang="vi-VN" sz="3800" dirty="0">
                    <a:solidFill>
                      <a:schemeClr val="tx1"/>
                    </a:solidFill>
                    <a:latin typeface="Arial" pitchFamily="34" charset="0"/>
                    <a:cs typeface="Arial" pitchFamily="34" charset="0"/>
                  </a:rPr>
                  <a:t> O</a:t>
                </a:r>
                <a:r>
                  <a:rPr lang="pt-BR" sz="3800" baseline="-25000" dirty="0">
                    <a:solidFill>
                      <a:schemeClr val="tx1"/>
                    </a:solidFill>
                    <a:latin typeface="Arial" pitchFamily="34" charset="0"/>
                    <a:cs typeface="Arial" pitchFamily="34" charset="0"/>
                  </a:rPr>
                  <a:t>2</a:t>
                </a:r>
                <a:r>
                  <a:rPr lang="pt-BR" sz="3800" dirty="0">
                    <a:solidFill>
                      <a:schemeClr val="tx1"/>
                    </a:solidFill>
                    <a:latin typeface="Arial" pitchFamily="34" charset="0"/>
                    <a:cs typeface="Arial" pitchFamily="34" charset="0"/>
                  </a:rPr>
                  <a:t>(k) = </a:t>
                </a:r>
                <a:r>
                  <a:rPr lang="vi-VN" sz="3800" dirty="0">
                    <a:solidFill>
                      <a:schemeClr val="tx1"/>
                    </a:solidFill>
                    <a:latin typeface="Arial" pitchFamily="34" charset="0"/>
                    <a:cs typeface="Arial" pitchFamily="34" charset="0"/>
                  </a:rPr>
                  <a:t>Fe</a:t>
                </a:r>
                <a:r>
                  <a:rPr lang="vi-VN" sz="3800" baseline="-25000" dirty="0">
                    <a:solidFill>
                      <a:schemeClr val="tx1"/>
                    </a:solidFill>
                    <a:latin typeface="Arial" pitchFamily="34" charset="0"/>
                    <a:cs typeface="Arial" pitchFamily="34" charset="0"/>
                  </a:rPr>
                  <a:t>2</a:t>
                </a:r>
                <a:r>
                  <a:rPr lang="vi-VN" sz="3800" dirty="0">
                    <a:solidFill>
                      <a:schemeClr val="tx1"/>
                    </a:solidFill>
                    <a:latin typeface="Arial" pitchFamily="34" charset="0"/>
                    <a:cs typeface="Arial" pitchFamily="34" charset="0"/>
                  </a:rPr>
                  <a:t>O</a:t>
                </a:r>
                <a:r>
                  <a:rPr lang="vi-VN" sz="3800" baseline="-25000" dirty="0">
                    <a:solidFill>
                      <a:schemeClr val="tx1"/>
                    </a:solidFill>
                    <a:latin typeface="Arial" pitchFamily="34" charset="0"/>
                    <a:cs typeface="Arial" pitchFamily="34" charset="0"/>
                  </a:rPr>
                  <a:t>3</a:t>
                </a:r>
                <a:r>
                  <a:rPr lang="pt-BR" sz="3800" dirty="0">
                    <a:solidFill>
                      <a:schemeClr val="tx1"/>
                    </a:solidFill>
                    <a:latin typeface="Arial" pitchFamily="34" charset="0"/>
                    <a:cs typeface="Arial" pitchFamily="34" charset="0"/>
                  </a:rPr>
                  <a:t>(r)</a:t>
                </a:r>
                <a:r>
                  <a:rPr lang="vi-VN" sz="3800" dirty="0">
                    <a:solidFill>
                      <a:schemeClr val="tx1"/>
                    </a:solidFill>
                    <a:latin typeface="Arial" pitchFamily="34" charset="0"/>
                    <a:cs typeface="Arial" pitchFamily="34" charset="0"/>
                  </a:rPr>
                  <a:t> </a:t>
                </a:r>
                <a:endParaRPr lang="en-US" sz="3800" dirty="0">
                  <a:solidFill>
                    <a:schemeClr val="tx1"/>
                  </a:solidFill>
                  <a:latin typeface="Arial" pitchFamily="34" charset="0"/>
                  <a:cs typeface="Arial" pitchFamily="34" charset="0"/>
                </a:endParaRPr>
              </a:p>
              <a:p>
                <a:pPr marL="0" indent="0">
                  <a:lnSpc>
                    <a:spcPct val="150000"/>
                  </a:lnSpc>
                  <a:buNone/>
                </a:pPr>
                <a:r>
                  <a:rPr lang="vi-VN" sz="3800" dirty="0">
                    <a:solidFill>
                      <a:srgbClr val="9933FF"/>
                    </a:solidFill>
                    <a:latin typeface="Arial" pitchFamily="34" charset="0"/>
                    <a:cs typeface="Arial" pitchFamily="34" charset="0"/>
                  </a:rPr>
                  <a:t>3</a:t>
                </a:r>
                <a:r>
                  <a:rPr lang="en-US" sz="3800" dirty="0">
                    <a:solidFill>
                      <a:srgbClr val="9933FF"/>
                    </a:solidFill>
                    <a:latin typeface="Arial" pitchFamily="34" charset="0"/>
                    <a:cs typeface="Arial" pitchFamily="34" charset="0"/>
                  </a:rPr>
                  <a:t>. </a:t>
                </a:r>
                <a:r>
                  <a:rPr lang="vi-VN" sz="3800" dirty="0">
                    <a:solidFill>
                      <a:srgbClr val="9933FF"/>
                    </a:solidFill>
                    <a:latin typeface="Arial" pitchFamily="34" charset="0"/>
                    <a:cs typeface="Arial" pitchFamily="34" charset="0"/>
                  </a:rPr>
                  <a:t>   </a:t>
                </a:r>
                <a14:m>
                  <m:oMath xmlns:m="http://schemas.openxmlformats.org/officeDocument/2006/math">
                    <m:f>
                      <m:fPr>
                        <m:ctrlPr>
                          <a:rPr lang="en-US" sz="3800" i="1" smtClean="0">
                            <a:solidFill>
                              <a:srgbClr val="9933FF"/>
                            </a:solidFill>
                            <a:latin typeface="Cambria Math"/>
                            <a:cs typeface="Times New Roman" panose="02020603050405020304" pitchFamily="18" charset="0"/>
                          </a:rPr>
                        </m:ctrlPr>
                      </m:fPr>
                      <m:num>
                        <m:r>
                          <a:rPr lang="vi-VN" sz="3800" i="1">
                            <a:solidFill>
                              <a:srgbClr val="9933FF"/>
                            </a:solidFill>
                            <a:latin typeface="Cambria Math" panose="02040503050406030204" pitchFamily="18" charset="0"/>
                            <a:cs typeface="Times New Roman" panose="02020603050405020304" pitchFamily="18" charset="0"/>
                          </a:rPr>
                          <m:t>1</m:t>
                        </m:r>
                      </m:num>
                      <m:den>
                        <m:r>
                          <a:rPr lang="vi-VN" sz="3800" i="1">
                            <a:solidFill>
                              <a:srgbClr val="9933FF"/>
                            </a:solidFill>
                            <a:latin typeface="Cambria Math" panose="02040503050406030204" pitchFamily="18" charset="0"/>
                            <a:cs typeface="Times New Roman" panose="02020603050405020304" pitchFamily="18" charset="0"/>
                          </a:rPr>
                          <m:t>2</m:t>
                        </m:r>
                      </m:den>
                    </m:f>
                  </m:oMath>
                </a14:m>
                <a:r>
                  <a:rPr lang="en-US" sz="3800" dirty="0">
                    <a:solidFill>
                      <a:srgbClr val="9933FF"/>
                    </a:solidFill>
                    <a:latin typeface="Arial" pitchFamily="34" charset="0"/>
                    <a:cs typeface="Arial" pitchFamily="34" charset="0"/>
                  </a:rPr>
                  <a:t> H</a:t>
                </a:r>
                <a:r>
                  <a:rPr lang="vi-VN" sz="3800" baseline="-25000" dirty="0">
                    <a:solidFill>
                      <a:srgbClr val="9933FF"/>
                    </a:solidFill>
                    <a:latin typeface="Arial" pitchFamily="34" charset="0"/>
                    <a:cs typeface="Arial" pitchFamily="34" charset="0"/>
                  </a:rPr>
                  <a:t>2</a:t>
                </a:r>
                <a:r>
                  <a:rPr lang="en-US" sz="3800" dirty="0">
                    <a:solidFill>
                      <a:srgbClr val="9933FF"/>
                    </a:solidFill>
                    <a:latin typeface="Arial" pitchFamily="34" charset="0"/>
                    <a:cs typeface="Arial" pitchFamily="34" charset="0"/>
                  </a:rPr>
                  <a:t>(k) + </a:t>
                </a:r>
                <a14:m>
                  <m:oMath xmlns:m="http://schemas.openxmlformats.org/officeDocument/2006/math">
                    <m:f>
                      <m:fPr>
                        <m:ctrlPr>
                          <a:rPr lang="en-US" sz="3800" i="1">
                            <a:solidFill>
                              <a:srgbClr val="9933FF"/>
                            </a:solidFill>
                            <a:latin typeface="Cambria Math"/>
                            <a:cs typeface="Times New Roman" panose="02020603050405020304" pitchFamily="18" charset="0"/>
                          </a:rPr>
                        </m:ctrlPr>
                      </m:fPr>
                      <m:num>
                        <m:r>
                          <a:rPr lang="vi-VN" sz="3800" i="1">
                            <a:solidFill>
                              <a:srgbClr val="9933FF"/>
                            </a:solidFill>
                            <a:latin typeface="Cambria Math" panose="02040503050406030204" pitchFamily="18" charset="0"/>
                            <a:cs typeface="Times New Roman" panose="02020603050405020304" pitchFamily="18" charset="0"/>
                          </a:rPr>
                          <m:t>1</m:t>
                        </m:r>
                      </m:num>
                      <m:den>
                        <m:r>
                          <a:rPr lang="vi-VN" sz="3800" i="1">
                            <a:solidFill>
                              <a:srgbClr val="9933FF"/>
                            </a:solidFill>
                            <a:latin typeface="Cambria Math" panose="02040503050406030204" pitchFamily="18" charset="0"/>
                            <a:cs typeface="Times New Roman" panose="02020603050405020304" pitchFamily="18" charset="0"/>
                          </a:rPr>
                          <m:t>2</m:t>
                        </m:r>
                      </m:den>
                    </m:f>
                  </m:oMath>
                </a14:m>
                <a:r>
                  <a:rPr lang="en-US" sz="3800" dirty="0">
                    <a:solidFill>
                      <a:srgbClr val="9933FF"/>
                    </a:solidFill>
                    <a:latin typeface="Arial" pitchFamily="34" charset="0"/>
                    <a:cs typeface="Arial" pitchFamily="34" charset="0"/>
                  </a:rPr>
                  <a:t> </a:t>
                </a:r>
                <a:r>
                  <a:rPr lang="en-US" sz="3800" dirty="0" smtClean="0">
                    <a:solidFill>
                      <a:srgbClr val="9933FF"/>
                    </a:solidFill>
                    <a:latin typeface="Arial" pitchFamily="34" charset="0"/>
                    <a:cs typeface="Arial" pitchFamily="34" charset="0"/>
                  </a:rPr>
                  <a:t>Br</a:t>
                </a:r>
                <a:r>
                  <a:rPr lang="en-US" sz="3800" baseline="-25000" dirty="0" smtClean="0">
                    <a:solidFill>
                      <a:srgbClr val="9933FF"/>
                    </a:solidFill>
                    <a:latin typeface="Arial" pitchFamily="34" charset="0"/>
                    <a:cs typeface="Arial" pitchFamily="34" charset="0"/>
                  </a:rPr>
                  <a:t>2</a:t>
                </a:r>
                <a:r>
                  <a:rPr lang="en-US" sz="3800" dirty="0" smtClean="0">
                    <a:solidFill>
                      <a:srgbClr val="9933FF"/>
                    </a:solidFill>
                    <a:latin typeface="Arial" pitchFamily="34" charset="0"/>
                    <a:cs typeface="Arial" pitchFamily="34" charset="0"/>
                  </a:rPr>
                  <a:t>(</a:t>
                </a:r>
                <a:r>
                  <a:rPr lang="pt-BR" sz="3800" dirty="0">
                    <a:solidFill>
                      <a:srgbClr val="9933FF"/>
                    </a:solidFill>
                    <a:latin typeface="Arial" pitchFamily="34" charset="0"/>
                    <a:cs typeface="Arial" pitchFamily="34" charset="0"/>
                  </a:rPr>
                  <a:t>ℓ</a:t>
                </a:r>
                <a:r>
                  <a:rPr lang="en-US" sz="3800" dirty="0" smtClean="0">
                    <a:solidFill>
                      <a:srgbClr val="9933FF"/>
                    </a:solidFill>
                    <a:latin typeface="Arial" pitchFamily="34" charset="0"/>
                    <a:cs typeface="Arial" pitchFamily="34" charset="0"/>
                  </a:rPr>
                  <a:t>) </a:t>
                </a:r>
                <a:r>
                  <a:rPr lang="en-US" sz="3800" dirty="0">
                    <a:solidFill>
                      <a:srgbClr val="9933FF"/>
                    </a:solidFill>
                    <a:latin typeface="Arial" pitchFamily="34" charset="0"/>
                    <a:cs typeface="Arial" pitchFamily="34" charset="0"/>
                  </a:rPr>
                  <a:t>= </a:t>
                </a:r>
                <a:r>
                  <a:rPr lang="en-US" sz="3800" dirty="0" err="1" smtClean="0">
                    <a:solidFill>
                      <a:srgbClr val="9933FF"/>
                    </a:solidFill>
                    <a:latin typeface="Arial" pitchFamily="34" charset="0"/>
                    <a:cs typeface="Arial" pitchFamily="34" charset="0"/>
                  </a:rPr>
                  <a:t>HBr</a:t>
                </a:r>
                <a:r>
                  <a:rPr lang="en-US" sz="3800" dirty="0" smtClean="0">
                    <a:solidFill>
                      <a:srgbClr val="9933FF"/>
                    </a:solidFill>
                    <a:latin typeface="Arial" pitchFamily="34" charset="0"/>
                    <a:cs typeface="Arial" pitchFamily="34" charset="0"/>
                  </a:rPr>
                  <a:t>(k</a:t>
                </a:r>
                <a:r>
                  <a:rPr lang="en-US" sz="3800" dirty="0">
                    <a:solidFill>
                      <a:srgbClr val="9933FF"/>
                    </a:solidFill>
                    <a:latin typeface="Arial" pitchFamily="34" charset="0"/>
                    <a:cs typeface="Arial" pitchFamily="34" charset="0"/>
                  </a:rPr>
                  <a:t>) </a:t>
                </a:r>
                <a:r>
                  <a:rPr lang="en-US" sz="3800" dirty="0" smtClean="0">
                    <a:solidFill>
                      <a:srgbClr val="9933FF"/>
                    </a:solidFill>
                    <a:latin typeface="Arial" pitchFamily="34" charset="0"/>
                    <a:cs typeface="Arial" pitchFamily="34" charset="0"/>
                  </a:rPr>
                  <a:t>                              </a:t>
                </a:r>
                <a:endParaRPr lang="vi-VN" sz="3800" dirty="0">
                  <a:solidFill>
                    <a:srgbClr val="9933FF"/>
                  </a:solidFill>
                  <a:latin typeface="Arial" pitchFamily="34" charset="0"/>
                  <a:cs typeface="Arial" pitchFamily="34" charset="0"/>
                </a:endParaRPr>
              </a:p>
              <a:p>
                <a:pPr marL="0" indent="0">
                  <a:lnSpc>
                    <a:spcPct val="150000"/>
                  </a:lnSpc>
                  <a:buNone/>
                </a:pPr>
                <a:r>
                  <a:rPr lang="vi-VN" sz="3800" dirty="0">
                    <a:solidFill>
                      <a:srgbClr val="C00000"/>
                    </a:solidFill>
                    <a:latin typeface="Arial" pitchFamily="34" charset="0"/>
                    <a:cs typeface="Arial" pitchFamily="34" charset="0"/>
                  </a:rPr>
                  <a:t>4</a:t>
                </a:r>
                <a:r>
                  <a:rPr lang="en-US" sz="3800" dirty="0">
                    <a:solidFill>
                      <a:srgbClr val="C00000"/>
                    </a:solidFill>
                    <a:latin typeface="Arial" pitchFamily="34" charset="0"/>
                    <a:cs typeface="Arial" pitchFamily="34" charset="0"/>
                  </a:rPr>
                  <a:t>. </a:t>
                </a:r>
                <a:r>
                  <a:rPr lang="vi-VN" sz="3800" dirty="0">
                    <a:solidFill>
                      <a:srgbClr val="C00000"/>
                    </a:solidFill>
                    <a:latin typeface="Arial" pitchFamily="34" charset="0"/>
                    <a:cs typeface="Arial" pitchFamily="34" charset="0"/>
                  </a:rPr>
                  <a:t>   </a:t>
                </a:r>
                <a14:m>
                  <m:oMath xmlns:m="http://schemas.openxmlformats.org/officeDocument/2006/math">
                    <m:f>
                      <m:fPr>
                        <m:ctrlPr>
                          <a:rPr lang="en-US" sz="3800" i="1" smtClean="0">
                            <a:solidFill>
                              <a:srgbClr val="C00000"/>
                            </a:solidFill>
                            <a:latin typeface="Cambria Math"/>
                            <a:cs typeface="Times New Roman" panose="02020603050405020304" pitchFamily="18" charset="0"/>
                          </a:rPr>
                        </m:ctrlPr>
                      </m:fPr>
                      <m:num>
                        <m:r>
                          <a:rPr lang="vi-VN" sz="3800" b="0" i="1" smtClean="0">
                            <a:solidFill>
                              <a:srgbClr val="C00000"/>
                            </a:solidFill>
                            <a:latin typeface="Cambria Math" panose="02040503050406030204" pitchFamily="18" charset="0"/>
                            <a:cs typeface="Times New Roman" panose="02020603050405020304" pitchFamily="18" charset="0"/>
                          </a:rPr>
                          <m:t>1</m:t>
                        </m:r>
                      </m:num>
                      <m:den>
                        <m:r>
                          <a:rPr lang="vi-VN" sz="3800" b="0" i="1" smtClean="0">
                            <a:solidFill>
                              <a:srgbClr val="C00000"/>
                            </a:solidFill>
                            <a:latin typeface="Cambria Math" panose="02040503050406030204" pitchFamily="18" charset="0"/>
                            <a:cs typeface="Times New Roman" panose="02020603050405020304" pitchFamily="18" charset="0"/>
                          </a:rPr>
                          <m:t>2</m:t>
                        </m:r>
                      </m:den>
                    </m:f>
                  </m:oMath>
                </a14:m>
                <a:r>
                  <a:rPr lang="en-US" sz="3800" dirty="0">
                    <a:solidFill>
                      <a:srgbClr val="C00000"/>
                    </a:solidFill>
                    <a:latin typeface="Arial" pitchFamily="34" charset="0"/>
                    <a:cs typeface="Arial" pitchFamily="34" charset="0"/>
                  </a:rPr>
                  <a:t> N</a:t>
                </a:r>
                <a:r>
                  <a:rPr lang="en-US" sz="3800" baseline="-25000" dirty="0">
                    <a:solidFill>
                      <a:srgbClr val="C00000"/>
                    </a:solidFill>
                    <a:latin typeface="Arial" pitchFamily="34" charset="0"/>
                    <a:cs typeface="Arial" pitchFamily="34" charset="0"/>
                  </a:rPr>
                  <a:t>2</a:t>
                </a:r>
                <a:r>
                  <a:rPr lang="en-US" sz="3800" dirty="0">
                    <a:solidFill>
                      <a:srgbClr val="C00000"/>
                    </a:solidFill>
                    <a:latin typeface="Arial" pitchFamily="34" charset="0"/>
                    <a:cs typeface="Arial" pitchFamily="34" charset="0"/>
                  </a:rPr>
                  <a:t>(k)  + </a:t>
                </a:r>
                <a:r>
                  <a:rPr lang="en-US" sz="3800" dirty="0" smtClean="0">
                    <a:solidFill>
                      <a:srgbClr val="C00000"/>
                    </a:solidFill>
                    <a:latin typeface="Arial" pitchFamily="34" charset="0"/>
                    <a:cs typeface="Arial" pitchFamily="34" charset="0"/>
                  </a:rPr>
                  <a:t>O</a:t>
                </a:r>
                <a:r>
                  <a:rPr lang="en-US" sz="3800" baseline="-25000" dirty="0" smtClean="0">
                    <a:solidFill>
                      <a:srgbClr val="C00000"/>
                    </a:solidFill>
                    <a:latin typeface="Arial" pitchFamily="34" charset="0"/>
                    <a:cs typeface="Arial" pitchFamily="34" charset="0"/>
                  </a:rPr>
                  <a:t>2</a:t>
                </a:r>
                <a:r>
                  <a:rPr lang="en-US" sz="3800" dirty="0" smtClean="0">
                    <a:solidFill>
                      <a:srgbClr val="C00000"/>
                    </a:solidFill>
                    <a:latin typeface="Arial" pitchFamily="34" charset="0"/>
                    <a:cs typeface="Arial" pitchFamily="34" charset="0"/>
                  </a:rPr>
                  <a:t>(k)  </a:t>
                </a:r>
                <a:r>
                  <a:rPr lang="en-US" sz="3800" dirty="0">
                    <a:solidFill>
                      <a:srgbClr val="C00000"/>
                    </a:solidFill>
                    <a:latin typeface="Arial" pitchFamily="34" charset="0"/>
                    <a:cs typeface="Arial" pitchFamily="34" charset="0"/>
                  </a:rPr>
                  <a:t>= </a:t>
                </a:r>
                <a:r>
                  <a:rPr lang="en-US" sz="3800" dirty="0" smtClean="0">
                    <a:solidFill>
                      <a:srgbClr val="C00000"/>
                    </a:solidFill>
                    <a:latin typeface="Arial" pitchFamily="34" charset="0"/>
                    <a:cs typeface="Arial" pitchFamily="34" charset="0"/>
                  </a:rPr>
                  <a:t>NO</a:t>
                </a:r>
                <a:r>
                  <a:rPr lang="en-US" sz="3800" baseline="-25000" dirty="0" smtClean="0">
                    <a:solidFill>
                      <a:srgbClr val="C00000"/>
                    </a:solidFill>
                    <a:latin typeface="Arial" pitchFamily="34" charset="0"/>
                    <a:cs typeface="Arial" pitchFamily="34" charset="0"/>
                  </a:rPr>
                  <a:t>2</a:t>
                </a:r>
                <a:r>
                  <a:rPr lang="en-US" sz="3800" dirty="0" smtClean="0">
                    <a:solidFill>
                      <a:srgbClr val="C00000"/>
                    </a:solidFill>
                    <a:latin typeface="Arial" pitchFamily="34" charset="0"/>
                    <a:cs typeface="Arial" pitchFamily="34" charset="0"/>
                  </a:rPr>
                  <a:t>(k) </a:t>
                </a:r>
                <a:endParaRPr lang="vi-VN" sz="3800" dirty="0">
                  <a:solidFill>
                    <a:srgbClr val="C00000"/>
                  </a:solidFill>
                  <a:latin typeface="Arial" pitchFamily="34" charset="0"/>
                  <a:cs typeface="Arial" pitchFamily="34" charset="0"/>
                </a:endParaRPr>
              </a:p>
              <a:p>
                <a:pPr marL="0" indent="0">
                  <a:lnSpc>
                    <a:spcPct val="150000"/>
                  </a:lnSpc>
                  <a:buNone/>
                </a:pPr>
                <a:r>
                  <a:rPr lang="en-US" sz="3800" dirty="0">
                    <a:solidFill>
                      <a:schemeClr val="accent4">
                        <a:lumMod val="50000"/>
                      </a:schemeClr>
                    </a:solidFill>
                    <a:latin typeface="Arial" pitchFamily="34" charset="0"/>
                    <a:cs typeface="Arial" pitchFamily="34" charset="0"/>
                  </a:rPr>
                  <a:t>5. </a:t>
                </a:r>
                <a:r>
                  <a:rPr lang="vi-VN" sz="3800" dirty="0">
                    <a:solidFill>
                      <a:schemeClr val="accent4">
                        <a:lumMod val="50000"/>
                      </a:schemeClr>
                    </a:solidFill>
                    <a:latin typeface="Arial" pitchFamily="34" charset="0"/>
                    <a:cs typeface="Arial" pitchFamily="34" charset="0"/>
                  </a:rPr>
                  <a:t>   </a:t>
                </a:r>
                <a14:m>
                  <m:oMath xmlns:m="http://schemas.openxmlformats.org/officeDocument/2006/math">
                    <m:f>
                      <m:fPr>
                        <m:ctrlPr>
                          <a:rPr lang="en-US" sz="3800" i="1" smtClean="0">
                            <a:solidFill>
                              <a:schemeClr val="accent4">
                                <a:lumMod val="50000"/>
                              </a:schemeClr>
                            </a:solidFill>
                            <a:latin typeface="Cambria Math"/>
                            <a:cs typeface="Times New Roman" panose="02020603050405020304" pitchFamily="18" charset="0"/>
                          </a:rPr>
                        </m:ctrlPr>
                      </m:fPr>
                      <m:num>
                        <m:r>
                          <a:rPr lang="vi-VN" sz="3800" i="1">
                            <a:solidFill>
                              <a:schemeClr val="accent4">
                                <a:lumMod val="50000"/>
                              </a:schemeClr>
                            </a:solidFill>
                            <a:latin typeface="Cambria Math" panose="02040503050406030204" pitchFamily="18" charset="0"/>
                            <a:cs typeface="Times New Roman" panose="02020603050405020304" pitchFamily="18" charset="0"/>
                          </a:rPr>
                          <m:t>1</m:t>
                        </m:r>
                      </m:num>
                      <m:den>
                        <m:r>
                          <a:rPr lang="vi-VN" sz="3800" i="1">
                            <a:solidFill>
                              <a:schemeClr val="accent4">
                                <a:lumMod val="50000"/>
                              </a:schemeClr>
                            </a:solidFill>
                            <a:latin typeface="Cambria Math" panose="02040503050406030204" pitchFamily="18" charset="0"/>
                            <a:cs typeface="Times New Roman" panose="02020603050405020304" pitchFamily="18" charset="0"/>
                          </a:rPr>
                          <m:t>2</m:t>
                        </m:r>
                      </m:den>
                    </m:f>
                  </m:oMath>
                </a14:m>
                <a:r>
                  <a:rPr lang="en-US" sz="3800" dirty="0">
                    <a:solidFill>
                      <a:schemeClr val="accent4">
                        <a:lumMod val="50000"/>
                      </a:schemeClr>
                    </a:solidFill>
                    <a:latin typeface="Arial" pitchFamily="34" charset="0"/>
                    <a:cs typeface="Arial" pitchFamily="34" charset="0"/>
                  </a:rPr>
                  <a:t> Cl</a:t>
                </a:r>
                <a:r>
                  <a:rPr lang="en-US" sz="3800" baseline="-25000" dirty="0">
                    <a:solidFill>
                      <a:schemeClr val="accent4">
                        <a:lumMod val="50000"/>
                      </a:schemeClr>
                    </a:solidFill>
                    <a:latin typeface="Arial" pitchFamily="34" charset="0"/>
                    <a:cs typeface="Arial" pitchFamily="34" charset="0"/>
                  </a:rPr>
                  <a:t>2</a:t>
                </a:r>
                <a:r>
                  <a:rPr lang="en-US" sz="3800" dirty="0">
                    <a:solidFill>
                      <a:schemeClr val="accent4">
                        <a:lumMod val="50000"/>
                      </a:schemeClr>
                    </a:solidFill>
                    <a:latin typeface="Arial" pitchFamily="34" charset="0"/>
                    <a:cs typeface="Arial" pitchFamily="34" charset="0"/>
                  </a:rPr>
                  <a:t>(k)  </a:t>
                </a:r>
                <a:r>
                  <a:rPr lang="en-US" sz="3800" dirty="0" smtClean="0">
                    <a:solidFill>
                      <a:schemeClr val="accent4">
                        <a:lumMod val="50000"/>
                      </a:schemeClr>
                    </a:solidFill>
                    <a:latin typeface="Arial" pitchFamily="34" charset="0"/>
                    <a:cs typeface="Arial" pitchFamily="34" charset="0"/>
                  </a:rPr>
                  <a:t>+ </a:t>
                </a:r>
                <a14:m>
                  <m:oMath xmlns:m="http://schemas.openxmlformats.org/officeDocument/2006/math">
                    <m:f>
                      <m:fPr>
                        <m:ctrlPr>
                          <a:rPr lang="en-US" sz="3800" i="1">
                            <a:solidFill>
                              <a:schemeClr val="accent4">
                                <a:lumMod val="50000"/>
                              </a:schemeClr>
                            </a:solidFill>
                            <a:latin typeface="Cambria Math"/>
                            <a:cs typeface="Times New Roman" panose="02020603050405020304" pitchFamily="18" charset="0"/>
                          </a:rPr>
                        </m:ctrlPr>
                      </m:fPr>
                      <m:num>
                        <m:r>
                          <a:rPr lang="vi-VN" sz="3800" i="1">
                            <a:solidFill>
                              <a:schemeClr val="accent4">
                                <a:lumMod val="50000"/>
                              </a:schemeClr>
                            </a:solidFill>
                            <a:latin typeface="Cambria Math" panose="02040503050406030204" pitchFamily="18" charset="0"/>
                            <a:cs typeface="Times New Roman" panose="02020603050405020304" pitchFamily="18" charset="0"/>
                          </a:rPr>
                          <m:t>1</m:t>
                        </m:r>
                      </m:num>
                      <m:den>
                        <m:r>
                          <a:rPr lang="vi-VN" sz="3800" i="1">
                            <a:solidFill>
                              <a:schemeClr val="accent4">
                                <a:lumMod val="50000"/>
                              </a:schemeClr>
                            </a:solidFill>
                            <a:latin typeface="Cambria Math" panose="02040503050406030204" pitchFamily="18" charset="0"/>
                            <a:cs typeface="Times New Roman" panose="02020603050405020304" pitchFamily="18" charset="0"/>
                          </a:rPr>
                          <m:t>2</m:t>
                        </m:r>
                      </m:den>
                    </m:f>
                  </m:oMath>
                </a14:m>
                <a:r>
                  <a:rPr lang="en-US" sz="3800" dirty="0">
                    <a:solidFill>
                      <a:schemeClr val="accent4">
                        <a:lumMod val="50000"/>
                      </a:schemeClr>
                    </a:solidFill>
                    <a:latin typeface="Arial" pitchFamily="34" charset="0"/>
                    <a:cs typeface="Arial" pitchFamily="34" charset="0"/>
                  </a:rPr>
                  <a:t> N</a:t>
                </a:r>
                <a:r>
                  <a:rPr lang="en-US" sz="3800" baseline="-25000" dirty="0" smtClean="0">
                    <a:solidFill>
                      <a:schemeClr val="accent4">
                        <a:lumMod val="50000"/>
                      </a:schemeClr>
                    </a:solidFill>
                    <a:latin typeface="Arial" pitchFamily="34" charset="0"/>
                    <a:cs typeface="Arial" pitchFamily="34" charset="0"/>
                  </a:rPr>
                  <a:t>2</a:t>
                </a:r>
                <a:r>
                  <a:rPr lang="en-US" sz="3800" dirty="0" smtClean="0">
                    <a:solidFill>
                      <a:schemeClr val="accent4">
                        <a:lumMod val="50000"/>
                      </a:schemeClr>
                    </a:solidFill>
                    <a:latin typeface="Arial" pitchFamily="34" charset="0"/>
                    <a:cs typeface="Arial" pitchFamily="34" charset="0"/>
                  </a:rPr>
                  <a:t>(k) + 2H</a:t>
                </a:r>
                <a:r>
                  <a:rPr lang="en-US" sz="3800" baseline="-25000" dirty="0" smtClean="0">
                    <a:solidFill>
                      <a:schemeClr val="accent4">
                        <a:lumMod val="50000"/>
                      </a:schemeClr>
                    </a:solidFill>
                    <a:latin typeface="Arial" pitchFamily="34" charset="0"/>
                    <a:cs typeface="Arial" pitchFamily="34" charset="0"/>
                  </a:rPr>
                  <a:t>2</a:t>
                </a:r>
                <a:r>
                  <a:rPr lang="en-US" sz="3800" dirty="0" smtClean="0">
                    <a:solidFill>
                      <a:schemeClr val="accent4">
                        <a:lumMod val="50000"/>
                      </a:schemeClr>
                    </a:solidFill>
                    <a:latin typeface="Arial" pitchFamily="34" charset="0"/>
                    <a:cs typeface="Arial" pitchFamily="34" charset="0"/>
                  </a:rPr>
                  <a:t>(k</a:t>
                </a:r>
                <a:r>
                  <a:rPr lang="en-US" sz="3800" dirty="0">
                    <a:solidFill>
                      <a:schemeClr val="accent4">
                        <a:lumMod val="50000"/>
                      </a:schemeClr>
                    </a:solidFill>
                    <a:latin typeface="Arial" pitchFamily="34" charset="0"/>
                    <a:cs typeface="Arial" pitchFamily="34" charset="0"/>
                  </a:rPr>
                  <a:t>)</a:t>
                </a:r>
                <a:r>
                  <a:rPr lang="en-US" sz="3800" dirty="0" smtClean="0">
                    <a:solidFill>
                      <a:schemeClr val="accent4">
                        <a:lumMod val="50000"/>
                      </a:schemeClr>
                    </a:solidFill>
                    <a:latin typeface="Arial" pitchFamily="34" charset="0"/>
                    <a:cs typeface="Arial" pitchFamily="34" charset="0"/>
                  </a:rPr>
                  <a:t>  </a:t>
                </a:r>
                <a:r>
                  <a:rPr lang="en-US" sz="3800" dirty="0">
                    <a:solidFill>
                      <a:schemeClr val="accent4">
                        <a:lumMod val="50000"/>
                      </a:schemeClr>
                    </a:solidFill>
                    <a:latin typeface="Arial" pitchFamily="34" charset="0"/>
                    <a:cs typeface="Arial" pitchFamily="34" charset="0"/>
                  </a:rPr>
                  <a:t>= </a:t>
                </a:r>
                <a:r>
                  <a:rPr lang="en-US" sz="3800" dirty="0" smtClean="0">
                    <a:solidFill>
                      <a:schemeClr val="accent4">
                        <a:lumMod val="50000"/>
                      </a:schemeClr>
                    </a:solidFill>
                    <a:latin typeface="Arial" pitchFamily="34" charset="0"/>
                    <a:cs typeface="Arial" pitchFamily="34" charset="0"/>
                  </a:rPr>
                  <a:t>NH</a:t>
                </a:r>
                <a:r>
                  <a:rPr lang="en-US" sz="3800" baseline="-25000" dirty="0" smtClean="0">
                    <a:solidFill>
                      <a:schemeClr val="accent4">
                        <a:lumMod val="50000"/>
                      </a:schemeClr>
                    </a:solidFill>
                    <a:latin typeface="Arial" pitchFamily="34" charset="0"/>
                    <a:cs typeface="Arial" pitchFamily="34" charset="0"/>
                  </a:rPr>
                  <a:t>4</a:t>
                </a:r>
                <a:r>
                  <a:rPr lang="en-US" sz="3800" dirty="0" smtClean="0">
                    <a:solidFill>
                      <a:schemeClr val="accent4">
                        <a:lumMod val="50000"/>
                      </a:schemeClr>
                    </a:solidFill>
                    <a:latin typeface="Arial" pitchFamily="34" charset="0"/>
                    <a:cs typeface="Arial" pitchFamily="34" charset="0"/>
                  </a:rPr>
                  <a:t>Cl</a:t>
                </a:r>
                <a:r>
                  <a:rPr lang="en-US" sz="3800" baseline="30000" dirty="0">
                    <a:solidFill>
                      <a:schemeClr val="accent4">
                        <a:lumMod val="50000"/>
                      </a:schemeClr>
                    </a:solidFill>
                    <a:latin typeface="Arial" pitchFamily="34" charset="0"/>
                    <a:cs typeface="Arial" pitchFamily="34" charset="0"/>
                  </a:rPr>
                  <a:t> </a:t>
                </a:r>
                <a:r>
                  <a:rPr lang="en-US" sz="3800" dirty="0" smtClean="0">
                    <a:solidFill>
                      <a:schemeClr val="accent4">
                        <a:lumMod val="50000"/>
                      </a:schemeClr>
                    </a:solidFill>
                    <a:latin typeface="Arial" pitchFamily="34" charset="0"/>
                    <a:cs typeface="Arial" pitchFamily="34" charset="0"/>
                  </a:rPr>
                  <a:t>(r) </a:t>
                </a:r>
                <a:endParaRPr lang="en-US" sz="3800" dirty="0">
                  <a:solidFill>
                    <a:schemeClr val="accent4">
                      <a:lumMod val="50000"/>
                    </a:schemeClr>
                  </a:solidFill>
                  <a:latin typeface="Arial" pitchFamily="34" charset="0"/>
                  <a:cs typeface="Arial" pitchFamily="34" charset="0"/>
                </a:endParaRPr>
              </a:p>
              <a:p>
                <a:pPr marL="0" indent="0">
                  <a:lnSpc>
                    <a:spcPct val="150000"/>
                  </a:lnSpc>
                  <a:buNone/>
                </a:pPr>
                <a:r>
                  <a:rPr lang="en-US" sz="3800" dirty="0" smtClean="0">
                    <a:solidFill>
                      <a:srgbClr val="008000"/>
                    </a:solidFill>
                    <a:latin typeface="Arial" pitchFamily="34" charset="0"/>
                    <a:cs typeface="Arial" pitchFamily="34" charset="0"/>
                  </a:rPr>
                  <a:t>6. </a:t>
                </a:r>
                <a:r>
                  <a:rPr lang="vi-VN" sz="3800" dirty="0">
                    <a:solidFill>
                      <a:srgbClr val="008000"/>
                    </a:solidFill>
                    <a:latin typeface="Arial" pitchFamily="34" charset="0"/>
                    <a:cs typeface="Arial" pitchFamily="34" charset="0"/>
                  </a:rPr>
                  <a:t>   </a:t>
                </a:r>
                <a14:m>
                  <m:oMath xmlns:m="http://schemas.openxmlformats.org/officeDocument/2006/math">
                    <m:f>
                      <m:fPr>
                        <m:ctrlPr>
                          <a:rPr lang="en-US" sz="3800" i="1" smtClean="0">
                            <a:solidFill>
                              <a:srgbClr val="008000"/>
                            </a:solidFill>
                            <a:latin typeface="Cambria Math"/>
                            <a:cs typeface="Times New Roman" panose="02020603050405020304" pitchFamily="18" charset="0"/>
                          </a:rPr>
                        </m:ctrlPr>
                      </m:fPr>
                      <m:num>
                        <m:r>
                          <a:rPr lang="vi-VN" sz="3800" i="1">
                            <a:solidFill>
                              <a:srgbClr val="008000"/>
                            </a:solidFill>
                            <a:latin typeface="Cambria Math" panose="02040503050406030204" pitchFamily="18" charset="0"/>
                            <a:cs typeface="Times New Roman" panose="02020603050405020304" pitchFamily="18" charset="0"/>
                          </a:rPr>
                          <m:t>1</m:t>
                        </m:r>
                      </m:num>
                      <m:den>
                        <m:r>
                          <a:rPr lang="vi-VN" sz="3800" i="1">
                            <a:solidFill>
                              <a:srgbClr val="008000"/>
                            </a:solidFill>
                            <a:latin typeface="Cambria Math" panose="02040503050406030204" pitchFamily="18" charset="0"/>
                            <a:cs typeface="Times New Roman" panose="02020603050405020304" pitchFamily="18" charset="0"/>
                          </a:rPr>
                          <m:t>2</m:t>
                        </m:r>
                      </m:den>
                    </m:f>
                  </m:oMath>
                </a14:m>
                <a:r>
                  <a:rPr lang="en-US" sz="3800" dirty="0">
                    <a:solidFill>
                      <a:srgbClr val="008000"/>
                    </a:solidFill>
                    <a:latin typeface="Arial" pitchFamily="34" charset="0"/>
                    <a:cs typeface="Arial" pitchFamily="34" charset="0"/>
                  </a:rPr>
                  <a:t> H</a:t>
                </a:r>
                <a:r>
                  <a:rPr lang="en-US" sz="3800" baseline="-25000" dirty="0">
                    <a:solidFill>
                      <a:srgbClr val="008000"/>
                    </a:solidFill>
                    <a:latin typeface="Arial" pitchFamily="34" charset="0"/>
                    <a:cs typeface="Arial" pitchFamily="34" charset="0"/>
                  </a:rPr>
                  <a:t>2</a:t>
                </a:r>
                <a:r>
                  <a:rPr lang="en-US" sz="3800" dirty="0">
                    <a:solidFill>
                      <a:srgbClr val="008000"/>
                    </a:solidFill>
                    <a:latin typeface="Arial" pitchFamily="34" charset="0"/>
                    <a:cs typeface="Arial" pitchFamily="34" charset="0"/>
                  </a:rPr>
                  <a:t>(k) + </a:t>
                </a:r>
                <a14:m>
                  <m:oMath xmlns:m="http://schemas.openxmlformats.org/officeDocument/2006/math">
                    <m:f>
                      <m:fPr>
                        <m:ctrlPr>
                          <a:rPr lang="en-US" sz="3800" i="1">
                            <a:solidFill>
                              <a:srgbClr val="008000"/>
                            </a:solidFill>
                            <a:latin typeface="Cambria Math"/>
                            <a:cs typeface="Times New Roman" panose="02020603050405020304" pitchFamily="18" charset="0"/>
                          </a:rPr>
                        </m:ctrlPr>
                      </m:fPr>
                      <m:num>
                        <m:r>
                          <a:rPr lang="vi-VN" sz="3800" i="1">
                            <a:solidFill>
                              <a:srgbClr val="008000"/>
                            </a:solidFill>
                            <a:latin typeface="Cambria Math" panose="02040503050406030204" pitchFamily="18" charset="0"/>
                            <a:cs typeface="Times New Roman" panose="02020603050405020304" pitchFamily="18" charset="0"/>
                          </a:rPr>
                          <m:t>1</m:t>
                        </m:r>
                      </m:num>
                      <m:den>
                        <m:r>
                          <a:rPr lang="vi-VN" sz="3800" i="1">
                            <a:solidFill>
                              <a:srgbClr val="008000"/>
                            </a:solidFill>
                            <a:latin typeface="Cambria Math" panose="02040503050406030204" pitchFamily="18" charset="0"/>
                            <a:cs typeface="Times New Roman" panose="02020603050405020304" pitchFamily="18" charset="0"/>
                          </a:rPr>
                          <m:t>2</m:t>
                        </m:r>
                      </m:den>
                    </m:f>
                  </m:oMath>
                </a14:m>
                <a:r>
                  <a:rPr lang="en-US" sz="3800" dirty="0">
                    <a:solidFill>
                      <a:srgbClr val="008000"/>
                    </a:solidFill>
                    <a:latin typeface="Arial" pitchFamily="34" charset="0"/>
                    <a:cs typeface="Arial" pitchFamily="34" charset="0"/>
                  </a:rPr>
                  <a:t> I</a:t>
                </a:r>
                <a:r>
                  <a:rPr lang="en-US" sz="3800" baseline="-25000" dirty="0">
                    <a:solidFill>
                      <a:srgbClr val="008000"/>
                    </a:solidFill>
                    <a:latin typeface="Arial" pitchFamily="34" charset="0"/>
                    <a:cs typeface="Arial" pitchFamily="34" charset="0"/>
                  </a:rPr>
                  <a:t>2</a:t>
                </a:r>
                <a:r>
                  <a:rPr lang="en-US" sz="3800" dirty="0">
                    <a:solidFill>
                      <a:srgbClr val="008000"/>
                    </a:solidFill>
                    <a:latin typeface="Arial" pitchFamily="34" charset="0"/>
                    <a:cs typeface="Arial" pitchFamily="34" charset="0"/>
                  </a:rPr>
                  <a:t>(r)  +   </a:t>
                </a:r>
                <a:r>
                  <a:rPr lang="en-US" sz="3800" dirty="0" err="1">
                    <a:solidFill>
                      <a:srgbClr val="008000"/>
                    </a:solidFill>
                    <a:latin typeface="Arial" pitchFamily="34" charset="0"/>
                    <a:cs typeface="Arial" pitchFamily="34" charset="0"/>
                  </a:rPr>
                  <a:t>aq</a:t>
                </a:r>
                <a:r>
                  <a:rPr lang="en-US" sz="3800" dirty="0">
                    <a:solidFill>
                      <a:srgbClr val="008000"/>
                    </a:solidFill>
                    <a:latin typeface="Arial" pitchFamily="34" charset="0"/>
                    <a:cs typeface="Arial" pitchFamily="34" charset="0"/>
                  </a:rPr>
                  <a:t>    =   </a:t>
                </a:r>
                <a:r>
                  <a:rPr lang="en-US" sz="3800" dirty="0" smtClean="0">
                    <a:solidFill>
                      <a:srgbClr val="008000"/>
                    </a:solidFill>
                    <a:latin typeface="Arial" pitchFamily="34" charset="0"/>
                    <a:cs typeface="Arial" pitchFamily="34" charset="0"/>
                  </a:rPr>
                  <a:t>HI (</a:t>
                </a:r>
                <a:r>
                  <a:rPr lang="en-US" sz="3800" dirty="0" err="1">
                    <a:solidFill>
                      <a:srgbClr val="008000"/>
                    </a:solidFill>
                    <a:latin typeface="Arial" pitchFamily="34" charset="0"/>
                    <a:cs typeface="Arial" pitchFamily="34" charset="0"/>
                  </a:rPr>
                  <a:t>aq</a:t>
                </a:r>
                <a:r>
                  <a:rPr lang="en-US" sz="3800" dirty="0">
                    <a:solidFill>
                      <a:srgbClr val="008000"/>
                    </a:solidFill>
                    <a:latin typeface="Arial" pitchFamily="34" charset="0"/>
                    <a:cs typeface="Arial" pitchFamily="34" charset="0"/>
                  </a:rPr>
                  <a:t>)  </a:t>
                </a:r>
              </a:p>
              <a:p>
                <a:pPr marL="0" indent="0">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 xmlns:a16="http://schemas.microsoft.com/office/drawing/2014/main" xmlns:a14="http://schemas.microsoft.com/office/drawing/2010/main" id="{12C5C7C2-8597-4963-888A-DF874C7C3B61}"/>
                  </a:ext>
                </a:extLst>
              </p:cNvPr>
              <p:cNvSpPr>
                <a:spLocks noGrp="1" noRot="1" noChangeAspect="1" noMove="1" noResize="1" noEditPoints="1" noAdjustHandles="1" noChangeArrowheads="1" noChangeShapeType="1" noTextEdit="1"/>
              </p:cNvSpPr>
              <p:nvPr>
                <p:ph idx="1"/>
              </p:nvPr>
            </p:nvSpPr>
            <p:spPr>
              <a:xfrm>
                <a:off x="141742" y="66888"/>
                <a:ext cx="11948719" cy="6858000"/>
              </a:xfrm>
              <a:blipFill rotWithShape="1">
                <a:blip r:embed="rId2"/>
                <a:stretch>
                  <a:fillRect l="-1071"/>
                </a:stretch>
              </a:blipFill>
            </p:spPr>
            <p:txBody>
              <a:bodyPr/>
              <a:lstStyle/>
              <a:p>
                <a:r>
                  <a:rPr lang="en-US">
                    <a:noFill/>
                  </a:rPr>
                  <a:t> </a:t>
                </a:r>
              </a:p>
            </p:txBody>
          </p:sp>
        </mc:Fallback>
      </mc:AlternateContent>
    </p:spTree>
    <p:extLst>
      <p:ext uri="{BB962C8B-B14F-4D97-AF65-F5344CB8AC3E}">
        <p14:creationId xmlns:p14="http://schemas.microsoft.com/office/powerpoint/2010/main" val="104005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436" y="1598307"/>
            <a:ext cx="11686564" cy="3586089"/>
          </a:xfrm>
        </p:spPr>
        <p:txBody>
          <a:bodyPr>
            <a:noAutofit/>
          </a:bodyPr>
          <a:lstStyle/>
          <a:p>
            <a:pPr>
              <a:lnSpc>
                <a:spcPct val="150000"/>
              </a:lnSpc>
            </a:pPr>
            <a:r>
              <a:rPr lang="vi-VN" sz="2800" b="1" dirty="0" smtClean="0">
                <a:latin typeface="Arial" pitchFamily="34" charset="0"/>
                <a:cs typeface="Arial" pitchFamily="34" charset="0"/>
              </a:rPr>
              <a:t>Câu 8</a:t>
            </a:r>
            <a:r>
              <a:rPr lang="vi-VN" sz="2800" dirty="0" smtClean="0">
                <a:latin typeface="Arial" pitchFamily="34" charset="0"/>
                <a:cs typeface="Arial" pitchFamily="34" charset="0"/>
              </a:rPr>
              <a:t> . Trường hợp nào pư có khả năng tự phát theo nhiệt động học:</a:t>
            </a:r>
            <a:br>
              <a:rPr lang="vi-VN" sz="2800" dirty="0" smtClean="0">
                <a:latin typeface="Arial" pitchFamily="34" charset="0"/>
                <a:cs typeface="Arial" pitchFamily="34" charset="0"/>
              </a:rPr>
            </a:br>
            <a:r>
              <a:rPr lang="vi-VN" sz="2800" dirty="0" smtClean="0">
                <a:solidFill>
                  <a:srgbClr val="008000"/>
                </a:solidFill>
                <a:latin typeface="Arial" pitchFamily="34" charset="0"/>
                <a:cs typeface="Arial" pitchFamily="34" charset="0"/>
              </a:rPr>
              <a:t>1. </a:t>
            </a:r>
            <a:r>
              <a:rPr lang="vi-VN" sz="2800" dirty="0" smtClean="0">
                <a:solidFill>
                  <a:srgbClr val="008000"/>
                </a:solidFill>
                <a:latin typeface="Arial" pitchFamily="34" charset="0"/>
                <a:cs typeface="Arial" pitchFamily="34" charset="0"/>
                <a:sym typeface="Symbol"/>
              </a:rPr>
              <a:t>H &lt; 0 , S &gt; 0</a:t>
            </a:r>
            <a:br>
              <a:rPr lang="vi-VN" sz="2800" dirty="0" smtClean="0">
                <a:solidFill>
                  <a:srgbClr val="008000"/>
                </a:solidFill>
                <a:latin typeface="Arial" pitchFamily="34" charset="0"/>
                <a:cs typeface="Arial" pitchFamily="34" charset="0"/>
                <a:sym typeface="Symbol"/>
              </a:rPr>
            </a:br>
            <a:r>
              <a:rPr lang="vi-VN" sz="2800" dirty="0" smtClean="0">
                <a:solidFill>
                  <a:srgbClr val="CC00FF"/>
                </a:solidFill>
                <a:latin typeface="Arial" pitchFamily="34" charset="0"/>
                <a:cs typeface="Arial" pitchFamily="34" charset="0"/>
                <a:sym typeface="Symbol"/>
              </a:rPr>
              <a:t>2. H &lt; 0 , S &lt; 0</a:t>
            </a:r>
            <a:br>
              <a:rPr lang="vi-VN" sz="2800" dirty="0" smtClean="0">
                <a:solidFill>
                  <a:srgbClr val="CC00FF"/>
                </a:solidFill>
                <a:latin typeface="Arial" pitchFamily="34" charset="0"/>
                <a:cs typeface="Arial" pitchFamily="34" charset="0"/>
                <a:sym typeface="Symbol"/>
              </a:rPr>
            </a:br>
            <a:r>
              <a:rPr lang="vi-VN" sz="2800" dirty="0" smtClean="0">
                <a:latin typeface="Arial" pitchFamily="34" charset="0"/>
                <a:cs typeface="Arial" pitchFamily="34" charset="0"/>
                <a:sym typeface="Symbol"/>
              </a:rPr>
              <a:t>3. H &gt; 0 , S &gt; 0</a:t>
            </a:r>
            <a:br>
              <a:rPr lang="vi-VN" sz="2800" dirty="0" smtClean="0">
                <a:latin typeface="Arial" pitchFamily="34" charset="0"/>
                <a:cs typeface="Arial" pitchFamily="34" charset="0"/>
                <a:sym typeface="Symbol"/>
              </a:rPr>
            </a:br>
            <a:r>
              <a:rPr lang="vi-VN" sz="2800" dirty="0" smtClean="0">
                <a:solidFill>
                  <a:srgbClr val="00B0F0"/>
                </a:solidFill>
                <a:latin typeface="Arial" pitchFamily="34" charset="0"/>
                <a:cs typeface="Arial" pitchFamily="34" charset="0"/>
                <a:sym typeface="Symbol"/>
              </a:rPr>
              <a:t>4. H &gt; 0 , S &lt; 0</a:t>
            </a:r>
            <a:br>
              <a:rPr lang="vi-VN" sz="2800" dirty="0" smtClean="0">
                <a:solidFill>
                  <a:srgbClr val="00B0F0"/>
                </a:solidFill>
                <a:latin typeface="Arial" pitchFamily="34" charset="0"/>
                <a:cs typeface="Arial" pitchFamily="34" charset="0"/>
                <a:sym typeface="Symbol"/>
              </a:rPr>
            </a:br>
            <a:r>
              <a:rPr lang="vi-VN" sz="2800" dirty="0" smtClean="0">
                <a:solidFill>
                  <a:srgbClr val="C00000"/>
                </a:solidFill>
                <a:latin typeface="Arial" pitchFamily="34" charset="0"/>
                <a:cs typeface="Arial" pitchFamily="34" charset="0"/>
                <a:sym typeface="Symbol"/>
              </a:rPr>
              <a:t>5. G &lt; 0</a:t>
            </a:r>
            <a:br>
              <a:rPr lang="vi-VN" sz="2800" dirty="0" smtClean="0">
                <a:solidFill>
                  <a:srgbClr val="C00000"/>
                </a:solidFill>
                <a:latin typeface="Arial" pitchFamily="34" charset="0"/>
                <a:cs typeface="Arial" pitchFamily="34" charset="0"/>
                <a:sym typeface="Symbol"/>
              </a:rPr>
            </a:br>
            <a:r>
              <a:rPr lang="vi-VN" sz="2800" dirty="0" smtClean="0">
                <a:latin typeface="Arial" pitchFamily="34" charset="0"/>
                <a:cs typeface="Arial" pitchFamily="34" charset="0"/>
                <a:sym typeface="Symbol"/>
              </a:rPr>
              <a:t>6. G</a:t>
            </a:r>
            <a:r>
              <a:rPr lang="vi-VN" sz="2800" baseline="30000" dirty="0" smtClean="0">
                <a:latin typeface="Arial" pitchFamily="34" charset="0"/>
                <a:cs typeface="Arial" pitchFamily="34" charset="0"/>
                <a:sym typeface="Symbol"/>
              </a:rPr>
              <a:t>0</a:t>
            </a:r>
            <a:r>
              <a:rPr lang="vi-VN" sz="2800" dirty="0" smtClean="0">
                <a:latin typeface="Arial" pitchFamily="34" charset="0"/>
                <a:cs typeface="Arial" pitchFamily="34" charset="0"/>
                <a:sym typeface="Symbol"/>
              </a:rPr>
              <a:t> &lt; 0</a:t>
            </a:r>
            <a:br>
              <a:rPr lang="vi-VN" sz="2800" dirty="0" smtClean="0">
                <a:latin typeface="Arial" pitchFamily="34" charset="0"/>
                <a:cs typeface="Arial" pitchFamily="34" charset="0"/>
                <a:sym typeface="Symbol"/>
              </a:rPr>
            </a:br>
            <a:r>
              <a:rPr lang="vi-VN" sz="2800" dirty="0" smtClean="0">
                <a:solidFill>
                  <a:srgbClr val="0000FF"/>
                </a:solidFill>
                <a:latin typeface="Arial" pitchFamily="34" charset="0"/>
                <a:cs typeface="Arial" pitchFamily="34" charset="0"/>
                <a:sym typeface="Symbol"/>
              </a:rPr>
              <a:t>7. Công dãn nở A &gt; 0</a:t>
            </a:r>
            <a:br>
              <a:rPr lang="vi-VN" sz="2800" dirty="0" smtClean="0">
                <a:solidFill>
                  <a:srgbClr val="0000FF"/>
                </a:solidFill>
                <a:latin typeface="Arial" pitchFamily="34" charset="0"/>
                <a:cs typeface="Arial" pitchFamily="34" charset="0"/>
                <a:sym typeface="Symbol"/>
              </a:rPr>
            </a:br>
            <a:r>
              <a:rPr lang="vi-VN" sz="2800" dirty="0" smtClean="0">
                <a:latin typeface="Arial" pitchFamily="34" charset="0"/>
                <a:cs typeface="Arial" pitchFamily="34" charset="0"/>
                <a:sym typeface="Symbol"/>
              </a:rPr>
              <a:t>8. Công có ích A’&gt; 0</a:t>
            </a:r>
            <a:br>
              <a:rPr lang="vi-VN" sz="2800" dirty="0" smtClean="0">
                <a:latin typeface="Arial" pitchFamily="34" charset="0"/>
                <a:cs typeface="Arial" pitchFamily="34" charset="0"/>
                <a:sym typeface="Symbol"/>
              </a:rPr>
            </a:br>
            <a:r>
              <a:rPr lang="vi-VN" sz="2800" dirty="0" smtClean="0">
                <a:solidFill>
                  <a:srgbClr val="CC00FF"/>
                </a:solidFill>
                <a:latin typeface="Arial" pitchFamily="34" charset="0"/>
                <a:cs typeface="Arial" pitchFamily="34" charset="0"/>
                <a:sym typeface="Symbol"/>
              </a:rPr>
              <a:t>9. Hằng số cân bằng K &gt; 1</a:t>
            </a:r>
            <a:br>
              <a:rPr lang="vi-VN" sz="2800" dirty="0" smtClean="0">
                <a:solidFill>
                  <a:srgbClr val="CC00FF"/>
                </a:solidFill>
                <a:latin typeface="Arial" pitchFamily="34" charset="0"/>
                <a:cs typeface="Arial" pitchFamily="34" charset="0"/>
                <a:sym typeface="Symbol"/>
              </a:rPr>
            </a:br>
            <a:r>
              <a:rPr lang="vi-VN" sz="2800" dirty="0" smtClean="0">
                <a:solidFill>
                  <a:schemeClr val="accent4">
                    <a:lumMod val="50000"/>
                  </a:schemeClr>
                </a:solidFill>
                <a:latin typeface="Arial" pitchFamily="34" charset="0"/>
                <a:cs typeface="Arial" pitchFamily="34" charset="0"/>
                <a:sym typeface="Symbol"/>
              </a:rPr>
              <a:t>10. G &gt; 0</a:t>
            </a:r>
            <a:endParaRPr lang="en-US" sz="2800" dirty="0">
              <a:solidFill>
                <a:schemeClr val="accent4">
                  <a:lumMod val="50000"/>
                </a:schemeClr>
              </a:solidFill>
              <a:latin typeface="Arial" pitchFamily="34" charset="0"/>
              <a:cs typeface="Arial" pitchFamily="34" charset="0"/>
            </a:endParaRPr>
          </a:p>
        </p:txBody>
      </p:sp>
      <p:sp>
        <p:nvSpPr>
          <p:cNvPr id="3" name="Content Placeholder 2"/>
          <p:cNvSpPr>
            <a:spLocks noGrp="1"/>
          </p:cNvSpPr>
          <p:nvPr>
            <p:ph idx="1"/>
          </p:nvPr>
        </p:nvSpPr>
        <p:spPr>
          <a:xfrm>
            <a:off x="5292753" y="679507"/>
            <a:ext cx="3809303" cy="1881800"/>
          </a:xfrm>
        </p:spPr>
        <p:txBody>
          <a:bodyPr>
            <a:normAutofit/>
          </a:bodyPr>
          <a:lstStyle/>
          <a:p>
            <a:pPr marL="0" indent="0">
              <a:buNone/>
            </a:pPr>
            <a:r>
              <a:rPr lang="vi-VN" sz="3600" b="1" dirty="0" smtClean="0">
                <a:solidFill>
                  <a:srgbClr val="FF0000"/>
                </a:solidFill>
              </a:rPr>
              <a:t>1, 2, 3, 5, 6, 8, 9</a:t>
            </a:r>
            <a:endParaRPr lang="en-US" sz="3600" b="1" dirty="0">
              <a:solidFill>
                <a:srgbClr val="FF0000"/>
              </a:solidFill>
            </a:endParaRPr>
          </a:p>
        </p:txBody>
      </p:sp>
    </p:spTree>
    <p:extLst>
      <p:ext uri="{BB962C8B-B14F-4D97-AF65-F5344CB8AC3E}">
        <p14:creationId xmlns:p14="http://schemas.microsoft.com/office/powerpoint/2010/main" val="1238193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3625" y="1377199"/>
                <a:ext cx="12034422" cy="1525799"/>
              </a:xfrm>
            </p:spPr>
            <p:txBody>
              <a:bodyPr>
                <a:normAutofit lnSpcReduction="10000"/>
              </a:bodyPr>
              <a:lstStyle/>
              <a:p>
                <a:pPr marL="0" indent="0">
                  <a:buNone/>
                </a:pPr>
                <a:r>
                  <a:rPr lang="en-US" dirty="0" smtClean="0">
                    <a:latin typeface="Arial" pitchFamily="34" charset="0"/>
                    <a:cs typeface="Arial" pitchFamily="34" charset="0"/>
                  </a:rPr>
                  <a:t>∆G</a:t>
                </a:r>
                <a:r>
                  <a:rPr lang="en-US" baseline="-25000" dirty="0">
                    <a:latin typeface="Arial" pitchFamily="34" charset="0"/>
                    <a:cs typeface="Arial" pitchFamily="34" charset="0"/>
                  </a:rPr>
                  <a:t>T</a:t>
                </a:r>
                <a:r>
                  <a:rPr lang="en-US" dirty="0" smtClean="0">
                    <a:latin typeface="Arial" pitchFamily="34" charset="0"/>
                    <a:cs typeface="Arial" pitchFamily="34" charset="0"/>
                  </a:rPr>
                  <a:t> </a:t>
                </a:r>
                <a:r>
                  <a:rPr lang="en-US" dirty="0">
                    <a:latin typeface="Arial" pitchFamily="34" charset="0"/>
                    <a:cs typeface="Arial" pitchFamily="34" charset="0"/>
                  </a:rPr>
                  <a:t>= ∆</a:t>
                </a:r>
                <a:r>
                  <a:rPr lang="en-US" dirty="0" smtClean="0">
                    <a:latin typeface="Arial" pitchFamily="34" charset="0"/>
                    <a:cs typeface="Arial" pitchFamily="34" charset="0"/>
                  </a:rPr>
                  <a:t>G</a:t>
                </a:r>
                <a:r>
                  <a:rPr lang="en-US" baseline="30000" dirty="0" smtClean="0">
                    <a:latin typeface="Arial" pitchFamily="34" charset="0"/>
                    <a:cs typeface="Arial" pitchFamily="34" charset="0"/>
                  </a:rPr>
                  <a:t>0</a:t>
                </a:r>
                <a:r>
                  <a:rPr lang="en-US" baseline="-25000" dirty="0">
                    <a:latin typeface="Arial" pitchFamily="34" charset="0"/>
                    <a:cs typeface="Arial" pitchFamily="34" charset="0"/>
                  </a:rPr>
                  <a:t>T</a:t>
                </a:r>
                <a:r>
                  <a:rPr lang="en-US" dirty="0" smtClean="0">
                    <a:latin typeface="Arial" pitchFamily="34" charset="0"/>
                    <a:cs typeface="Arial" pitchFamily="34" charset="0"/>
                  </a:rPr>
                  <a:t>  </a:t>
                </a:r>
                <a:r>
                  <a:rPr lang="en-US" dirty="0">
                    <a:latin typeface="Arial" pitchFamily="34" charset="0"/>
                    <a:cs typeface="Arial" pitchFamily="34" charset="0"/>
                  </a:rPr>
                  <a:t>+  </a:t>
                </a:r>
                <a:r>
                  <a:rPr lang="en-US" dirty="0" err="1" smtClean="0">
                    <a:latin typeface="Arial" pitchFamily="34" charset="0"/>
                    <a:cs typeface="Arial" pitchFamily="34" charset="0"/>
                  </a:rPr>
                  <a:t>RTln</a:t>
                </a:r>
                <a:r>
                  <a:rPr lang="en-US" dirty="0" smtClean="0">
                    <a:latin typeface="Arial" pitchFamily="34" charset="0"/>
                    <a:cs typeface="Arial" pitchFamily="34" charset="0"/>
                  </a:rPr>
                  <a:t> Q</a:t>
                </a:r>
                <a:r>
                  <a:rPr lang="en-US" baseline="-25000" dirty="0">
                    <a:latin typeface="Arial" pitchFamily="34" charset="0"/>
                    <a:cs typeface="Arial" pitchFamily="34" charset="0"/>
                    <a:sym typeface="Symbol"/>
                  </a:rPr>
                  <a:t> </a:t>
                </a:r>
                <a:r>
                  <a:rPr lang="en-US" dirty="0" smtClean="0">
                    <a:latin typeface="Arial" pitchFamily="34" charset="0"/>
                    <a:cs typeface="Arial" pitchFamily="34" charset="0"/>
                  </a:rPr>
                  <a:t>;  </a:t>
                </a:r>
                <a:r>
                  <a:rPr lang="en-US" dirty="0" err="1" smtClean="0">
                    <a:latin typeface="Arial" pitchFamily="34" charset="0"/>
                    <a:cs typeface="Arial" pitchFamily="34" charset="0"/>
                  </a:rPr>
                  <a:t>Tỉ</a:t>
                </a:r>
                <a:r>
                  <a:rPr lang="en-US" dirty="0" smtClean="0">
                    <a:latin typeface="Arial" pitchFamily="34" charset="0"/>
                    <a:cs typeface="Arial" pitchFamily="34" charset="0"/>
                  </a:rPr>
                  <a:t> </a:t>
                </a:r>
                <a:r>
                  <a:rPr lang="en-US" dirty="0" err="1" smtClean="0">
                    <a:latin typeface="Arial" pitchFamily="34" charset="0"/>
                    <a:cs typeface="Arial" pitchFamily="34" charset="0"/>
                  </a:rPr>
                  <a:t>số</a:t>
                </a:r>
                <a:r>
                  <a:rPr lang="en-US" dirty="0" smtClean="0">
                    <a:latin typeface="Arial" pitchFamily="34" charset="0"/>
                    <a:cs typeface="Arial" pitchFamily="34" charset="0"/>
                  </a:rPr>
                  <a:t> </a:t>
                </a:r>
                <a:r>
                  <a:rPr lang="en-US" dirty="0" err="1" smtClean="0">
                    <a:latin typeface="Arial" pitchFamily="34" charset="0"/>
                    <a:cs typeface="Arial" pitchFamily="34" charset="0"/>
                  </a:rPr>
                  <a:t>pư</a:t>
                </a:r>
                <a:r>
                  <a:rPr lang="en-US" dirty="0" smtClean="0">
                    <a:latin typeface="Arial" pitchFamily="34" charset="0"/>
                    <a:cs typeface="Arial" pitchFamily="34" charset="0"/>
                  </a:rPr>
                  <a:t>: </a:t>
                </a:r>
                <a:r>
                  <a:rPr lang="en-US" dirty="0" smtClean="0">
                    <a:latin typeface="Arial" pitchFamily="34" charset="0"/>
                    <a:cs typeface="Arial" pitchFamily="34" charset="0"/>
                    <a:sym typeface="Symbol"/>
                  </a:rPr>
                  <a:t>Q = </a:t>
                </a:r>
                <a14:m>
                  <m:oMath xmlns:m="http://schemas.openxmlformats.org/officeDocument/2006/math">
                    <m:r>
                      <a:rPr lang="en-US" b="0" i="1" smtClean="0">
                        <a:latin typeface="Cambria Math"/>
                        <a:cs typeface="Arial" pitchFamily="34" charset="0"/>
                        <a:sym typeface="Symbol"/>
                      </a:rPr>
                      <m:t>{</m:t>
                    </m:r>
                  </m:oMath>
                </a14:m>
                <a:r>
                  <a:rPr lang="en-US" dirty="0" smtClean="0">
                    <a:latin typeface="Arial" pitchFamily="34" charset="0"/>
                    <a:cs typeface="Arial" pitchFamily="34" charset="0"/>
                    <a:sym typeface="Symbol"/>
                  </a:rPr>
                  <a:t> </a:t>
                </a:r>
                <a14:m>
                  <m:oMath xmlns:m="http://schemas.openxmlformats.org/officeDocument/2006/math">
                    <m:f>
                      <m:fPr>
                        <m:ctrlPr>
                          <a:rPr lang="en-US" i="1" smtClean="0">
                            <a:latin typeface="Cambria Math"/>
                            <a:cs typeface="Arial" pitchFamily="34" charset="0"/>
                            <a:sym typeface="Symbol"/>
                          </a:rPr>
                        </m:ctrlPr>
                      </m:fPr>
                      <m:num>
                        <m:sSup>
                          <m:sSupPr>
                            <m:ctrlPr>
                              <a:rPr lang="en-US" i="1" smtClean="0">
                                <a:latin typeface="Cambria Math"/>
                                <a:cs typeface="Arial" pitchFamily="34" charset="0"/>
                                <a:sym typeface="Symbol"/>
                              </a:rPr>
                            </m:ctrlPr>
                          </m:sSupPr>
                          <m:e>
                            <m:r>
                              <a:rPr lang="en-US" b="0" i="1" smtClean="0">
                                <a:latin typeface="Cambria Math"/>
                                <a:cs typeface="Arial" pitchFamily="34" charset="0"/>
                                <a:sym typeface="Symbol"/>
                              </a:rPr>
                              <m:t>[</m:t>
                            </m:r>
                            <m:r>
                              <a:rPr lang="en-US" b="0" i="1" smtClean="0">
                                <a:latin typeface="Cambria Math"/>
                                <a:cs typeface="Arial" pitchFamily="34" charset="0"/>
                                <a:sym typeface="Symbol"/>
                              </a:rPr>
                              <m:t>𝐶𝑒</m:t>
                            </m:r>
                          </m:e>
                          <m:sup>
                            <m:r>
                              <a:rPr lang="en-US" b="0" i="1" smtClean="0">
                                <a:latin typeface="Cambria Math"/>
                                <a:cs typeface="Arial" pitchFamily="34" charset="0"/>
                                <a:sym typeface="Symbol"/>
                              </a:rPr>
                              <m:t>3+</m:t>
                            </m:r>
                          </m:sup>
                        </m:sSup>
                        <m:sSup>
                          <m:sSupPr>
                            <m:ctrlPr>
                              <a:rPr lang="en-US" i="1" smtClean="0">
                                <a:latin typeface="Cambria Math"/>
                                <a:cs typeface="Arial" pitchFamily="34" charset="0"/>
                                <a:sym typeface="Symbol"/>
                              </a:rPr>
                            </m:ctrlPr>
                          </m:sSupPr>
                          <m:e>
                            <m:r>
                              <a:rPr lang="en-US" b="0" i="1" smtClean="0">
                                <a:latin typeface="Cambria Math"/>
                                <a:cs typeface="Arial" pitchFamily="34" charset="0"/>
                                <a:sym typeface="Symbol"/>
                              </a:rPr>
                              <m:t>][</m:t>
                            </m:r>
                            <m:r>
                              <a:rPr lang="en-US" b="0" i="1" smtClean="0">
                                <a:latin typeface="Cambria Math"/>
                                <a:cs typeface="Arial" pitchFamily="34" charset="0"/>
                                <a:sym typeface="Symbol"/>
                              </a:rPr>
                              <m:t>𝐻</m:t>
                            </m:r>
                            <m:r>
                              <a:rPr lang="en-US" b="0" i="1" smtClean="0">
                                <a:latin typeface="Cambria Math"/>
                                <a:cs typeface="Arial" pitchFamily="34" charset="0"/>
                                <a:sym typeface="Symbol"/>
                              </a:rPr>
                              <m:t>]</m:t>
                            </m:r>
                          </m:e>
                          <m:sup>
                            <m:r>
                              <a:rPr lang="en-US" b="0" i="1" smtClean="0">
                                <a:latin typeface="Cambria Math"/>
                                <a:cs typeface="Arial" pitchFamily="34" charset="0"/>
                                <a:sym typeface="Symbol"/>
                              </a:rPr>
                              <m:t>+</m:t>
                            </m:r>
                          </m:sup>
                        </m:sSup>
                      </m:num>
                      <m:den>
                        <m:sSup>
                          <m:sSupPr>
                            <m:ctrlPr>
                              <a:rPr lang="en-US" i="1" smtClean="0">
                                <a:latin typeface="Cambria Math"/>
                                <a:cs typeface="Arial" pitchFamily="34" charset="0"/>
                                <a:sym typeface="Symbol"/>
                              </a:rPr>
                            </m:ctrlPr>
                          </m:sSupPr>
                          <m:e>
                            <m:r>
                              <a:rPr lang="en-US" b="0" i="1" smtClean="0">
                                <a:latin typeface="Cambria Math"/>
                                <a:cs typeface="Arial" pitchFamily="34" charset="0"/>
                                <a:sym typeface="Symbol"/>
                              </a:rPr>
                              <m:t>[</m:t>
                            </m:r>
                            <m:r>
                              <a:rPr lang="en-US" b="0" i="1" smtClean="0">
                                <a:latin typeface="Cambria Math"/>
                                <a:cs typeface="Arial" pitchFamily="34" charset="0"/>
                                <a:sym typeface="Symbol"/>
                              </a:rPr>
                              <m:t>𝐶𝑒</m:t>
                            </m:r>
                          </m:e>
                          <m:sup>
                            <m:r>
                              <a:rPr lang="en-US" b="0" i="1" smtClean="0">
                                <a:latin typeface="Cambria Math"/>
                                <a:cs typeface="Arial" pitchFamily="34" charset="0"/>
                                <a:sym typeface="Symbol"/>
                              </a:rPr>
                              <m:t>4+</m:t>
                            </m:r>
                          </m:sup>
                        </m:sSup>
                        <m:sSub>
                          <m:sSubPr>
                            <m:ctrlPr>
                              <a:rPr lang="en-US" i="1" smtClean="0">
                                <a:latin typeface="Cambria Math"/>
                                <a:cs typeface="Arial" pitchFamily="34" charset="0"/>
                                <a:sym typeface="Symbol"/>
                              </a:rPr>
                            </m:ctrlPr>
                          </m:sSubPr>
                          <m:e>
                            <m:r>
                              <a:rPr lang="en-US" b="0" i="1" smtClean="0">
                                <a:latin typeface="Cambria Math"/>
                                <a:cs typeface="Arial" pitchFamily="34" charset="0"/>
                                <a:sym typeface="Symbol"/>
                              </a:rPr>
                              <m:t>][</m:t>
                            </m:r>
                            <m:r>
                              <a:rPr lang="en-US" b="0" i="1" smtClean="0">
                                <a:latin typeface="Cambria Math"/>
                                <a:cs typeface="Arial" pitchFamily="34" charset="0"/>
                                <a:sym typeface="Symbol"/>
                              </a:rPr>
                              <m:t>𝑃</m:t>
                            </m:r>
                          </m:e>
                          <m:sub>
                            <m:sSub>
                              <m:sSubPr>
                                <m:ctrlPr>
                                  <a:rPr lang="en-US" i="1" smtClean="0">
                                    <a:latin typeface="Cambria Math"/>
                                    <a:cs typeface="Arial" pitchFamily="34" charset="0"/>
                                    <a:sym typeface="Symbol"/>
                                  </a:rPr>
                                </m:ctrlPr>
                              </m:sSubPr>
                              <m:e>
                                <m:r>
                                  <a:rPr lang="en-US" b="0" i="1" smtClean="0">
                                    <a:latin typeface="Cambria Math"/>
                                    <a:cs typeface="Arial" pitchFamily="34" charset="0"/>
                                    <a:sym typeface="Symbol"/>
                                  </a:rPr>
                                  <m:t>𝐻</m:t>
                                </m:r>
                              </m:e>
                              <m:sub>
                                <m:r>
                                  <a:rPr lang="en-US" b="0" i="1" smtClean="0">
                                    <a:latin typeface="Cambria Math"/>
                                    <a:cs typeface="Arial" pitchFamily="34" charset="0"/>
                                    <a:sym typeface="Symbol"/>
                                  </a:rPr>
                                  <m:t>2</m:t>
                                </m:r>
                              </m:sub>
                            </m:sSub>
                          </m:sub>
                        </m:sSub>
                        <m:sSup>
                          <m:sSupPr>
                            <m:ctrlPr>
                              <a:rPr lang="en-US" i="1" smtClean="0">
                                <a:latin typeface="Cambria Math"/>
                                <a:cs typeface="Arial" pitchFamily="34" charset="0"/>
                                <a:sym typeface="Symbol"/>
                              </a:rPr>
                            </m:ctrlPr>
                          </m:sSupPr>
                          <m:e>
                            <m:r>
                              <a:rPr lang="en-US" b="0" i="1" smtClean="0">
                                <a:latin typeface="Cambria Math"/>
                                <a:cs typeface="Arial" pitchFamily="34" charset="0"/>
                                <a:sym typeface="Symbol"/>
                              </a:rPr>
                              <m:t>]</m:t>
                            </m:r>
                          </m:e>
                          <m:sup>
                            <m:r>
                              <a:rPr lang="en-US" b="0" i="1" smtClean="0">
                                <a:latin typeface="Cambria Math"/>
                                <a:cs typeface="Arial" pitchFamily="34" charset="0"/>
                                <a:sym typeface="Symbol"/>
                              </a:rPr>
                              <m:t>1/2</m:t>
                            </m:r>
                          </m:sup>
                        </m:sSup>
                      </m:den>
                    </m:f>
                    <m:sSub>
                      <m:sSubPr>
                        <m:ctrlPr>
                          <a:rPr lang="en-US" i="1" smtClean="0">
                            <a:latin typeface="Cambria Math"/>
                            <a:cs typeface="Arial" pitchFamily="34" charset="0"/>
                            <a:sym typeface="Symbol"/>
                          </a:rPr>
                        </m:ctrlPr>
                      </m:sSubPr>
                      <m:e>
                        <m:r>
                          <a:rPr lang="en-US" b="0" i="1" smtClean="0">
                            <a:latin typeface="Cambria Math"/>
                            <a:cs typeface="Arial" pitchFamily="34" charset="0"/>
                            <a:sym typeface="Symbol"/>
                          </a:rPr>
                          <m:t>}</m:t>
                        </m:r>
                      </m:e>
                      <m:sub>
                        <m:r>
                          <a:rPr lang="en-US" i="1" smtClean="0">
                            <a:latin typeface="Cambria Math"/>
                            <a:ea typeface="Cambria Math"/>
                            <a:cs typeface="Arial" pitchFamily="34" charset="0"/>
                            <a:sym typeface="Symbol"/>
                          </a:rPr>
                          <m:t>𝜏</m:t>
                        </m:r>
                      </m:sub>
                    </m:sSub>
                  </m:oMath>
                </a14:m>
                <a:r>
                  <a:rPr lang="en-US" dirty="0" smtClean="0">
                    <a:latin typeface="Arial" pitchFamily="34" charset="0"/>
                    <a:cs typeface="Arial" pitchFamily="34" charset="0"/>
                  </a:rPr>
                  <a:t> ; </a:t>
                </a:r>
              </a:p>
              <a:p>
                <a:pPr marL="0" indent="0">
                  <a:buNone/>
                </a:pPr>
                <a:r>
                  <a:rPr lang="en-US" dirty="0" err="1" smtClean="0">
                    <a:latin typeface="Arial" pitchFamily="34" charset="0"/>
                    <a:cs typeface="Arial" pitchFamily="34" charset="0"/>
                  </a:rPr>
                  <a:t>Khi</a:t>
                </a:r>
                <a:r>
                  <a:rPr lang="en-US" dirty="0" smtClean="0">
                    <a:latin typeface="Arial" pitchFamily="34" charset="0"/>
                    <a:cs typeface="Arial" pitchFamily="34" charset="0"/>
                  </a:rPr>
                  <a:t> </a:t>
                </a:r>
                <a:r>
                  <a:rPr lang="en-US" dirty="0" err="1" smtClean="0">
                    <a:latin typeface="Arial" pitchFamily="34" charset="0"/>
                    <a:cs typeface="Arial" pitchFamily="34" charset="0"/>
                  </a:rPr>
                  <a:t>cân</a:t>
                </a:r>
                <a:r>
                  <a:rPr lang="en-US" dirty="0" smtClean="0">
                    <a:latin typeface="Arial" pitchFamily="34" charset="0"/>
                    <a:cs typeface="Arial" pitchFamily="34" charset="0"/>
                  </a:rPr>
                  <a:t> </a:t>
                </a:r>
                <a:r>
                  <a:rPr lang="en-US" dirty="0" err="1" smtClean="0">
                    <a:latin typeface="Arial" pitchFamily="34" charset="0"/>
                    <a:cs typeface="Arial" pitchFamily="34" charset="0"/>
                  </a:rPr>
                  <a:t>bằng</a:t>
                </a:r>
                <a:r>
                  <a:rPr lang="en-US" dirty="0" smtClean="0">
                    <a:latin typeface="Arial" pitchFamily="34" charset="0"/>
                    <a:cs typeface="Arial" pitchFamily="34" charset="0"/>
                  </a:rPr>
                  <a:t>: </a:t>
                </a:r>
                <a:r>
                  <a:rPr lang="en-US" dirty="0">
                    <a:latin typeface="Arial" pitchFamily="34" charset="0"/>
                    <a:cs typeface="Arial" pitchFamily="34" charset="0"/>
                  </a:rPr>
                  <a:t>∆G</a:t>
                </a:r>
                <a:r>
                  <a:rPr lang="en-US" baseline="-25000" dirty="0">
                    <a:latin typeface="Arial" pitchFamily="34" charset="0"/>
                    <a:cs typeface="Arial" pitchFamily="34" charset="0"/>
                  </a:rPr>
                  <a:t>T</a:t>
                </a:r>
                <a:r>
                  <a:rPr lang="en-US" dirty="0">
                    <a:latin typeface="Arial" pitchFamily="34" charset="0"/>
                    <a:cs typeface="Arial" pitchFamily="34" charset="0"/>
                  </a:rPr>
                  <a:t> </a:t>
                </a:r>
                <a:r>
                  <a:rPr lang="en-US" dirty="0" smtClean="0">
                    <a:latin typeface="Arial" pitchFamily="34" charset="0"/>
                    <a:cs typeface="Arial" pitchFamily="34" charset="0"/>
                  </a:rPr>
                  <a:t>= 0 </a:t>
                </a:r>
                <a:r>
                  <a:rPr lang="en-US" dirty="0" smtClean="0">
                    <a:latin typeface="Arial" pitchFamily="34" charset="0"/>
                    <a:cs typeface="Arial" pitchFamily="34" charset="0"/>
                    <a:sym typeface="Symbol"/>
                  </a:rPr>
                  <a:t> </a:t>
                </a:r>
                <a:r>
                  <a:rPr lang="en-US" dirty="0">
                    <a:latin typeface="Arial" pitchFamily="34" charset="0"/>
                    <a:cs typeface="Arial" pitchFamily="34" charset="0"/>
                  </a:rPr>
                  <a:t>∆G</a:t>
                </a:r>
                <a:r>
                  <a:rPr lang="en-US" baseline="30000" dirty="0">
                    <a:latin typeface="Arial" pitchFamily="34" charset="0"/>
                    <a:cs typeface="Arial" pitchFamily="34" charset="0"/>
                  </a:rPr>
                  <a:t>0</a:t>
                </a:r>
                <a:r>
                  <a:rPr lang="en-US" baseline="-25000" dirty="0">
                    <a:latin typeface="Arial" pitchFamily="34" charset="0"/>
                    <a:cs typeface="Arial" pitchFamily="34" charset="0"/>
                  </a:rPr>
                  <a:t>T</a:t>
                </a:r>
                <a:r>
                  <a:rPr lang="en-US" dirty="0">
                    <a:latin typeface="Arial" pitchFamily="34" charset="0"/>
                    <a:cs typeface="Arial" pitchFamily="34" charset="0"/>
                  </a:rPr>
                  <a:t> </a:t>
                </a:r>
                <a:r>
                  <a:rPr lang="en-US" dirty="0" smtClean="0">
                    <a:latin typeface="Arial" pitchFamily="34" charset="0"/>
                    <a:cs typeface="Arial" pitchFamily="34" charset="0"/>
                  </a:rPr>
                  <a:t>= - RT </a:t>
                </a:r>
                <a:r>
                  <a:rPr lang="en-US" dirty="0" err="1" smtClean="0">
                    <a:latin typeface="Arial" pitchFamily="34" charset="0"/>
                    <a:cs typeface="Arial" pitchFamily="34" charset="0"/>
                  </a:rPr>
                  <a:t>lnQ</a:t>
                </a:r>
                <a:r>
                  <a:rPr lang="en-US" baseline="-25000" dirty="0" err="1" smtClean="0">
                    <a:latin typeface="Arial" pitchFamily="34" charset="0"/>
                    <a:cs typeface="Arial" pitchFamily="34" charset="0"/>
                  </a:rPr>
                  <a:t>cb</a:t>
                </a:r>
                <a:r>
                  <a:rPr lang="en-US" dirty="0" smtClean="0">
                    <a:latin typeface="Arial" pitchFamily="34" charset="0"/>
                    <a:cs typeface="Arial" pitchFamily="34" charset="0"/>
                  </a:rPr>
                  <a:t> = -</a:t>
                </a:r>
                <a:r>
                  <a:rPr lang="en-US" dirty="0" err="1" smtClean="0">
                    <a:latin typeface="Arial" pitchFamily="34" charset="0"/>
                    <a:cs typeface="Arial" pitchFamily="34" charset="0"/>
                  </a:rPr>
                  <a:t>RTlnK</a:t>
                </a:r>
                <a:r>
                  <a:rPr lang="en-US" dirty="0" smtClean="0">
                    <a:latin typeface="Arial" pitchFamily="34" charset="0"/>
                    <a:cs typeface="Arial" pitchFamily="34" charset="0"/>
                  </a:rPr>
                  <a:t> ; </a:t>
                </a:r>
                <a:r>
                  <a:rPr lang="en-US" dirty="0" smtClean="0">
                    <a:latin typeface="Arial" pitchFamily="34" charset="0"/>
                    <a:cs typeface="Arial" pitchFamily="34" charset="0"/>
                    <a:sym typeface="Symbol"/>
                  </a:rPr>
                  <a:t>K </a:t>
                </a:r>
                <a:r>
                  <a:rPr lang="en-US" dirty="0">
                    <a:latin typeface="Arial" pitchFamily="34" charset="0"/>
                    <a:cs typeface="Arial" pitchFamily="34" charset="0"/>
                    <a:sym typeface="Symbol"/>
                  </a:rPr>
                  <a:t>= </a:t>
                </a:r>
                <a14:m>
                  <m:oMath xmlns:m="http://schemas.openxmlformats.org/officeDocument/2006/math">
                    <m:r>
                      <a:rPr lang="en-US" i="1">
                        <a:latin typeface="Cambria Math"/>
                        <a:cs typeface="Arial" pitchFamily="34" charset="0"/>
                        <a:sym typeface="Symbol"/>
                      </a:rPr>
                      <m:t>{</m:t>
                    </m:r>
                  </m:oMath>
                </a14:m>
                <a:r>
                  <a:rPr lang="en-US" dirty="0">
                    <a:latin typeface="Arial" pitchFamily="34" charset="0"/>
                    <a:cs typeface="Arial" pitchFamily="34" charset="0"/>
                    <a:sym typeface="Symbol"/>
                  </a:rPr>
                  <a:t> </a:t>
                </a:r>
                <a14:m>
                  <m:oMath xmlns:m="http://schemas.openxmlformats.org/officeDocument/2006/math">
                    <m:f>
                      <m:fPr>
                        <m:ctrlPr>
                          <a:rPr lang="en-US" i="1">
                            <a:latin typeface="Cambria Math"/>
                            <a:cs typeface="Arial" pitchFamily="34" charset="0"/>
                            <a:sym typeface="Symbol"/>
                          </a:rPr>
                        </m:ctrlPr>
                      </m:fPr>
                      <m:num>
                        <m:sSup>
                          <m:sSupPr>
                            <m:ctrlPr>
                              <a:rPr lang="en-US" i="1">
                                <a:latin typeface="Cambria Math"/>
                                <a:cs typeface="Arial" pitchFamily="34" charset="0"/>
                                <a:sym typeface="Symbol"/>
                              </a:rPr>
                            </m:ctrlPr>
                          </m:sSupPr>
                          <m:e>
                            <m:r>
                              <a:rPr lang="en-US" i="1">
                                <a:latin typeface="Cambria Math"/>
                                <a:cs typeface="Arial" pitchFamily="34" charset="0"/>
                                <a:sym typeface="Symbol"/>
                              </a:rPr>
                              <m:t>[</m:t>
                            </m:r>
                            <m:r>
                              <a:rPr lang="en-US" i="1">
                                <a:latin typeface="Cambria Math"/>
                                <a:cs typeface="Arial" pitchFamily="34" charset="0"/>
                                <a:sym typeface="Symbol"/>
                              </a:rPr>
                              <m:t>𝐶𝑒</m:t>
                            </m:r>
                          </m:e>
                          <m:sup>
                            <m:r>
                              <a:rPr lang="en-US" i="1">
                                <a:latin typeface="Cambria Math"/>
                                <a:cs typeface="Arial" pitchFamily="34" charset="0"/>
                                <a:sym typeface="Symbol"/>
                              </a:rPr>
                              <m:t>3+</m:t>
                            </m:r>
                          </m:sup>
                        </m:sSup>
                        <m:sSup>
                          <m:sSupPr>
                            <m:ctrlPr>
                              <a:rPr lang="en-US" i="1">
                                <a:latin typeface="Cambria Math"/>
                                <a:cs typeface="Arial" pitchFamily="34" charset="0"/>
                                <a:sym typeface="Symbol"/>
                              </a:rPr>
                            </m:ctrlPr>
                          </m:sSupPr>
                          <m:e>
                            <m:r>
                              <a:rPr lang="en-US" i="1">
                                <a:latin typeface="Cambria Math"/>
                                <a:cs typeface="Arial" pitchFamily="34" charset="0"/>
                                <a:sym typeface="Symbol"/>
                              </a:rPr>
                              <m:t>][</m:t>
                            </m:r>
                            <m:r>
                              <a:rPr lang="en-US" i="1">
                                <a:latin typeface="Cambria Math"/>
                                <a:cs typeface="Arial" pitchFamily="34" charset="0"/>
                                <a:sym typeface="Symbol"/>
                              </a:rPr>
                              <m:t>𝐻</m:t>
                            </m:r>
                            <m:r>
                              <a:rPr lang="en-US" i="1">
                                <a:latin typeface="Cambria Math"/>
                                <a:cs typeface="Arial" pitchFamily="34" charset="0"/>
                                <a:sym typeface="Symbol"/>
                              </a:rPr>
                              <m:t>]</m:t>
                            </m:r>
                          </m:e>
                          <m:sup>
                            <m:r>
                              <a:rPr lang="en-US" i="1">
                                <a:latin typeface="Cambria Math"/>
                                <a:cs typeface="Arial" pitchFamily="34" charset="0"/>
                                <a:sym typeface="Symbol"/>
                              </a:rPr>
                              <m:t>+</m:t>
                            </m:r>
                          </m:sup>
                        </m:sSup>
                      </m:num>
                      <m:den>
                        <m:sSup>
                          <m:sSupPr>
                            <m:ctrlPr>
                              <a:rPr lang="en-US" i="1">
                                <a:latin typeface="Cambria Math"/>
                                <a:cs typeface="Arial" pitchFamily="34" charset="0"/>
                                <a:sym typeface="Symbol"/>
                              </a:rPr>
                            </m:ctrlPr>
                          </m:sSupPr>
                          <m:e>
                            <m:r>
                              <a:rPr lang="en-US" i="1">
                                <a:latin typeface="Cambria Math"/>
                                <a:cs typeface="Arial" pitchFamily="34" charset="0"/>
                                <a:sym typeface="Symbol"/>
                              </a:rPr>
                              <m:t>[</m:t>
                            </m:r>
                            <m:r>
                              <a:rPr lang="en-US" i="1">
                                <a:latin typeface="Cambria Math"/>
                                <a:cs typeface="Arial" pitchFamily="34" charset="0"/>
                                <a:sym typeface="Symbol"/>
                              </a:rPr>
                              <m:t>𝐶𝑒</m:t>
                            </m:r>
                          </m:e>
                          <m:sup>
                            <m:r>
                              <a:rPr lang="en-US" i="1">
                                <a:latin typeface="Cambria Math"/>
                                <a:cs typeface="Arial" pitchFamily="34" charset="0"/>
                                <a:sym typeface="Symbol"/>
                              </a:rPr>
                              <m:t>4+</m:t>
                            </m:r>
                          </m:sup>
                        </m:sSup>
                        <m:sSub>
                          <m:sSubPr>
                            <m:ctrlPr>
                              <a:rPr lang="en-US" i="1">
                                <a:latin typeface="Cambria Math"/>
                                <a:cs typeface="Arial" pitchFamily="34" charset="0"/>
                                <a:sym typeface="Symbol"/>
                              </a:rPr>
                            </m:ctrlPr>
                          </m:sSubPr>
                          <m:e>
                            <m:r>
                              <a:rPr lang="en-US" i="1">
                                <a:latin typeface="Cambria Math"/>
                                <a:cs typeface="Arial" pitchFamily="34" charset="0"/>
                                <a:sym typeface="Symbol"/>
                              </a:rPr>
                              <m:t>][</m:t>
                            </m:r>
                            <m:r>
                              <a:rPr lang="en-US" i="1">
                                <a:latin typeface="Cambria Math"/>
                                <a:cs typeface="Arial" pitchFamily="34" charset="0"/>
                                <a:sym typeface="Symbol"/>
                              </a:rPr>
                              <m:t>𝑃</m:t>
                            </m:r>
                          </m:e>
                          <m:sub>
                            <m:sSub>
                              <m:sSubPr>
                                <m:ctrlPr>
                                  <a:rPr lang="en-US" i="1">
                                    <a:latin typeface="Cambria Math"/>
                                    <a:cs typeface="Arial" pitchFamily="34" charset="0"/>
                                    <a:sym typeface="Symbol"/>
                                  </a:rPr>
                                </m:ctrlPr>
                              </m:sSubPr>
                              <m:e>
                                <m:r>
                                  <a:rPr lang="en-US" i="1">
                                    <a:latin typeface="Cambria Math"/>
                                    <a:cs typeface="Arial" pitchFamily="34" charset="0"/>
                                    <a:sym typeface="Symbol"/>
                                  </a:rPr>
                                  <m:t>𝐻</m:t>
                                </m:r>
                              </m:e>
                              <m:sub>
                                <m:r>
                                  <a:rPr lang="en-US" i="1">
                                    <a:latin typeface="Cambria Math"/>
                                    <a:cs typeface="Arial" pitchFamily="34" charset="0"/>
                                    <a:sym typeface="Symbol"/>
                                  </a:rPr>
                                  <m:t>2</m:t>
                                </m:r>
                              </m:sub>
                            </m:sSub>
                          </m:sub>
                        </m:sSub>
                        <m:sSup>
                          <m:sSupPr>
                            <m:ctrlPr>
                              <a:rPr lang="en-US" i="1">
                                <a:latin typeface="Cambria Math"/>
                                <a:cs typeface="Arial" pitchFamily="34" charset="0"/>
                                <a:sym typeface="Symbol"/>
                              </a:rPr>
                            </m:ctrlPr>
                          </m:sSupPr>
                          <m:e>
                            <m:r>
                              <a:rPr lang="en-US" i="1">
                                <a:latin typeface="Cambria Math"/>
                                <a:cs typeface="Arial" pitchFamily="34" charset="0"/>
                                <a:sym typeface="Symbol"/>
                              </a:rPr>
                              <m:t>]</m:t>
                            </m:r>
                          </m:e>
                          <m:sup>
                            <m:r>
                              <a:rPr lang="en-US" i="1">
                                <a:latin typeface="Cambria Math"/>
                                <a:cs typeface="Arial" pitchFamily="34" charset="0"/>
                                <a:sym typeface="Symbol"/>
                              </a:rPr>
                              <m:t>1/2</m:t>
                            </m:r>
                          </m:sup>
                        </m:sSup>
                      </m:den>
                    </m:f>
                    <m:sSub>
                      <m:sSubPr>
                        <m:ctrlPr>
                          <a:rPr lang="en-US" i="1">
                            <a:latin typeface="Cambria Math"/>
                            <a:cs typeface="Arial" pitchFamily="34" charset="0"/>
                            <a:sym typeface="Symbol"/>
                          </a:rPr>
                        </m:ctrlPr>
                      </m:sSubPr>
                      <m:e>
                        <m:r>
                          <a:rPr lang="en-US" i="1">
                            <a:latin typeface="Cambria Math"/>
                            <a:cs typeface="Arial" pitchFamily="34" charset="0"/>
                            <a:sym typeface="Symbol"/>
                          </a:rPr>
                          <m:t>}</m:t>
                        </m:r>
                      </m:e>
                      <m:sub>
                        <m:r>
                          <a:rPr lang="en-US" b="0" i="1" smtClean="0">
                            <a:latin typeface="Cambria Math"/>
                            <a:cs typeface="Arial" pitchFamily="34" charset="0"/>
                            <a:sym typeface="Symbol"/>
                          </a:rPr>
                          <m:t>𝑐𝑏</m:t>
                        </m:r>
                      </m:sub>
                    </m:sSub>
                  </m:oMath>
                </a14:m>
                <a:r>
                  <a:rPr lang="en-US" dirty="0">
                    <a:latin typeface="Arial" pitchFamily="34" charset="0"/>
                    <a:cs typeface="Arial" pitchFamily="34" charset="0"/>
                  </a:rPr>
                  <a:t> </a:t>
                </a:r>
              </a:p>
              <a:p>
                <a:pPr marL="0" indent="0">
                  <a:buNone/>
                </a:pPr>
                <a:endParaRPr lang="en-US" dirty="0">
                  <a:latin typeface="Arial" pitchFamily="34" charset="0"/>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3625" y="1377199"/>
                <a:ext cx="12034422" cy="1525799"/>
              </a:xfrm>
              <a:blipFill rotWithShape="1">
                <a:blip r:embed="rId2"/>
                <a:stretch>
                  <a:fillRect l="-1013" t="-24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0" y="701334"/>
                <a:ext cx="10129420" cy="977704"/>
              </a:xfrm>
              <a:prstGeom prst="rect">
                <a:avLst/>
              </a:prstGeom>
              <a:noFill/>
            </p:spPr>
            <p:txBody>
              <a:bodyPr wrap="square" rtlCol="0">
                <a:spAutoFit/>
              </a:bodyPr>
              <a:lstStyle/>
              <a:p>
                <a:pPr lvl="0"/>
                <a:r>
                  <a:rPr lang="en-US" sz="2800" dirty="0" smtClean="0">
                    <a:solidFill>
                      <a:srgbClr val="FF00FF"/>
                    </a:solidFill>
                    <a:latin typeface="Arial" pitchFamily="34" charset="0"/>
                    <a:cs typeface="Arial" pitchFamily="34" charset="0"/>
                  </a:rPr>
                  <a:t>1. Ce</a:t>
                </a:r>
                <a:r>
                  <a:rPr lang="en-US" sz="2800" baseline="30000" dirty="0" smtClean="0">
                    <a:solidFill>
                      <a:srgbClr val="FF00FF"/>
                    </a:solidFill>
                    <a:latin typeface="Arial" pitchFamily="34" charset="0"/>
                    <a:cs typeface="Arial" pitchFamily="34" charset="0"/>
                  </a:rPr>
                  <a:t>4</a:t>
                </a:r>
                <a:r>
                  <a:rPr lang="en-US" sz="2800" baseline="30000" dirty="0">
                    <a:solidFill>
                      <a:srgbClr val="FF00FF"/>
                    </a:solidFill>
                    <a:latin typeface="Arial" pitchFamily="34" charset="0"/>
                    <a:cs typeface="Arial" pitchFamily="34" charset="0"/>
                  </a:rPr>
                  <a:t>+</a:t>
                </a:r>
                <a:r>
                  <a:rPr lang="en-US" sz="2800" dirty="0">
                    <a:solidFill>
                      <a:srgbClr val="FF00FF"/>
                    </a:solidFill>
                    <a:latin typeface="Arial" pitchFamily="34" charset="0"/>
                    <a:cs typeface="Arial" pitchFamily="34" charset="0"/>
                  </a:rPr>
                  <a:t>(</a:t>
                </a:r>
                <a:r>
                  <a:rPr lang="en-US" sz="2800" dirty="0" err="1">
                    <a:solidFill>
                      <a:srgbClr val="FF00FF"/>
                    </a:solidFill>
                    <a:latin typeface="Arial" pitchFamily="34" charset="0"/>
                    <a:cs typeface="Arial" pitchFamily="34" charset="0"/>
                  </a:rPr>
                  <a:t>aq</a:t>
                </a:r>
                <a:r>
                  <a:rPr lang="en-US" sz="2800" dirty="0">
                    <a:solidFill>
                      <a:srgbClr val="FF00FF"/>
                    </a:solidFill>
                    <a:latin typeface="Arial" pitchFamily="34" charset="0"/>
                    <a:cs typeface="Arial" pitchFamily="34" charset="0"/>
                  </a:rPr>
                  <a:t>)  +  </a:t>
                </a:r>
                <a14:m>
                  <m:oMath xmlns:m="http://schemas.openxmlformats.org/officeDocument/2006/math">
                    <m:f>
                      <m:fPr>
                        <m:ctrlPr>
                          <a:rPr lang="en-US" sz="2800" i="1">
                            <a:solidFill>
                              <a:srgbClr val="FF00FF"/>
                            </a:solidFill>
                            <a:latin typeface="Cambria Math"/>
                            <a:cs typeface="Arial" pitchFamily="34" charset="0"/>
                          </a:rPr>
                        </m:ctrlPr>
                      </m:fPr>
                      <m:num>
                        <m:r>
                          <a:rPr lang="en-US" sz="2800" b="0" i="1">
                            <a:solidFill>
                              <a:srgbClr val="FF00FF"/>
                            </a:solidFill>
                            <a:latin typeface="Cambria Math"/>
                            <a:cs typeface="Arial" pitchFamily="34" charset="0"/>
                          </a:rPr>
                          <m:t>1</m:t>
                        </m:r>
                      </m:num>
                      <m:den>
                        <m:r>
                          <a:rPr lang="en-US" sz="2800" b="0" i="1">
                            <a:solidFill>
                              <a:srgbClr val="FF00FF"/>
                            </a:solidFill>
                            <a:latin typeface="Cambria Math"/>
                            <a:cs typeface="Arial" pitchFamily="34" charset="0"/>
                          </a:rPr>
                          <m:t>2</m:t>
                        </m:r>
                      </m:den>
                    </m:f>
                  </m:oMath>
                </a14:m>
                <a:r>
                  <a:rPr lang="en-US" sz="2800" dirty="0">
                    <a:solidFill>
                      <a:srgbClr val="FF00FF"/>
                    </a:solidFill>
                    <a:latin typeface="Arial" pitchFamily="34" charset="0"/>
                    <a:cs typeface="Arial" pitchFamily="34" charset="0"/>
                  </a:rPr>
                  <a:t>H</a:t>
                </a:r>
                <a:r>
                  <a:rPr lang="en-US" sz="2800" baseline="-25000" dirty="0">
                    <a:solidFill>
                      <a:srgbClr val="FF00FF"/>
                    </a:solidFill>
                    <a:latin typeface="Arial" pitchFamily="34" charset="0"/>
                    <a:cs typeface="Arial" pitchFamily="34" charset="0"/>
                  </a:rPr>
                  <a:t>2</a:t>
                </a:r>
                <a:r>
                  <a:rPr lang="en-US" sz="2800" dirty="0">
                    <a:solidFill>
                      <a:srgbClr val="FF00FF"/>
                    </a:solidFill>
                    <a:latin typeface="Arial" pitchFamily="34" charset="0"/>
                    <a:cs typeface="Arial" pitchFamily="34" charset="0"/>
                  </a:rPr>
                  <a:t>(k)  ⇄  Ce</a:t>
                </a:r>
                <a:r>
                  <a:rPr lang="en-US" sz="2800" baseline="30000" dirty="0">
                    <a:solidFill>
                      <a:srgbClr val="FF00FF"/>
                    </a:solidFill>
                    <a:latin typeface="Arial" pitchFamily="34" charset="0"/>
                    <a:cs typeface="Arial" pitchFamily="34" charset="0"/>
                  </a:rPr>
                  <a:t>3+</a:t>
                </a:r>
                <a:r>
                  <a:rPr lang="en-US" sz="2800" dirty="0">
                    <a:solidFill>
                      <a:srgbClr val="FF00FF"/>
                    </a:solidFill>
                    <a:latin typeface="Arial" pitchFamily="34" charset="0"/>
                    <a:cs typeface="Arial" pitchFamily="34" charset="0"/>
                  </a:rPr>
                  <a:t>(</a:t>
                </a:r>
                <a:r>
                  <a:rPr lang="en-US" sz="2800" dirty="0" err="1">
                    <a:solidFill>
                      <a:srgbClr val="FF00FF"/>
                    </a:solidFill>
                    <a:latin typeface="Arial" pitchFamily="34" charset="0"/>
                    <a:cs typeface="Arial" pitchFamily="34" charset="0"/>
                  </a:rPr>
                  <a:t>aq</a:t>
                </a:r>
                <a:r>
                  <a:rPr lang="en-US" sz="2800" dirty="0">
                    <a:solidFill>
                      <a:srgbClr val="FF00FF"/>
                    </a:solidFill>
                    <a:latin typeface="Arial" pitchFamily="34" charset="0"/>
                    <a:cs typeface="Arial" pitchFamily="34" charset="0"/>
                  </a:rPr>
                  <a:t>)  +   H</a:t>
                </a:r>
                <a:r>
                  <a:rPr lang="en-US" sz="2800" baseline="30000" dirty="0">
                    <a:solidFill>
                      <a:srgbClr val="FF00FF"/>
                    </a:solidFill>
                    <a:latin typeface="Arial" pitchFamily="34" charset="0"/>
                    <a:cs typeface="Arial" pitchFamily="34" charset="0"/>
                  </a:rPr>
                  <a:t>+</a:t>
                </a:r>
                <a:r>
                  <a:rPr lang="en-US" sz="2800" dirty="0">
                    <a:solidFill>
                      <a:srgbClr val="FF00FF"/>
                    </a:solidFill>
                    <a:latin typeface="Arial" pitchFamily="34" charset="0"/>
                    <a:cs typeface="Arial" pitchFamily="34" charset="0"/>
                  </a:rPr>
                  <a:t>(</a:t>
                </a:r>
                <a:r>
                  <a:rPr lang="en-US" sz="2800" dirty="0" err="1">
                    <a:solidFill>
                      <a:srgbClr val="FF00FF"/>
                    </a:solidFill>
                    <a:latin typeface="Arial" pitchFamily="34" charset="0"/>
                    <a:cs typeface="Arial" pitchFamily="34" charset="0"/>
                  </a:rPr>
                  <a:t>aq</a:t>
                </a:r>
                <a:r>
                  <a:rPr lang="en-US" sz="2800" dirty="0">
                    <a:solidFill>
                      <a:srgbClr val="FF00FF"/>
                    </a:solidFill>
                    <a:latin typeface="Arial" pitchFamily="34" charset="0"/>
                    <a:cs typeface="Arial" pitchFamily="34" charset="0"/>
                  </a:rPr>
                  <a:t>)</a:t>
                </a: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0" y="701334"/>
                <a:ext cx="10129420" cy="977704"/>
              </a:xfrm>
              <a:prstGeom prst="rect">
                <a:avLst/>
              </a:prstGeom>
              <a:blipFill rotWithShape="1">
                <a:blip r:embed="rId3"/>
                <a:stretch>
                  <a:fillRect l="-1203"/>
                </a:stretch>
              </a:blipFill>
            </p:spPr>
            <p:txBody>
              <a:bodyPr/>
              <a:lstStyle/>
              <a:p>
                <a:r>
                  <a:rPr lang="en-US">
                    <a:noFill/>
                  </a:rPr>
                  <a:t> </a:t>
                </a:r>
              </a:p>
            </p:txBody>
          </p:sp>
        </mc:Fallback>
      </mc:AlternateContent>
      <p:sp>
        <p:nvSpPr>
          <p:cNvPr id="5" name="TextBox 4"/>
          <p:cNvSpPr txBox="1"/>
          <p:nvPr/>
        </p:nvSpPr>
        <p:spPr>
          <a:xfrm>
            <a:off x="63625" y="2773884"/>
            <a:ext cx="8167456" cy="800219"/>
          </a:xfrm>
          <a:prstGeom prst="rect">
            <a:avLst/>
          </a:prstGeom>
          <a:noFill/>
        </p:spPr>
        <p:txBody>
          <a:bodyPr wrap="square" rtlCol="0">
            <a:spAutoFit/>
          </a:bodyPr>
          <a:lstStyle/>
          <a:p>
            <a:pPr lvl="0"/>
            <a:r>
              <a:rPr lang="en-US" sz="2800" dirty="0" smtClean="0">
                <a:solidFill>
                  <a:srgbClr val="FF0000"/>
                </a:solidFill>
                <a:latin typeface="Arial" pitchFamily="34" charset="0"/>
                <a:cs typeface="Arial" pitchFamily="34" charset="0"/>
              </a:rPr>
              <a:t>2. CaCO</a:t>
            </a:r>
            <a:r>
              <a:rPr lang="en-US" sz="2800" baseline="-25000" dirty="0" smtClean="0">
                <a:solidFill>
                  <a:srgbClr val="FF0000"/>
                </a:solidFill>
                <a:latin typeface="Arial" pitchFamily="34" charset="0"/>
                <a:cs typeface="Arial" pitchFamily="34" charset="0"/>
              </a:rPr>
              <a:t>3</a:t>
            </a:r>
            <a:r>
              <a:rPr lang="en-US" sz="2800" dirty="0" smtClean="0">
                <a:solidFill>
                  <a:srgbClr val="FF0000"/>
                </a:solidFill>
                <a:latin typeface="Arial" pitchFamily="34" charset="0"/>
                <a:cs typeface="Arial" pitchFamily="34" charset="0"/>
              </a:rPr>
              <a:t> </a:t>
            </a:r>
            <a:r>
              <a:rPr lang="en-US" sz="2800" dirty="0">
                <a:solidFill>
                  <a:srgbClr val="FF0000"/>
                </a:solidFill>
                <a:latin typeface="Arial" pitchFamily="34" charset="0"/>
                <a:cs typeface="Arial" pitchFamily="34" charset="0"/>
              </a:rPr>
              <a:t>(r) ⇄  </a:t>
            </a:r>
            <a:r>
              <a:rPr lang="en-US" sz="2800" dirty="0" err="1">
                <a:solidFill>
                  <a:srgbClr val="FF0000"/>
                </a:solidFill>
                <a:latin typeface="Arial" pitchFamily="34" charset="0"/>
                <a:cs typeface="Arial" pitchFamily="34" charset="0"/>
              </a:rPr>
              <a:t>CaO</a:t>
            </a:r>
            <a:r>
              <a:rPr lang="en-US" sz="2800" dirty="0">
                <a:solidFill>
                  <a:srgbClr val="FF0000"/>
                </a:solidFill>
                <a:latin typeface="Arial" pitchFamily="34" charset="0"/>
                <a:cs typeface="Arial" pitchFamily="34" charset="0"/>
              </a:rPr>
              <a:t>(r)  +  CO</a:t>
            </a:r>
            <a:r>
              <a:rPr lang="en-US" sz="2800" baseline="-25000" dirty="0">
                <a:solidFill>
                  <a:srgbClr val="FF0000"/>
                </a:solidFill>
                <a:latin typeface="Arial" pitchFamily="34" charset="0"/>
                <a:cs typeface="Arial" pitchFamily="34" charset="0"/>
              </a:rPr>
              <a:t>2</a:t>
            </a:r>
            <a:r>
              <a:rPr lang="en-US" sz="2800" dirty="0">
                <a:solidFill>
                  <a:srgbClr val="FF0000"/>
                </a:solidFill>
                <a:latin typeface="Arial" pitchFamily="34" charset="0"/>
                <a:cs typeface="Arial" pitchFamily="34" charset="0"/>
              </a:rPr>
              <a:t>(k)</a:t>
            </a:r>
          </a:p>
          <a:p>
            <a:endParaRPr lang="en-US" dirty="0">
              <a:solidFill>
                <a:srgbClr val="FF0000"/>
              </a:solidFill>
            </a:endParaRPr>
          </a:p>
        </p:txBody>
      </p:sp>
      <mc:AlternateContent xmlns:mc="http://schemas.openxmlformats.org/markup-compatibility/2006" xmlns:a14="http://schemas.microsoft.com/office/drawing/2010/main">
        <mc:Choice Requires="a14">
          <p:sp>
            <p:nvSpPr>
              <p:cNvPr id="6" name="Content Placeholder 2"/>
              <p:cNvSpPr txBox="1">
                <a:spLocks/>
              </p:cNvSpPr>
              <p:nvPr/>
            </p:nvSpPr>
            <p:spPr>
              <a:xfrm>
                <a:off x="63625" y="3463974"/>
                <a:ext cx="12034422" cy="152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solidFill>
                      <a:srgbClr val="008000"/>
                    </a:solidFill>
                    <a:latin typeface="Arial" pitchFamily="34" charset="0"/>
                    <a:cs typeface="Arial" pitchFamily="34" charset="0"/>
                  </a:rPr>
                  <a:t>∆G</a:t>
                </a:r>
                <a:r>
                  <a:rPr lang="en-US" baseline="-25000" dirty="0">
                    <a:solidFill>
                      <a:srgbClr val="008000"/>
                    </a:solidFill>
                    <a:latin typeface="Arial" pitchFamily="34" charset="0"/>
                    <a:cs typeface="Arial" pitchFamily="34" charset="0"/>
                  </a:rPr>
                  <a:t>T</a:t>
                </a:r>
                <a:r>
                  <a:rPr lang="en-US" dirty="0" smtClean="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 ∆</a:t>
                </a:r>
                <a:r>
                  <a:rPr lang="en-US" dirty="0" smtClean="0">
                    <a:solidFill>
                      <a:srgbClr val="008000"/>
                    </a:solidFill>
                    <a:latin typeface="Arial" pitchFamily="34" charset="0"/>
                    <a:cs typeface="Arial" pitchFamily="34" charset="0"/>
                  </a:rPr>
                  <a:t>G</a:t>
                </a:r>
                <a:r>
                  <a:rPr lang="en-US" baseline="30000" dirty="0" smtClean="0">
                    <a:solidFill>
                      <a:srgbClr val="008000"/>
                    </a:solidFill>
                    <a:latin typeface="Arial" pitchFamily="34" charset="0"/>
                    <a:cs typeface="Arial" pitchFamily="34" charset="0"/>
                  </a:rPr>
                  <a:t>0</a:t>
                </a:r>
                <a:r>
                  <a:rPr lang="en-US" baseline="-25000" dirty="0">
                    <a:solidFill>
                      <a:srgbClr val="008000"/>
                    </a:solidFill>
                    <a:latin typeface="Arial" pitchFamily="34" charset="0"/>
                    <a:cs typeface="Arial" pitchFamily="34" charset="0"/>
                  </a:rPr>
                  <a:t>T</a:t>
                </a:r>
                <a:r>
                  <a:rPr lang="en-US" dirty="0" smtClean="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RTln</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Q</a:t>
                </a:r>
                <a:r>
                  <a:rPr lang="en-US" baseline="-25000" dirty="0" err="1" smtClean="0">
                    <a:solidFill>
                      <a:srgbClr val="008000"/>
                    </a:solidFill>
                    <a:latin typeface="Arial" pitchFamily="34" charset="0"/>
                    <a:cs typeface="Arial" pitchFamily="34" charset="0"/>
                  </a:rPr>
                  <a:t>p</a:t>
                </a:r>
                <a:r>
                  <a:rPr lang="en-US" baseline="-25000" dirty="0" smtClean="0">
                    <a:solidFill>
                      <a:srgbClr val="008000"/>
                    </a:solidFill>
                    <a:latin typeface="Arial" pitchFamily="34" charset="0"/>
                    <a:cs typeface="Arial" pitchFamily="34" charset="0"/>
                    <a:sym typeface="Symbol"/>
                  </a:rPr>
                  <a:t> </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Tỉ</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số</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pư</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sym typeface="Symbol"/>
                  </a:rPr>
                  <a:t>Q</a:t>
                </a:r>
                <a:r>
                  <a:rPr lang="en-US" baseline="-25000" dirty="0" err="1" smtClean="0">
                    <a:solidFill>
                      <a:srgbClr val="008000"/>
                    </a:solidFill>
                    <a:latin typeface="Arial" pitchFamily="34" charset="0"/>
                    <a:cs typeface="Arial" pitchFamily="34" charset="0"/>
                    <a:sym typeface="Symbol"/>
                  </a:rPr>
                  <a:t>p</a:t>
                </a:r>
                <a:r>
                  <a:rPr lang="en-US" dirty="0" smtClean="0">
                    <a:solidFill>
                      <a:srgbClr val="008000"/>
                    </a:solidFill>
                    <a:latin typeface="Arial" pitchFamily="34" charset="0"/>
                    <a:cs typeface="Arial" pitchFamily="34" charset="0"/>
                    <a:sym typeface="Symbol"/>
                  </a:rPr>
                  <a:t> = (</a:t>
                </a:r>
                <a14:m>
                  <m:oMath xmlns:m="http://schemas.openxmlformats.org/officeDocument/2006/math">
                    <m:sSub>
                      <m:sSubPr>
                        <m:ctrlPr>
                          <a:rPr lang="en-US" i="1" smtClean="0">
                            <a:solidFill>
                              <a:srgbClr val="008000"/>
                            </a:solidFill>
                            <a:latin typeface="Cambria Math"/>
                            <a:cs typeface="Arial" pitchFamily="34" charset="0"/>
                            <a:sym typeface="Symbol"/>
                          </a:rPr>
                        </m:ctrlPr>
                      </m:sSubPr>
                      <m:e>
                        <m:r>
                          <a:rPr lang="en-US" b="0" i="1" smtClean="0">
                            <a:solidFill>
                              <a:srgbClr val="008000"/>
                            </a:solidFill>
                            <a:latin typeface="Cambria Math"/>
                            <a:cs typeface="Arial" pitchFamily="34" charset="0"/>
                            <a:sym typeface="Symbol"/>
                          </a:rPr>
                          <m:t>𝑃</m:t>
                        </m:r>
                      </m:e>
                      <m:sub>
                        <m:sSub>
                          <m:sSubPr>
                            <m:ctrlPr>
                              <a:rPr lang="en-US" i="1" smtClean="0">
                                <a:solidFill>
                                  <a:srgbClr val="008000"/>
                                </a:solidFill>
                                <a:latin typeface="Cambria Math"/>
                                <a:cs typeface="Arial" pitchFamily="34" charset="0"/>
                                <a:sym typeface="Symbol"/>
                              </a:rPr>
                            </m:ctrlPr>
                          </m:sSubPr>
                          <m:e>
                            <m:r>
                              <a:rPr lang="en-US" b="0" i="1" smtClean="0">
                                <a:solidFill>
                                  <a:srgbClr val="008000"/>
                                </a:solidFill>
                                <a:latin typeface="Cambria Math"/>
                                <a:cs typeface="Arial" pitchFamily="34" charset="0"/>
                                <a:sym typeface="Symbol"/>
                              </a:rPr>
                              <m:t>𝐶𝑂</m:t>
                            </m:r>
                          </m:e>
                          <m:sub>
                            <m:r>
                              <a:rPr lang="en-US" b="0" i="1" smtClean="0">
                                <a:solidFill>
                                  <a:srgbClr val="008000"/>
                                </a:solidFill>
                                <a:latin typeface="Cambria Math"/>
                                <a:cs typeface="Arial" pitchFamily="34" charset="0"/>
                                <a:sym typeface="Symbol"/>
                              </a:rPr>
                              <m:t>2</m:t>
                            </m:r>
                          </m:sub>
                        </m:sSub>
                      </m:sub>
                    </m:sSub>
                  </m:oMath>
                </a14:m>
                <a:r>
                  <a:rPr lang="en-US" dirty="0" smtClean="0">
                    <a:solidFill>
                      <a:srgbClr val="008000"/>
                    </a:solidFill>
                    <a:latin typeface="Arial" pitchFamily="34" charset="0"/>
                    <a:cs typeface="Arial" pitchFamily="34" charset="0"/>
                  </a:rPr>
                  <a:t>)</a:t>
                </a:r>
                <a:r>
                  <a:rPr lang="en-US" baseline="-25000" dirty="0" smtClean="0">
                    <a:solidFill>
                      <a:srgbClr val="008000"/>
                    </a:solidFill>
                    <a:latin typeface="Arial" pitchFamily="34" charset="0"/>
                    <a:cs typeface="Arial" pitchFamily="34" charset="0"/>
                    <a:sym typeface="Symbol"/>
                  </a:rPr>
                  <a:t></a:t>
                </a:r>
                <a:r>
                  <a:rPr lang="en-US" dirty="0" smtClean="0">
                    <a:solidFill>
                      <a:srgbClr val="008000"/>
                    </a:solidFill>
                    <a:latin typeface="Arial" pitchFamily="34" charset="0"/>
                    <a:cs typeface="Arial" pitchFamily="34" charset="0"/>
                  </a:rPr>
                  <a:t> </a:t>
                </a:r>
                <a:endParaRPr lang="en-US" dirty="0">
                  <a:solidFill>
                    <a:srgbClr val="008000"/>
                  </a:solidFill>
                  <a:latin typeface="Arial" pitchFamily="34" charset="0"/>
                  <a:cs typeface="Arial" pitchFamily="34" charset="0"/>
                </a:endParaRPr>
              </a:p>
              <a:p>
                <a:pPr marL="0" indent="0">
                  <a:buFont typeface="Arial" panose="020B0604020202020204" pitchFamily="34" charset="0"/>
                  <a:buNone/>
                </a:pPr>
                <a:r>
                  <a:rPr lang="en-US" dirty="0" err="1" smtClean="0">
                    <a:solidFill>
                      <a:srgbClr val="008000"/>
                    </a:solidFill>
                    <a:latin typeface="Arial" pitchFamily="34" charset="0"/>
                    <a:cs typeface="Arial" pitchFamily="34" charset="0"/>
                  </a:rPr>
                  <a:t>Khi</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cân</a:t>
                </a:r>
                <a:r>
                  <a:rPr lang="en-US" dirty="0" smtClean="0">
                    <a:solidFill>
                      <a:srgbClr val="008000"/>
                    </a:solidFill>
                    <a:latin typeface="Arial" pitchFamily="34" charset="0"/>
                    <a:cs typeface="Arial" pitchFamily="34" charset="0"/>
                  </a:rPr>
                  <a:t> </a:t>
                </a:r>
                <a:r>
                  <a:rPr lang="en-US" dirty="0" err="1" smtClean="0">
                    <a:solidFill>
                      <a:srgbClr val="008000"/>
                    </a:solidFill>
                    <a:latin typeface="Arial" pitchFamily="34" charset="0"/>
                    <a:cs typeface="Arial" pitchFamily="34" charset="0"/>
                  </a:rPr>
                  <a:t>bằng</a:t>
                </a:r>
                <a:r>
                  <a:rPr lang="en-US" dirty="0" smtClean="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∆G</a:t>
                </a:r>
                <a:r>
                  <a:rPr lang="en-US" baseline="-25000" dirty="0">
                    <a:solidFill>
                      <a:srgbClr val="008000"/>
                    </a:solidFill>
                    <a:latin typeface="Arial" pitchFamily="34" charset="0"/>
                    <a:cs typeface="Arial" pitchFamily="34" charset="0"/>
                  </a:rPr>
                  <a:t>T</a:t>
                </a:r>
                <a:r>
                  <a:rPr lang="en-US" dirty="0">
                    <a:solidFill>
                      <a:srgbClr val="008000"/>
                    </a:solidFill>
                    <a:latin typeface="Arial" pitchFamily="34" charset="0"/>
                    <a:cs typeface="Arial" pitchFamily="34" charset="0"/>
                  </a:rPr>
                  <a:t> </a:t>
                </a:r>
                <a:r>
                  <a:rPr lang="en-US" dirty="0" smtClean="0">
                    <a:solidFill>
                      <a:srgbClr val="008000"/>
                    </a:solidFill>
                    <a:latin typeface="Arial" pitchFamily="34" charset="0"/>
                    <a:cs typeface="Arial" pitchFamily="34" charset="0"/>
                  </a:rPr>
                  <a:t>= 0 </a:t>
                </a:r>
                <a:r>
                  <a:rPr lang="en-US" dirty="0" smtClean="0">
                    <a:solidFill>
                      <a:srgbClr val="008000"/>
                    </a:solidFill>
                    <a:latin typeface="Arial" pitchFamily="34" charset="0"/>
                    <a:cs typeface="Arial" pitchFamily="34" charset="0"/>
                    <a:sym typeface="Symbol"/>
                  </a:rPr>
                  <a:t> </a:t>
                </a:r>
                <a:r>
                  <a:rPr lang="en-US" dirty="0">
                    <a:solidFill>
                      <a:srgbClr val="008000"/>
                    </a:solidFill>
                    <a:latin typeface="Arial" pitchFamily="34" charset="0"/>
                    <a:cs typeface="Arial" pitchFamily="34" charset="0"/>
                  </a:rPr>
                  <a:t>∆G</a:t>
                </a:r>
                <a:r>
                  <a:rPr lang="en-US" baseline="30000" dirty="0">
                    <a:solidFill>
                      <a:srgbClr val="008000"/>
                    </a:solidFill>
                    <a:latin typeface="Arial" pitchFamily="34" charset="0"/>
                    <a:cs typeface="Arial" pitchFamily="34" charset="0"/>
                  </a:rPr>
                  <a:t>0</a:t>
                </a:r>
                <a:r>
                  <a:rPr lang="en-US" baseline="-25000" dirty="0">
                    <a:solidFill>
                      <a:srgbClr val="008000"/>
                    </a:solidFill>
                    <a:latin typeface="Arial" pitchFamily="34" charset="0"/>
                    <a:cs typeface="Arial" pitchFamily="34" charset="0"/>
                  </a:rPr>
                  <a:t>T</a:t>
                </a:r>
                <a:r>
                  <a:rPr lang="en-US" dirty="0">
                    <a:solidFill>
                      <a:srgbClr val="008000"/>
                    </a:solidFill>
                    <a:latin typeface="Arial" pitchFamily="34" charset="0"/>
                    <a:cs typeface="Arial" pitchFamily="34" charset="0"/>
                  </a:rPr>
                  <a:t> </a:t>
                </a:r>
                <a:r>
                  <a:rPr lang="en-US" dirty="0" smtClean="0">
                    <a:solidFill>
                      <a:srgbClr val="008000"/>
                    </a:solidFill>
                    <a:latin typeface="Arial" pitchFamily="34" charset="0"/>
                    <a:cs typeface="Arial" pitchFamily="34" charset="0"/>
                  </a:rPr>
                  <a:t>= - RT </a:t>
                </a:r>
                <a:r>
                  <a:rPr lang="en-US" dirty="0" err="1" smtClean="0">
                    <a:solidFill>
                      <a:srgbClr val="008000"/>
                    </a:solidFill>
                    <a:latin typeface="Arial" pitchFamily="34" charset="0"/>
                    <a:cs typeface="Arial" pitchFamily="34" charset="0"/>
                  </a:rPr>
                  <a:t>ln</a:t>
                </a:r>
                <a:r>
                  <a:rPr lang="en-US" dirty="0" smtClean="0">
                    <a:solidFill>
                      <a:srgbClr val="008000"/>
                    </a:solidFill>
                    <a:latin typeface="Arial" pitchFamily="34" charset="0"/>
                    <a:cs typeface="Arial" pitchFamily="34" charset="0"/>
                  </a:rPr>
                  <a:t>(</a:t>
                </a:r>
                <a:r>
                  <a:rPr lang="en-US" dirty="0" err="1" smtClean="0">
                    <a:solidFill>
                      <a:srgbClr val="008000"/>
                    </a:solidFill>
                    <a:latin typeface="Arial" pitchFamily="34" charset="0"/>
                    <a:cs typeface="Arial" pitchFamily="34" charset="0"/>
                  </a:rPr>
                  <a:t>Q</a:t>
                </a:r>
                <a:r>
                  <a:rPr lang="en-US" baseline="-25000" dirty="0" err="1" smtClean="0">
                    <a:solidFill>
                      <a:srgbClr val="008000"/>
                    </a:solidFill>
                    <a:latin typeface="Arial" pitchFamily="34" charset="0"/>
                    <a:cs typeface="Arial" pitchFamily="34" charset="0"/>
                  </a:rPr>
                  <a:t>p</a:t>
                </a:r>
                <a:r>
                  <a:rPr lang="en-US" dirty="0" smtClean="0">
                    <a:solidFill>
                      <a:srgbClr val="008000"/>
                    </a:solidFill>
                    <a:latin typeface="Arial" pitchFamily="34" charset="0"/>
                    <a:cs typeface="Arial" pitchFamily="34" charset="0"/>
                  </a:rPr>
                  <a:t>)</a:t>
                </a:r>
                <a:r>
                  <a:rPr lang="en-US" baseline="-25000" dirty="0" err="1" smtClean="0">
                    <a:solidFill>
                      <a:srgbClr val="008000"/>
                    </a:solidFill>
                    <a:latin typeface="Arial" pitchFamily="34" charset="0"/>
                    <a:cs typeface="Arial" pitchFamily="34" charset="0"/>
                  </a:rPr>
                  <a:t>cb</a:t>
                </a:r>
                <a:r>
                  <a:rPr lang="en-US" dirty="0" smtClean="0">
                    <a:solidFill>
                      <a:srgbClr val="008000"/>
                    </a:solidFill>
                    <a:latin typeface="Arial" pitchFamily="34" charset="0"/>
                    <a:cs typeface="Arial" pitchFamily="34" charset="0"/>
                  </a:rPr>
                  <a:t> = -</a:t>
                </a:r>
                <a:r>
                  <a:rPr lang="en-US" dirty="0" err="1" smtClean="0">
                    <a:solidFill>
                      <a:srgbClr val="008000"/>
                    </a:solidFill>
                    <a:latin typeface="Arial" pitchFamily="34" charset="0"/>
                    <a:cs typeface="Arial" pitchFamily="34" charset="0"/>
                  </a:rPr>
                  <a:t>RTlnK</a:t>
                </a:r>
                <a:r>
                  <a:rPr lang="en-US" baseline="-25000" dirty="0" err="1" smtClean="0">
                    <a:solidFill>
                      <a:srgbClr val="008000"/>
                    </a:solidFill>
                    <a:latin typeface="Arial" pitchFamily="34" charset="0"/>
                    <a:cs typeface="Arial" pitchFamily="34" charset="0"/>
                  </a:rPr>
                  <a:t>p</a:t>
                </a:r>
                <a:r>
                  <a:rPr lang="en-US" dirty="0" smtClean="0">
                    <a:solidFill>
                      <a:srgbClr val="008000"/>
                    </a:solidFill>
                    <a:latin typeface="Arial" pitchFamily="34" charset="0"/>
                    <a:cs typeface="Arial" pitchFamily="34" charset="0"/>
                  </a:rPr>
                  <a:t> ; </a:t>
                </a:r>
                <a:r>
                  <a:rPr lang="en-US" dirty="0" err="1" smtClean="0">
                    <a:solidFill>
                      <a:srgbClr val="008000"/>
                    </a:solidFill>
                    <a:latin typeface="Arial" pitchFamily="34" charset="0"/>
                    <a:cs typeface="Arial" pitchFamily="34" charset="0"/>
                    <a:sym typeface="Symbol"/>
                  </a:rPr>
                  <a:t>K</a:t>
                </a:r>
                <a:r>
                  <a:rPr lang="en-US" baseline="-25000" dirty="0" err="1" smtClean="0">
                    <a:solidFill>
                      <a:srgbClr val="008000"/>
                    </a:solidFill>
                    <a:latin typeface="Arial" pitchFamily="34" charset="0"/>
                    <a:cs typeface="Arial" pitchFamily="34" charset="0"/>
                    <a:sym typeface="Symbol"/>
                  </a:rPr>
                  <a:t>p</a:t>
                </a:r>
                <a:r>
                  <a:rPr lang="en-US" dirty="0" smtClean="0">
                    <a:solidFill>
                      <a:srgbClr val="008000"/>
                    </a:solidFill>
                    <a:latin typeface="Arial" pitchFamily="34" charset="0"/>
                    <a:cs typeface="Arial" pitchFamily="34" charset="0"/>
                    <a:sym typeface="Symbol"/>
                  </a:rPr>
                  <a:t> </a:t>
                </a:r>
                <a:r>
                  <a:rPr lang="en-US" dirty="0">
                    <a:solidFill>
                      <a:srgbClr val="008000"/>
                    </a:solidFill>
                    <a:latin typeface="Arial" pitchFamily="34" charset="0"/>
                    <a:cs typeface="Arial" pitchFamily="34" charset="0"/>
                    <a:sym typeface="Symbol"/>
                  </a:rPr>
                  <a:t>= (</a:t>
                </a:r>
                <a14:m>
                  <m:oMath xmlns:m="http://schemas.openxmlformats.org/officeDocument/2006/math">
                    <m:sSub>
                      <m:sSubPr>
                        <m:ctrlPr>
                          <a:rPr lang="en-US" i="1">
                            <a:solidFill>
                              <a:srgbClr val="008000"/>
                            </a:solidFill>
                            <a:latin typeface="Cambria Math"/>
                            <a:cs typeface="Arial" pitchFamily="34" charset="0"/>
                            <a:sym typeface="Symbol"/>
                          </a:rPr>
                        </m:ctrlPr>
                      </m:sSubPr>
                      <m:e>
                        <m:r>
                          <a:rPr lang="en-US" i="1">
                            <a:solidFill>
                              <a:srgbClr val="008000"/>
                            </a:solidFill>
                            <a:latin typeface="Cambria Math"/>
                            <a:cs typeface="Arial" pitchFamily="34" charset="0"/>
                            <a:sym typeface="Symbol"/>
                          </a:rPr>
                          <m:t>𝑃</m:t>
                        </m:r>
                      </m:e>
                      <m:sub>
                        <m:sSub>
                          <m:sSubPr>
                            <m:ctrlPr>
                              <a:rPr lang="en-US" i="1">
                                <a:solidFill>
                                  <a:srgbClr val="008000"/>
                                </a:solidFill>
                                <a:latin typeface="Cambria Math"/>
                                <a:cs typeface="Arial" pitchFamily="34" charset="0"/>
                                <a:sym typeface="Symbol"/>
                              </a:rPr>
                            </m:ctrlPr>
                          </m:sSubPr>
                          <m:e>
                            <m:r>
                              <a:rPr lang="en-US" i="1">
                                <a:solidFill>
                                  <a:srgbClr val="008000"/>
                                </a:solidFill>
                                <a:latin typeface="Cambria Math"/>
                                <a:cs typeface="Arial" pitchFamily="34" charset="0"/>
                                <a:sym typeface="Symbol"/>
                              </a:rPr>
                              <m:t>𝐶𝑂</m:t>
                            </m:r>
                          </m:e>
                          <m:sub>
                            <m:r>
                              <a:rPr lang="en-US" i="1">
                                <a:solidFill>
                                  <a:srgbClr val="008000"/>
                                </a:solidFill>
                                <a:latin typeface="Cambria Math"/>
                                <a:cs typeface="Arial" pitchFamily="34" charset="0"/>
                                <a:sym typeface="Symbol"/>
                              </a:rPr>
                              <m:t>2</m:t>
                            </m:r>
                          </m:sub>
                        </m:sSub>
                      </m:sub>
                    </m:sSub>
                  </m:oMath>
                </a14:m>
                <a:r>
                  <a:rPr lang="en-US" dirty="0">
                    <a:solidFill>
                      <a:srgbClr val="008000"/>
                    </a:solidFill>
                    <a:latin typeface="Arial" pitchFamily="34" charset="0"/>
                    <a:cs typeface="Arial" pitchFamily="34" charset="0"/>
                  </a:rPr>
                  <a:t>)</a:t>
                </a:r>
                <a:r>
                  <a:rPr lang="en-US" baseline="-25000" dirty="0" smtClean="0">
                    <a:solidFill>
                      <a:srgbClr val="008000"/>
                    </a:solidFill>
                    <a:latin typeface="Arial" pitchFamily="34" charset="0"/>
                    <a:cs typeface="Arial" pitchFamily="34" charset="0"/>
                    <a:sym typeface="Symbol"/>
                  </a:rPr>
                  <a:t>cb</a:t>
                </a:r>
                <a:r>
                  <a:rPr lang="en-US" dirty="0" smtClean="0">
                    <a:solidFill>
                      <a:srgbClr val="008000"/>
                    </a:solidFill>
                    <a:latin typeface="Arial" pitchFamily="34" charset="0"/>
                    <a:cs typeface="Arial" pitchFamily="34" charset="0"/>
                  </a:rPr>
                  <a:t> </a:t>
                </a:r>
                <a:endParaRPr lang="en-US" dirty="0">
                  <a:solidFill>
                    <a:srgbClr val="008000"/>
                  </a:solidFill>
                  <a:latin typeface="Arial" pitchFamily="34" charset="0"/>
                  <a:cs typeface="Arial" pitchFamily="34" charset="0"/>
                </a:endParaRPr>
              </a:p>
              <a:p>
                <a:pPr marL="0" indent="0">
                  <a:buFont typeface="Arial" panose="020B0604020202020204" pitchFamily="34" charset="0"/>
                  <a:buNone/>
                </a:pPr>
                <a:endParaRPr lang="en-US" dirty="0">
                  <a:solidFill>
                    <a:srgbClr val="0099FF"/>
                  </a:solidFill>
                  <a:latin typeface="Arial" pitchFamily="34" charset="0"/>
                  <a:cs typeface="Arial" pitchFamily="34" charset="0"/>
                </a:endParaRPr>
              </a:p>
            </p:txBody>
          </p:sp>
        </mc:Choice>
        <mc:Fallback xmlns="">
          <p:sp>
            <p:nvSpPr>
              <p:cNvPr id="6" name="Content Placeholder 2"/>
              <p:cNvSpPr txBox="1">
                <a:spLocks noRot="1" noChangeAspect="1" noMove="1" noResize="1" noEditPoints="1" noAdjustHandles="1" noChangeArrowheads="1" noChangeShapeType="1" noTextEdit="1"/>
              </p:cNvSpPr>
              <p:nvPr/>
            </p:nvSpPr>
            <p:spPr>
              <a:xfrm>
                <a:off x="63625" y="3463974"/>
                <a:ext cx="12034422" cy="1525799"/>
              </a:xfrm>
              <a:prstGeom prst="rect">
                <a:avLst/>
              </a:prstGeom>
              <a:blipFill rotWithShape="1">
                <a:blip r:embed="rId4"/>
                <a:stretch>
                  <a:fillRect l="-1013" t="-6773"/>
                </a:stretch>
              </a:blipFill>
            </p:spPr>
            <p:txBody>
              <a:bodyPr/>
              <a:lstStyle/>
              <a:p>
                <a:r>
                  <a:rPr lang="en-US">
                    <a:noFill/>
                  </a:rPr>
                  <a:t> </a:t>
                </a:r>
              </a:p>
            </p:txBody>
          </p:sp>
        </mc:Fallback>
      </mc:AlternateContent>
      <p:sp>
        <p:nvSpPr>
          <p:cNvPr id="7" name="TextBox 6"/>
          <p:cNvSpPr txBox="1"/>
          <p:nvPr/>
        </p:nvSpPr>
        <p:spPr>
          <a:xfrm>
            <a:off x="63625" y="4619892"/>
            <a:ext cx="8167456" cy="800219"/>
          </a:xfrm>
          <a:prstGeom prst="rect">
            <a:avLst/>
          </a:prstGeom>
          <a:noFill/>
        </p:spPr>
        <p:txBody>
          <a:bodyPr wrap="square" rtlCol="0">
            <a:spAutoFit/>
          </a:bodyPr>
          <a:lstStyle/>
          <a:p>
            <a:pPr lvl="0"/>
            <a:r>
              <a:rPr lang="en-US" sz="2800" dirty="0">
                <a:solidFill>
                  <a:srgbClr val="C00000"/>
                </a:solidFill>
                <a:latin typeface="Arial" pitchFamily="34" charset="0"/>
                <a:cs typeface="Arial" pitchFamily="34" charset="0"/>
              </a:rPr>
              <a:t>3</a:t>
            </a:r>
            <a:r>
              <a:rPr lang="en-US" sz="2800" dirty="0" smtClean="0">
                <a:solidFill>
                  <a:srgbClr val="C00000"/>
                </a:solidFill>
                <a:latin typeface="Arial" pitchFamily="34" charset="0"/>
                <a:cs typeface="Arial" pitchFamily="34" charset="0"/>
              </a:rPr>
              <a:t>. CaSO</a:t>
            </a:r>
            <a:r>
              <a:rPr lang="en-US" sz="2800" baseline="-25000" dirty="0" smtClean="0">
                <a:solidFill>
                  <a:srgbClr val="C00000"/>
                </a:solidFill>
                <a:latin typeface="Arial" pitchFamily="34" charset="0"/>
                <a:cs typeface="Arial" pitchFamily="34" charset="0"/>
              </a:rPr>
              <a:t>4</a:t>
            </a:r>
            <a:r>
              <a:rPr lang="en-US" sz="2800" dirty="0" smtClean="0">
                <a:solidFill>
                  <a:srgbClr val="C00000"/>
                </a:solidFill>
                <a:latin typeface="Arial" pitchFamily="34" charset="0"/>
                <a:cs typeface="Arial" pitchFamily="34" charset="0"/>
              </a:rPr>
              <a:t> </a:t>
            </a:r>
            <a:r>
              <a:rPr lang="en-US" sz="2800" dirty="0">
                <a:solidFill>
                  <a:srgbClr val="C00000"/>
                </a:solidFill>
                <a:latin typeface="Arial" pitchFamily="34" charset="0"/>
                <a:cs typeface="Arial" pitchFamily="34" charset="0"/>
              </a:rPr>
              <a:t>(r) ⇄  </a:t>
            </a:r>
            <a:r>
              <a:rPr lang="en-US" sz="2800" dirty="0" smtClean="0">
                <a:solidFill>
                  <a:srgbClr val="C00000"/>
                </a:solidFill>
                <a:latin typeface="Arial" pitchFamily="34" charset="0"/>
                <a:cs typeface="Arial" pitchFamily="34" charset="0"/>
              </a:rPr>
              <a:t>Ca</a:t>
            </a:r>
            <a:r>
              <a:rPr lang="en-US" sz="2800" baseline="30000" dirty="0" smtClean="0">
                <a:solidFill>
                  <a:srgbClr val="C00000"/>
                </a:solidFill>
                <a:latin typeface="Arial" pitchFamily="34" charset="0"/>
                <a:cs typeface="Arial" pitchFamily="34" charset="0"/>
              </a:rPr>
              <a:t>2+</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dd</a:t>
            </a:r>
            <a:r>
              <a:rPr lang="en-US" sz="2800" dirty="0" smtClean="0">
                <a:solidFill>
                  <a:srgbClr val="C00000"/>
                </a:solidFill>
                <a:latin typeface="Arial" pitchFamily="34" charset="0"/>
                <a:cs typeface="Arial" pitchFamily="34" charset="0"/>
              </a:rPr>
              <a:t>)  </a:t>
            </a:r>
            <a:r>
              <a:rPr lang="en-US" sz="2800" dirty="0">
                <a:solidFill>
                  <a:srgbClr val="C00000"/>
                </a:solidFill>
                <a:latin typeface="Arial" pitchFamily="34" charset="0"/>
                <a:cs typeface="Arial" pitchFamily="34" charset="0"/>
              </a:rPr>
              <a:t>+ </a:t>
            </a:r>
            <a:r>
              <a:rPr lang="en-US" sz="2800" dirty="0" smtClean="0">
                <a:solidFill>
                  <a:srgbClr val="C00000"/>
                </a:solidFill>
                <a:latin typeface="Arial" pitchFamily="34" charset="0"/>
                <a:cs typeface="Arial" pitchFamily="34" charset="0"/>
              </a:rPr>
              <a:t>SO</a:t>
            </a:r>
            <a:r>
              <a:rPr lang="en-US" sz="2800" baseline="-25000" dirty="0" smtClean="0">
                <a:solidFill>
                  <a:srgbClr val="C00000"/>
                </a:solidFill>
                <a:latin typeface="Arial" pitchFamily="34" charset="0"/>
                <a:cs typeface="Arial" pitchFamily="34" charset="0"/>
              </a:rPr>
              <a:t>4</a:t>
            </a:r>
            <a:r>
              <a:rPr lang="en-US" sz="2800" baseline="30000" dirty="0" smtClean="0">
                <a:solidFill>
                  <a:srgbClr val="C00000"/>
                </a:solidFill>
                <a:latin typeface="Arial" pitchFamily="34" charset="0"/>
                <a:cs typeface="Arial" pitchFamily="34" charset="0"/>
              </a:rPr>
              <a:t>2-</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dd</a:t>
            </a:r>
            <a:r>
              <a:rPr lang="en-US" sz="2800" dirty="0" smtClean="0">
                <a:solidFill>
                  <a:srgbClr val="C00000"/>
                </a:solidFill>
                <a:latin typeface="Arial" pitchFamily="34" charset="0"/>
                <a:cs typeface="Arial" pitchFamily="34" charset="0"/>
              </a:rPr>
              <a:t>)</a:t>
            </a:r>
            <a:endParaRPr lang="en-US" sz="2800" dirty="0">
              <a:solidFill>
                <a:srgbClr val="C00000"/>
              </a:solidFill>
              <a:latin typeface="Arial" pitchFamily="34" charset="0"/>
              <a:cs typeface="Arial" pitchFamily="34" charset="0"/>
            </a:endParaRPr>
          </a:p>
          <a:p>
            <a:endParaRPr lang="en-US" dirty="0"/>
          </a:p>
        </p:txBody>
      </p:sp>
      <p:sp>
        <p:nvSpPr>
          <p:cNvPr id="8" name="Content Placeholder 2"/>
          <p:cNvSpPr txBox="1">
            <a:spLocks/>
          </p:cNvSpPr>
          <p:nvPr/>
        </p:nvSpPr>
        <p:spPr>
          <a:xfrm>
            <a:off x="150921" y="5142520"/>
            <a:ext cx="12201618" cy="152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solidFill>
                  <a:srgbClr val="0000FF"/>
                </a:solidFill>
                <a:latin typeface="Arial" pitchFamily="34" charset="0"/>
                <a:cs typeface="Arial" pitchFamily="34" charset="0"/>
              </a:rPr>
              <a:t>∆G</a:t>
            </a:r>
            <a:r>
              <a:rPr lang="en-US" baseline="-25000" dirty="0">
                <a:solidFill>
                  <a:srgbClr val="0000FF"/>
                </a:solidFill>
                <a:latin typeface="Arial" pitchFamily="34" charset="0"/>
                <a:cs typeface="Arial" pitchFamily="34" charset="0"/>
              </a:rPr>
              <a:t>T</a:t>
            </a:r>
            <a:r>
              <a:rPr lang="en-US" dirty="0" smtClean="0">
                <a:solidFill>
                  <a:srgbClr val="0000FF"/>
                </a:solidFill>
                <a:latin typeface="Arial" pitchFamily="34" charset="0"/>
                <a:cs typeface="Arial" pitchFamily="34" charset="0"/>
              </a:rPr>
              <a:t> </a:t>
            </a:r>
            <a:r>
              <a:rPr lang="en-US" dirty="0">
                <a:solidFill>
                  <a:srgbClr val="0000FF"/>
                </a:solidFill>
                <a:latin typeface="Arial" pitchFamily="34" charset="0"/>
                <a:cs typeface="Arial" pitchFamily="34" charset="0"/>
              </a:rPr>
              <a:t>= ∆</a:t>
            </a:r>
            <a:r>
              <a:rPr lang="en-US" dirty="0" smtClean="0">
                <a:solidFill>
                  <a:srgbClr val="0000FF"/>
                </a:solidFill>
                <a:latin typeface="Arial" pitchFamily="34" charset="0"/>
                <a:cs typeface="Arial" pitchFamily="34" charset="0"/>
              </a:rPr>
              <a:t>G</a:t>
            </a:r>
            <a:r>
              <a:rPr lang="en-US" baseline="30000" dirty="0" smtClean="0">
                <a:solidFill>
                  <a:srgbClr val="0000FF"/>
                </a:solidFill>
                <a:latin typeface="Arial" pitchFamily="34" charset="0"/>
                <a:cs typeface="Arial" pitchFamily="34" charset="0"/>
              </a:rPr>
              <a:t>0</a:t>
            </a:r>
            <a:r>
              <a:rPr lang="en-US" baseline="-25000" dirty="0">
                <a:solidFill>
                  <a:srgbClr val="0000FF"/>
                </a:solidFill>
                <a:latin typeface="Arial" pitchFamily="34" charset="0"/>
                <a:cs typeface="Arial" pitchFamily="34" charset="0"/>
              </a:rPr>
              <a:t>T</a:t>
            </a:r>
            <a:r>
              <a:rPr lang="en-US" dirty="0" smtClean="0">
                <a:solidFill>
                  <a:srgbClr val="0000FF"/>
                </a:solidFill>
                <a:latin typeface="Arial" pitchFamily="34" charset="0"/>
                <a:cs typeface="Arial" pitchFamily="34" charset="0"/>
              </a:rPr>
              <a:t>  </a:t>
            </a:r>
            <a:r>
              <a:rPr lang="en-US" dirty="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RTln</a:t>
            </a:r>
            <a:r>
              <a:rPr lang="en-US" dirty="0" smtClean="0">
                <a:solidFill>
                  <a:srgbClr val="0000FF"/>
                </a:solidFill>
                <a:latin typeface="Arial" pitchFamily="34" charset="0"/>
                <a:cs typeface="Arial" pitchFamily="34" charset="0"/>
              </a:rPr>
              <a:t> Q</a:t>
            </a:r>
            <a:r>
              <a:rPr lang="en-US" baseline="-25000" dirty="0">
                <a:solidFill>
                  <a:srgbClr val="0000FF"/>
                </a:solidFill>
                <a:latin typeface="Arial" pitchFamily="34" charset="0"/>
                <a:cs typeface="Arial" pitchFamily="34" charset="0"/>
              </a:rPr>
              <a:t>c</a:t>
            </a:r>
            <a:r>
              <a:rPr lang="en-US" baseline="-25000" dirty="0" smtClean="0">
                <a:solidFill>
                  <a:srgbClr val="0000FF"/>
                </a:solidFill>
                <a:latin typeface="Arial" pitchFamily="34" charset="0"/>
                <a:cs typeface="Arial" pitchFamily="34" charset="0"/>
                <a:sym typeface="Symbol"/>
              </a:rPr>
              <a:t> </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Tỉ</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số</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pư</a:t>
            </a:r>
            <a:r>
              <a:rPr lang="en-US" dirty="0" smtClean="0">
                <a:solidFill>
                  <a:srgbClr val="0000FF"/>
                </a:solidFill>
                <a:latin typeface="Arial" pitchFamily="34" charset="0"/>
                <a:cs typeface="Arial" pitchFamily="34" charset="0"/>
              </a:rPr>
              <a:t>: </a:t>
            </a:r>
            <a:r>
              <a:rPr lang="en-US" dirty="0" smtClean="0">
                <a:solidFill>
                  <a:srgbClr val="0000FF"/>
                </a:solidFill>
                <a:latin typeface="Arial" pitchFamily="34" charset="0"/>
                <a:cs typeface="Arial" pitchFamily="34" charset="0"/>
                <a:sym typeface="Symbol"/>
              </a:rPr>
              <a:t>Q</a:t>
            </a:r>
            <a:r>
              <a:rPr lang="en-US" baseline="-25000" dirty="0">
                <a:solidFill>
                  <a:srgbClr val="0000FF"/>
                </a:solidFill>
                <a:latin typeface="Arial" pitchFamily="34" charset="0"/>
                <a:cs typeface="Arial" pitchFamily="34" charset="0"/>
                <a:sym typeface="Symbol"/>
              </a:rPr>
              <a:t>c</a:t>
            </a:r>
            <a:r>
              <a:rPr lang="en-US" dirty="0" smtClean="0">
                <a:solidFill>
                  <a:srgbClr val="0000FF"/>
                </a:solidFill>
                <a:latin typeface="Arial" pitchFamily="34" charset="0"/>
                <a:cs typeface="Arial" pitchFamily="34" charset="0"/>
                <a:sym typeface="Symbol"/>
              </a:rPr>
              <a:t> = ([Ca</a:t>
            </a:r>
            <a:r>
              <a:rPr lang="en-US" baseline="30000" dirty="0" smtClean="0">
                <a:solidFill>
                  <a:srgbClr val="0000FF"/>
                </a:solidFill>
                <a:latin typeface="Arial" pitchFamily="34" charset="0"/>
                <a:cs typeface="Arial" pitchFamily="34" charset="0"/>
                <a:sym typeface="Symbol"/>
              </a:rPr>
              <a:t>2+</a:t>
            </a:r>
            <a:r>
              <a:rPr lang="en-US" dirty="0" smtClean="0">
                <a:solidFill>
                  <a:srgbClr val="0000FF"/>
                </a:solidFill>
                <a:latin typeface="Arial" pitchFamily="34" charset="0"/>
                <a:cs typeface="Arial" pitchFamily="34" charset="0"/>
                <a:sym typeface="Symbol"/>
              </a:rPr>
              <a:t>].[SO</a:t>
            </a:r>
            <a:r>
              <a:rPr lang="en-US" baseline="-25000" dirty="0" smtClean="0">
                <a:solidFill>
                  <a:srgbClr val="0000FF"/>
                </a:solidFill>
                <a:latin typeface="Arial" pitchFamily="34" charset="0"/>
                <a:cs typeface="Arial" pitchFamily="34" charset="0"/>
                <a:sym typeface="Symbol"/>
              </a:rPr>
              <a:t>4</a:t>
            </a:r>
            <a:r>
              <a:rPr lang="en-US" baseline="30000" dirty="0" smtClean="0">
                <a:solidFill>
                  <a:srgbClr val="0000FF"/>
                </a:solidFill>
                <a:latin typeface="Arial" pitchFamily="34" charset="0"/>
                <a:cs typeface="Arial" pitchFamily="34" charset="0"/>
                <a:sym typeface="Symbol"/>
              </a:rPr>
              <a:t>2-</a:t>
            </a:r>
            <a:r>
              <a:rPr lang="en-US" dirty="0" smtClean="0">
                <a:solidFill>
                  <a:srgbClr val="0000FF"/>
                </a:solidFill>
                <a:latin typeface="Arial" pitchFamily="34" charset="0"/>
                <a:cs typeface="Arial" pitchFamily="34" charset="0"/>
                <a:sym typeface="Symbol"/>
              </a:rPr>
              <a:t>] </a:t>
            </a:r>
            <a:r>
              <a:rPr lang="en-US" dirty="0" smtClean="0">
                <a:solidFill>
                  <a:srgbClr val="0000FF"/>
                </a:solidFill>
                <a:latin typeface="Arial" pitchFamily="34" charset="0"/>
                <a:cs typeface="Arial" pitchFamily="34" charset="0"/>
              </a:rPr>
              <a:t>)</a:t>
            </a:r>
            <a:r>
              <a:rPr lang="en-US" baseline="-25000" dirty="0" smtClean="0">
                <a:solidFill>
                  <a:srgbClr val="0000FF"/>
                </a:solidFill>
                <a:latin typeface="Arial" pitchFamily="34" charset="0"/>
                <a:cs typeface="Arial" pitchFamily="34" charset="0"/>
                <a:sym typeface="Symbol"/>
              </a:rPr>
              <a:t></a:t>
            </a:r>
            <a:r>
              <a:rPr lang="en-US" dirty="0" smtClean="0">
                <a:solidFill>
                  <a:srgbClr val="0000FF"/>
                </a:solidFill>
                <a:latin typeface="Arial" pitchFamily="34" charset="0"/>
                <a:cs typeface="Arial" pitchFamily="34" charset="0"/>
              </a:rPr>
              <a:t> </a:t>
            </a:r>
            <a:endParaRPr lang="en-US" dirty="0">
              <a:solidFill>
                <a:srgbClr val="0000FF"/>
              </a:solidFill>
              <a:latin typeface="Arial" pitchFamily="34" charset="0"/>
              <a:cs typeface="Arial" pitchFamily="34" charset="0"/>
            </a:endParaRPr>
          </a:p>
          <a:p>
            <a:pPr marL="0" indent="0">
              <a:buFont typeface="Arial" panose="020B0604020202020204" pitchFamily="34" charset="0"/>
              <a:buNone/>
            </a:pPr>
            <a:r>
              <a:rPr lang="en-US" dirty="0" err="1" smtClean="0">
                <a:solidFill>
                  <a:srgbClr val="0000FF"/>
                </a:solidFill>
                <a:latin typeface="Arial" pitchFamily="34" charset="0"/>
                <a:cs typeface="Arial" pitchFamily="34" charset="0"/>
              </a:rPr>
              <a:t>Khi</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cân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bằng</a:t>
            </a:r>
            <a:r>
              <a:rPr lang="en-US" dirty="0" smtClean="0">
                <a:solidFill>
                  <a:srgbClr val="0000FF"/>
                </a:solidFill>
                <a:latin typeface="Arial" pitchFamily="34" charset="0"/>
                <a:cs typeface="Arial" pitchFamily="34" charset="0"/>
              </a:rPr>
              <a:t>: </a:t>
            </a:r>
            <a:r>
              <a:rPr lang="en-US" dirty="0">
                <a:solidFill>
                  <a:srgbClr val="0000FF"/>
                </a:solidFill>
                <a:latin typeface="Arial" pitchFamily="34" charset="0"/>
                <a:cs typeface="Arial" pitchFamily="34" charset="0"/>
              </a:rPr>
              <a:t>∆G</a:t>
            </a:r>
            <a:r>
              <a:rPr lang="en-US" baseline="-25000" dirty="0">
                <a:solidFill>
                  <a:srgbClr val="0000FF"/>
                </a:solidFill>
                <a:latin typeface="Arial" pitchFamily="34" charset="0"/>
                <a:cs typeface="Arial" pitchFamily="34" charset="0"/>
              </a:rPr>
              <a:t>T</a:t>
            </a:r>
            <a:r>
              <a:rPr lang="en-US" dirty="0">
                <a:solidFill>
                  <a:srgbClr val="0000FF"/>
                </a:solidFill>
                <a:latin typeface="Arial" pitchFamily="34" charset="0"/>
                <a:cs typeface="Arial" pitchFamily="34" charset="0"/>
              </a:rPr>
              <a:t> </a:t>
            </a:r>
            <a:r>
              <a:rPr lang="en-US" dirty="0" smtClean="0">
                <a:solidFill>
                  <a:srgbClr val="0000FF"/>
                </a:solidFill>
                <a:latin typeface="Arial" pitchFamily="34" charset="0"/>
                <a:cs typeface="Arial" pitchFamily="34" charset="0"/>
              </a:rPr>
              <a:t>= 0 </a:t>
            </a:r>
            <a:r>
              <a:rPr lang="en-US" dirty="0" smtClean="0">
                <a:solidFill>
                  <a:srgbClr val="0000FF"/>
                </a:solidFill>
                <a:latin typeface="Arial" pitchFamily="34" charset="0"/>
                <a:cs typeface="Arial" pitchFamily="34" charset="0"/>
                <a:sym typeface="Symbol"/>
              </a:rPr>
              <a:t> </a:t>
            </a:r>
            <a:r>
              <a:rPr lang="en-US" dirty="0">
                <a:solidFill>
                  <a:srgbClr val="0000FF"/>
                </a:solidFill>
                <a:latin typeface="Arial" pitchFamily="34" charset="0"/>
                <a:cs typeface="Arial" pitchFamily="34" charset="0"/>
              </a:rPr>
              <a:t>∆G</a:t>
            </a:r>
            <a:r>
              <a:rPr lang="en-US" baseline="30000" dirty="0">
                <a:solidFill>
                  <a:srgbClr val="0000FF"/>
                </a:solidFill>
                <a:latin typeface="Arial" pitchFamily="34" charset="0"/>
                <a:cs typeface="Arial" pitchFamily="34" charset="0"/>
              </a:rPr>
              <a:t>0</a:t>
            </a:r>
            <a:r>
              <a:rPr lang="en-US" baseline="-25000" dirty="0">
                <a:solidFill>
                  <a:srgbClr val="0000FF"/>
                </a:solidFill>
                <a:latin typeface="Arial" pitchFamily="34" charset="0"/>
                <a:cs typeface="Arial" pitchFamily="34" charset="0"/>
              </a:rPr>
              <a:t>T</a:t>
            </a:r>
            <a:r>
              <a:rPr lang="en-US" dirty="0">
                <a:solidFill>
                  <a:srgbClr val="0000FF"/>
                </a:solidFill>
                <a:latin typeface="Arial" pitchFamily="34" charset="0"/>
                <a:cs typeface="Arial" pitchFamily="34" charset="0"/>
              </a:rPr>
              <a:t> </a:t>
            </a:r>
            <a:r>
              <a:rPr lang="en-US" dirty="0" smtClean="0">
                <a:solidFill>
                  <a:srgbClr val="0000FF"/>
                </a:solidFill>
                <a:latin typeface="Arial" pitchFamily="34" charset="0"/>
                <a:cs typeface="Arial" pitchFamily="34" charset="0"/>
              </a:rPr>
              <a:t>= - RT </a:t>
            </a:r>
            <a:r>
              <a:rPr lang="en-US" dirty="0" err="1" smtClean="0">
                <a:solidFill>
                  <a:srgbClr val="0000FF"/>
                </a:solidFill>
                <a:latin typeface="Arial" pitchFamily="34" charset="0"/>
                <a:cs typeface="Arial" pitchFamily="34" charset="0"/>
              </a:rPr>
              <a:t>ln</a:t>
            </a:r>
            <a:r>
              <a:rPr lang="en-US" dirty="0" smtClean="0">
                <a:solidFill>
                  <a:srgbClr val="0000FF"/>
                </a:solidFill>
                <a:latin typeface="Arial" pitchFamily="34" charset="0"/>
                <a:cs typeface="Arial" pitchFamily="34" charset="0"/>
              </a:rPr>
              <a:t>(Q</a:t>
            </a:r>
            <a:r>
              <a:rPr lang="en-US" baseline="-25000" dirty="0" smtClean="0">
                <a:solidFill>
                  <a:srgbClr val="0000FF"/>
                </a:solidFill>
                <a:latin typeface="Arial" pitchFamily="34" charset="0"/>
                <a:cs typeface="Arial" pitchFamily="34" charset="0"/>
              </a:rPr>
              <a:t>c</a:t>
            </a:r>
            <a:r>
              <a:rPr lang="en-US" dirty="0" smtClean="0">
                <a:solidFill>
                  <a:srgbClr val="0000FF"/>
                </a:solidFill>
                <a:latin typeface="Arial" pitchFamily="34" charset="0"/>
                <a:cs typeface="Arial" pitchFamily="34" charset="0"/>
              </a:rPr>
              <a:t>)</a:t>
            </a:r>
            <a:r>
              <a:rPr lang="en-US" baseline="-25000" dirty="0" err="1" smtClean="0">
                <a:solidFill>
                  <a:srgbClr val="0000FF"/>
                </a:solidFill>
                <a:latin typeface="Arial" pitchFamily="34" charset="0"/>
                <a:cs typeface="Arial" pitchFamily="34" charset="0"/>
              </a:rPr>
              <a:t>cb</a:t>
            </a:r>
            <a:r>
              <a:rPr lang="en-US" dirty="0" smtClean="0">
                <a:solidFill>
                  <a:srgbClr val="0000FF"/>
                </a:solidFill>
                <a:latin typeface="Arial" pitchFamily="34" charset="0"/>
                <a:cs typeface="Arial" pitchFamily="34" charset="0"/>
              </a:rPr>
              <a:t> = -</a:t>
            </a:r>
            <a:r>
              <a:rPr lang="en-US" dirty="0" err="1" smtClean="0">
                <a:solidFill>
                  <a:srgbClr val="0000FF"/>
                </a:solidFill>
                <a:latin typeface="Arial" pitchFamily="34" charset="0"/>
                <a:cs typeface="Arial" pitchFamily="34" charset="0"/>
              </a:rPr>
              <a:t>RTlnK</a:t>
            </a:r>
            <a:r>
              <a:rPr lang="en-US" baseline="-25000" dirty="0" err="1" smtClean="0">
                <a:solidFill>
                  <a:srgbClr val="0000FF"/>
                </a:solidFill>
                <a:latin typeface="Arial" pitchFamily="34" charset="0"/>
                <a:cs typeface="Arial" pitchFamily="34" charset="0"/>
              </a:rPr>
              <a:t>c</a:t>
            </a:r>
            <a:r>
              <a:rPr lang="en-US" dirty="0" smtClean="0">
                <a:solidFill>
                  <a:srgbClr val="0000FF"/>
                </a:solidFill>
                <a:latin typeface="Arial" pitchFamily="34" charset="0"/>
                <a:cs typeface="Arial" pitchFamily="34" charset="0"/>
              </a:rPr>
              <a:t> </a:t>
            </a:r>
          </a:p>
          <a:p>
            <a:pPr marL="0" indent="0">
              <a:buNone/>
            </a:pPr>
            <a:r>
              <a:rPr lang="en-US" dirty="0">
                <a:solidFill>
                  <a:srgbClr val="0000FF"/>
                </a:solidFill>
                <a:latin typeface="Arial" pitchFamily="34" charset="0"/>
                <a:cs typeface="Arial" pitchFamily="34" charset="0"/>
              </a:rPr>
              <a:t> </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K</a:t>
            </a:r>
            <a:r>
              <a:rPr lang="en-US" baseline="-25000" dirty="0" err="1" smtClean="0">
                <a:solidFill>
                  <a:srgbClr val="0000FF"/>
                </a:solidFill>
                <a:latin typeface="Arial" pitchFamily="34" charset="0"/>
                <a:cs typeface="Arial" pitchFamily="34" charset="0"/>
              </a:rPr>
              <a:t>c</a:t>
            </a:r>
            <a:r>
              <a:rPr lang="en-US" dirty="0" smtClean="0">
                <a:solidFill>
                  <a:srgbClr val="0000FF"/>
                </a:solidFill>
                <a:latin typeface="Arial" pitchFamily="34" charset="0"/>
                <a:cs typeface="Arial" pitchFamily="34" charset="0"/>
              </a:rPr>
              <a:t>= T</a:t>
            </a:r>
            <a:r>
              <a:rPr lang="en-US" baseline="-25000" dirty="0" smtClean="0">
                <a:solidFill>
                  <a:srgbClr val="0000FF"/>
                </a:solidFill>
                <a:latin typeface="Arial" pitchFamily="34" charset="0"/>
                <a:cs typeface="Arial" pitchFamily="34" charset="0"/>
              </a:rPr>
              <a:t>BaSO4</a:t>
            </a:r>
            <a:r>
              <a:rPr lang="en-US" dirty="0" smtClean="0">
                <a:solidFill>
                  <a:srgbClr val="0000FF"/>
                </a:solidFill>
                <a:latin typeface="Arial" pitchFamily="34" charset="0"/>
                <a:cs typeface="Arial" pitchFamily="34" charset="0"/>
              </a:rPr>
              <a:t>=</a:t>
            </a:r>
            <a:r>
              <a:rPr lang="en-US" dirty="0">
                <a:solidFill>
                  <a:srgbClr val="0000FF"/>
                </a:solidFill>
                <a:latin typeface="Arial" pitchFamily="34" charset="0"/>
                <a:cs typeface="Arial" pitchFamily="34" charset="0"/>
                <a:sym typeface="Symbol"/>
              </a:rPr>
              <a:t> </a:t>
            </a:r>
            <a:r>
              <a:rPr lang="en-US" dirty="0" smtClean="0">
                <a:solidFill>
                  <a:srgbClr val="0000FF"/>
                </a:solidFill>
                <a:latin typeface="Arial" pitchFamily="34" charset="0"/>
                <a:cs typeface="Arial" pitchFamily="34" charset="0"/>
                <a:sym typeface="Symbol"/>
              </a:rPr>
              <a:t>[</a:t>
            </a:r>
            <a:r>
              <a:rPr lang="en-US" dirty="0">
                <a:solidFill>
                  <a:srgbClr val="0000FF"/>
                </a:solidFill>
                <a:latin typeface="Arial" pitchFamily="34" charset="0"/>
                <a:cs typeface="Arial" pitchFamily="34" charset="0"/>
                <a:sym typeface="Symbol"/>
              </a:rPr>
              <a:t>Ca</a:t>
            </a:r>
            <a:r>
              <a:rPr lang="en-US" baseline="30000" dirty="0">
                <a:solidFill>
                  <a:srgbClr val="0000FF"/>
                </a:solidFill>
                <a:latin typeface="Arial" pitchFamily="34" charset="0"/>
                <a:cs typeface="Arial" pitchFamily="34" charset="0"/>
                <a:sym typeface="Symbol"/>
              </a:rPr>
              <a:t>2</a:t>
            </a:r>
            <a:r>
              <a:rPr lang="en-US" baseline="30000" dirty="0" smtClean="0">
                <a:solidFill>
                  <a:srgbClr val="0000FF"/>
                </a:solidFill>
                <a:latin typeface="Arial" pitchFamily="34" charset="0"/>
                <a:cs typeface="Arial" pitchFamily="34" charset="0"/>
                <a:sym typeface="Symbol"/>
              </a:rPr>
              <a:t>+</a:t>
            </a:r>
            <a:r>
              <a:rPr lang="en-US" dirty="0" smtClean="0">
                <a:solidFill>
                  <a:srgbClr val="0000FF"/>
                </a:solidFill>
                <a:latin typeface="Arial" pitchFamily="34" charset="0"/>
                <a:cs typeface="Arial" pitchFamily="34" charset="0"/>
                <a:sym typeface="Symbol"/>
              </a:rPr>
              <a:t>]</a:t>
            </a:r>
            <a:r>
              <a:rPr lang="en-US" baseline="-25000" dirty="0" err="1" smtClean="0">
                <a:solidFill>
                  <a:srgbClr val="0000FF"/>
                </a:solidFill>
                <a:latin typeface="Arial" pitchFamily="34" charset="0"/>
                <a:cs typeface="Arial" pitchFamily="34" charset="0"/>
                <a:sym typeface="Symbol"/>
              </a:rPr>
              <a:t>cb</a:t>
            </a:r>
            <a:r>
              <a:rPr lang="en-US" dirty="0" smtClean="0">
                <a:solidFill>
                  <a:srgbClr val="0000FF"/>
                </a:solidFill>
                <a:latin typeface="Arial" pitchFamily="34" charset="0"/>
                <a:cs typeface="Arial" pitchFamily="34" charset="0"/>
                <a:sym typeface="Symbol"/>
              </a:rPr>
              <a:t> .[</a:t>
            </a:r>
            <a:r>
              <a:rPr lang="en-US" dirty="0">
                <a:solidFill>
                  <a:srgbClr val="0000FF"/>
                </a:solidFill>
                <a:latin typeface="Arial" pitchFamily="34" charset="0"/>
                <a:cs typeface="Arial" pitchFamily="34" charset="0"/>
                <a:sym typeface="Symbol"/>
              </a:rPr>
              <a:t>SO</a:t>
            </a:r>
            <a:r>
              <a:rPr lang="en-US" baseline="-25000" dirty="0">
                <a:solidFill>
                  <a:srgbClr val="0000FF"/>
                </a:solidFill>
                <a:latin typeface="Arial" pitchFamily="34" charset="0"/>
                <a:cs typeface="Arial" pitchFamily="34" charset="0"/>
                <a:sym typeface="Symbol"/>
              </a:rPr>
              <a:t>4</a:t>
            </a:r>
            <a:r>
              <a:rPr lang="en-US" baseline="30000" dirty="0">
                <a:solidFill>
                  <a:srgbClr val="0000FF"/>
                </a:solidFill>
                <a:latin typeface="Arial" pitchFamily="34" charset="0"/>
                <a:cs typeface="Arial" pitchFamily="34" charset="0"/>
                <a:sym typeface="Symbol"/>
              </a:rPr>
              <a:t>2-</a:t>
            </a:r>
            <a:r>
              <a:rPr lang="en-US" dirty="0" smtClean="0">
                <a:solidFill>
                  <a:srgbClr val="0000FF"/>
                </a:solidFill>
                <a:latin typeface="Arial" pitchFamily="34" charset="0"/>
                <a:cs typeface="Arial" pitchFamily="34" charset="0"/>
                <a:sym typeface="Symbol"/>
              </a:rPr>
              <a:t>]</a:t>
            </a:r>
            <a:r>
              <a:rPr lang="en-US" baseline="-25000" dirty="0" err="1" smtClean="0">
                <a:solidFill>
                  <a:srgbClr val="0000FF"/>
                </a:solidFill>
                <a:latin typeface="Arial" pitchFamily="34" charset="0"/>
                <a:cs typeface="Arial" pitchFamily="34" charset="0"/>
                <a:sym typeface="Symbol"/>
              </a:rPr>
              <a:t>cb</a:t>
            </a:r>
            <a:r>
              <a:rPr lang="en-US" dirty="0" smtClean="0">
                <a:solidFill>
                  <a:srgbClr val="0000FF"/>
                </a:solidFill>
                <a:latin typeface="Arial" pitchFamily="34" charset="0"/>
                <a:cs typeface="Arial" pitchFamily="34" charset="0"/>
              </a:rPr>
              <a:t>   </a:t>
            </a:r>
            <a:endParaRPr lang="en-US" dirty="0">
              <a:solidFill>
                <a:srgbClr val="0000FF"/>
              </a:solidFill>
              <a:latin typeface="Arial" pitchFamily="34" charset="0"/>
              <a:cs typeface="Arial" pitchFamily="34" charset="0"/>
            </a:endParaRPr>
          </a:p>
          <a:p>
            <a:pPr marL="0" indent="0">
              <a:buFont typeface="Arial" panose="020B0604020202020204" pitchFamily="34" charset="0"/>
              <a:buNone/>
            </a:pPr>
            <a:endParaRPr lang="en-US" dirty="0">
              <a:solidFill>
                <a:srgbClr val="0000FF"/>
              </a:solidFill>
              <a:latin typeface="Arial" pitchFamily="34" charset="0"/>
              <a:cs typeface="Arial" pitchFamily="34" charset="0"/>
            </a:endParaRPr>
          </a:p>
        </p:txBody>
      </p:sp>
      <p:sp>
        <p:nvSpPr>
          <p:cNvPr id="9" name="TextBox 8"/>
          <p:cNvSpPr txBox="1"/>
          <p:nvPr/>
        </p:nvSpPr>
        <p:spPr>
          <a:xfrm>
            <a:off x="150920" y="178114"/>
            <a:ext cx="12041079" cy="523220"/>
          </a:xfrm>
          <a:prstGeom prst="rect">
            <a:avLst/>
          </a:prstGeom>
          <a:noFill/>
        </p:spPr>
        <p:txBody>
          <a:bodyPr wrap="square" rtlCol="0">
            <a:spAutoFit/>
          </a:bodyPr>
          <a:lstStyle/>
          <a:p>
            <a:r>
              <a:rPr lang="en-US" sz="2800" b="1" dirty="0" err="1" smtClean="0">
                <a:latin typeface="Arial" pitchFamily="34" charset="0"/>
                <a:cs typeface="Arial" pitchFamily="34" charset="0"/>
              </a:rPr>
              <a:t>Câu</a:t>
            </a:r>
            <a:r>
              <a:rPr lang="en-US" sz="2800" b="1" dirty="0" smtClean="0">
                <a:latin typeface="Arial" pitchFamily="34" charset="0"/>
                <a:cs typeface="Arial" pitchFamily="34" charset="0"/>
              </a:rPr>
              <a:t> </a:t>
            </a:r>
            <a:r>
              <a:rPr lang="vi-VN" sz="2800" b="1" dirty="0" smtClean="0">
                <a:latin typeface="Arial" pitchFamily="34" charset="0"/>
                <a:cs typeface="Arial" pitchFamily="34" charset="0"/>
              </a:rPr>
              <a:t>9</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Chọn</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phương</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án</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đúng</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Thiết</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lập</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biểu</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thức</a:t>
            </a:r>
            <a:r>
              <a:rPr lang="en-US" sz="2800" dirty="0" smtClean="0">
                <a:latin typeface="Arial" pitchFamily="34" charset="0"/>
                <a:cs typeface="Arial" pitchFamily="34" charset="0"/>
              </a:rPr>
              <a:t> </a:t>
            </a:r>
            <a:r>
              <a:rPr lang="en-US" sz="2800" dirty="0">
                <a:latin typeface="Arial" pitchFamily="34" charset="0"/>
                <a:cs typeface="Arial" pitchFamily="34" charset="0"/>
              </a:rPr>
              <a:t>∆</a:t>
            </a:r>
            <a:r>
              <a:rPr lang="en-US" sz="2800" dirty="0" smtClean="0">
                <a:latin typeface="Arial" pitchFamily="34" charset="0"/>
                <a:cs typeface="Arial" pitchFamily="34" charset="0"/>
              </a:rPr>
              <a:t>G(T) </a:t>
            </a:r>
            <a:r>
              <a:rPr lang="en-US" sz="2800" dirty="0" err="1" smtClean="0">
                <a:latin typeface="Arial" pitchFamily="34" charset="0"/>
                <a:cs typeface="Arial" pitchFamily="34" charset="0"/>
              </a:rPr>
              <a:t>cho</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các</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pư</a:t>
            </a:r>
            <a:r>
              <a:rPr lang="en-US" sz="2800" dirty="0" smtClean="0">
                <a:latin typeface="Arial" pitchFamily="34" charset="0"/>
                <a:cs typeface="Arial" pitchFamily="34" charset="0"/>
              </a:rPr>
              <a:t> </a:t>
            </a:r>
            <a:r>
              <a:rPr lang="en-US" sz="2800" dirty="0" err="1" smtClean="0">
                <a:latin typeface="Arial" pitchFamily="34" charset="0"/>
                <a:cs typeface="Arial" pitchFamily="34" charset="0"/>
              </a:rPr>
              <a:t>sau</a:t>
            </a:r>
            <a:r>
              <a:rPr lang="en-US" sz="2800" dirty="0" smtClean="0">
                <a:latin typeface="Arial" pitchFamily="34" charset="0"/>
                <a:cs typeface="Arial" pitchFamily="34" charset="0"/>
              </a:rPr>
              <a:t>: </a:t>
            </a:r>
            <a:endParaRPr lang="en-US" sz="2800" dirty="0">
              <a:latin typeface="Arial" pitchFamily="34" charset="0"/>
              <a:cs typeface="Arial" pitchFamily="34" charset="0"/>
            </a:endParaRPr>
          </a:p>
        </p:txBody>
      </p:sp>
      <p:sp>
        <p:nvSpPr>
          <p:cNvPr id="10" name="TextBox 9">
            <a:extLst>
              <a:ext uri="{FF2B5EF4-FFF2-40B4-BE49-F238E27FC236}">
                <a16:creationId xmlns="" xmlns:a16="http://schemas.microsoft.com/office/drawing/2014/main" id="{97C73F78-EA38-413D-B04A-7DD08D223D71}"/>
              </a:ext>
            </a:extLst>
          </p:cNvPr>
          <p:cNvSpPr txBox="1"/>
          <p:nvPr/>
        </p:nvSpPr>
        <p:spPr>
          <a:xfrm>
            <a:off x="7733695" y="698517"/>
            <a:ext cx="4364352"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Tree>
    <p:extLst>
      <p:ext uri="{BB962C8B-B14F-4D97-AF65-F5344CB8AC3E}">
        <p14:creationId xmlns:p14="http://schemas.microsoft.com/office/powerpoint/2010/main" val="313714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865B1B2-9B0C-4489-9A60-C2D716CB9FE3}"/>
              </a:ext>
            </a:extLst>
          </p:cNvPr>
          <p:cNvSpPr>
            <a:spLocks noGrp="1"/>
          </p:cNvSpPr>
          <p:nvPr>
            <p:ph idx="1"/>
          </p:nvPr>
        </p:nvSpPr>
        <p:spPr>
          <a:xfrm>
            <a:off x="245550" y="0"/>
            <a:ext cx="11457791" cy="6564528"/>
          </a:xfrm>
        </p:spPr>
        <p:txBody>
          <a:bodyPr>
            <a:normAutofit fontScale="85000" lnSpcReduction="20000"/>
          </a:bodyPr>
          <a:lstStyle/>
          <a:p>
            <a:pPr marL="0" indent="0">
              <a:lnSpc>
                <a:spcPct val="160000"/>
              </a:lnSpc>
              <a:buNone/>
            </a:pPr>
            <a:r>
              <a:rPr lang="en-US" sz="3800" b="1" dirty="0">
                <a:latin typeface="Arial" pitchFamily="34" charset="0"/>
                <a:cs typeface="Arial" pitchFamily="34" charset="0"/>
              </a:rPr>
              <a:t>C</a:t>
            </a:r>
            <a:r>
              <a:rPr lang="vi-VN" sz="3800" b="1" dirty="0">
                <a:latin typeface="Arial" pitchFamily="34" charset="0"/>
                <a:cs typeface="Arial" pitchFamily="34" charset="0"/>
              </a:rPr>
              <a:t>âu</a:t>
            </a:r>
            <a:r>
              <a:rPr lang="en-US" sz="3800" b="1" dirty="0">
                <a:latin typeface="Arial" pitchFamily="34" charset="0"/>
                <a:cs typeface="Arial" pitchFamily="34" charset="0"/>
              </a:rPr>
              <a:t> </a:t>
            </a:r>
            <a:r>
              <a:rPr lang="vi-VN" sz="3800" b="1" dirty="0" smtClean="0">
                <a:latin typeface="Arial" pitchFamily="34" charset="0"/>
                <a:cs typeface="Arial" pitchFamily="34" charset="0"/>
              </a:rPr>
              <a:t>10</a:t>
            </a:r>
            <a:r>
              <a:rPr lang="vi-VN" sz="3800" dirty="0" smtClean="0">
                <a:latin typeface="Arial" pitchFamily="34" charset="0"/>
                <a:cs typeface="Arial" pitchFamily="34" charset="0"/>
              </a:rPr>
              <a:t>. </a:t>
            </a:r>
            <a:r>
              <a:rPr lang="vi-VN" sz="3800" dirty="0">
                <a:latin typeface="Arial" pitchFamily="34" charset="0"/>
                <a:cs typeface="Arial" pitchFamily="34" charset="0"/>
              </a:rPr>
              <a:t>Chọn phát biểu </a:t>
            </a:r>
            <a:r>
              <a:rPr lang="vi-VN" sz="3800" b="1" dirty="0">
                <a:latin typeface="Arial" pitchFamily="34" charset="0"/>
                <a:cs typeface="Arial" pitchFamily="34" charset="0"/>
              </a:rPr>
              <a:t>đúng</a:t>
            </a:r>
            <a:r>
              <a:rPr lang="vi-VN" sz="3800" dirty="0">
                <a:latin typeface="Arial" pitchFamily="34" charset="0"/>
                <a:cs typeface="Arial" pitchFamily="34" charset="0"/>
              </a:rPr>
              <a:t> về hằng số cân bằng</a:t>
            </a:r>
            <a:r>
              <a:rPr lang="en-US" sz="3800" dirty="0">
                <a:latin typeface="Arial" pitchFamily="34" charset="0"/>
                <a:cs typeface="Arial" pitchFamily="34" charset="0"/>
              </a:rPr>
              <a:t> (</a:t>
            </a:r>
            <a:r>
              <a:rPr lang="en-US" sz="3800" dirty="0" err="1">
                <a:latin typeface="Arial" pitchFamily="34" charset="0"/>
                <a:cs typeface="Arial" pitchFamily="34" charset="0"/>
              </a:rPr>
              <a:t>K</a:t>
            </a:r>
            <a:r>
              <a:rPr lang="en-US" sz="3800" baseline="-25000" dirty="0" err="1">
                <a:latin typeface="Arial" pitchFamily="34" charset="0"/>
                <a:cs typeface="Arial" pitchFamily="34" charset="0"/>
              </a:rPr>
              <a:t>p</a:t>
            </a:r>
            <a:r>
              <a:rPr lang="en-US" sz="3800" dirty="0">
                <a:latin typeface="Arial" pitchFamily="34" charset="0"/>
                <a:cs typeface="Arial" pitchFamily="34" charset="0"/>
              </a:rPr>
              <a:t> , K</a:t>
            </a:r>
            <a:r>
              <a:rPr lang="en-US" sz="3800" baseline="-25000" dirty="0">
                <a:latin typeface="Arial" pitchFamily="34" charset="0"/>
                <a:cs typeface="Arial" pitchFamily="34" charset="0"/>
              </a:rPr>
              <a:t>c</a:t>
            </a:r>
            <a:r>
              <a:rPr lang="en-US" sz="3800" dirty="0">
                <a:latin typeface="Arial" pitchFamily="34" charset="0"/>
                <a:cs typeface="Arial" pitchFamily="34" charset="0"/>
              </a:rPr>
              <a:t>)</a:t>
            </a:r>
            <a:r>
              <a:rPr lang="vi-VN" sz="3800" dirty="0">
                <a:latin typeface="Arial" pitchFamily="34" charset="0"/>
                <a:cs typeface="Arial" pitchFamily="34" charset="0"/>
              </a:rPr>
              <a:t>: </a:t>
            </a:r>
          </a:p>
          <a:p>
            <a:pPr marL="514350" indent="-514350">
              <a:lnSpc>
                <a:spcPct val="160000"/>
              </a:lnSpc>
              <a:buAutoNum type="arabicPeriod"/>
            </a:pPr>
            <a:r>
              <a:rPr lang="vi-VN" sz="3800" dirty="0">
                <a:solidFill>
                  <a:srgbClr val="00B050"/>
                </a:solidFill>
                <a:latin typeface="Arial" pitchFamily="34" charset="0"/>
                <a:cs typeface="Arial" pitchFamily="34" charset="0"/>
              </a:rPr>
              <a:t>Là hằng số ở nhiệt độ nhất định</a:t>
            </a:r>
            <a:r>
              <a:rPr lang="en-US" sz="3800" dirty="0">
                <a:solidFill>
                  <a:srgbClr val="00B050"/>
                </a:solidFill>
                <a:latin typeface="Arial" pitchFamily="34" charset="0"/>
                <a:cs typeface="Arial" pitchFamily="34" charset="0"/>
              </a:rPr>
              <a:t> </a:t>
            </a:r>
            <a:r>
              <a:rPr lang="en-US" sz="3800" dirty="0" err="1">
                <a:solidFill>
                  <a:srgbClr val="00B050"/>
                </a:solidFill>
                <a:latin typeface="Arial" pitchFamily="34" charset="0"/>
                <a:cs typeface="Arial" pitchFamily="34" charset="0"/>
              </a:rPr>
              <a:t>và</a:t>
            </a:r>
            <a:r>
              <a:rPr lang="en-US" sz="3800" dirty="0">
                <a:solidFill>
                  <a:srgbClr val="00B050"/>
                </a:solidFill>
                <a:latin typeface="Arial" pitchFamily="34" charset="0"/>
                <a:cs typeface="Arial" pitchFamily="34" charset="0"/>
              </a:rPr>
              <a:t> </a:t>
            </a:r>
            <a:r>
              <a:rPr lang="en-US" sz="3800" dirty="0" err="1">
                <a:solidFill>
                  <a:srgbClr val="00B050"/>
                </a:solidFill>
                <a:latin typeface="Arial" pitchFamily="34" charset="0"/>
                <a:cs typeface="Arial" pitchFamily="34" charset="0"/>
              </a:rPr>
              <a:t>không</a:t>
            </a:r>
            <a:r>
              <a:rPr lang="en-US" sz="3800" dirty="0">
                <a:solidFill>
                  <a:srgbClr val="00B050"/>
                </a:solidFill>
                <a:latin typeface="Arial" pitchFamily="34" charset="0"/>
                <a:cs typeface="Arial" pitchFamily="34" charset="0"/>
              </a:rPr>
              <a:t> </a:t>
            </a:r>
            <a:r>
              <a:rPr lang="en-US" sz="3800" dirty="0" err="1">
                <a:solidFill>
                  <a:srgbClr val="00B050"/>
                </a:solidFill>
                <a:latin typeface="Arial" pitchFamily="34" charset="0"/>
                <a:cs typeface="Arial" pitchFamily="34" charset="0"/>
              </a:rPr>
              <a:t>có</a:t>
            </a:r>
            <a:r>
              <a:rPr lang="en-US" sz="3800" dirty="0">
                <a:solidFill>
                  <a:srgbClr val="00B050"/>
                </a:solidFill>
                <a:latin typeface="Arial" pitchFamily="34" charset="0"/>
                <a:cs typeface="Arial" pitchFamily="34" charset="0"/>
              </a:rPr>
              <a:t> </a:t>
            </a:r>
            <a:r>
              <a:rPr lang="en-US" sz="3800" dirty="0" err="1">
                <a:solidFill>
                  <a:srgbClr val="00B050"/>
                </a:solidFill>
                <a:latin typeface="Arial" pitchFamily="34" charset="0"/>
                <a:cs typeface="Arial" pitchFamily="34" charset="0"/>
              </a:rPr>
              <a:t>thứ</a:t>
            </a:r>
            <a:r>
              <a:rPr lang="en-US" sz="3800" dirty="0">
                <a:solidFill>
                  <a:srgbClr val="00B050"/>
                </a:solidFill>
                <a:latin typeface="Arial" pitchFamily="34" charset="0"/>
                <a:cs typeface="Arial" pitchFamily="34" charset="0"/>
              </a:rPr>
              <a:t> </a:t>
            </a:r>
            <a:r>
              <a:rPr lang="en-US" sz="3800" dirty="0" err="1">
                <a:solidFill>
                  <a:srgbClr val="00B050"/>
                </a:solidFill>
                <a:latin typeface="Arial" pitchFamily="34" charset="0"/>
                <a:cs typeface="Arial" pitchFamily="34" charset="0"/>
              </a:rPr>
              <a:t>nguyên</a:t>
            </a:r>
            <a:r>
              <a:rPr lang="vi-VN" sz="3800" dirty="0">
                <a:solidFill>
                  <a:srgbClr val="00B050"/>
                </a:solidFill>
                <a:latin typeface="Arial" pitchFamily="34" charset="0"/>
                <a:cs typeface="Arial" pitchFamily="34" charset="0"/>
              </a:rPr>
              <a:t>.</a:t>
            </a:r>
            <a:endParaRPr lang="en-US" sz="3800" dirty="0">
              <a:solidFill>
                <a:srgbClr val="00B050"/>
              </a:solidFill>
              <a:latin typeface="Arial" pitchFamily="34" charset="0"/>
              <a:cs typeface="Arial" pitchFamily="34" charset="0"/>
            </a:endParaRPr>
          </a:p>
          <a:p>
            <a:pPr marL="514350" indent="-514350">
              <a:lnSpc>
                <a:spcPct val="160000"/>
              </a:lnSpc>
              <a:buFont typeface="Arial" panose="020B0604020202020204" pitchFamily="34" charset="0"/>
              <a:buAutoNum type="arabicPeriod"/>
            </a:pPr>
            <a:r>
              <a:rPr lang="vi-VN" sz="3800" dirty="0">
                <a:solidFill>
                  <a:srgbClr val="C00000"/>
                </a:solidFill>
                <a:latin typeface="Arial" pitchFamily="34" charset="0"/>
                <a:cs typeface="Arial" pitchFamily="34" charset="0"/>
              </a:rPr>
              <a:t>Phụ thuộc vào bản chất phản ứng và nhiệt độ.</a:t>
            </a:r>
            <a:endParaRPr lang="en-US" sz="3800" dirty="0">
              <a:solidFill>
                <a:srgbClr val="C00000"/>
              </a:solidFill>
              <a:latin typeface="Arial" pitchFamily="34" charset="0"/>
              <a:cs typeface="Arial" pitchFamily="34" charset="0"/>
            </a:endParaRPr>
          </a:p>
          <a:p>
            <a:pPr marL="514350" indent="-514350">
              <a:lnSpc>
                <a:spcPct val="160000"/>
              </a:lnSpc>
              <a:buFont typeface="Arial" panose="020B0604020202020204" pitchFamily="34" charset="0"/>
              <a:buAutoNum type="arabicPeriod"/>
            </a:pPr>
            <a:r>
              <a:rPr lang="en-US" sz="3800" dirty="0" err="1">
                <a:solidFill>
                  <a:srgbClr val="9933FF"/>
                </a:solidFill>
                <a:latin typeface="Arial" pitchFamily="34" charset="0"/>
                <a:cs typeface="Arial" pitchFamily="34" charset="0"/>
              </a:rPr>
              <a:t>Phản</a:t>
            </a:r>
            <a:r>
              <a:rPr lang="en-US" sz="3800" dirty="0">
                <a:solidFill>
                  <a:srgbClr val="9933FF"/>
                </a:solidFill>
                <a:latin typeface="Arial" pitchFamily="34" charset="0"/>
                <a:cs typeface="Arial" pitchFamily="34" charset="0"/>
              </a:rPr>
              <a:t> </a:t>
            </a:r>
            <a:r>
              <a:rPr lang="en-US" sz="3800" dirty="0" err="1">
                <a:solidFill>
                  <a:srgbClr val="9933FF"/>
                </a:solidFill>
                <a:latin typeface="Arial" pitchFamily="34" charset="0"/>
                <a:cs typeface="Arial" pitchFamily="34" charset="0"/>
              </a:rPr>
              <a:t>ứng</a:t>
            </a:r>
            <a:r>
              <a:rPr lang="en-US" sz="3800" dirty="0">
                <a:solidFill>
                  <a:srgbClr val="9933FF"/>
                </a:solidFill>
                <a:latin typeface="Arial" pitchFamily="34" charset="0"/>
                <a:cs typeface="Arial" pitchFamily="34" charset="0"/>
              </a:rPr>
              <a:t> </a:t>
            </a:r>
            <a:r>
              <a:rPr lang="en-US" sz="3800" u="sng" dirty="0" err="1">
                <a:solidFill>
                  <a:srgbClr val="9933FF"/>
                </a:solidFill>
                <a:latin typeface="Arial" pitchFamily="34" charset="0"/>
                <a:cs typeface="Arial" pitchFamily="34" charset="0"/>
              </a:rPr>
              <a:t>thu</a:t>
            </a:r>
            <a:r>
              <a:rPr lang="en-US" sz="3800" u="sng" dirty="0">
                <a:solidFill>
                  <a:srgbClr val="9933FF"/>
                </a:solidFill>
                <a:latin typeface="Arial" pitchFamily="34" charset="0"/>
                <a:cs typeface="Arial" pitchFamily="34" charset="0"/>
              </a:rPr>
              <a:t> </a:t>
            </a:r>
            <a:r>
              <a:rPr lang="en-US" sz="3800" u="sng" dirty="0" err="1">
                <a:solidFill>
                  <a:srgbClr val="9933FF"/>
                </a:solidFill>
                <a:latin typeface="Arial" pitchFamily="34" charset="0"/>
                <a:cs typeface="Arial" pitchFamily="34" charset="0"/>
              </a:rPr>
              <a:t>nhiệt</a:t>
            </a:r>
            <a:r>
              <a:rPr lang="en-US" sz="3800" u="sng" dirty="0">
                <a:solidFill>
                  <a:srgbClr val="9933FF"/>
                </a:solidFill>
                <a:latin typeface="Arial" pitchFamily="34" charset="0"/>
                <a:cs typeface="Arial" pitchFamily="34" charset="0"/>
              </a:rPr>
              <a:t> </a:t>
            </a:r>
            <a:r>
              <a:rPr lang="en-US" sz="3800" dirty="0" err="1">
                <a:solidFill>
                  <a:srgbClr val="9933FF"/>
                </a:solidFill>
                <a:latin typeface="Arial" pitchFamily="34" charset="0"/>
                <a:cs typeface="Arial" pitchFamily="34" charset="0"/>
              </a:rPr>
              <a:t>thì</a:t>
            </a:r>
            <a:r>
              <a:rPr lang="en-US" sz="3800" dirty="0">
                <a:solidFill>
                  <a:srgbClr val="9933FF"/>
                </a:solidFill>
                <a:latin typeface="Arial" pitchFamily="34" charset="0"/>
                <a:cs typeface="Arial" pitchFamily="34" charset="0"/>
              </a:rPr>
              <a:t> K </a:t>
            </a:r>
            <a:r>
              <a:rPr lang="en-US" sz="3800" u="sng" dirty="0" err="1">
                <a:solidFill>
                  <a:srgbClr val="9933FF"/>
                </a:solidFill>
                <a:latin typeface="Arial" pitchFamily="34" charset="0"/>
                <a:cs typeface="Arial" pitchFamily="34" charset="0"/>
              </a:rPr>
              <a:t>tăng</a:t>
            </a:r>
            <a:r>
              <a:rPr lang="en-US" sz="3800" u="sng" dirty="0">
                <a:solidFill>
                  <a:srgbClr val="9933FF"/>
                </a:solidFill>
                <a:latin typeface="Arial" pitchFamily="34" charset="0"/>
                <a:cs typeface="Arial" pitchFamily="34" charset="0"/>
              </a:rPr>
              <a:t> </a:t>
            </a:r>
            <a:r>
              <a:rPr lang="en-US" sz="3800" u="sng" dirty="0" err="1">
                <a:solidFill>
                  <a:srgbClr val="9933FF"/>
                </a:solidFill>
                <a:latin typeface="Arial" pitchFamily="34" charset="0"/>
                <a:cs typeface="Arial" pitchFamily="34" charset="0"/>
              </a:rPr>
              <a:t>theo</a:t>
            </a:r>
            <a:r>
              <a:rPr lang="en-US" sz="3800" u="sng" dirty="0">
                <a:solidFill>
                  <a:srgbClr val="9933FF"/>
                </a:solidFill>
                <a:latin typeface="Arial" pitchFamily="34" charset="0"/>
                <a:cs typeface="Arial" pitchFamily="34" charset="0"/>
              </a:rPr>
              <a:t> </a:t>
            </a:r>
            <a:r>
              <a:rPr lang="en-US" sz="3800" u="sng" dirty="0" err="1">
                <a:solidFill>
                  <a:srgbClr val="9933FF"/>
                </a:solidFill>
                <a:latin typeface="Arial" pitchFamily="34" charset="0"/>
                <a:cs typeface="Arial" pitchFamily="34" charset="0"/>
              </a:rPr>
              <a:t>nhiệt</a:t>
            </a:r>
            <a:r>
              <a:rPr lang="en-US" sz="3800" u="sng" dirty="0">
                <a:solidFill>
                  <a:srgbClr val="9933FF"/>
                </a:solidFill>
                <a:latin typeface="Arial" pitchFamily="34" charset="0"/>
                <a:cs typeface="Arial" pitchFamily="34" charset="0"/>
              </a:rPr>
              <a:t> </a:t>
            </a:r>
            <a:r>
              <a:rPr lang="en-US" sz="3800" u="sng" dirty="0" err="1">
                <a:solidFill>
                  <a:srgbClr val="9933FF"/>
                </a:solidFill>
                <a:latin typeface="Arial" pitchFamily="34" charset="0"/>
                <a:cs typeface="Arial" pitchFamily="34" charset="0"/>
              </a:rPr>
              <a:t>độ</a:t>
            </a:r>
            <a:r>
              <a:rPr lang="en-US" sz="3800" dirty="0">
                <a:solidFill>
                  <a:srgbClr val="9933FF"/>
                </a:solidFill>
                <a:latin typeface="Arial" pitchFamily="34" charset="0"/>
                <a:cs typeface="Arial" pitchFamily="34" charset="0"/>
              </a:rPr>
              <a:t>.</a:t>
            </a:r>
          </a:p>
          <a:p>
            <a:pPr marL="514350" indent="-514350">
              <a:lnSpc>
                <a:spcPct val="160000"/>
              </a:lnSpc>
              <a:buFont typeface="Arial" panose="020B0604020202020204" pitchFamily="34" charset="0"/>
              <a:buAutoNum type="arabicPeriod"/>
            </a:pPr>
            <a:r>
              <a:rPr lang="en-US" sz="3800" dirty="0" err="1">
                <a:solidFill>
                  <a:schemeClr val="accent4">
                    <a:lumMod val="50000"/>
                  </a:schemeClr>
                </a:solidFill>
                <a:latin typeface="Arial" pitchFamily="34" charset="0"/>
                <a:cs typeface="Arial" pitchFamily="34" charset="0"/>
              </a:rPr>
              <a:t>Phản</a:t>
            </a:r>
            <a:r>
              <a:rPr lang="en-US" sz="3800" dirty="0">
                <a:solidFill>
                  <a:schemeClr val="accent4">
                    <a:lumMod val="50000"/>
                  </a:schemeClr>
                </a:solidFill>
                <a:latin typeface="Arial" pitchFamily="34" charset="0"/>
                <a:cs typeface="Arial" pitchFamily="34" charset="0"/>
              </a:rPr>
              <a:t> </a:t>
            </a:r>
            <a:r>
              <a:rPr lang="en-US" sz="3800" dirty="0" err="1">
                <a:solidFill>
                  <a:schemeClr val="accent4">
                    <a:lumMod val="50000"/>
                  </a:schemeClr>
                </a:solidFill>
                <a:latin typeface="Arial" pitchFamily="34" charset="0"/>
                <a:cs typeface="Arial" pitchFamily="34" charset="0"/>
              </a:rPr>
              <a:t>ứng</a:t>
            </a:r>
            <a:r>
              <a:rPr lang="en-US" sz="3800" dirty="0">
                <a:solidFill>
                  <a:schemeClr val="accent4">
                    <a:lumMod val="50000"/>
                  </a:schemeClr>
                </a:solidFill>
                <a:latin typeface="Arial" pitchFamily="34" charset="0"/>
                <a:cs typeface="Arial" pitchFamily="34" charset="0"/>
              </a:rPr>
              <a:t> </a:t>
            </a:r>
            <a:r>
              <a:rPr lang="en-US" sz="3800" u="sng" dirty="0" err="1">
                <a:solidFill>
                  <a:schemeClr val="accent4">
                    <a:lumMod val="50000"/>
                  </a:schemeClr>
                </a:solidFill>
                <a:latin typeface="Arial" pitchFamily="34" charset="0"/>
                <a:cs typeface="Arial" pitchFamily="34" charset="0"/>
              </a:rPr>
              <a:t>tỏa</a:t>
            </a:r>
            <a:r>
              <a:rPr lang="en-US" sz="3800" u="sng" dirty="0">
                <a:solidFill>
                  <a:schemeClr val="accent4">
                    <a:lumMod val="50000"/>
                  </a:schemeClr>
                </a:solidFill>
                <a:latin typeface="Arial" pitchFamily="34" charset="0"/>
                <a:cs typeface="Arial" pitchFamily="34" charset="0"/>
              </a:rPr>
              <a:t> </a:t>
            </a:r>
            <a:r>
              <a:rPr lang="en-US" sz="3800" u="sng" dirty="0" err="1">
                <a:solidFill>
                  <a:schemeClr val="accent4">
                    <a:lumMod val="50000"/>
                  </a:schemeClr>
                </a:solidFill>
                <a:latin typeface="Arial" pitchFamily="34" charset="0"/>
                <a:cs typeface="Arial" pitchFamily="34" charset="0"/>
              </a:rPr>
              <a:t>nhiệt</a:t>
            </a:r>
            <a:r>
              <a:rPr lang="en-US" sz="3800" u="sng" dirty="0">
                <a:solidFill>
                  <a:schemeClr val="accent4">
                    <a:lumMod val="50000"/>
                  </a:schemeClr>
                </a:solidFill>
                <a:latin typeface="Arial" pitchFamily="34" charset="0"/>
                <a:cs typeface="Arial" pitchFamily="34" charset="0"/>
              </a:rPr>
              <a:t> </a:t>
            </a:r>
            <a:r>
              <a:rPr lang="en-US" sz="3800" dirty="0" err="1">
                <a:solidFill>
                  <a:schemeClr val="accent4">
                    <a:lumMod val="50000"/>
                  </a:schemeClr>
                </a:solidFill>
                <a:latin typeface="Arial" pitchFamily="34" charset="0"/>
                <a:cs typeface="Arial" pitchFamily="34" charset="0"/>
              </a:rPr>
              <a:t>thì</a:t>
            </a:r>
            <a:r>
              <a:rPr lang="en-US" sz="3800" dirty="0">
                <a:solidFill>
                  <a:schemeClr val="accent4">
                    <a:lumMod val="50000"/>
                  </a:schemeClr>
                </a:solidFill>
                <a:latin typeface="Arial" pitchFamily="34" charset="0"/>
                <a:cs typeface="Arial" pitchFamily="34" charset="0"/>
              </a:rPr>
              <a:t> K </a:t>
            </a:r>
            <a:r>
              <a:rPr lang="en-US" sz="3800" u="sng" dirty="0" err="1">
                <a:solidFill>
                  <a:schemeClr val="accent4">
                    <a:lumMod val="50000"/>
                  </a:schemeClr>
                </a:solidFill>
                <a:latin typeface="Arial" pitchFamily="34" charset="0"/>
                <a:cs typeface="Arial" pitchFamily="34" charset="0"/>
              </a:rPr>
              <a:t>giảm</a:t>
            </a:r>
            <a:r>
              <a:rPr lang="en-US" sz="3800" u="sng" dirty="0">
                <a:solidFill>
                  <a:schemeClr val="accent4">
                    <a:lumMod val="50000"/>
                  </a:schemeClr>
                </a:solidFill>
                <a:latin typeface="Arial" pitchFamily="34" charset="0"/>
                <a:cs typeface="Arial" pitchFamily="34" charset="0"/>
              </a:rPr>
              <a:t> </a:t>
            </a:r>
            <a:r>
              <a:rPr lang="en-US" sz="3800" u="sng" dirty="0" err="1">
                <a:solidFill>
                  <a:schemeClr val="accent4">
                    <a:lumMod val="50000"/>
                  </a:schemeClr>
                </a:solidFill>
                <a:latin typeface="Arial" pitchFamily="34" charset="0"/>
                <a:cs typeface="Arial" pitchFamily="34" charset="0"/>
              </a:rPr>
              <a:t>khi</a:t>
            </a:r>
            <a:r>
              <a:rPr lang="en-US" sz="3800" u="sng" dirty="0">
                <a:solidFill>
                  <a:schemeClr val="accent4">
                    <a:lumMod val="50000"/>
                  </a:schemeClr>
                </a:solidFill>
                <a:latin typeface="Arial" pitchFamily="34" charset="0"/>
                <a:cs typeface="Arial" pitchFamily="34" charset="0"/>
              </a:rPr>
              <a:t> </a:t>
            </a:r>
            <a:r>
              <a:rPr lang="en-US" sz="3800" u="sng" dirty="0" err="1">
                <a:solidFill>
                  <a:schemeClr val="accent4">
                    <a:lumMod val="50000"/>
                  </a:schemeClr>
                </a:solidFill>
                <a:latin typeface="Arial" pitchFamily="34" charset="0"/>
                <a:cs typeface="Arial" pitchFamily="34" charset="0"/>
              </a:rPr>
              <a:t>nhiệt</a:t>
            </a:r>
            <a:r>
              <a:rPr lang="en-US" sz="3800" u="sng" dirty="0">
                <a:solidFill>
                  <a:schemeClr val="accent4">
                    <a:lumMod val="50000"/>
                  </a:schemeClr>
                </a:solidFill>
                <a:latin typeface="Arial" pitchFamily="34" charset="0"/>
                <a:cs typeface="Arial" pitchFamily="34" charset="0"/>
              </a:rPr>
              <a:t> </a:t>
            </a:r>
            <a:r>
              <a:rPr lang="en-US" sz="3800" u="sng" dirty="0" err="1">
                <a:solidFill>
                  <a:schemeClr val="accent4">
                    <a:lumMod val="50000"/>
                  </a:schemeClr>
                </a:solidFill>
                <a:latin typeface="Arial" pitchFamily="34" charset="0"/>
                <a:cs typeface="Arial" pitchFamily="34" charset="0"/>
              </a:rPr>
              <a:t>độ</a:t>
            </a:r>
            <a:r>
              <a:rPr lang="en-US" sz="3800" u="sng" dirty="0">
                <a:solidFill>
                  <a:schemeClr val="accent4">
                    <a:lumMod val="50000"/>
                  </a:schemeClr>
                </a:solidFill>
                <a:latin typeface="Arial" pitchFamily="34" charset="0"/>
                <a:cs typeface="Arial" pitchFamily="34" charset="0"/>
              </a:rPr>
              <a:t> </a:t>
            </a:r>
            <a:r>
              <a:rPr lang="en-US" sz="3800" u="sng" dirty="0" err="1">
                <a:solidFill>
                  <a:schemeClr val="accent4">
                    <a:lumMod val="50000"/>
                  </a:schemeClr>
                </a:solidFill>
                <a:latin typeface="Arial" pitchFamily="34" charset="0"/>
                <a:cs typeface="Arial" pitchFamily="34" charset="0"/>
              </a:rPr>
              <a:t>tăng</a:t>
            </a:r>
            <a:r>
              <a:rPr lang="en-US" sz="3800" dirty="0">
                <a:solidFill>
                  <a:schemeClr val="accent4">
                    <a:lumMod val="50000"/>
                  </a:schemeClr>
                </a:solidFill>
                <a:latin typeface="Arial" pitchFamily="34" charset="0"/>
                <a:cs typeface="Arial" pitchFamily="34" charset="0"/>
              </a:rPr>
              <a:t>.</a:t>
            </a:r>
            <a:endParaRPr lang="vi-VN" sz="3800" dirty="0">
              <a:solidFill>
                <a:schemeClr val="accent4">
                  <a:lumMod val="50000"/>
                </a:schemeClr>
              </a:solidFill>
              <a:latin typeface="Arial" pitchFamily="34" charset="0"/>
              <a:cs typeface="Arial" pitchFamily="34" charset="0"/>
            </a:endParaRPr>
          </a:p>
          <a:p>
            <a:pPr marL="0" indent="0">
              <a:lnSpc>
                <a:spcPct val="160000"/>
              </a:lnSpc>
              <a:buNone/>
            </a:pPr>
            <a:r>
              <a:rPr lang="en-US" sz="3800" dirty="0">
                <a:latin typeface="Arial" pitchFamily="34" charset="0"/>
                <a:cs typeface="Arial" pitchFamily="34" charset="0"/>
              </a:rPr>
              <a:t>5</a:t>
            </a:r>
            <a:r>
              <a:rPr lang="vi-VN" sz="3800" dirty="0">
                <a:latin typeface="Arial" pitchFamily="34" charset="0"/>
                <a:cs typeface="Arial" pitchFamily="34" charset="0"/>
              </a:rPr>
              <a:t>. Khi K</a:t>
            </a:r>
            <a:r>
              <a:rPr lang="en-US" sz="3800" dirty="0">
                <a:latin typeface="Arial" pitchFamily="34" charset="0"/>
                <a:cs typeface="Arial" pitchFamily="34" charset="0"/>
              </a:rPr>
              <a:t> &gt; </a:t>
            </a:r>
            <a:r>
              <a:rPr lang="vi-VN" sz="3800" dirty="0">
                <a:latin typeface="Arial" pitchFamily="34" charset="0"/>
                <a:cs typeface="Arial" pitchFamily="34" charset="0"/>
              </a:rPr>
              <a:t>10</a:t>
            </a:r>
            <a:r>
              <a:rPr lang="vi-VN" sz="3800" baseline="30000" dirty="0">
                <a:latin typeface="Arial" pitchFamily="34" charset="0"/>
                <a:cs typeface="Arial" pitchFamily="34" charset="0"/>
              </a:rPr>
              <a:t>7</a:t>
            </a:r>
            <a:r>
              <a:rPr lang="vi-VN" sz="3800" dirty="0">
                <a:latin typeface="Arial" pitchFamily="34" charset="0"/>
                <a:cs typeface="Arial" pitchFamily="34" charset="0"/>
              </a:rPr>
              <a:t> phản ứng xem </a:t>
            </a:r>
            <a:r>
              <a:rPr lang="en-US" sz="3800" dirty="0" err="1">
                <a:latin typeface="Arial" pitchFamily="34" charset="0"/>
                <a:cs typeface="Arial" pitchFamily="34" charset="0"/>
              </a:rPr>
              <a:t>như</a:t>
            </a:r>
            <a:r>
              <a:rPr lang="en-US" sz="3800" dirty="0">
                <a:latin typeface="Arial" pitchFamily="34" charset="0"/>
                <a:cs typeface="Arial" pitchFamily="34" charset="0"/>
              </a:rPr>
              <a:t> </a:t>
            </a:r>
            <a:r>
              <a:rPr lang="vi-VN" sz="3800" dirty="0">
                <a:latin typeface="Arial" pitchFamily="34" charset="0"/>
                <a:cs typeface="Arial" pitchFamily="34" charset="0"/>
              </a:rPr>
              <a:t>hoàn toàn.</a:t>
            </a:r>
          </a:p>
          <a:p>
            <a:pPr marL="0" indent="0">
              <a:lnSpc>
                <a:spcPct val="160000"/>
              </a:lnSpc>
              <a:buNone/>
            </a:pPr>
            <a:r>
              <a:rPr lang="en-US" sz="3800" dirty="0">
                <a:solidFill>
                  <a:srgbClr val="0000FF"/>
                </a:solidFill>
                <a:latin typeface="Arial" pitchFamily="34" charset="0"/>
                <a:cs typeface="Arial" pitchFamily="34" charset="0"/>
              </a:rPr>
              <a:t>6</a:t>
            </a:r>
            <a:r>
              <a:rPr lang="vi-VN" sz="3800" dirty="0">
                <a:solidFill>
                  <a:srgbClr val="0000FF"/>
                </a:solidFill>
                <a:latin typeface="Arial" pitchFamily="34" charset="0"/>
                <a:cs typeface="Arial" pitchFamily="34" charset="0"/>
              </a:rPr>
              <a:t>. Không thay đổi khi có mặt chất xúc tác.</a:t>
            </a:r>
          </a:p>
          <a:p>
            <a:pPr marL="0" indent="0">
              <a:lnSpc>
                <a:spcPct val="160000"/>
              </a:lnSpc>
              <a:buNone/>
            </a:pPr>
            <a:r>
              <a:rPr lang="en-US" sz="3800" dirty="0">
                <a:solidFill>
                  <a:srgbClr val="00B0F0"/>
                </a:solidFill>
                <a:latin typeface="Arial" pitchFamily="34" charset="0"/>
                <a:cs typeface="Arial" pitchFamily="34" charset="0"/>
              </a:rPr>
              <a:t>7</a:t>
            </a:r>
            <a:r>
              <a:rPr lang="vi-VN" sz="3800" dirty="0">
                <a:solidFill>
                  <a:srgbClr val="00B0F0"/>
                </a:solidFill>
                <a:latin typeface="Arial" pitchFamily="34" charset="0"/>
                <a:cs typeface="Arial" pitchFamily="34" charset="0"/>
              </a:rPr>
              <a:t>. Không phụ thuộc vào nồng độ các chất trong pư.</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97C73F78-EA38-413D-B04A-7DD08D223D71}"/>
              </a:ext>
            </a:extLst>
          </p:cNvPr>
          <p:cNvSpPr txBox="1"/>
          <p:nvPr/>
        </p:nvSpPr>
        <p:spPr>
          <a:xfrm>
            <a:off x="7827648" y="4853270"/>
            <a:ext cx="5913193"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Tree>
    <p:extLst>
      <p:ext uri="{BB962C8B-B14F-4D97-AF65-F5344CB8AC3E}">
        <p14:creationId xmlns:p14="http://schemas.microsoft.com/office/powerpoint/2010/main" val="273914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7F10995-CBA3-4AF2-BA5F-7DB8A42DCF2C}"/>
              </a:ext>
            </a:extLst>
          </p:cNvPr>
          <p:cNvSpPr>
            <a:spLocks noGrp="1"/>
          </p:cNvSpPr>
          <p:nvPr>
            <p:ph idx="1"/>
          </p:nvPr>
        </p:nvSpPr>
        <p:spPr>
          <a:xfrm>
            <a:off x="1" y="290457"/>
            <a:ext cx="12192000" cy="5249732"/>
          </a:xfrm>
        </p:spPr>
        <p:txBody>
          <a:bodyPr>
            <a:normAutofit fontScale="92500"/>
          </a:bodyPr>
          <a:lstStyle/>
          <a:p>
            <a:pPr marL="0" indent="0">
              <a:lnSpc>
                <a:spcPct val="150000"/>
              </a:lnSpc>
              <a:buNone/>
            </a:pPr>
            <a:r>
              <a:rPr lang="vi-VN" sz="3200" b="1" dirty="0">
                <a:latin typeface="Arial" pitchFamily="34" charset="0"/>
                <a:cs typeface="Arial" pitchFamily="34" charset="0"/>
              </a:rPr>
              <a:t>Câu</a:t>
            </a:r>
            <a:r>
              <a:rPr lang="en-US" sz="3200" b="1" dirty="0">
                <a:latin typeface="Arial" pitchFamily="34" charset="0"/>
                <a:cs typeface="Arial" pitchFamily="34" charset="0"/>
              </a:rPr>
              <a:t> </a:t>
            </a:r>
            <a:r>
              <a:rPr lang="vi-VN" sz="3200" b="1" dirty="0" smtClean="0">
                <a:latin typeface="Arial" pitchFamily="34" charset="0"/>
                <a:cs typeface="Arial" pitchFamily="34" charset="0"/>
              </a:rPr>
              <a:t>11</a:t>
            </a:r>
            <a:r>
              <a:rPr lang="vi-VN" sz="3200" dirty="0" smtClean="0">
                <a:latin typeface="Arial" pitchFamily="34" charset="0"/>
                <a:cs typeface="Arial" pitchFamily="34" charset="0"/>
              </a:rPr>
              <a:t>. </a:t>
            </a:r>
            <a:r>
              <a:rPr lang="vi-VN" sz="3200" dirty="0">
                <a:latin typeface="Arial" pitchFamily="34" charset="0"/>
                <a:cs typeface="Arial" pitchFamily="34" charset="0"/>
              </a:rPr>
              <a:t>Chọn phát biểu </a:t>
            </a:r>
            <a:r>
              <a:rPr lang="vi-VN" sz="3200" b="1" dirty="0">
                <a:latin typeface="Arial" pitchFamily="34" charset="0"/>
                <a:cs typeface="Arial" pitchFamily="34" charset="0"/>
              </a:rPr>
              <a:t>đúng</a:t>
            </a:r>
            <a:r>
              <a:rPr lang="vi-VN" sz="3200" dirty="0">
                <a:latin typeface="Arial" pitchFamily="34" charset="0"/>
                <a:cs typeface="Arial" pitchFamily="34" charset="0"/>
              </a:rPr>
              <a:t> về p</a:t>
            </a:r>
            <a:r>
              <a:rPr lang="en-US" sz="3200" dirty="0">
                <a:latin typeface="Arial" pitchFamily="34" charset="0"/>
                <a:cs typeface="Arial" pitchFamily="34" charset="0"/>
              </a:rPr>
              <a:t>ư</a:t>
            </a:r>
            <a:r>
              <a:rPr lang="vi-VN" sz="3200" dirty="0">
                <a:latin typeface="Arial" pitchFamily="34" charset="0"/>
                <a:cs typeface="Arial" pitchFamily="34" charset="0"/>
              </a:rPr>
              <a:t> đồng thể: aA + bB = </a:t>
            </a:r>
            <a:r>
              <a:rPr lang="en-US" sz="3200" dirty="0">
                <a:latin typeface="Arial" pitchFamily="34" charset="0"/>
                <a:cs typeface="Arial" pitchFamily="34" charset="0"/>
              </a:rPr>
              <a:t>c</a:t>
            </a:r>
            <a:r>
              <a:rPr lang="vi-VN" sz="3200" dirty="0">
                <a:latin typeface="Arial" pitchFamily="34" charset="0"/>
                <a:cs typeface="Arial" pitchFamily="34" charset="0"/>
              </a:rPr>
              <a:t>C</a:t>
            </a:r>
            <a:r>
              <a:rPr lang="en-US" sz="3200" dirty="0">
                <a:latin typeface="Arial" pitchFamily="34" charset="0"/>
                <a:cs typeface="Arial" pitchFamily="34" charset="0"/>
              </a:rPr>
              <a:t> +</a:t>
            </a:r>
            <a:r>
              <a:rPr lang="en-US" sz="3200" dirty="0" err="1">
                <a:latin typeface="Arial" pitchFamily="34" charset="0"/>
                <a:cs typeface="Arial" pitchFamily="34" charset="0"/>
              </a:rPr>
              <a:t>dD</a:t>
            </a:r>
            <a:r>
              <a:rPr lang="en-US" sz="3200" dirty="0">
                <a:latin typeface="Arial" pitchFamily="34" charset="0"/>
                <a:cs typeface="Arial" pitchFamily="34" charset="0"/>
              </a:rPr>
              <a:t> </a:t>
            </a:r>
            <a:endParaRPr lang="vi-VN" sz="3200" dirty="0">
              <a:latin typeface="Arial" pitchFamily="34" charset="0"/>
              <a:cs typeface="Arial" pitchFamily="34" charset="0"/>
            </a:endParaRPr>
          </a:p>
          <a:p>
            <a:pPr marL="0" indent="0">
              <a:lnSpc>
                <a:spcPct val="150000"/>
              </a:lnSpc>
              <a:buNone/>
            </a:pPr>
            <a:r>
              <a:rPr lang="vi-VN" sz="3200" dirty="0">
                <a:solidFill>
                  <a:srgbClr val="0000FF"/>
                </a:solidFill>
                <a:latin typeface="Arial" pitchFamily="34" charset="0"/>
                <a:cs typeface="Arial" pitchFamily="34" charset="0"/>
              </a:rPr>
              <a:t>1. Biểu thức tốc độ pư: v = k[A]</a:t>
            </a:r>
            <a:r>
              <a:rPr lang="vi-VN" sz="3200" baseline="30000" dirty="0">
                <a:solidFill>
                  <a:srgbClr val="0000FF"/>
                </a:solidFill>
                <a:latin typeface="Arial" pitchFamily="34" charset="0"/>
                <a:cs typeface="Arial" pitchFamily="34" charset="0"/>
              </a:rPr>
              <a:t>n</a:t>
            </a:r>
            <a:r>
              <a:rPr lang="vi-VN" sz="3200" dirty="0">
                <a:solidFill>
                  <a:srgbClr val="0000FF"/>
                </a:solidFill>
                <a:latin typeface="Arial" pitchFamily="34" charset="0"/>
                <a:cs typeface="Arial" pitchFamily="34" charset="0"/>
              </a:rPr>
              <a:t>[B]</a:t>
            </a:r>
            <a:r>
              <a:rPr lang="vi-VN" sz="3200" baseline="30000" dirty="0">
                <a:solidFill>
                  <a:srgbClr val="0000FF"/>
                </a:solidFill>
                <a:latin typeface="Arial" pitchFamily="34" charset="0"/>
                <a:cs typeface="Arial" pitchFamily="34" charset="0"/>
              </a:rPr>
              <a:t>m</a:t>
            </a:r>
            <a:r>
              <a:rPr lang="vi-VN" sz="3200" dirty="0">
                <a:solidFill>
                  <a:srgbClr val="0000FF"/>
                </a:solidFill>
                <a:latin typeface="Arial" pitchFamily="34" charset="0"/>
                <a:cs typeface="Arial" pitchFamily="34" charset="0"/>
              </a:rPr>
              <a:t> trong đó n </a:t>
            </a:r>
            <a:r>
              <a:rPr lang="en-US" sz="3200" dirty="0" err="1">
                <a:solidFill>
                  <a:srgbClr val="0000FF"/>
                </a:solidFill>
                <a:latin typeface="Arial" pitchFamily="34" charset="0"/>
                <a:cs typeface="Arial" pitchFamily="34" charset="0"/>
              </a:rPr>
              <a:t>là</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bậc</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riêng</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phần</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đối</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với</a:t>
            </a:r>
            <a:r>
              <a:rPr lang="en-US" sz="3200" dirty="0">
                <a:solidFill>
                  <a:srgbClr val="0000FF"/>
                </a:solidFill>
                <a:latin typeface="Arial" pitchFamily="34" charset="0"/>
                <a:cs typeface="Arial" pitchFamily="34" charset="0"/>
              </a:rPr>
              <a:t> A, </a:t>
            </a:r>
            <a:r>
              <a:rPr lang="vi-VN" sz="3200" dirty="0">
                <a:solidFill>
                  <a:srgbClr val="0000FF"/>
                </a:solidFill>
                <a:latin typeface="Arial" pitchFamily="34" charset="0"/>
                <a:cs typeface="Arial" pitchFamily="34" charset="0"/>
              </a:rPr>
              <a:t>m </a:t>
            </a:r>
            <a:r>
              <a:rPr lang="en-US" sz="3200" dirty="0" err="1">
                <a:solidFill>
                  <a:srgbClr val="0000FF"/>
                </a:solidFill>
                <a:latin typeface="Arial" pitchFamily="34" charset="0"/>
                <a:cs typeface="Arial" pitchFamily="34" charset="0"/>
              </a:rPr>
              <a:t>là</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bậc</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riêng</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phần</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đối</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với</a:t>
            </a:r>
            <a:r>
              <a:rPr lang="en-US" sz="3200" dirty="0">
                <a:solidFill>
                  <a:srgbClr val="0000FF"/>
                </a:solidFill>
                <a:latin typeface="Arial" pitchFamily="34" charset="0"/>
                <a:cs typeface="Arial" pitchFamily="34" charset="0"/>
              </a:rPr>
              <a:t> </a:t>
            </a:r>
            <a:r>
              <a:rPr lang="en-US" sz="3200" dirty="0" err="1" smtClean="0">
                <a:solidFill>
                  <a:srgbClr val="0000FF"/>
                </a:solidFill>
                <a:latin typeface="Arial" pitchFamily="34" charset="0"/>
                <a:cs typeface="Arial" pitchFamily="34" charset="0"/>
              </a:rPr>
              <a:t>B;n</a:t>
            </a:r>
            <a:r>
              <a:rPr lang="en-US" sz="3200" dirty="0" smtClean="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và</a:t>
            </a:r>
            <a:r>
              <a:rPr lang="en-US" sz="3200" dirty="0">
                <a:solidFill>
                  <a:srgbClr val="0000FF"/>
                </a:solidFill>
                <a:latin typeface="Arial" pitchFamily="34" charset="0"/>
                <a:cs typeface="Arial" pitchFamily="34" charset="0"/>
              </a:rPr>
              <a:t> m </a:t>
            </a:r>
            <a:r>
              <a:rPr lang="vi-VN" sz="3200" dirty="0">
                <a:solidFill>
                  <a:srgbClr val="0000FF"/>
                </a:solidFill>
                <a:latin typeface="Arial" pitchFamily="34" charset="0"/>
                <a:cs typeface="Arial" pitchFamily="34" charset="0"/>
              </a:rPr>
              <a:t>xác định bằng thực </a:t>
            </a:r>
            <a:r>
              <a:rPr lang="vi-VN" sz="3200" dirty="0" smtClean="0">
                <a:solidFill>
                  <a:srgbClr val="0000FF"/>
                </a:solidFill>
                <a:latin typeface="Arial" pitchFamily="34" charset="0"/>
                <a:cs typeface="Arial" pitchFamily="34" charset="0"/>
              </a:rPr>
              <a:t>nghiệm</a:t>
            </a:r>
            <a:endParaRPr lang="vi-VN" sz="3200" dirty="0">
              <a:solidFill>
                <a:srgbClr val="0000FF"/>
              </a:solidFill>
              <a:cs typeface="Times New Roman" panose="02020603050405020304" pitchFamily="18" charset="0"/>
            </a:endParaRPr>
          </a:p>
          <a:p>
            <a:pPr marL="0" indent="0">
              <a:lnSpc>
                <a:spcPct val="150000"/>
              </a:lnSpc>
              <a:buNone/>
            </a:pPr>
            <a:r>
              <a:rPr lang="vi-VN" sz="3200" dirty="0">
                <a:solidFill>
                  <a:srgbClr val="C00000"/>
                </a:solidFill>
                <a:cs typeface="Times New Roman" panose="02020603050405020304" pitchFamily="18" charset="0"/>
              </a:rPr>
              <a:t>2. (n+m) là bậc pư có thể là số âm, số nguyên, phân số hoặc số </a:t>
            </a:r>
            <a:r>
              <a:rPr lang="vi-VN" sz="3200" dirty="0" smtClean="0">
                <a:solidFill>
                  <a:srgbClr val="C00000"/>
                </a:solidFill>
                <a:cs typeface="Times New Roman" panose="02020603050405020304" pitchFamily="18" charset="0"/>
              </a:rPr>
              <a:t>không</a:t>
            </a:r>
            <a:endParaRPr lang="vi-VN" sz="3200" dirty="0">
              <a:solidFill>
                <a:srgbClr val="C00000"/>
              </a:solidFill>
              <a:cs typeface="Times New Roman" panose="02020603050405020304" pitchFamily="18" charset="0"/>
            </a:endParaRPr>
          </a:p>
          <a:p>
            <a:pPr marL="0" indent="0">
              <a:lnSpc>
                <a:spcPct val="150000"/>
              </a:lnSpc>
              <a:buNone/>
            </a:pPr>
            <a:r>
              <a:rPr lang="vi-VN" sz="3200" dirty="0">
                <a:solidFill>
                  <a:srgbClr val="9933FF"/>
                </a:solidFill>
                <a:latin typeface="Arial" pitchFamily="34" charset="0"/>
                <a:cs typeface="Arial" pitchFamily="34" charset="0"/>
              </a:rPr>
              <a:t>3. </a:t>
            </a:r>
            <a:r>
              <a:rPr lang="en-US" sz="3200" dirty="0" err="1" smtClean="0">
                <a:solidFill>
                  <a:srgbClr val="9933FF"/>
                </a:solidFill>
                <a:latin typeface="Arial" pitchFamily="34" charset="0"/>
                <a:cs typeface="Arial" pitchFamily="34" charset="0"/>
              </a:rPr>
              <a:t>Pư</a:t>
            </a:r>
            <a:r>
              <a:rPr lang="en-US" sz="3200" dirty="0" smtClean="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bậc</a:t>
            </a:r>
            <a:r>
              <a:rPr lang="en-US" sz="3200" dirty="0">
                <a:solidFill>
                  <a:srgbClr val="9933FF"/>
                </a:solidFill>
                <a:latin typeface="Arial" pitchFamily="34" charset="0"/>
                <a:cs typeface="Arial" pitchFamily="34" charset="0"/>
              </a:rPr>
              <a:t> 1 </a:t>
            </a:r>
            <a:r>
              <a:rPr lang="en-US" sz="3200" dirty="0" err="1">
                <a:solidFill>
                  <a:srgbClr val="9933FF"/>
                </a:solidFill>
                <a:latin typeface="Arial" pitchFamily="34" charset="0"/>
                <a:cs typeface="Arial" pitchFamily="34" charset="0"/>
              </a:rPr>
              <a:t>và</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bậc</a:t>
            </a:r>
            <a:r>
              <a:rPr lang="en-US" sz="3200" dirty="0">
                <a:solidFill>
                  <a:srgbClr val="9933FF"/>
                </a:solidFill>
                <a:latin typeface="Arial" pitchFamily="34" charset="0"/>
                <a:cs typeface="Arial" pitchFamily="34" charset="0"/>
              </a:rPr>
              <a:t> 2 hay </a:t>
            </a:r>
            <a:r>
              <a:rPr lang="en-US" sz="3200" dirty="0" err="1">
                <a:solidFill>
                  <a:srgbClr val="9933FF"/>
                </a:solidFill>
                <a:latin typeface="Arial" pitchFamily="34" charset="0"/>
                <a:cs typeface="Arial" pitchFamily="34" charset="0"/>
              </a:rPr>
              <a:t>gặp</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còn</a:t>
            </a:r>
            <a:r>
              <a:rPr lang="vi-VN" sz="3200" dirty="0">
                <a:solidFill>
                  <a:srgbClr val="9933FF"/>
                </a:solidFill>
                <a:latin typeface="Arial" pitchFamily="34" charset="0"/>
                <a:cs typeface="Arial" pitchFamily="34" charset="0"/>
              </a:rPr>
              <a:t> pư bậc không hay bậc 3 ít gặp.</a:t>
            </a:r>
          </a:p>
          <a:p>
            <a:pPr marL="0" indent="0">
              <a:lnSpc>
                <a:spcPct val="150000"/>
              </a:lnSpc>
              <a:buNone/>
            </a:pPr>
            <a:r>
              <a:rPr lang="vi-VN" sz="3200" dirty="0">
                <a:solidFill>
                  <a:schemeClr val="accent6">
                    <a:lumMod val="75000"/>
                  </a:schemeClr>
                </a:solidFill>
                <a:latin typeface="Arial" pitchFamily="34" charset="0"/>
                <a:cs typeface="Arial" pitchFamily="34" charset="0"/>
              </a:rPr>
              <a:t>4. </a:t>
            </a:r>
            <a:r>
              <a:rPr lang="vi-VN" sz="3200" dirty="0">
                <a:solidFill>
                  <a:srgbClr val="008000"/>
                </a:solidFill>
                <a:latin typeface="Arial" pitchFamily="34" charset="0"/>
                <a:cs typeface="Arial" pitchFamily="34" charset="0"/>
              </a:rPr>
              <a:t>Bậc pư lớn hơn 3 thực tế khó hay hầu như không xảy ra.</a:t>
            </a:r>
          </a:p>
          <a:p>
            <a:pPr marL="0" indent="0">
              <a:buNone/>
            </a:pPr>
            <a:endParaRPr lang="en-US" sz="3200" dirty="0">
              <a:latin typeface="Arial" pitchFamily="34" charset="0"/>
              <a:cs typeface="Arial" pitchFamily="34" charset="0"/>
            </a:endParaRPr>
          </a:p>
        </p:txBody>
      </p:sp>
      <p:sp>
        <p:nvSpPr>
          <p:cNvPr id="4" name="TextBox 3">
            <a:extLst>
              <a:ext uri="{FF2B5EF4-FFF2-40B4-BE49-F238E27FC236}">
                <a16:creationId xmlns="" xmlns:a16="http://schemas.microsoft.com/office/drawing/2014/main" id="{AFC4A639-BC72-4FF2-BF5F-0B37317C0437}"/>
              </a:ext>
            </a:extLst>
          </p:cNvPr>
          <p:cNvSpPr txBox="1"/>
          <p:nvPr/>
        </p:nvSpPr>
        <p:spPr>
          <a:xfrm>
            <a:off x="3445959" y="5186246"/>
            <a:ext cx="5913193"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Tree>
    <p:extLst>
      <p:ext uri="{BB962C8B-B14F-4D97-AF65-F5344CB8AC3E}">
        <p14:creationId xmlns:p14="http://schemas.microsoft.com/office/powerpoint/2010/main" val="281239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51264EC-FD9B-4506-B85A-E8A06B6251A2}"/>
              </a:ext>
            </a:extLst>
          </p:cNvPr>
          <p:cNvSpPr>
            <a:spLocks noGrp="1"/>
          </p:cNvSpPr>
          <p:nvPr>
            <p:ph idx="1"/>
          </p:nvPr>
        </p:nvSpPr>
        <p:spPr>
          <a:xfrm>
            <a:off x="381740" y="279794"/>
            <a:ext cx="11664518" cy="5617126"/>
          </a:xfrm>
        </p:spPr>
        <p:txBody>
          <a:bodyPr>
            <a:normAutofit/>
          </a:bodyPr>
          <a:lstStyle/>
          <a:p>
            <a:pPr marL="0" indent="0">
              <a:lnSpc>
                <a:spcPct val="150000"/>
              </a:lnSpc>
              <a:buNone/>
            </a:pPr>
            <a:r>
              <a:rPr lang="vi-VN" sz="3200" b="1" dirty="0">
                <a:latin typeface="Arial" pitchFamily="34" charset="0"/>
                <a:cs typeface="Arial" pitchFamily="34" charset="0"/>
              </a:rPr>
              <a:t>Câu</a:t>
            </a:r>
            <a:r>
              <a:rPr lang="en-US" sz="3200" b="1" dirty="0">
                <a:latin typeface="Arial" pitchFamily="34" charset="0"/>
                <a:cs typeface="Arial" pitchFamily="34" charset="0"/>
              </a:rPr>
              <a:t> </a:t>
            </a:r>
            <a:r>
              <a:rPr lang="en-US" sz="3200" b="1" dirty="0" smtClean="0">
                <a:latin typeface="Arial" pitchFamily="34" charset="0"/>
                <a:cs typeface="Arial" pitchFamily="34" charset="0"/>
              </a:rPr>
              <a:t>1</a:t>
            </a:r>
            <a:r>
              <a:rPr lang="vi-VN" sz="3200" b="1" dirty="0" smtClean="0">
                <a:latin typeface="Arial" pitchFamily="34" charset="0"/>
                <a:cs typeface="Arial" pitchFamily="34" charset="0"/>
              </a:rPr>
              <a:t>2</a:t>
            </a:r>
            <a:r>
              <a:rPr lang="vi-VN" sz="3200" dirty="0" smtClean="0">
                <a:latin typeface="Arial" pitchFamily="34" charset="0"/>
                <a:cs typeface="Arial" pitchFamily="34" charset="0"/>
              </a:rPr>
              <a:t>. </a:t>
            </a:r>
            <a:r>
              <a:rPr lang="vi-VN" sz="3200" dirty="0">
                <a:latin typeface="Arial" pitchFamily="34" charset="0"/>
                <a:cs typeface="Arial" pitchFamily="34" charset="0"/>
              </a:rPr>
              <a:t>Chọn </a:t>
            </a:r>
            <a:r>
              <a:rPr lang="vi-VN" sz="3200" dirty="0" smtClean="0">
                <a:latin typeface="Arial" pitchFamily="34" charset="0"/>
                <a:cs typeface="Arial" pitchFamily="34" charset="0"/>
              </a:rPr>
              <a:t>ph</a:t>
            </a:r>
            <a:r>
              <a:rPr lang="en-US" sz="3200" dirty="0" err="1" smtClean="0">
                <a:latin typeface="Arial" pitchFamily="34" charset="0"/>
                <a:cs typeface="Arial" pitchFamily="34" charset="0"/>
              </a:rPr>
              <a:t>ương</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án</a:t>
            </a:r>
            <a:r>
              <a:rPr lang="vi-VN" sz="3200" dirty="0" smtClean="0">
                <a:latin typeface="Arial" pitchFamily="34" charset="0"/>
                <a:cs typeface="Arial" pitchFamily="34" charset="0"/>
              </a:rPr>
              <a:t> </a:t>
            </a:r>
            <a:r>
              <a:rPr lang="vi-VN" sz="3200" b="1" dirty="0" smtClean="0">
                <a:latin typeface="Arial" pitchFamily="34" charset="0"/>
                <a:cs typeface="Arial" pitchFamily="34" charset="0"/>
              </a:rPr>
              <a:t>đúng</a:t>
            </a:r>
            <a:r>
              <a:rPr lang="en-US" sz="3200" b="1" dirty="0" smtClean="0">
                <a:latin typeface="Arial" pitchFamily="34" charset="0"/>
                <a:cs typeface="Arial" pitchFamily="34" charset="0"/>
              </a:rPr>
              <a:t>.</a:t>
            </a:r>
            <a:r>
              <a:rPr lang="vi-VN" sz="3200" dirty="0" smtClean="0">
                <a:latin typeface="Arial" pitchFamily="34" charset="0"/>
                <a:cs typeface="Arial" pitchFamily="34" charset="0"/>
              </a:rPr>
              <a:t> </a:t>
            </a:r>
            <a:r>
              <a:rPr lang="en-US" sz="3200" dirty="0" smtClean="0">
                <a:latin typeface="Arial" pitchFamily="34" charset="0"/>
                <a:cs typeface="Arial" pitchFamily="34" charset="0"/>
              </a:rPr>
              <a:t>H</a:t>
            </a:r>
            <a:r>
              <a:rPr lang="vi-VN" sz="3200" dirty="0" smtClean="0">
                <a:latin typeface="Arial" pitchFamily="34" charset="0"/>
                <a:cs typeface="Arial" pitchFamily="34" charset="0"/>
              </a:rPr>
              <a:t>ằng </a:t>
            </a:r>
            <a:r>
              <a:rPr lang="vi-VN" sz="3200" dirty="0">
                <a:latin typeface="Arial" pitchFamily="34" charset="0"/>
                <a:cs typeface="Arial" pitchFamily="34" charset="0"/>
              </a:rPr>
              <a:t>số tốc độ </a:t>
            </a:r>
            <a:r>
              <a:rPr lang="vi-VN" sz="3200" dirty="0" smtClean="0">
                <a:latin typeface="Arial" pitchFamily="34" charset="0"/>
                <a:cs typeface="Arial" pitchFamily="34" charset="0"/>
              </a:rPr>
              <a:t>pư</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phụ</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thuộc</a:t>
            </a:r>
            <a:r>
              <a:rPr lang="vi-VN" sz="3200" dirty="0" smtClean="0">
                <a:latin typeface="Arial" pitchFamily="34" charset="0"/>
                <a:cs typeface="Arial" pitchFamily="34" charset="0"/>
              </a:rPr>
              <a:t>:</a:t>
            </a:r>
            <a:endParaRPr lang="vi-VN" sz="3200" dirty="0">
              <a:latin typeface="Arial" pitchFamily="34" charset="0"/>
              <a:cs typeface="Arial" pitchFamily="34" charset="0"/>
            </a:endParaRPr>
          </a:p>
          <a:p>
            <a:pPr marL="514350" indent="-514350">
              <a:lnSpc>
                <a:spcPct val="150000"/>
              </a:lnSpc>
              <a:buAutoNum type="arabicPeriod"/>
            </a:pPr>
            <a:r>
              <a:rPr lang="en-US" sz="3200" dirty="0">
                <a:solidFill>
                  <a:srgbClr val="C00000"/>
                </a:solidFill>
                <a:latin typeface="Arial" pitchFamily="34" charset="0"/>
                <a:cs typeface="Arial" pitchFamily="34" charset="0"/>
              </a:rPr>
              <a:t>B</a:t>
            </a:r>
            <a:r>
              <a:rPr lang="vi-VN" sz="3200" dirty="0" smtClean="0">
                <a:solidFill>
                  <a:srgbClr val="C00000"/>
                </a:solidFill>
                <a:latin typeface="Arial" pitchFamily="34" charset="0"/>
                <a:cs typeface="Arial" pitchFamily="34" charset="0"/>
              </a:rPr>
              <a:t>ản </a:t>
            </a:r>
            <a:r>
              <a:rPr lang="vi-VN" sz="3200" dirty="0">
                <a:solidFill>
                  <a:srgbClr val="C00000"/>
                </a:solidFill>
                <a:latin typeface="Arial" pitchFamily="34" charset="0"/>
                <a:cs typeface="Arial" pitchFamily="34" charset="0"/>
              </a:rPr>
              <a:t>chất của phản ứng.</a:t>
            </a:r>
          </a:p>
          <a:p>
            <a:pPr marL="514350" indent="-514350">
              <a:lnSpc>
                <a:spcPct val="150000"/>
              </a:lnSpc>
              <a:buAutoNum type="arabicPeriod"/>
            </a:pPr>
            <a:r>
              <a:rPr lang="en-US" sz="3200" dirty="0">
                <a:solidFill>
                  <a:srgbClr val="008000"/>
                </a:solidFill>
                <a:latin typeface="Arial" pitchFamily="34" charset="0"/>
                <a:cs typeface="Arial" pitchFamily="34" charset="0"/>
              </a:rPr>
              <a:t>N</a:t>
            </a:r>
            <a:r>
              <a:rPr lang="vi-VN" sz="3200" dirty="0" smtClean="0">
                <a:solidFill>
                  <a:srgbClr val="008000"/>
                </a:solidFill>
                <a:latin typeface="Arial" pitchFamily="34" charset="0"/>
                <a:cs typeface="Arial" pitchFamily="34" charset="0"/>
              </a:rPr>
              <a:t>hiệt </a:t>
            </a:r>
            <a:r>
              <a:rPr lang="vi-VN" sz="3200" dirty="0">
                <a:solidFill>
                  <a:srgbClr val="008000"/>
                </a:solidFill>
                <a:latin typeface="Arial" pitchFamily="34" charset="0"/>
                <a:cs typeface="Arial" pitchFamily="34" charset="0"/>
              </a:rPr>
              <a:t>độ.</a:t>
            </a:r>
          </a:p>
          <a:p>
            <a:pPr marL="514350" indent="-514350">
              <a:lnSpc>
                <a:spcPct val="150000"/>
              </a:lnSpc>
              <a:buAutoNum type="arabicPeriod"/>
            </a:pPr>
            <a:r>
              <a:rPr lang="en-US" sz="3200" dirty="0" smtClean="0">
                <a:solidFill>
                  <a:srgbClr val="FF0000"/>
                </a:solidFill>
                <a:latin typeface="Arial" pitchFamily="34" charset="0"/>
                <a:cs typeface="Arial" pitchFamily="34" charset="0"/>
              </a:rPr>
              <a:t>N</a:t>
            </a:r>
            <a:r>
              <a:rPr lang="vi-VN" sz="3200" dirty="0" smtClean="0">
                <a:solidFill>
                  <a:srgbClr val="FF0000"/>
                </a:solidFill>
                <a:latin typeface="Arial" pitchFamily="34" charset="0"/>
                <a:cs typeface="Arial" pitchFamily="34" charset="0"/>
              </a:rPr>
              <a:t>ăng </a:t>
            </a:r>
            <a:r>
              <a:rPr lang="vi-VN" sz="3200" dirty="0">
                <a:solidFill>
                  <a:srgbClr val="FF0000"/>
                </a:solidFill>
                <a:latin typeface="Arial" pitchFamily="34" charset="0"/>
                <a:cs typeface="Arial" pitchFamily="34" charset="0"/>
              </a:rPr>
              <a:t>lượng hoạt hóa của pư.</a:t>
            </a:r>
          </a:p>
          <a:p>
            <a:pPr marL="514350" indent="-514350">
              <a:lnSpc>
                <a:spcPct val="150000"/>
              </a:lnSpc>
              <a:buAutoNum type="arabicPeriod"/>
            </a:pPr>
            <a:r>
              <a:rPr lang="en-US" sz="3200" dirty="0">
                <a:latin typeface="Arial" pitchFamily="34" charset="0"/>
                <a:cs typeface="Arial" pitchFamily="34" charset="0"/>
              </a:rPr>
              <a:t>X</a:t>
            </a:r>
            <a:r>
              <a:rPr lang="vi-VN" sz="3200" dirty="0" smtClean="0">
                <a:latin typeface="Arial" pitchFamily="34" charset="0"/>
                <a:cs typeface="Arial" pitchFamily="34" charset="0"/>
              </a:rPr>
              <a:t>úc </a:t>
            </a:r>
            <a:r>
              <a:rPr lang="vi-VN" sz="3200" dirty="0">
                <a:latin typeface="Arial" pitchFamily="34" charset="0"/>
                <a:cs typeface="Arial" pitchFamily="34" charset="0"/>
              </a:rPr>
              <a:t>tác.</a:t>
            </a:r>
          </a:p>
          <a:p>
            <a:pPr marL="514350" indent="-514350">
              <a:lnSpc>
                <a:spcPct val="150000"/>
              </a:lnSpc>
              <a:buAutoNum type="arabicPeriod"/>
            </a:pPr>
            <a:r>
              <a:rPr lang="en-US" sz="3200" dirty="0">
                <a:solidFill>
                  <a:srgbClr val="0000FF"/>
                </a:solidFill>
                <a:latin typeface="Arial" pitchFamily="34" charset="0"/>
                <a:cs typeface="Arial" pitchFamily="34" charset="0"/>
              </a:rPr>
              <a:t>N</a:t>
            </a:r>
            <a:r>
              <a:rPr lang="vi-VN" sz="3200" dirty="0" smtClean="0">
                <a:solidFill>
                  <a:srgbClr val="0000FF"/>
                </a:solidFill>
                <a:latin typeface="Arial" pitchFamily="34" charset="0"/>
                <a:cs typeface="Arial" pitchFamily="34" charset="0"/>
              </a:rPr>
              <a:t>ồng độ</a:t>
            </a:r>
            <a:r>
              <a:rPr lang="en-US" sz="3200" dirty="0" smtClean="0">
                <a:solidFill>
                  <a:srgbClr val="0000FF"/>
                </a:solidFill>
                <a:latin typeface="Arial" pitchFamily="34" charset="0"/>
                <a:cs typeface="Arial" pitchFamily="34" charset="0"/>
              </a:rPr>
              <a:t> </a:t>
            </a:r>
            <a:r>
              <a:rPr lang="en-US" sz="3200" dirty="0" err="1" smtClean="0">
                <a:solidFill>
                  <a:srgbClr val="0000FF"/>
                </a:solidFill>
                <a:latin typeface="Arial" pitchFamily="34" charset="0"/>
                <a:cs typeface="Arial" pitchFamily="34" charset="0"/>
              </a:rPr>
              <a:t>chất</a:t>
            </a:r>
            <a:r>
              <a:rPr lang="en-US" sz="3200" dirty="0" smtClean="0">
                <a:solidFill>
                  <a:srgbClr val="0000FF"/>
                </a:solidFill>
                <a:latin typeface="Arial" pitchFamily="34" charset="0"/>
                <a:cs typeface="Arial" pitchFamily="34" charset="0"/>
              </a:rPr>
              <a:t> </a:t>
            </a:r>
            <a:r>
              <a:rPr lang="en-US" sz="3200" dirty="0" err="1" smtClean="0">
                <a:solidFill>
                  <a:srgbClr val="0000FF"/>
                </a:solidFill>
                <a:latin typeface="Arial" pitchFamily="34" charset="0"/>
                <a:cs typeface="Arial" pitchFamily="34" charset="0"/>
              </a:rPr>
              <a:t>phản</a:t>
            </a:r>
            <a:r>
              <a:rPr lang="en-US" sz="3200" dirty="0" smtClean="0">
                <a:solidFill>
                  <a:srgbClr val="0000FF"/>
                </a:solidFill>
                <a:latin typeface="Arial" pitchFamily="34" charset="0"/>
                <a:cs typeface="Arial" pitchFamily="34" charset="0"/>
              </a:rPr>
              <a:t> </a:t>
            </a:r>
            <a:r>
              <a:rPr lang="en-US" sz="3200" dirty="0" err="1" smtClean="0">
                <a:solidFill>
                  <a:srgbClr val="0000FF"/>
                </a:solidFill>
                <a:latin typeface="Arial" pitchFamily="34" charset="0"/>
                <a:cs typeface="Arial" pitchFamily="34" charset="0"/>
              </a:rPr>
              <a:t>ứng</a:t>
            </a:r>
            <a:r>
              <a:rPr lang="vi-VN" sz="3200" dirty="0" smtClean="0">
                <a:solidFill>
                  <a:srgbClr val="0000FF"/>
                </a:solidFill>
                <a:latin typeface="Arial" pitchFamily="34" charset="0"/>
                <a:cs typeface="Arial" pitchFamily="34" charset="0"/>
              </a:rPr>
              <a:t>.</a:t>
            </a:r>
            <a:endParaRPr lang="en-US" sz="3200" dirty="0">
              <a:solidFill>
                <a:srgbClr val="0000FF"/>
              </a:solidFill>
              <a:latin typeface="Arial" pitchFamily="34" charset="0"/>
              <a:cs typeface="Arial" pitchFamily="34" charset="0"/>
            </a:endParaRPr>
          </a:p>
        </p:txBody>
      </p:sp>
      <p:sp>
        <p:nvSpPr>
          <p:cNvPr id="5" name="TextBox 4">
            <a:extLst>
              <a:ext uri="{FF2B5EF4-FFF2-40B4-BE49-F238E27FC236}">
                <a16:creationId xmlns="" xmlns:a16="http://schemas.microsoft.com/office/drawing/2014/main" id="{AE39ADF5-1FC6-4F4F-A862-A8FFC67D9942}"/>
              </a:ext>
            </a:extLst>
          </p:cNvPr>
          <p:cNvSpPr txBox="1"/>
          <p:nvPr/>
        </p:nvSpPr>
        <p:spPr>
          <a:xfrm>
            <a:off x="6434673" y="3380844"/>
            <a:ext cx="5913193"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1, 2, 3, 4, 5.</a:t>
            </a:r>
            <a:endPar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044083813"/>
              </p:ext>
            </p:extLst>
          </p:nvPr>
        </p:nvGraphicFramePr>
        <p:xfrm>
          <a:off x="5212300" y="1526366"/>
          <a:ext cx="2743200" cy="1219200"/>
        </p:xfrm>
        <a:graphic>
          <a:graphicData uri="http://schemas.openxmlformats.org/presentationml/2006/ole">
            <mc:AlternateContent xmlns:mc="http://schemas.openxmlformats.org/markup-compatibility/2006">
              <mc:Choice xmlns:v="urn:schemas-microsoft-com:vml" Requires="v">
                <p:oleObj spid="_x0000_s2134" name="Equation" r:id="rId3" imgW="685800" imgH="330200" progId="Equation.3">
                  <p:embed/>
                </p:oleObj>
              </mc:Choice>
              <mc:Fallback>
                <p:oleObj name="Equation" r:id="rId3" imgW="685800" imgH="330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2300" y="1526366"/>
                        <a:ext cx="2743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5477523" y="2041864"/>
            <a:ext cx="380434" cy="584775"/>
          </a:xfrm>
          <a:prstGeom prst="rect">
            <a:avLst/>
          </a:prstGeom>
          <a:noFill/>
        </p:spPr>
        <p:txBody>
          <a:bodyPr wrap="square" rtlCol="0">
            <a:spAutoFit/>
          </a:bodyPr>
          <a:lstStyle/>
          <a:p>
            <a:r>
              <a:rPr lang="en-US" sz="3200" b="1" dirty="0" smtClean="0">
                <a:solidFill>
                  <a:srgbClr val="FF00FF"/>
                </a:solidFill>
                <a:latin typeface="Arial" pitchFamily="34" charset="0"/>
                <a:cs typeface="Arial" pitchFamily="34" charset="0"/>
                <a:sym typeface="Symbol"/>
              </a:rPr>
              <a:t></a:t>
            </a:r>
            <a:endParaRPr lang="en-US" sz="3200" b="1" dirty="0">
              <a:solidFill>
                <a:srgbClr val="FF00FF"/>
              </a:solidFill>
              <a:latin typeface="Arial" pitchFamily="34" charset="0"/>
              <a:cs typeface="Arial" pitchFamily="34" charset="0"/>
            </a:endParaRPr>
          </a:p>
        </p:txBody>
      </p:sp>
      <p:sp>
        <p:nvSpPr>
          <p:cNvPr id="7" name="TextBox 6"/>
          <p:cNvSpPr txBox="1"/>
          <p:nvPr/>
        </p:nvSpPr>
        <p:spPr>
          <a:xfrm>
            <a:off x="7654206" y="2151943"/>
            <a:ext cx="380434" cy="584775"/>
          </a:xfrm>
          <a:prstGeom prst="rect">
            <a:avLst/>
          </a:prstGeom>
          <a:noFill/>
        </p:spPr>
        <p:txBody>
          <a:bodyPr wrap="square" rtlCol="0">
            <a:spAutoFit/>
          </a:bodyPr>
          <a:lstStyle/>
          <a:p>
            <a:r>
              <a:rPr lang="en-US" sz="3200" b="1" dirty="0" smtClean="0">
                <a:solidFill>
                  <a:srgbClr val="FF00FF"/>
                </a:solidFill>
                <a:latin typeface="Arial" pitchFamily="34" charset="0"/>
                <a:cs typeface="Arial" pitchFamily="34" charset="0"/>
                <a:sym typeface="Symbol"/>
              </a:rPr>
              <a:t></a:t>
            </a:r>
            <a:endParaRPr lang="en-US" sz="3200" b="1" dirty="0">
              <a:solidFill>
                <a:srgbClr val="FF00FF"/>
              </a:solidFill>
              <a:latin typeface="Arial" pitchFamily="34" charset="0"/>
              <a:cs typeface="Arial" pitchFamily="34" charset="0"/>
            </a:endParaRPr>
          </a:p>
        </p:txBody>
      </p:sp>
      <p:sp>
        <p:nvSpPr>
          <p:cNvPr id="8" name="TextBox 7"/>
          <p:cNvSpPr txBox="1"/>
          <p:nvPr/>
        </p:nvSpPr>
        <p:spPr>
          <a:xfrm>
            <a:off x="7645154" y="1567169"/>
            <a:ext cx="380434" cy="584775"/>
          </a:xfrm>
          <a:prstGeom prst="rect">
            <a:avLst/>
          </a:prstGeom>
          <a:noFill/>
        </p:spPr>
        <p:txBody>
          <a:bodyPr wrap="square" rtlCol="0">
            <a:spAutoFit/>
          </a:bodyPr>
          <a:lstStyle/>
          <a:p>
            <a:r>
              <a:rPr lang="en-US" sz="3200" b="1" dirty="0">
                <a:solidFill>
                  <a:srgbClr val="FF00FF"/>
                </a:solidFill>
                <a:latin typeface="Arial" pitchFamily="34" charset="0"/>
                <a:cs typeface="Arial" pitchFamily="34" charset="0"/>
                <a:sym typeface="Symbol"/>
              </a:rPr>
              <a:t></a:t>
            </a:r>
            <a:endParaRPr lang="en-US" sz="3200" b="1" dirty="0">
              <a:solidFill>
                <a:srgbClr val="FF00FF"/>
              </a:solidFill>
              <a:latin typeface="Arial" pitchFamily="34" charset="0"/>
              <a:cs typeface="Arial" pitchFamily="34" charset="0"/>
            </a:endParaRPr>
          </a:p>
        </p:txBody>
      </p:sp>
      <p:sp>
        <p:nvSpPr>
          <p:cNvPr id="9" name="TextBox 8"/>
          <p:cNvSpPr txBox="1"/>
          <p:nvPr/>
        </p:nvSpPr>
        <p:spPr>
          <a:xfrm>
            <a:off x="5293115" y="4715549"/>
            <a:ext cx="1358283" cy="584775"/>
          </a:xfrm>
          <a:prstGeom prst="rect">
            <a:avLst/>
          </a:prstGeom>
          <a:noFill/>
        </p:spPr>
        <p:txBody>
          <a:bodyPr wrap="square" rtlCol="0">
            <a:spAutoFit/>
          </a:bodyPr>
          <a:lstStyle/>
          <a:p>
            <a:r>
              <a:rPr lang="en-US" sz="3200" b="1" dirty="0" smtClean="0">
                <a:solidFill>
                  <a:srgbClr val="FF0000"/>
                </a:solidFill>
                <a:latin typeface="Arial" pitchFamily="34" charset="0"/>
                <a:cs typeface="Arial" pitchFamily="34" charset="0"/>
              </a:rPr>
              <a:t>SAI</a:t>
            </a:r>
            <a:endParaRPr lang="en-US" sz="32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293032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500"/>
                                  </p:stCondLst>
                                  <p:childTnLst>
                                    <p:set>
                                      <p:cBhvr>
                                        <p:cTn id="4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2C8033D-592B-4524-BCF0-9620CBBFF377}"/>
              </a:ext>
            </a:extLst>
          </p:cNvPr>
          <p:cNvSpPr>
            <a:spLocks noGrp="1"/>
          </p:cNvSpPr>
          <p:nvPr>
            <p:ph idx="1"/>
          </p:nvPr>
        </p:nvSpPr>
        <p:spPr>
          <a:xfrm>
            <a:off x="311971" y="190244"/>
            <a:ext cx="11781161" cy="5618886"/>
          </a:xfrm>
        </p:spPr>
        <p:txBody>
          <a:bodyPr>
            <a:normAutofit fontScale="92500"/>
          </a:bodyPr>
          <a:lstStyle/>
          <a:p>
            <a:pPr marL="0" indent="0">
              <a:lnSpc>
                <a:spcPct val="150000"/>
              </a:lnSpc>
              <a:buNone/>
            </a:pPr>
            <a:r>
              <a:rPr lang="vi-VN" sz="3200" b="1" dirty="0">
                <a:latin typeface="Arial" pitchFamily="34" charset="0"/>
                <a:cs typeface="Arial" pitchFamily="34" charset="0"/>
              </a:rPr>
              <a:t>Câu </a:t>
            </a:r>
            <a:r>
              <a:rPr lang="en-US" sz="3200" b="1" dirty="0" smtClean="0">
                <a:latin typeface="Arial" pitchFamily="34" charset="0"/>
                <a:cs typeface="Arial" pitchFamily="34" charset="0"/>
              </a:rPr>
              <a:t>1</a:t>
            </a:r>
            <a:r>
              <a:rPr lang="vi-VN" sz="3200" b="1" dirty="0" smtClean="0">
                <a:latin typeface="Arial" pitchFamily="34" charset="0"/>
                <a:cs typeface="Arial" pitchFamily="34" charset="0"/>
              </a:rPr>
              <a:t>3</a:t>
            </a:r>
            <a:r>
              <a:rPr lang="vi-VN" sz="3200" dirty="0" smtClean="0">
                <a:latin typeface="Arial" pitchFamily="34" charset="0"/>
                <a:cs typeface="Arial" pitchFamily="34" charset="0"/>
              </a:rPr>
              <a:t>. </a:t>
            </a:r>
            <a:r>
              <a:rPr lang="vi-VN" sz="3200" dirty="0">
                <a:latin typeface="Arial" pitchFamily="34" charset="0"/>
                <a:cs typeface="Arial" pitchFamily="34" charset="0"/>
              </a:rPr>
              <a:t>Chọn phát biểu </a:t>
            </a:r>
            <a:r>
              <a:rPr lang="vi-VN" sz="3200" b="1" dirty="0">
                <a:latin typeface="Arial" pitchFamily="34" charset="0"/>
                <a:cs typeface="Arial" pitchFamily="34" charset="0"/>
              </a:rPr>
              <a:t>đúng</a:t>
            </a:r>
            <a:r>
              <a:rPr lang="en-US" sz="3200" b="1" dirty="0">
                <a:latin typeface="Arial" pitchFamily="34" charset="0"/>
                <a:cs typeface="Arial" pitchFamily="34" charset="0"/>
              </a:rPr>
              <a:t> </a:t>
            </a:r>
            <a:r>
              <a:rPr lang="en-US" sz="3200" dirty="0" err="1">
                <a:latin typeface="Arial" pitchFamily="34" charset="0"/>
                <a:cs typeface="Arial" pitchFamily="34" charset="0"/>
              </a:rPr>
              <a:t>về</a:t>
            </a:r>
            <a:r>
              <a:rPr lang="en-US" sz="3200" b="1" dirty="0">
                <a:latin typeface="Arial" pitchFamily="34" charset="0"/>
                <a:cs typeface="Arial" pitchFamily="34" charset="0"/>
              </a:rPr>
              <a:t> </a:t>
            </a:r>
            <a:r>
              <a:rPr lang="vi-VN" sz="3200" dirty="0">
                <a:latin typeface="Arial" pitchFamily="34" charset="0"/>
                <a:cs typeface="Arial" pitchFamily="34" charset="0"/>
              </a:rPr>
              <a:t> </a:t>
            </a:r>
            <a:r>
              <a:rPr lang="en-US" sz="3200" dirty="0">
                <a:latin typeface="Arial" pitchFamily="34" charset="0"/>
                <a:cs typeface="Arial" pitchFamily="34" charset="0"/>
              </a:rPr>
              <a:t>p</a:t>
            </a:r>
            <a:r>
              <a:rPr lang="vi-VN" sz="3200" dirty="0">
                <a:latin typeface="Arial" pitchFamily="34" charset="0"/>
                <a:cs typeface="Arial" pitchFamily="34" charset="0"/>
              </a:rPr>
              <a:t>hân tử số: </a:t>
            </a:r>
          </a:p>
          <a:p>
            <a:pPr marL="514350" indent="-514350">
              <a:lnSpc>
                <a:spcPct val="150000"/>
              </a:lnSpc>
              <a:buFont typeface="+mj-lt"/>
              <a:buAutoNum type="arabicPeriod"/>
            </a:pPr>
            <a:r>
              <a:rPr lang="vi-VN" sz="3200" dirty="0">
                <a:solidFill>
                  <a:srgbClr val="C00000"/>
                </a:solidFill>
                <a:latin typeface="Arial" pitchFamily="34" charset="0"/>
                <a:cs typeface="Arial" pitchFamily="34" charset="0"/>
              </a:rPr>
              <a:t>Là số phân tử, nguyên tử, ion tham gia vào 1 giai đoạn của pư.</a:t>
            </a:r>
          </a:p>
          <a:p>
            <a:pPr marL="514350" indent="-514350">
              <a:lnSpc>
                <a:spcPct val="150000"/>
              </a:lnSpc>
              <a:buFont typeface="+mj-lt"/>
              <a:buAutoNum type="arabicPeriod"/>
            </a:pPr>
            <a:r>
              <a:rPr lang="vi-VN" sz="3200" dirty="0">
                <a:solidFill>
                  <a:srgbClr val="0000FF"/>
                </a:solidFill>
                <a:latin typeface="Arial" pitchFamily="34" charset="0"/>
                <a:cs typeface="Arial" pitchFamily="34" charset="0"/>
              </a:rPr>
              <a:t>Luôn là số nguyên: thường là hai, đôi khi là một, hiếm khi là ba.</a:t>
            </a:r>
          </a:p>
          <a:p>
            <a:pPr marL="514350" indent="-514350">
              <a:lnSpc>
                <a:spcPct val="150000"/>
              </a:lnSpc>
              <a:buFont typeface="+mj-lt"/>
              <a:buAutoNum type="arabicPeriod"/>
            </a:pPr>
            <a:r>
              <a:rPr lang="vi-VN" sz="3200" dirty="0">
                <a:solidFill>
                  <a:srgbClr val="9933FF"/>
                </a:solidFill>
                <a:latin typeface="Arial" pitchFamily="34" charset="0"/>
                <a:cs typeface="Arial" pitchFamily="34" charset="0"/>
              </a:rPr>
              <a:t>Pư đơn giản có phân tử số bằng một, hai hay ba được gọi là phản ứng đơn phân tử, lưỡng phân tử hay tam phân tử.</a:t>
            </a:r>
          </a:p>
          <a:p>
            <a:pPr marL="514350" indent="-514350">
              <a:lnSpc>
                <a:spcPct val="150000"/>
              </a:lnSpc>
              <a:buFont typeface="+mj-lt"/>
              <a:buAutoNum type="arabicPeriod"/>
            </a:pPr>
            <a:r>
              <a:rPr lang="vi-VN" sz="3200" dirty="0">
                <a:solidFill>
                  <a:srgbClr val="008000"/>
                </a:solidFill>
                <a:latin typeface="Arial" pitchFamily="34" charset="0"/>
                <a:cs typeface="Arial" pitchFamily="34" charset="0"/>
              </a:rPr>
              <a:t>Pư có phân tử số lớn hơn ba chưa có vì xác suất va chạm đồng thời của một số lớn phân tử là rất nhỏ. </a:t>
            </a:r>
          </a:p>
          <a:p>
            <a:pPr marL="514350" indent="-514350">
              <a:buFont typeface="+mj-lt"/>
              <a:buAutoNum type="arabicPeriod"/>
            </a:pPr>
            <a:endParaRPr lang="vi-VN" dirty="0"/>
          </a:p>
          <a:p>
            <a:pPr marL="514350" indent="-514350">
              <a:buFont typeface="+mj-lt"/>
              <a:buAutoNum type="arabicPeriod"/>
            </a:pPr>
            <a:endParaRPr lang="vi-VN" dirty="0"/>
          </a:p>
          <a:p>
            <a:pPr marL="514350" indent="-514350">
              <a:buFont typeface="+mj-lt"/>
              <a:buAutoNum type="arabicPeriod"/>
            </a:pPr>
            <a:endParaRPr lang="en-US" dirty="0"/>
          </a:p>
        </p:txBody>
      </p:sp>
      <p:sp>
        <p:nvSpPr>
          <p:cNvPr id="4" name="TextBox 3">
            <a:extLst>
              <a:ext uri="{FF2B5EF4-FFF2-40B4-BE49-F238E27FC236}">
                <a16:creationId xmlns="" xmlns:a16="http://schemas.microsoft.com/office/drawing/2014/main" id="{440B392D-5309-4D39-82EB-C66647C56774}"/>
              </a:ext>
            </a:extLst>
          </p:cNvPr>
          <p:cNvSpPr txBox="1"/>
          <p:nvPr/>
        </p:nvSpPr>
        <p:spPr>
          <a:xfrm>
            <a:off x="8230327" y="366939"/>
            <a:ext cx="4574232" cy="584775"/>
          </a:xfrm>
          <a:prstGeom prst="rect">
            <a:avLst/>
          </a:prstGeom>
          <a:noFill/>
        </p:spPr>
        <p:txBody>
          <a:bodyPr wrap="square" rtlCol="0">
            <a:spAutoFit/>
          </a:bodyPr>
          <a:lstStyle/>
          <a:p>
            <a:r>
              <a:rPr lang="vi-VN" sz="32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32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32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32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Tree>
    <p:extLst>
      <p:ext uri="{BB962C8B-B14F-4D97-AF65-F5344CB8AC3E}">
        <p14:creationId xmlns:p14="http://schemas.microsoft.com/office/powerpoint/2010/main" val="51602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3D44909-A093-4246-95AE-BAD433FC148C}"/>
              </a:ext>
            </a:extLst>
          </p:cNvPr>
          <p:cNvSpPr>
            <a:spLocks noGrp="1"/>
          </p:cNvSpPr>
          <p:nvPr>
            <p:ph idx="1"/>
          </p:nvPr>
        </p:nvSpPr>
        <p:spPr>
          <a:xfrm>
            <a:off x="71021" y="0"/>
            <a:ext cx="12120979" cy="5256639"/>
          </a:xfrm>
        </p:spPr>
        <p:txBody>
          <a:bodyPr>
            <a:noAutofit/>
          </a:bodyPr>
          <a:lstStyle/>
          <a:p>
            <a:pPr marL="0" indent="0">
              <a:lnSpc>
                <a:spcPct val="150000"/>
              </a:lnSpc>
              <a:buNone/>
            </a:pPr>
            <a:r>
              <a:rPr lang="vi-VN" sz="3200" b="1" dirty="0" smtClean="0">
                <a:latin typeface="Arial" pitchFamily="34" charset="0"/>
                <a:cs typeface="Arial" pitchFamily="34" charset="0"/>
              </a:rPr>
              <a:t>Câu</a:t>
            </a:r>
            <a:r>
              <a:rPr lang="en-US" sz="3200" b="1" dirty="0" smtClean="0">
                <a:latin typeface="Arial" pitchFamily="34" charset="0"/>
                <a:cs typeface="Arial" pitchFamily="34" charset="0"/>
              </a:rPr>
              <a:t> 1</a:t>
            </a:r>
            <a:r>
              <a:rPr lang="en-US" sz="3200" b="1" dirty="0">
                <a:latin typeface="Arial" pitchFamily="34" charset="0"/>
                <a:cs typeface="Arial" pitchFamily="34" charset="0"/>
              </a:rPr>
              <a:t>4</a:t>
            </a:r>
            <a:r>
              <a:rPr lang="vi-VN" sz="3200" dirty="0" smtClean="0">
                <a:latin typeface="Arial" pitchFamily="34" charset="0"/>
                <a:cs typeface="Arial" pitchFamily="34" charset="0"/>
              </a:rPr>
              <a:t>. Chọn phát biểu </a:t>
            </a:r>
            <a:r>
              <a:rPr lang="vi-VN" sz="3200" b="1" dirty="0" smtClean="0">
                <a:latin typeface="Arial" pitchFamily="34" charset="0"/>
                <a:cs typeface="Arial" pitchFamily="34" charset="0"/>
              </a:rPr>
              <a:t>đúng</a:t>
            </a:r>
            <a:r>
              <a:rPr lang="vi-VN" sz="3200" dirty="0" smtClean="0">
                <a:latin typeface="Arial" pitchFamily="34" charset="0"/>
                <a:cs typeface="Arial" pitchFamily="34" charset="0"/>
              </a:rPr>
              <a:t> về độ tan. </a:t>
            </a:r>
          </a:p>
          <a:p>
            <a:pPr marL="0" indent="0">
              <a:lnSpc>
                <a:spcPct val="150000"/>
              </a:lnSpc>
              <a:buNone/>
            </a:pPr>
            <a:r>
              <a:rPr lang="vi-VN" sz="3000" dirty="0" smtClean="0">
                <a:solidFill>
                  <a:srgbClr val="0000FF"/>
                </a:solidFill>
                <a:latin typeface="Arial" pitchFamily="34" charset="0"/>
                <a:cs typeface="Arial" pitchFamily="34" charset="0"/>
              </a:rPr>
              <a:t>1. Độ tan của một chất trong dung môi nào đó là nồng độ của dung dịch bão hòa chất đó. </a:t>
            </a:r>
          </a:p>
          <a:p>
            <a:pPr marL="0" indent="0">
              <a:lnSpc>
                <a:spcPct val="150000"/>
              </a:lnSpc>
              <a:buNone/>
            </a:pPr>
            <a:r>
              <a:rPr lang="vi-VN" sz="3000" dirty="0" smtClean="0">
                <a:solidFill>
                  <a:srgbClr val="C00000"/>
                </a:solidFill>
                <a:latin typeface="Arial" pitchFamily="34" charset="0"/>
                <a:cs typeface="Arial" pitchFamily="34" charset="0"/>
              </a:rPr>
              <a:t>2. Độ tan phụ thuộc vào bản chất chất tan, dung môi</a:t>
            </a:r>
            <a:r>
              <a:rPr lang="en-US" sz="3000" dirty="0" smtClean="0">
                <a:solidFill>
                  <a:srgbClr val="C00000"/>
                </a:solidFill>
                <a:latin typeface="Arial" pitchFamily="34" charset="0"/>
                <a:cs typeface="Arial" pitchFamily="34" charset="0"/>
              </a:rPr>
              <a:t> </a:t>
            </a:r>
            <a:r>
              <a:rPr lang="en-US" sz="3000" dirty="0" err="1" smtClean="0">
                <a:solidFill>
                  <a:srgbClr val="C00000"/>
                </a:solidFill>
                <a:latin typeface="Arial" pitchFamily="34" charset="0"/>
                <a:cs typeface="Arial" pitchFamily="34" charset="0"/>
              </a:rPr>
              <a:t>và</a:t>
            </a:r>
            <a:r>
              <a:rPr lang="en-US" sz="3000" dirty="0" smtClean="0">
                <a:solidFill>
                  <a:srgbClr val="C00000"/>
                </a:solidFill>
                <a:latin typeface="Arial" pitchFamily="34" charset="0"/>
                <a:cs typeface="Arial" pitchFamily="34" charset="0"/>
              </a:rPr>
              <a:t> </a:t>
            </a:r>
            <a:r>
              <a:rPr lang="en-US" sz="3000" dirty="0" err="1" smtClean="0">
                <a:solidFill>
                  <a:srgbClr val="C00000"/>
                </a:solidFill>
                <a:latin typeface="Arial" pitchFamily="34" charset="0"/>
                <a:cs typeface="Arial" pitchFamily="34" charset="0"/>
              </a:rPr>
              <a:t>nhiệt</a:t>
            </a:r>
            <a:r>
              <a:rPr lang="en-US" sz="3000" dirty="0" smtClean="0">
                <a:solidFill>
                  <a:srgbClr val="C00000"/>
                </a:solidFill>
                <a:latin typeface="Arial" pitchFamily="34" charset="0"/>
                <a:cs typeface="Arial" pitchFamily="34" charset="0"/>
              </a:rPr>
              <a:t> </a:t>
            </a:r>
            <a:r>
              <a:rPr lang="en-US" sz="3000" dirty="0" err="1" smtClean="0">
                <a:solidFill>
                  <a:srgbClr val="C00000"/>
                </a:solidFill>
                <a:latin typeface="Arial" pitchFamily="34" charset="0"/>
                <a:cs typeface="Arial" pitchFamily="34" charset="0"/>
              </a:rPr>
              <a:t>độ</a:t>
            </a:r>
            <a:r>
              <a:rPr lang="en-US" sz="3000" dirty="0" smtClean="0">
                <a:solidFill>
                  <a:srgbClr val="C00000"/>
                </a:solidFill>
                <a:latin typeface="Arial" pitchFamily="34" charset="0"/>
                <a:cs typeface="Arial" pitchFamily="34" charset="0"/>
              </a:rPr>
              <a:t>.</a:t>
            </a:r>
          </a:p>
          <a:p>
            <a:pPr marL="0" indent="0">
              <a:lnSpc>
                <a:spcPct val="150000"/>
              </a:lnSpc>
              <a:buNone/>
            </a:pPr>
            <a:r>
              <a:rPr lang="en-US" sz="3000" dirty="0" smtClean="0">
                <a:solidFill>
                  <a:srgbClr val="C00000"/>
                </a:solidFill>
                <a:latin typeface="Arial" pitchFamily="34" charset="0"/>
                <a:cs typeface="Arial" pitchFamily="34" charset="0"/>
              </a:rPr>
              <a:t>3. </a:t>
            </a:r>
            <a:r>
              <a:rPr lang="vi-VN" sz="3000" dirty="0">
                <a:solidFill>
                  <a:srgbClr val="C00000"/>
                </a:solidFill>
                <a:latin typeface="Arial" pitchFamily="34" charset="0"/>
                <a:cs typeface="Arial" pitchFamily="34" charset="0"/>
              </a:rPr>
              <a:t>Độ tan phụ thuộc </a:t>
            </a:r>
            <a:r>
              <a:rPr lang="vi-VN" sz="3000" dirty="0" smtClean="0">
                <a:solidFill>
                  <a:srgbClr val="C00000"/>
                </a:solidFill>
                <a:latin typeface="Arial" pitchFamily="34" charset="0"/>
                <a:cs typeface="Arial" pitchFamily="34" charset="0"/>
              </a:rPr>
              <a:t>vào</a:t>
            </a:r>
            <a:r>
              <a:rPr lang="en-US" sz="3000" dirty="0" smtClean="0">
                <a:solidFill>
                  <a:srgbClr val="C00000"/>
                </a:solidFill>
                <a:latin typeface="Arial" pitchFamily="34" charset="0"/>
                <a:cs typeface="Arial" pitchFamily="34" charset="0"/>
              </a:rPr>
              <a:t> </a:t>
            </a:r>
            <a:r>
              <a:rPr lang="en-US" sz="3000" dirty="0" err="1" smtClean="0">
                <a:solidFill>
                  <a:srgbClr val="C00000"/>
                </a:solidFill>
                <a:latin typeface="Arial" pitchFamily="34" charset="0"/>
                <a:cs typeface="Arial" pitchFamily="34" charset="0"/>
              </a:rPr>
              <a:t>môi</a:t>
            </a:r>
            <a:r>
              <a:rPr lang="en-US" sz="3000" dirty="0" smtClean="0">
                <a:solidFill>
                  <a:srgbClr val="C00000"/>
                </a:solidFill>
                <a:latin typeface="Arial" pitchFamily="34" charset="0"/>
                <a:cs typeface="Arial" pitchFamily="34" charset="0"/>
              </a:rPr>
              <a:t> </a:t>
            </a:r>
            <a:r>
              <a:rPr lang="en-US" sz="3000" dirty="0" err="1" smtClean="0">
                <a:solidFill>
                  <a:srgbClr val="C00000"/>
                </a:solidFill>
                <a:latin typeface="Arial" pitchFamily="34" charset="0"/>
                <a:cs typeface="Arial" pitchFamily="34" charset="0"/>
              </a:rPr>
              <a:t>trường</a:t>
            </a:r>
            <a:r>
              <a:rPr lang="en-US" sz="3000" dirty="0" smtClean="0">
                <a:solidFill>
                  <a:srgbClr val="C00000"/>
                </a:solidFill>
                <a:latin typeface="Arial" pitchFamily="34" charset="0"/>
                <a:cs typeface="Arial" pitchFamily="34" charset="0"/>
              </a:rPr>
              <a:t>.</a:t>
            </a:r>
            <a:r>
              <a:rPr lang="vi-VN" sz="3000" dirty="0" smtClean="0">
                <a:solidFill>
                  <a:srgbClr val="C00000"/>
                </a:solidFill>
                <a:latin typeface="Arial" pitchFamily="34" charset="0"/>
                <a:cs typeface="Arial" pitchFamily="34" charset="0"/>
              </a:rPr>
              <a:t> </a:t>
            </a:r>
            <a:endParaRPr lang="en-US" sz="3000" dirty="0" smtClean="0">
              <a:solidFill>
                <a:srgbClr val="C00000"/>
              </a:solidFill>
              <a:latin typeface="Arial" pitchFamily="34" charset="0"/>
              <a:cs typeface="Arial" pitchFamily="34" charset="0"/>
            </a:endParaRPr>
          </a:p>
          <a:p>
            <a:pPr marL="0" indent="0">
              <a:lnSpc>
                <a:spcPct val="150000"/>
              </a:lnSpc>
              <a:buNone/>
            </a:pPr>
            <a:endParaRPr lang="vi-VN" sz="3000" dirty="0" smtClean="0">
              <a:solidFill>
                <a:srgbClr val="C00000"/>
              </a:solidFill>
              <a:latin typeface="Arial" pitchFamily="34" charset="0"/>
              <a:cs typeface="Arial" pitchFamily="34" charset="0"/>
            </a:endParaRPr>
          </a:p>
          <a:p>
            <a:pPr marL="0" indent="0">
              <a:lnSpc>
                <a:spcPct val="150000"/>
              </a:lnSpc>
              <a:buNone/>
            </a:pPr>
            <a:r>
              <a:rPr lang="en-US" sz="3000" dirty="0">
                <a:solidFill>
                  <a:srgbClr val="9933FF"/>
                </a:solidFill>
                <a:latin typeface="Arial" pitchFamily="34" charset="0"/>
                <a:cs typeface="Arial" pitchFamily="34" charset="0"/>
              </a:rPr>
              <a:t>4</a:t>
            </a:r>
            <a:r>
              <a:rPr lang="vi-VN" sz="3000" dirty="0" smtClean="0">
                <a:solidFill>
                  <a:srgbClr val="9933FF"/>
                </a:solidFill>
                <a:latin typeface="Arial" pitchFamily="34" charset="0"/>
                <a:cs typeface="Arial" pitchFamily="34" charset="0"/>
              </a:rPr>
              <a:t>. Đa số các hợp chất ion có độ tan trong nước tăng theo nhiệt độ.</a:t>
            </a:r>
          </a:p>
          <a:p>
            <a:pPr marL="0" indent="0">
              <a:lnSpc>
                <a:spcPct val="150000"/>
              </a:lnSpc>
              <a:buNone/>
            </a:pPr>
            <a:r>
              <a:rPr lang="en-US" sz="3000" dirty="0">
                <a:solidFill>
                  <a:srgbClr val="008000"/>
                </a:solidFill>
                <a:latin typeface="Arial" pitchFamily="34" charset="0"/>
                <a:cs typeface="Arial" pitchFamily="34" charset="0"/>
              </a:rPr>
              <a:t>5</a:t>
            </a:r>
            <a:r>
              <a:rPr lang="vi-VN" sz="3000" dirty="0" smtClean="0">
                <a:solidFill>
                  <a:srgbClr val="008000"/>
                </a:solidFill>
                <a:latin typeface="Arial" pitchFamily="34" charset="0"/>
                <a:cs typeface="Arial" pitchFamily="34" charset="0"/>
              </a:rPr>
              <a:t>.</a:t>
            </a:r>
            <a:r>
              <a:rPr lang="vi-VN" sz="3000" dirty="0" smtClean="0">
                <a:solidFill>
                  <a:schemeClr val="accent6">
                    <a:lumMod val="50000"/>
                  </a:schemeClr>
                </a:solidFill>
                <a:latin typeface="Arial" pitchFamily="34" charset="0"/>
                <a:cs typeface="Arial" pitchFamily="34" charset="0"/>
              </a:rPr>
              <a:t> </a:t>
            </a:r>
            <a:r>
              <a:rPr lang="vi-VN" sz="3000" dirty="0" smtClean="0">
                <a:solidFill>
                  <a:srgbClr val="008000"/>
                </a:solidFill>
                <a:latin typeface="Arial" pitchFamily="34" charset="0"/>
                <a:cs typeface="Arial" pitchFamily="34" charset="0"/>
              </a:rPr>
              <a:t>Độ tan chất khí trong nước giảm theo nhiệt độ và tăng theo áp suất.</a:t>
            </a:r>
            <a:endParaRPr lang="en-US" sz="3000" dirty="0" smtClean="0">
              <a:solidFill>
                <a:srgbClr val="008000"/>
              </a:solidFill>
              <a:latin typeface="Arial" pitchFamily="34" charset="0"/>
              <a:cs typeface="Arial" pitchFamily="34" charset="0"/>
            </a:endParaRPr>
          </a:p>
          <a:p>
            <a:pPr marL="0" indent="0">
              <a:lnSpc>
                <a:spcPct val="150000"/>
              </a:lnSpc>
              <a:buNone/>
            </a:pPr>
            <a:endParaRPr lang="vi-VN" sz="3000" dirty="0">
              <a:solidFill>
                <a:schemeClr val="accent6">
                  <a:lumMod val="50000"/>
                </a:schemeClr>
              </a:solidFill>
              <a:latin typeface="Arial" pitchFamily="34" charset="0"/>
              <a:cs typeface="Arial" pitchFamily="34" charset="0"/>
            </a:endParaRPr>
          </a:p>
        </p:txBody>
      </p:sp>
      <p:sp>
        <p:nvSpPr>
          <p:cNvPr id="4" name="TextBox 3">
            <a:extLst>
              <a:ext uri="{FF2B5EF4-FFF2-40B4-BE49-F238E27FC236}">
                <a16:creationId xmlns="" xmlns:a16="http://schemas.microsoft.com/office/drawing/2014/main" id="{E0F4472E-492D-464A-8790-1E51C1CFBB32}"/>
              </a:ext>
            </a:extLst>
          </p:cNvPr>
          <p:cNvSpPr txBox="1"/>
          <p:nvPr/>
        </p:nvSpPr>
        <p:spPr>
          <a:xfrm>
            <a:off x="7485820" y="63389"/>
            <a:ext cx="5913193"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
        <p:nvSpPr>
          <p:cNvPr id="2" name="TextBox 1"/>
          <p:cNvSpPr txBox="1"/>
          <p:nvPr/>
        </p:nvSpPr>
        <p:spPr>
          <a:xfrm>
            <a:off x="506024" y="4036835"/>
            <a:ext cx="10824839" cy="830997"/>
          </a:xfrm>
          <a:prstGeom prst="rect">
            <a:avLst/>
          </a:prstGeom>
          <a:noFill/>
        </p:spPr>
        <p:txBody>
          <a:bodyPr wrap="square" rtlCol="0">
            <a:spAutoFit/>
          </a:bodyPr>
          <a:lstStyle/>
          <a:p>
            <a:r>
              <a:rPr lang="en-US" dirty="0" smtClean="0"/>
              <a:t> </a:t>
            </a:r>
            <a:r>
              <a:rPr lang="en-US" sz="2400" dirty="0" err="1" smtClean="0">
                <a:latin typeface="Arial" pitchFamily="34" charset="0"/>
                <a:cs typeface="Arial" pitchFamily="34" charset="0"/>
              </a:rPr>
              <a:t>Ví</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dụ</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Độ</a:t>
            </a:r>
            <a:r>
              <a:rPr lang="en-US" sz="2400" dirty="0" smtClean="0">
                <a:latin typeface="Arial" pitchFamily="34" charset="0"/>
                <a:cs typeface="Arial" pitchFamily="34" charset="0"/>
              </a:rPr>
              <a:t> tan </a:t>
            </a:r>
            <a:r>
              <a:rPr lang="en-US" sz="2400" dirty="0" err="1" smtClean="0">
                <a:latin typeface="Arial" pitchFamily="34" charset="0"/>
                <a:cs typeface="Arial" pitchFamily="34" charset="0"/>
              </a:rPr>
              <a:t>của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chất</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điện</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ly</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khó</a:t>
            </a:r>
            <a:r>
              <a:rPr lang="en-US" sz="2400" dirty="0" smtClean="0">
                <a:latin typeface="Arial" pitchFamily="34" charset="0"/>
                <a:cs typeface="Arial" pitchFamily="34" charset="0"/>
              </a:rPr>
              <a:t> tan </a:t>
            </a:r>
            <a:r>
              <a:rPr lang="en-US" sz="2400" dirty="0" err="1" smtClean="0">
                <a:latin typeface="Arial" pitchFamily="34" charset="0"/>
                <a:cs typeface="Arial" pitchFamily="34" charset="0"/>
              </a:rPr>
              <a:t>sẽ</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giảm</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khi</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có</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mặt</a:t>
            </a:r>
            <a:r>
              <a:rPr lang="en-US" sz="2400" dirty="0" smtClean="0">
                <a:latin typeface="Arial" pitchFamily="34" charset="0"/>
                <a:cs typeface="Arial" pitchFamily="34" charset="0"/>
              </a:rPr>
              <a:t> ion </a:t>
            </a:r>
            <a:r>
              <a:rPr lang="en-US" sz="2400" dirty="0" err="1" smtClean="0">
                <a:latin typeface="Arial" pitchFamily="34" charset="0"/>
                <a:cs typeface="Arial" pitchFamily="34" charset="0"/>
              </a:rPr>
              <a:t>cùng</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loại</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với</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một</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trong</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các</a:t>
            </a:r>
            <a:r>
              <a:rPr lang="en-US" sz="2400" dirty="0" smtClean="0">
                <a:latin typeface="Arial" pitchFamily="34" charset="0"/>
                <a:cs typeface="Arial" pitchFamily="34" charset="0"/>
              </a:rPr>
              <a:t> ion </a:t>
            </a:r>
            <a:r>
              <a:rPr lang="en-US" sz="2400" dirty="0" err="1" smtClean="0">
                <a:latin typeface="Arial" pitchFamily="34" charset="0"/>
                <a:cs typeface="Arial" pitchFamily="34" charset="0"/>
              </a:rPr>
              <a:t>của</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chất</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điện</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ly</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khó</a:t>
            </a:r>
            <a:r>
              <a:rPr lang="en-US" sz="2400" dirty="0" smtClean="0">
                <a:latin typeface="Arial" pitchFamily="34" charset="0"/>
                <a:cs typeface="Arial" pitchFamily="34" charset="0"/>
              </a:rPr>
              <a:t> tan</a:t>
            </a:r>
            <a:r>
              <a:rPr lang="vi-VN" sz="2400" dirty="0" smtClean="0">
                <a:latin typeface="Arial" pitchFamily="34" charset="0"/>
                <a:cs typeface="Arial" pitchFamily="34" charset="0"/>
              </a:rPr>
              <a:t>. </a:t>
            </a:r>
            <a:r>
              <a:rPr lang="en-US" sz="2400" dirty="0" smtClean="0">
                <a:latin typeface="Arial" pitchFamily="34" charset="0"/>
                <a:cs typeface="Arial" pitchFamily="34" charset="0"/>
              </a:rPr>
              <a:t> </a:t>
            </a:r>
            <a:endParaRPr lang="en-US" sz="2400" dirty="0">
              <a:latin typeface="Arial" pitchFamily="34" charset="0"/>
              <a:cs typeface="Arial" pitchFamily="34" charset="0"/>
            </a:endParaRPr>
          </a:p>
        </p:txBody>
      </p:sp>
      <p:sp>
        <p:nvSpPr>
          <p:cNvPr id="5" name="TextBox 4"/>
          <p:cNvSpPr txBox="1"/>
          <p:nvPr/>
        </p:nvSpPr>
        <p:spPr>
          <a:xfrm>
            <a:off x="1633490" y="6094042"/>
            <a:ext cx="6809174" cy="800219"/>
          </a:xfrm>
          <a:prstGeom prst="rect">
            <a:avLst/>
          </a:prstGeom>
          <a:noFill/>
        </p:spPr>
        <p:txBody>
          <a:bodyPr wrap="square" rtlCol="0">
            <a:spAutoFit/>
          </a:bodyPr>
          <a:lstStyle/>
          <a:p>
            <a:r>
              <a:rPr lang="en-US" sz="2800" dirty="0" err="1" smtClean="0">
                <a:latin typeface="Arial" pitchFamily="34" charset="0"/>
                <a:cs typeface="Arial" pitchFamily="34" charset="0"/>
                <a:sym typeface="Symbol"/>
              </a:rPr>
              <a:t>Khí</a:t>
            </a:r>
            <a:r>
              <a:rPr lang="en-US" sz="2800" dirty="0" smtClean="0">
                <a:latin typeface="Arial" pitchFamily="34" charset="0"/>
                <a:cs typeface="Arial" pitchFamily="34" charset="0"/>
                <a:sym typeface="Symbol"/>
              </a:rPr>
              <a:t> + </a:t>
            </a:r>
            <a:r>
              <a:rPr lang="en-US" sz="2800" dirty="0" err="1" smtClean="0">
                <a:latin typeface="Arial" pitchFamily="34" charset="0"/>
                <a:cs typeface="Arial" pitchFamily="34" charset="0"/>
                <a:sym typeface="Symbol"/>
              </a:rPr>
              <a:t>aq</a:t>
            </a:r>
            <a:r>
              <a:rPr lang="en-US" sz="2800" dirty="0" smtClean="0">
                <a:latin typeface="Arial" pitchFamily="34" charset="0"/>
                <a:cs typeface="Arial" pitchFamily="34" charset="0"/>
                <a:sym typeface="Symbol"/>
              </a:rPr>
              <a:t> </a:t>
            </a:r>
            <a:r>
              <a:rPr lang="en-US" altLang="en-US" sz="2800" dirty="0">
                <a:latin typeface="Arial" pitchFamily="34" charset="0"/>
                <a:cs typeface="Arial" pitchFamily="34" charset="0"/>
              </a:rPr>
              <a:t>⇌</a:t>
            </a:r>
            <a:r>
              <a:rPr lang="en-US" sz="2800" dirty="0" smtClean="0">
                <a:latin typeface="Arial" pitchFamily="34" charset="0"/>
                <a:cs typeface="Arial" pitchFamily="34" charset="0"/>
                <a:sym typeface="Symbol"/>
              </a:rPr>
              <a:t> dung </a:t>
            </a:r>
            <a:r>
              <a:rPr lang="en-US" sz="2800" dirty="0" err="1" smtClean="0">
                <a:latin typeface="Arial" pitchFamily="34" charset="0"/>
                <a:cs typeface="Arial" pitchFamily="34" charset="0"/>
                <a:sym typeface="Symbol"/>
              </a:rPr>
              <a:t>dịch</a:t>
            </a:r>
            <a:r>
              <a:rPr lang="en-US" sz="2800" dirty="0" smtClean="0">
                <a:latin typeface="Arial" pitchFamily="34" charset="0"/>
                <a:cs typeface="Arial" pitchFamily="34" charset="0"/>
                <a:sym typeface="Symbol"/>
              </a:rPr>
              <a:t> </a:t>
            </a:r>
            <a:r>
              <a:rPr lang="en-US" sz="2800" dirty="0" smtClean="0">
                <a:sym typeface="Symbol"/>
              </a:rPr>
              <a:t>; </a:t>
            </a:r>
            <a:r>
              <a:rPr lang="en-US" sz="2800" dirty="0" err="1" smtClean="0">
                <a:latin typeface="Arial" pitchFamily="34" charset="0"/>
                <a:cs typeface="Arial" pitchFamily="34" charset="0"/>
                <a:sym typeface="Symbol"/>
              </a:rPr>
              <a:t>H</a:t>
            </a:r>
            <a:r>
              <a:rPr lang="en-US" sz="2800" baseline="-25000" dirty="0" err="1" smtClean="0">
                <a:latin typeface="Arial" pitchFamily="34" charset="0"/>
                <a:cs typeface="Arial" pitchFamily="34" charset="0"/>
                <a:sym typeface="Symbol"/>
              </a:rPr>
              <a:t>ht</a:t>
            </a:r>
            <a:r>
              <a:rPr lang="en-US" sz="2800" dirty="0" smtClean="0">
                <a:latin typeface="Arial" pitchFamily="34" charset="0"/>
                <a:cs typeface="Arial" pitchFamily="34" charset="0"/>
                <a:sym typeface="Symbol"/>
              </a:rPr>
              <a:t> &lt; 0 ; </a:t>
            </a:r>
            <a:r>
              <a:rPr lang="en-US" sz="2800" dirty="0" err="1" smtClean="0">
                <a:latin typeface="Arial" pitchFamily="34" charset="0"/>
                <a:cs typeface="Arial" pitchFamily="34" charset="0"/>
                <a:sym typeface="Symbol"/>
              </a:rPr>
              <a:t>S</a:t>
            </a:r>
            <a:r>
              <a:rPr lang="en-US" sz="2800" baseline="-25000" dirty="0" err="1" smtClean="0">
                <a:latin typeface="Arial" pitchFamily="34" charset="0"/>
                <a:cs typeface="Arial" pitchFamily="34" charset="0"/>
                <a:sym typeface="Symbol"/>
              </a:rPr>
              <a:t>ht</a:t>
            </a:r>
            <a:r>
              <a:rPr lang="en-US" sz="2800" dirty="0" smtClean="0">
                <a:latin typeface="Arial" pitchFamily="34" charset="0"/>
                <a:cs typeface="Arial" pitchFamily="34" charset="0"/>
                <a:sym typeface="Symbol"/>
              </a:rPr>
              <a:t> </a:t>
            </a:r>
            <a:r>
              <a:rPr lang="en-US" sz="2800" dirty="0">
                <a:latin typeface="Arial" pitchFamily="34" charset="0"/>
                <a:cs typeface="Arial" pitchFamily="34" charset="0"/>
                <a:sym typeface="Symbol"/>
              </a:rPr>
              <a:t>&lt; 0 </a:t>
            </a:r>
            <a:endParaRPr lang="en-US" sz="2800" dirty="0">
              <a:latin typeface="Arial" pitchFamily="34" charset="0"/>
              <a:cs typeface="Arial" pitchFamily="34" charset="0"/>
            </a:endParaRPr>
          </a:p>
          <a:p>
            <a:endParaRPr lang="en-US" dirty="0"/>
          </a:p>
        </p:txBody>
      </p:sp>
    </p:spTree>
    <p:extLst>
      <p:ext uri="{BB962C8B-B14F-4D97-AF65-F5344CB8AC3E}">
        <p14:creationId xmlns:p14="http://schemas.microsoft.com/office/powerpoint/2010/main" val="127727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2"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1574" y="233798"/>
                <a:ext cx="10650311" cy="5791706"/>
              </a:xfrm>
            </p:spPr>
            <p:txBody>
              <a:bodyPr>
                <a:normAutofit fontScale="47500" lnSpcReduction="20000"/>
              </a:bodyPr>
              <a:lstStyle/>
              <a:p>
                <a:pPr marL="0" indent="0">
                  <a:lnSpc>
                    <a:spcPct val="120000"/>
                  </a:lnSpc>
                  <a:buNone/>
                </a:pPr>
                <a:r>
                  <a:rPr lang="en-US" sz="7000" b="1" dirty="0" err="1" smtClean="0">
                    <a:solidFill>
                      <a:srgbClr val="FF0000"/>
                    </a:solidFill>
                    <a:effectLst>
                      <a:outerShdw blurRad="38100" dist="38100" dir="2700000" algn="tl">
                        <a:srgbClr val="000000">
                          <a:alpha val="43137"/>
                        </a:srgbClr>
                      </a:outerShdw>
                    </a:effectLst>
                    <a:latin typeface="Arial" pitchFamily="34" charset="0"/>
                    <a:cs typeface="Arial" pitchFamily="34" charset="0"/>
                  </a:rPr>
                  <a:t>Định</a:t>
                </a:r>
                <a:r>
                  <a:rPr lang="en-US" sz="70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 </a:t>
                </a:r>
                <a:r>
                  <a:rPr lang="en-US" sz="7000" b="1" dirty="0" err="1">
                    <a:solidFill>
                      <a:srgbClr val="FF0000"/>
                    </a:solidFill>
                    <a:effectLst>
                      <a:outerShdw blurRad="38100" dist="38100" dir="2700000" algn="tl">
                        <a:srgbClr val="000000">
                          <a:alpha val="43137"/>
                        </a:srgbClr>
                      </a:outerShdw>
                    </a:effectLst>
                    <a:latin typeface="Arial" pitchFamily="34" charset="0"/>
                    <a:cs typeface="Arial" pitchFamily="34" charset="0"/>
                  </a:rPr>
                  <a:t>luật</a:t>
                </a:r>
                <a:r>
                  <a:rPr lang="en-US" sz="7000" b="1" dirty="0">
                    <a:solidFill>
                      <a:srgbClr val="FF0000"/>
                    </a:solidFill>
                    <a:effectLst>
                      <a:outerShdw blurRad="38100" dist="38100" dir="2700000" algn="tl">
                        <a:srgbClr val="000000">
                          <a:alpha val="43137"/>
                        </a:srgbClr>
                      </a:outerShdw>
                    </a:effectLst>
                    <a:latin typeface="Arial" pitchFamily="34" charset="0"/>
                    <a:cs typeface="Arial" pitchFamily="34" charset="0"/>
                  </a:rPr>
                  <a:t> </a:t>
                </a:r>
                <a:r>
                  <a:rPr lang="en-US" sz="7000" b="1" dirty="0" err="1">
                    <a:solidFill>
                      <a:srgbClr val="FF0000"/>
                    </a:solidFill>
                    <a:effectLst>
                      <a:outerShdw blurRad="38100" dist="38100" dir="2700000" algn="tl">
                        <a:srgbClr val="000000">
                          <a:alpha val="43137"/>
                        </a:srgbClr>
                      </a:outerShdw>
                    </a:effectLst>
                    <a:latin typeface="Arial" pitchFamily="34" charset="0"/>
                    <a:cs typeface="Arial" pitchFamily="34" charset="0"/>
                  </a:rPr>
                  <a:t>của</a:t>
                </a:r>
                <a:r>
                  <a:rPr lang="en-US" sz="7000" b="1" dirty="0">
                    <a:solidFill>
                      <a:srgbClr val="FF0000"/>
                    </a:solidFill>
                    <a:effectLst>
                      <a:outerShdw blurRad="38100" dist="38100" dir="2700000" algn="tl">
                        <a:srgbClr val="000000">
                          <a:alpha val="43137"/>
                        </a:srgbClr>
                      </a:outerShdw>
                    </a:effectLst>
                    <a:latin typeface="Arial" pitchFamily="34" charset="0"/>
                    <a:cs typeface="Arial" pitchFamily="34" charset="0"/>
                  </a:rPr>
                  <a:t> </a:t>
                </a:r>
                <a:r>
                  <a:rPr lang="en-US" sz="7000" b="1" dirty="0" err="1" smtClean="0">
                    <a:solidFill>
                      <a:srgbClr val="FF0000"/>
                    </a:solidFill>
                    <a:effectLst>
                      <a:outerShdw blurRad="38100" dist="38100" dir="2700000" algn="tl">
                        <a:srgbClr val="000000">
                          <a:alpha val="43137"/>
                        </a:srgbClr>
                      </a:outerShdw>
                    </a:effectLst>
                    <a:latin typeface="Arial" pitchFamily="34" charset="0"/>
                    <a:cs typeface="Arial" pitchFamily="34" charset="0"/>
                  </a:rPr>
                  <a:t>Raoult</a:t>
                </a:r>
                <a:r>
                  <a:rPr lang="en-US" sz="70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 </a:t>
                </a:r>
              </a:p>
              <a:p>
                <a:pPr marL="0" indent="0">
                  <a:lnSpc>
                    <a:spcPct val="120000"/>
                  </a:lnSpc>
                  <a:buNone/>
                </a:pPr>
                <a:r>
                  <a:rPr lang="en-US" sz="7000" dirty="0" err="1" smtClean="0">
                    <a:latin typeface="Arial" pitchFamily="34" charset="0"/>
                    <a:cs typeface="Arial" pitchFamily="34" charset="0"/>
                  </a:rPr>
                  <a:t>P</a:t>
                </a:r>
                <a:r>
                  <a:rPr lang="en-US" sz="7000" baseline="-25000" dirty="0" err="1" smtClean="0">
                    <a:latin typeface="Arial" pitchFamily="34" charset="0"/>
                    <a:cs typeface="Arial" pitchFamily="34" charset="0"/>
                  </a:rPr>
                  <a:t>ddpt</a:t>
                </a:r>
                <a:r>
                  <a:rPr lang="vi-VN" sz="7000" baseline="-25000" dirty="0" smtClean="0">
                    <a:latin typeface="Arial" pitchFamily="34" charset="0"/>
                    <a:cs typeface="Arial" pitchFamily="34" charset="0"/>
                  </a:rPr>
                  <a:t>ử</a:t>
                </a:r>
                <a:r>
                  <a:rPr lang="en-US" sz="7000" dirty="0" smtClean="0">
                    <a:latin typeface="Arial" pitchFamily="34" charset="0"/>
                    <a:cs typeface="Arial" pitchFamily="34" charset="0"/>
                  </a:rPr>
                  <a:t> = P</a:t>
                </a:r>
                <a:r>
                  <a:rPr lang="en-US" sz="7000" baseline="-25000" dirty="0" smtClean="0">
                    <a:latin typeface="Arial" pitchFamily="34" charset="0"/>
                    <a:cs typeface="Arial" pitchFamily="34" charset="0"/>
                  </a:rPr>
                  <a:t>0</a:t>
                </a:r>
                <a:r>
                  <a:rPr lang="en-US" sz="7000" dirty="0" smtClean="0">
                    <a:latin typeface="Arial" pitchFamily="34" charset="0"/>
                    <a:cs typeface="Arial" pitchFamily="34" charset="0"/>
                  </a:rPr>
                  <a:t>.N</a:t>
                </a:r>
                <a:r>
                  <a:rPr lang="en-US" sz="7000" baseline="-25000" dirty="0" smtClean="0">
                    <a:latin typeface="Arial" pitchFamily="34" charset="0"/>
                    <a:cs typeface="Arial" pitchFamily="34" charset="0"/>
                  </a:rPr>
                  <a:t>dm</a:t>
                </a:r>
                <a:r>
                  <a:rPr lang="en-US" sz="7000" dirty="0" smtClean="0">
                    <a:latin typeface="Arial" pitchFamily="34" charset="0"/>
                    <a:cs typeface="Arial" pitchFamily="34" charset="0"/>
                  </a:rPr>
                  <a:t> </a:t>
                </a:r>
                <a:r>
                  <a:rPr lang="en-US" sz="7000" dirty="0" smtClean="0">
                    <a:latin typeface="Arial" pitchFamily="34" charset="0"/>
                    <a:cs typeface="Arial" pitchFamily="34" charset="0"/>
                    <a:sym typeface="Symbol"/>
                  </a:rPr>
                  <a:t> </a:t>
                </a:r>
                <a:r>
                  <a:rPr lang="en-US" sz="7000" dirty="0" err="1" smtClean="0">
                    <a:latin typeface="Arial" pitchFamily="34" charset="0"/>
                    <a:cs typeface="Arial" pitchFamily="34" charset="0"/>
                    <a:sym typeface="Symbol"/>
                  </a:rPr>
                  <a:t>P</a:t>
                </a:r>
                <a:r>
                  <a:rPr lang="en-US" sz="7000" baseline="-25000" dirty="0" err="1" smtClean="0">
                    <a:latin typeface="Arial" pitchFamily="34" charset="0"/>
                    <a:cs typeface="Arial" pitchFamily="34" charset="0"/>
                    <a:sym typeface="Symbol"/>
                  </a:rPr>
                  <a:t>dd</a:t>
                </a:r>
                <a:r>
                  <a:rPr lang="vi-VN" sz="7000" baseline="-25000" dirty="0" smtClean="0">
                    <a:latin typeface="Arial" pitchFamily="34" charset="0"/>
                    <a:cs typeface="Arial" pitchFamily="34" charset="0"/>
                    <a:sym typeface="Symbol"/>
                  </a:rPr>
                  <a:t>ptử</a:t>
                </a:r>
                <a:r>
                  <a:rPr lang="vi-VN" sz="7000" dirty="0" smtClean="0">
                    <a:latin typeface="Arial" pitchFamily="34" charset="0"/>
                    <a:cs typeface="Arial" pitchFamily="34" charset="0"/>
                    <a:sym typeface="Symbol"/>
                  </a:rPr>
                  <a:t>  P</a:t>
                </a:r>
                <a:r>
                  <a:rPr lang="vi-VN" sz="7000" baseline="-25000" dirty="0" smtClean="0">
                    <a:latin typeface="Arial" pitchFamily="34" charset="0"/>
                    <a:cs typeface="Arial" pitchFamily="34" charset="0"/>
                    <a:sym typeface="Symbol"/>
                  </a:rPr>
                  <a:t>0</a:t>
                </a:r>
                <a:r>
                  <a:rPr lang="en-US" sz="7000" dirty="0" smtClean="0">
                    <a:latin typeface="Arial" pitchFamily="34" charset="0"/>
                    <a:cs typeface="Arial" pitchFamily="34" charset="0"/>
                    <a:sym typeface="Symbol"/>
                  </a:rPr>
                  <a:t> </a:t>
                </a:r>
                <a:endParaRPr lang="en-US" sz="7000" dirty="0" smtClean="0">
                  <a:latin typeface="Arial" pitchFamily="34" charset="0"/>
                  <a:cs typeface="Arial" pitchFamily="34" charset="0"/>
                </a:endParaRPr>
              </a:p>
              <a:p>
                <a:pPr marL="0" indent="0">
                  <a:lnSpc>
                    <a:spcPct val="120000"/>
                  </a:lnSpc>
                  <a:buNone/>
                </a:pPr>
                <a14:m>
                  <m:oMath xmlns:m="http://schemas.openxmlformats.org/officeDocument/2006/math">
                    <m:f>
                      <m:fPr>
                        <m:ctrlPr>
                          <a:rPr lang="en-US" sz="7000" i="1" smtClean="0">
                            <a:latin typeface="Cambria Math"/>
                          </a:rPr>
                        </m:ctrlPr>
                      </m:fPr>
                      <m:num>
                        <m:r>
                          <a:rPr lang="en-US" sz="7000" i="1" smtClean="0">
                            <a:latin typeface="Cambria Math"/>
                            <a:ea typeface="Cambria Math"/>
                          </a:rPr>
                          <m:t>∆</m:t>
                        </m:r>
                        <m:r>
                          <a:rPr lang="en-US" sz="7000" b="0" i="1" smtClean="0">
                            <a:latin typeface="Cambria Math"/>
                            <a:ea typeface="Cambria Math"/>
                          </a:rPr>
                          <m:t>𝑃</m:t>
                        </m:r>
                      </m:num>
                      <m:den>
                        <m:sSub>
                          <m:sSubPr>
                            <m:ctrlPr>
                              <a:rPr lang="en-US" sz="7000" i="1" smtClean="0">
                                <a:latin typeface="Cambria Math"/>
                              </a:rPr>
                            </m:ctrlPr>
                          </m:sSubPr>
                          <m:e>
                            <m:r>
                              <a:rPr lang="en-US" sz="7000" b="0" i="1" smtClean="0">
                                <a:latin typeface="Cambria Math"/>
                              </a:rPr>
                              <m:t>𝑃</m:t>
                            </m:r>
                          </m:e>
                          <m:sub>
                            <m:r>
                              <a:rPr lang="en-US" sz="7000" b="0" i="1" smtClean="0">
                                <a:latin typeface="Cambria Math"/>
                              </a:rPr>
                              <m:t>0</m:t>
                            </m:r>
                          </m:sub>
                        </m:sSub>
                      </m:den>
                    </m:f>
                  </m:oMath>
                </a14:m>
                <a:r>
                  <a:rPr lang="en-US" sz="7000" dirty="0" smtClean="0">
                    <a:latin typeface="Arial" pitchFamily="34" charset="0"/>
                    <a:cs typeface="Arial" pitchFamily="34" charset="0"/>
                  </a:rPr>
                  <a:t> = </a:t>
                </a:r>
                <a14:m>
                  <m:oMath xmlns:m="http://schemas.openxmlformats.org/officeDocument/2006/math">
                    <m:f>
                      <m:fPr>
                        <m:ctrlPr>
                          <a:rPr lang="en-US" sz="7000" i="1" dirty="0" smtClean="0">
                            <a:latin typeface="Cambria Math"/>
                          </a:rPr>
                        </m:ctrlPr>
                      </m:fPr>
                      <m:num>
                        <m:sSub>
                          <m:sSubPr>
                            <m:ctrlPr>
                              <a:rPr lang="en-US" sz="7000" i="1" dirty="0" smtClean="0">
                                <a:latin typeface="Cambria Math"/>
                              </a:rPr>
                            </m:ctrlPr>
                          </m:sSubPr>
                          <m:e>
                            <m:r>
                              <a:rPr lang="en-US" sz="7000" b="0" i="1" dirty="0" smtClean="0">
                                <a:latin typeface="Cambria Math"/>
                              </a:rPr>
                              <m:t>𝑃</m:t>
                            </m:r>
                          </m:e>
                          <m:sub>
                            <m:r>
                              <a:rPr lang="en-US" sz="7000" b="0" i="1" dirty="0" smtClean="0">
                                <a:latin typeface="Cambria Math"/>
                              </a:rPr>
                              <m:t>0</m:t>
                            </m:r>
                          </m:sub>
                        </m:sSub>
                        <m:r>
                          <a:rPr lang="en-US" sz="7000" b="0" i="1" dirty="0" smtClean="0">
                            <a:latin typeface="Cambria Math"/>
                          </a:rPr>
                          <m:t>−</m:t>
                        </m:r>
                        <m:sSub>
                          <m:sSubPr>
                            <m:ctrlPr>
                              <a:rPr lang="en-US" sz="7000" b="0" i="1" dirty="0" smtClean="0">
                                <a:latin typeface="Cambria Math"/>
                              </a:rPr>
                            </m:ctrlPr>
                          </m:sSubPr>
                          <m:e>
                            <m:r>
                              <a:rPr lang="en-US" sz="7000" b="0" i="1" dirty="0" smtClean="0">
                                <a:latin typeface="Cambria Math"/>
                              </a:rPr>
                              <m:t>𝑃</m:t>
                            </m:r>
                          </m:e>
                          <m:sub>
                            <m:r>
                              <a:rPr lang="en-US" sz="7000" b="0" i="1" dirty="0" smtClean="0">
                                <a:latin typeface="Cambria Math"/>
                              </a:rPr>
                              <m:t>𝑑𝑑</m:t>
                            </m:r>
                          </m:sub>
                        </m:sSub>
                      </m:num>
                      <m:den>
                        <m:sSub>
                          <m:sSubPr>
                            <m:ctrlPr>
                              <a:rPr lang="en-US" sz="7000" i="1" dirty="0" smtClean="0">
                                <a:latin typeface="Cambria Math"/>
                              </a:rPr>
                            </m:ctrlPr>
                          </m:sSubPr>
                          <m:e>
                            <m:r>
                              <a:rPr lang="en-US" sz="7000" b="0" i="1" dirty="0" smtClean="0">
                                <a:latin typeface="Cambria Math"/>
                              </a:rPr>
                              <m:t>𝑃</m:t>
                            </m:r>
                          </m:e>
                          <m:sub>
                            <m:r>
                              <a:rPr lang="en-US" sz="7000" b="0" i="1" dirty="0" smtClean="0">
                                <a:latin typeface="Cambria Math"/>
                              </a:rPr>
                              <m:t>𝑜</m:t>
                            </m:r>
                          </m:sub>
                        </m:sSub>
                      </m:den>
                    </m:f>
                  </m:oMath>
                </a14:m>
                <a:r>
                  <a:rPr lang="en-US" sz="7000" dirty="0" smtClean="0">
                    <a:latin typeface="Arial" pitchFamily="34" charset="0"/>
                    <a:cs typeface="Arial" pitchFamily="34" charset="0"/>
                  </a:rPr>
                  <a:t> =</a:t>
                </a:r>
                <a14:m>
                  <m:oMath xmlns:m="http://schemas.openxmlformats.org/officeDocument/2006/math">
                    <m:sSub>
                      <m:sSubPr>
                        <m:ctrlPr>
                          <a:rPr lang="en-US" sz="7000" i="1" dirty="0" smtClean="0">
                            <a:latin typeface="Cambria Math"/>
                          </a:rPr>
                        </m:ctrlPr>
                      </m:sSubPr>
                      <m:e>
                        <m:r>
                          <a:rPr lang="en-US" sz="7000" b="0" i="1" dirty="0" smtClean="0">
                            <a:latin typeface="Cambria Math"/>
                          </a:rPr>
                          <m:t> </m:t>
                        </m:r>
                        <m:r>
                          <a:rPr lang="en-US" sz="7000" b="1" i="0" dirty="0" smtClean="0">
                            <a:solidFill>
                              <a:srgbClr val="C00000"/>
                            </a:solidFill>
                            <a:latin typeface="Cambria Math"/>
                          </a:rPr>
                          <m:t>𝐢</m:t>
                        </m:r>
                        <m:r>
                          <a:rPr lang="en-US" sz="7000" b="0" i="1" dirty="0" smtClean="0">
                            <a:latin typeface="Cambria Math"/>
                          </a:rPr>
                          <m:t>.</m:t>
                        </m:r>
                        <m:r>
                          <a:rPr lang="en-US" sz="7000" b="0" i="1" dirty="0" smtClean="0">
                            <a:latin typeface="Cambria Math"/>
                          </a:rPr>
                          <m:t>𝑁</m:t>
                        </m:r>
                      </m:e>
                      <m:sub>
                        <m:r>
                          <a:rPr lang="en-US" sz="7000" b="0" i="1" dirty="0" smtClean="0">
                            <a:latin typeface="Cambria Math"/>
                          </a:rPr>
                          <m:t>𝑐𝑡𝑎𝑛</m:t>
                        </m:r>
                      </m:sub>
                    </m:sSub>
                  </m:oMath>
                </a14:m>
                <a:r>
                  <a:rPr lang="en-US" sz="7000" dirty="0" smtClean="0">
                    <a:latin typeface="Arial" pitchFamily="34" charset="0"/>
                    <a:cs typeface="Arial" pitchFamily="34" charset="0"/>
                  </a:rPr>
                  <a:t> </a:t>
                </a:r>
                <a:r>
                  <a:rPr lang="en-US" sz="7000" dirty="0">
                    <a:latin typeface="Arial" pitchFamily="34" charset="0"/>
                    <a:cs typeface="Arial" pitchFamily="34" charset="0"/>
                    <a:sym typeface="Symbol"/>
                  </a:rPr>
                  <a:t> </a:t>
                </a:r>
                <a:r>
                  <a:rPr lang="en-US" sz="7000" dirty="0" err="1">
                    <a:latin typeface="Arial" pitchFamily="34" charset="0"/>
                    <a:cs typeface="Arial" pitchFamily="34" charset="0"/>
                    <a:sym typeface="Symbol"/>
                  </a:rPr>
                  <a:t>P</a:t>
                </a:r>
                <a:r>
                  <a:rPr lang="en-US" sz="7000" baseline="-25000" dirty="0" err="1" smtClean="0">
                    <a:latin typeface="Arial" pitchFamily="34" charset="0"/>
                    <a:cs typeface="Arial" pitchFamily="34" charset="0"/>
                    <a:sym typeface="Symbol"/>
                  </a:rPr>
                  <a:t>dd</a:t>
                </a:r>
                <a:r>
                  <a:rPr lang="en-US" sz="7000" dirty="0" smtClean="0">
                    <a:latin typeface="Arial" pitchFamily="34" charset="0"/>
                    <a:cs typeface="Arial" pitchFamily="34" charset="0"/>
                    <a:sym typeface="Symbol"/>
                  </a:rPr>
                  <a:t> </a:t>
                </a:r>
                <a:r>
                  <a:rPr lang="en-US" sz="7000" dirty="0">
                    <a:cs typeface="Arial" pitchFamily="34" charset="0"/>
                    <a:sym typeface="Symbol"/>
                  </a:rPr>
                  <a:t> </a:t>
                </a:r>
                <a14:m>
                  <m:oMath xmlns:m="http://schemas.openxmlformats.org/officeDocument/2006/math">
                    <m:f>
                      <m:fPr>
                        <m:ctrlPr>
                          <a:rPr lang="en-US" sz="7000" i="1">
                            <a:latin typeface="Cambria Math"/>
                            <a:cs typeface="Arial" pitchFamily="34" charset="0"/>
                            <a:sym typeface="Symbol"/>
                          </a:rPr>
                        </m:ctrlPr>
                      </m:fPr>
                      <m:num>
                        <m:r>
                          <a:rPr lang="en-US" sz="7000" i="1">
                            <a:latin typeface="Cambria Math"/>
                            <a:cs typeface="Arial" pitchFamily="34" charset="0"/>
                            <a:sym typeface="Symbol"/>
                          </a:rPr>
                          <m:t>1</m:t>
                        </m:r>
                      </m:num>
                      <m:den>
                        <m:sSub>
                          <m:sSubPr>
                            <m:ctrlPr>
                              <a:rPr lang="en-US" sz="7000" i="1">
                                <a:latin typeface="Cambria Math"/>
                                <a:cs typeface="Arial" pitchFamily="34" charset="0"/>
                                <a:sym typeface="Symbol"/>
                              </a:rPr>
                            </m:ctrlPr>
                          </m:sSubPr>
                          <m:e>
                            <m:r>
                              <a:rPr lang="en-US" sz="7000" b="0" i="1" smtClean="0">
                                <a:latin typeface="Cambria Math"/>
                                <a:cs typeface="Arial" pitchFamily="34" charset="0"/>
                                <a:sym typeface="Symbol"/>
                              </a:rPr>
                              <m:t>𝑁</m:t>
                            </m:r>
                          </m:e>
                          <m:sub>
                            <m:r>
                              <a:rPr lang="en-US" sz="7000" b="0" i="1" smtClean="0">
                                <a:latin typeface="Cambria Math"/>
                                <a:cs typeface="Arial" pitchFamily="34" charset="0"/>
                                <a:sym typeface="Symbol"/>
                              </a:rPr>
                              <m:t>𝑐𝑡𝑎𝑛</m:t>
                            </m:r>
                          </m:sub>
                        </m:sSub>
                      </m:den>
                    </m:f>
                  </m:oMath>
                </a14:m>
                <a:endParaRPr lang="en-US" sz="7000" dirty="0" smtClean="0">
                  <a:latin typeface="Arial" pitchFamily="34" charset="0"/>
                  <a:cs typeface="Arial" pitchFamily="34" charset="0"/>
                </a:endParaRPr>
              </a:p>
              <a:p>
                <a:pPr marL="0" indent="0">
                  <a:lnSpc>
                    <a:spcPct val="120000"/>
                  </a:lnSpc>
                  <a:buNone/>
                </a:pPr>
                <a:r>
                  <a:rPr lang="en-US" sz="7000" dirty="0" smtClean="0">
                    <a:latin typeface="Arial" pitchFamily="34" charset="0"/>
                    <a:cs typeface="Arial" pitchFamily="34" charset="0"/>
                    <a:sym typeface="Symbol"/>
                  </a:rPr>
                  <a:t></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sôi</a:t>
                </a:r>
                <a:r>
                  <a:rPr lang="en-US" sz="7000" dirty="0" smtClean="0">
                    <a:latin typeface="Arial" pitchFamily="34" charset="0"/>
                    <a:cs typeface="Arial" pitchFamily="34" charset="0"/>
                    <a:sym typeface="Symbol"/>
                  </a:rPr>
                  <a:t> = </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sôi,dd</a:t>
                </a:r>
                <a:r>
                  <a:rPr lang="en-US" sz="7000" dirty="0" smtClean="0">
                    <a:latin typeface="Arial" pitchFamily="34" charset="0"/>
                    <a:cs typeface="Arial" pitchFamily="34" charset="0"/>
                    <a:sym typeface="Symbol"/>
                  </a:rPr>
                  <a:t> – </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sôi,dm</a:t>
                </a:r>
                <a:r>
                  <a:rPr lang="en-US" sz="7000" dirty="0" smtClean="0">
                    <a:latin typeface="Arial" pitchFamily="34" charset="0"/>
                    <a:cs typeface="Arial" pitchFamily="34" charset="0"/>
                    <a:sym typeface="Symbol"/>
                  </a:rPr>
                  <a:t> = </a:t>
                </a:r>
                <a:r>
                  <a:rPr lang="en-US" sz="7000" b="1" dirty="0" err="1" smtClean="0">
                    <a:solidFill>
                      <a:srgbClr val="C00000"/>
                    </a:solidFill>
                    <a:latin typeface="Arial" pitchFamily="34" charset="0"/>
                    <a:cs typeface="Arial" pitchFamily="34" charset="0"/>
                    <a:sym typeface="Symbol"/>
                  </a:rPr>
                  <a:t>i</a:t>
                </a:r>
                <a:r>
                  <a:rPr lang="en-US" sz="7000" dirty="0" err="1" smtClean="0">
                    <a:latin typeface="Arial" pitchFamily="34" charset="0"/>
                    <a:cs typeface="Arial" pitchFamily="34" charset="0"/>
                    <a:sym typeface="Symbol"/>
                  </a:rPr>
                  <a:t>.C</a:t>
                </a:r>
                <a:r>
                  <a:rPr lang="en-US" sz="7000" baseline="-25000" dirty="0" err="1" smtClean="0">
                    <a:latin typeface="Arial" pitchFamily="34" charset="0"/>
                    <a:cs typeface="Arial" pitchFamily="34" charset="0"/>
                    <a:sym typeface="Symbol"/>
                  </a:rPr>
                  <a:t>m</a:t>
                </a:r>
                <a:r>
                  <a:rPr lang="en-US" sz="7000" baseline="-25000" dirty="0" smtClean="0">
                    <a:latin typeface="Arial" pitchFamily="34" charset="0"/>
                    <a:cs typeface="Arial" pitchFamily="34" charset="0"/>
                    <a:sym typeface="Symbol"/>
                  </a:rPr>
                  <a:t> </a:t>
                </a:r>
                <a:r>
                  <a:rPr lang="en-US" sz="7000" dirty="0" smtClean="0">
                    <a:latin typeface="Arial" pitchFamily="34" charset="0"/>
                    <a:cs typeface="Arial" pitchFamily="34" charset="0"/>
                    <a:sym typeface="Symbol"/>
                  </a:rPr>
                  <a:t>  </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sôi,dd</a:t>
                </a:r>
                <a:r>
                  <a:rPr lang="en-US" sz="7000" dirty="0" smtClean="0">
                    <a:latin typeface="Arial" pitchFamily="34" charset="0"/>
                    <a:cs typeface="Arial" pitchFamily="34" charset="0"/>
                    <a:sym typeface="Symbol"/>
                  </a:rPr>
                  <a:t>  C</a:t>
                </a:r>
                <a:r>
                  <a:rPr lang="en-US" sz="7000" baseline="-25000" dirty="0" smtClean="0">
                    <a:latin typeface="Arial" pitchFamily="34" charset="0"/>
                    <a:cs typeface="Arial" pitchFamily="34" charset="0"/>
                    <a:sym typeface="Symbol"/>
                  </a:rPr>
                  <a:t>m</a:t>
                </a:r>
              </a:p>
              <a:p>
                <a:pPr marL="0" indent="0">
                  <a:lnSpc>
                    <a:spcPct val="120000"/>
                  </a:lnSpc>
                  <a:buNone/>
                </a:pPr>
                <a:r>
                  <a:rPr lang="en-US" sz="7000" dirty="0">
                    <a:latin typeface="Arial" pitchFamily="34" charset="0"/>
                    <a:cs typeface="Arial" pitchFamily="34" charset="0"/>
                    <a:sym typeface="Symbol"/>
                  </a:rPr>
                  <a:t></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đđ</a:t>
                </a:r>
                <a:r>
                  <a:rPr lang="en-US" sz="7000" dirty="0" smtClean="0">
                    <a:latin typeface="Arial" pitchFamily="34" charset="0"/>
                    <a:cs typeface="Arial" pitchFamily="34" charset="0"/>
                    <a:sym typeface="Symbol"/>
                  </a:rPr>
                  <a:t> </a:t>
                </a:r>
                <a:r>
                  <a:rPr lang="en-US" sz="7000" dirty="0">
                    <a:latin typeface="Arial" pitchFamily="34" charset="0"/>
                    <a:cs typeface="Arial" pitchFamily="34" charset="0"/>
                    <a:sym typeface="Symbol"/>
                  </a:rPr>
                  <a:t>= </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đđ,dm</a:t>
                </a:r>
                <a:r>
                  <a:rPr lang="en-US" sz="7000" dirty="0" smtClean="0">
                    <a:latin typeface="Arial" pitchFamily="34" charset="0"/>
                    <a:cs typeface="Arial" pitchFamily="34" charset="0"/>
                    <a:sym typeface="Symbol"/>
                  </a:rPr>
                  <a:t> </a:t>
                </a:r>
                <a:r>
                  <a:rPr lang="en-US" sz="7000" dirty="0">
                    <a:latin typeface="Arial" pitchFamily="34" charset="0"/>
                    <a:cs typeface="Arial" pitchFamily="34" charset="0"/>
                    <a:sym typeface="Symbol"/>
                  </a:rPr>
                  <a:t>– </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đđ,dd</a:t>
                </a:r>
                <a:r>
                  <a:rPr lang="en-US" sz="7000" dirty="0" smtClean="0">
                    <a:latin typeface="Arial" pitchFamily="34" charset="0"/>
                    <a:cs typeface="Arial" pitchFamily="34" charset="0"/>
                    <a:sym typeface="Symbol"/>
                  </a:rPr>
                  <a:t> </a:t>
                </a:r>
                <a:r>
                  <a:rPr lang="en-US" sz="7000" dirty="0">
                    <a:latin typeface="Arial" pitchFamily="34" charset="0"/>
                    <a:cs typeface="Arial" pitchFamily="34" charset="0"/>
                    <a:sym typeface="Symbol"/>
                  </a:rPr>
                  <a:t>= </a:t>
                </a:r>
                <a:r>
                  <a:rPr lang="en-US" sz="7000" b="1" dirty="0" err="1" smtClean="0">
                    <a:solidFill>
                      <a:srgbClr val="C00000"/>
                    </a:solidFill>
                    <a:latin typeface="Arial" pitchFamily="34" charset="0"/>
                    <a:cs typeface="Arial" pitchFamily="34" charset="0"/>
                    <a:sym typeface="Symbol"/>
                  </a:rPr>
                  <a:t>i</a:t>
                </a:r>
                <a:r>
                  <a:rPr lang="en-US" sz="7000" dirty="0" err="1" smtClean="0">
                    <a:latin typeface="Arial" pitchFamily="34" charset="0"/>
                    <a:cs typeface="Arial" pitchFamily="34" charset="0"/>
                    <a:sym typeface="Symbol"/>
                  </a:rPr>
                  <a:t>.C</a:t>
                </a:r>
                <a:r>
                  <a:rPr lang="en-US" sz="7000" baseline="-25000" dirty="0" err="1" smtClean="0">
                    <a:latin typeface="Arial" pitchFamily="34" charset="0"/>
                    <a:cs typeface="Arial" pitchFamily="34" charset="0"/>
                    <a:sym typeface="Symbol"/>
                  </a:rPr>
                  <a:t>m</a:t>
                </a:r>
                <a:r>
                  <a:rPr lang="en-US" sz="7000" baseline="-25000" dirty="0" smtClean="0">
                    <a:latin typeface="Arial" pitchFamily="34" charset="0"/>
                    <a:cs typeface="Arial" pitchFamily="34" charset="0"/>
                    <a:sym typeface="Symbol"/>
                  </a:rPr>
                  <a:t>   </a:t>
                </a:r>
                <a:r>
                  <a:rPr lang="en-US" sz="7000" dirty="0">
                    <a:latin typeface="Arial" pitchFamily="34" charset="0"/>
                    <a:cs typeface="Arial" pitchFamily="34" charset="0"/>
                    <a:sym typeface="Symbol"/>
                  </a:rPr>
                  <a:t> </a:t>
                </a:r>
                <a:r>
                  <a:rPr lang="en-US" sz="7000" dirty="0" err="1" smtClean="0">
                    <a:latin typeface="Arial" pitchFamily="34" charset="0"/>
                    <a:cs typeface="Arial" pitchFamily="34" charset="0"/>
                    <a:sym typeface="Symbol"/>
                  </a:rPr>
                  <a:t>T</a:t>
                </a:r>
                <a:r>
                  <a:rPr lang="en-US" sz="7000" baseline="-25000" dirty="0" err="1" smtClean="0">
                    <a:latin typeface="Arial" pitchFamily="34" charset="0"/>
                    <a:cs typeface="Arial" pitchFamily="34" charset="0"/>
                    <a:sym typeface="Symbol"/>
                  </a:rPr>
                  <a:t>đđ,dd</a:t>
                </a:r>
                <a:r>
                  <a:rPr lang="en-US" sz="7000" dirty="0" smtClean="0">
                    <a:latin typeface="Arial" pitchFamily="34" charset="0"/>
                    <a:cs typeface="Arial" pitchFamily="34" charset="0"/>
                    <a:sym typeface="Symbol"/>
                  </a:rPr>
                  <a:t> </a:t>
                </a:r>
                <a:r>
                  <a:rPr lang="en-US" sz="7000" dirty="0">
                    <a:latin typeface="Arial" pitchFamily="34" charset="0"/>
                    <a:cs typeface="Arial" pitchFamily="34" charset="0"/>
                    <a:sym typeface="Symbol"/>
                  </a:rPr>
                  <a:t> </a:t>
                </a:r>
                <a14:m>
                  <m:oMath xmlns:m="http://schemas.openxmlformats.org/officeDocument/2006/math">
                    <m:f>
                      <m:fPr>
                        <m:ctrlPr>
                          <a:rPr lang="en-US" sz="7000" i="1" smtClean="0">
                            <a:latin typeface="Cambria Math"/>
                            <a:cs typeface="Arial" pitchFamily="34" charset="0"/>
                            <a:sym typeface="Symbol"/>
                          </a:rPr>
                        </m:ctrlPr>
                      </m:fPr>
                      <m:num>
                        <m:r>
                          <a:rPr lang="en-US" sz="7000" b="0" i="1" smtClean="0">
                            <a:latin typeface="Cambria Math"/>
                            <a:cs typeface="Arial" pitchFamily="34" charset="0"/>
                            <a:sym typeface="Symbol"/>
                          </a:rPr>
                          <m:t>1</m:t>
                        </m:r>
                      </m:num>
                      <m:den>
                        <m:sSub>
                          <m:sSubPr>
                            <m:ctrlPr>
                              <a:rPr lang="en-US" sz="7000" i="1" smtClean="0">
                                <a:latin typeface="Cambria Math"/>
                                <a:cs typeface="Arial" pitchFamily="34" charset="0"/>
                                <a:sym typeface="Symbol"/>
                              </a:rPr>
                            </m:ctrlPr>
                          </m:sSubPr>
                          <m:e>
                            <m:r>
                              <a:rPr lang="en-US" sz="7000" b="0" i="1" smtClean="0">
                                <a:latin typeface="Cambria Math"/>
                                <a:cs typeface="Arial" pitchFamily="34" charset="0"/>
                                <a:sym typeface="Symbol"/>
                              </a:rPr>
                              <m:t>𝐶</m:t>
                            </m:r>
                          </m:e>
                          <m:sub>
                            <m:r>
                              <a:rPr lang="en-US" sz="7000" b="0" i="1" smtClean="0">
                                <a:latin typeface="Cambria Math"/>
                                <a:cs typeface="Arial" pitchFamily="34" charset="0"/>
                                <a:sym typeface="Symbol"/>
                              </a:rPr>
                              <m:t>𝑚</m:t>
                            </m:r>
                          </m:sub>
                        </m:sSub>
                      </m:den>
                    </m:f>
                  </m:oMath>
                </a14:m>
                <a:r>
                  <a:rPr lang="vi-VN" sz="7000" baseline="-25000" dirty="0" smtClean="0">
                    <a:latin typeface="Arial" pitchFamily="34" charset="0"/>
                    <a:cs typeface="Arial" pitchFamily="34" charset="0"/>
                    <a:sym typeface="Symbol"/>
                  </a:rPr>
                  <a:t> </a:t>
                </a:r>
                <a:r>
                  <a:rPr lang="vi-VN" sz="7000" dirty="0" smtClean="0">
                    <a:latin typeface="Arial" pitchFamily="34" charset="0"/>
                    <a:cs typeface="Arial" pitchFamily="34" charset="0"/>
                    <a:sym typeface="Symbol"/>
                  </a:rPr>
                  <a:t>   </a:t>
                </a:r>
              </a:p>
              <a:p>
                <a:pPr marL="0" indent="0">
                  <a:lnSpc>
                    <a:spcPct val="120000"/>
                  </a:lnSpc>
                  <a:buNone/>
                </a:pPr>
                <a:r>
                  <a:rPr lang="vi-VN" sz="7000" b="1" dirty="0" smtClean="0">
                    <a:solidFill>
                      <a:srgbClr val="FF0000"/>
                    </a:solidFill>
                    <a:effectLst>
                      <a:outerShdw blurRad="38100" dist="38100" dir="2700000" algn="tl">
                        <a:srgbClr val="000000">
                          <a:alpha val="43137"/>
                        </a:srgbClr>
                      </a:outerShdw>
                    </a:effectLst>
                    <a:latin typeface="Arial" pitchFamily="34" charset="0"/>
                    <a:cs typeface="Arial" pitchFamily="34" charset="0"/>
                    <a:sym typeface="Symbol"/>
                  </a:rPr>
                  <a:t>Định luật Vant’Hoff</a:t>
                </a:r>
              </a:p>
              <a:p>
                <a:pPr marL="0" indent="0">
                  <a:lnSpc>
                    <a:spcPct val="120000"/>
                  </a:lnSpc>
                  <a:buNone/>
                </a:pPr>
                <a:r>
                  <a:rPr lang="vi-VN" sz="7000" i="1" dirty="0" smtClean="0">
                    <a:solidFill>
                      <a:schemeClr val="accent5">
                        <a:lumMod val="50000"/>
                      </a:schemeClr>
                    </a:solidFill>
                    <a:latin typeface="Arial" pitchFamily="34" charset="0"/>
                    <a:cs typeface="Arial" pitchFamily="34" charset="0"/>
                    <a:sym typeface="Symbol"/>
                  </a:rPr>
                  <a:t>Áp suất thẩm thấu của dung dịch: </a:t>
                </a:r>
              </a:p>
              <a:p>
                <a:pPr marL="0" indent="0">
                  <a:lnSpc>
                    <a:spcPct val="120000"/>
                  </a:lnSpc>
                  <a:buNone/>
                </a:pPr>
                <a:r>
                  <a:rPr lang="vi-VN" sz="7000" dirty="0" smtClean="0">
                    <a:latin typeface="Arial" pitchFamily="34" charset="0"/>
                    <a:cs typeface="Arial" pitchFamily="34" charset="0"/>
                    <a:sym typeface="Symbol"/>
                  </a:rPr>
                  <a:t>   = </a:t>
                </a:r>
                <a:r>
                  <a:rPr lang="vi-VN" sz="7000" b="1" dirty="0" smtClean="0">
                    <a:solidFill>
                      <a:srgbClr val="C00000"/>
                    </a:solidFill>
                    <a:latin typeface="Arial" pitchFamily="34" charset="0"/>
                    <a:cs typeface="Arial" pitchFamily="34" charset="0"/>
                    <a:sym typeface="Symbol"/>
                  </a:rPr>
                  <a:t>i</a:t>
                </a:r>
                <a:r>
                  <a:rPr lang="vi-VN" sz="7000" dirty="0" smtClean="0">
                    <a:latin typeface="Arial" pitchFamily="34" charset="0"/>
                    <a:cs typeface="Arial" pitchFamily="34" charset="0"/>
                    <a:sym typeface="Symbol"/>
                  </a:rPr>
                  <a:t>. C</a:t>
                </a:r>
                <a:r>
                  <a:rPr lang="vi-VN" sz="7000" baseline="-25000" dirty="0" smtClean="0">
                    <a:latin typeface="Arial" pitchFamily="34" charset="0"/>
                    <a:cs typeface="Arial" pitchFamily="34" charset="0"/>
                    <a:sym typeface="Symbol"/>
                  </a:rPr>
                  <a:t>M</a:t>
                </a:r>
                <a:r>
                  <a:rPr lang="vi-VN" sz="7000" dirty="0" smtClean="0">
                    <a:latin typeface="Arial" pitchFamily="34" charset="0"/>
                    <a:cs typeface="Arial" pitchFamily="34" charset="0"/>
                    <a:sym typeface="Symbol"/>
                  </a:rPr>
                  <a:t>.R.T     </a:t>
                </a:r>
                <a:r>
                  <a:rPr lang="en-US" sz="7000" dirty="0" smtClean="0">
                    <a:latin typeface="Arial" pitchFamily="34" charset="0"/>
                    <a:cs typeface="Arial" pitchFamily="34" charset="0"/>
                    <a:sym typeface="Symbol"/>
                  </a:rPr>
                  <a:t> </a:t>
                </a:r>
                <a:r>
                  <a:rPr lang="vi-VN" sz="7000" dirty="0">
                    <a:latin typeface="Arial" pitchFamily="34" charset="0"/>
                    <a:cs typeface="Arial" pitchFamily="34" charset="0"/>
                    <a:sym typeface="Symbol"/>
                  </a:rPr>
                  <a:t></a:t>
                </a:r>
                <a:r>
                  <a:rPr lang="en-US" sz="7000" dirty="0" smtClean="0">
                    <a:latin typeface="Arial" pitchFamily="34" charset="0"/>
                    <a:cs typeface="Arial" pitchFamily="34" charset="0"/>
                    <a:sym typeface="Symbol"/>
                  </a:rPr>
                  <a:t> </a:t>
                </a:r>
                <a:r>
                  <a:rPr lang="en-US" sz="7000" dirty="0">
                    <a:latin typeface="Arial" pitchFamily="34" charset="0"/>
                    <a:cs typeface="Arial" pitchFamily="34" charset="0"/>
                    <a:sym typeface="Symbol"/>
                  </a:rPr>
                  <a:t> </a:t>
                </a:r>
                <a:r>
                  <a:rPr lang="en-US" sz="7000" dirty="0" smtClean="0">
                    <a:latin typeface="Arial" pitchFamily="34" charset="0"/>
                    <a:cs typeface="Arial" pitchFamily="34" charset="0"/>
                    <a:sym typeface="Symbol"/>
                  </a:rPr>
                  <a:t>C</a:t>
                </a:r>
                <a:r>
                  <a:rPr lang="vi-VN" sz="7000" baseline="-25000" dirty="0" smtClean="0">
                    <a:latin typeface="Arial" pitchFamily="34" charset="0"/>
                    <a:cs typeface="Arial" pitchFamily="34" charset="0"/>
                    <a:sym typeface="Symbol"/>
                  </a:rPr>
                  <a:t>M</a:t>
                </a:r>
                <a:r>
                  <a:rPr lang="vi-VN" sz="7000" dirty="0" smtClean="0">
                    <a:latin typeface="Arial" pitchFamily="34" charset="0"/>
                    <a:cs typeface="Arial" pitchFamily="34" charset="0"/>
                    <a:sym typeface="Symbol"/>
                  </a:rPr>
                  <a:t> ; </a:t>
                </a:r>
                <a:r>
                  <a:rPr lang="vi-VN" sz="7000" dirty="0">
                    <a:latin typeface="Arial" pitchFamily="34" charset="0"/>
                    <a:cs typeface="Arial" pitchFamily="34" charset="0"/>
                    <a:sym typeface="Symbol"/>
                  </a:rPr>
                  <a:t></a:t>
                </a:r>
                <a:r>
                  <a:rPr lang="en-US" sz="7000" dirty="0">
                    <a:latin typeface="Arial" pitchFamily="34" charset="0"/>
                    <a:cs typeface="Arial" pitchFamily="34" charset="0"/>
                    <a:sym typeface="Symbol"/>
                  </a:rPr>
                  <a:t>  </a:t>
                </a:r>
                <a:r>
                  <a:rPr lang="vi-VN" sz="7000" dirty="0">
                    <a:latin typeface="Arial" pitchFamily="34" charset="0"/>
                    <a:cs typeface="Arial" pitchFamily="34" charset="0"/>
                    <a:sym typeface="Symbol"/>
                  </a:rPr>
                  <a:t>T</a:t>
                </a:r>
                <a:endParaRPr lang="en-US" sz="7000" dirty="0">
                  <a:latin typeface="Arial" pitchFamily="34" charset="0"/>
                  <a:cs typeface="Arial" pitchFamily="34" charset="0"/>
                  <a:sym typeface="Symbol"/>
                </a:endParaRPr>
              </a:p>
              <a:p>
                <a:pPr marL="0" indent="0">
                  <a:lnSpc>
                    <a:spcPct val="120000"/>
                  </a:lnSpc>
                  <a:buNone/>
                </a:pPr>
                <a:endParaRPr lang="en-US" sz="7000" dirty="0">
                  <a:latin typeface="Arial" pitchFamily="34" charset="0"/>
                  <a:cs typeface="Arial" pitchFamily="34" charset="0"/>
                  <a:sym typeface="Symbol"/>
                </a:endParaRPr>
              </a:p>
              <a:p>
                <a:pPr marL="0" indent="0">
                  <a:buNone/>
                </a:pPr>
                <a:endParaRPr lang="en-US" dirty="0">
                  <a:latin typeface="Arial" pitchFamily="34" charset="0"/>
                  <a:cs typeface="Arial" pitchFamily="34" charset="0"/>
                </a:endParaRPr>
              </a:p>
              <a:p>
                <a:pPr marL="0" indent="0">
                  <a:buNone/>
                </a:pPr>
                <a:endParaRPr lang="en-US" dirty="0">
                  <a:latin typeface="Arial" pitchFamily="34" charset="0"/>
                  <a:cs typeface="Arial"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1574" y="233798"/>
                <a:ext cx="10650311" cy="5791706"/>
              </a:xfrm>
              <a:blipFill rotWithShape="1">
                <a:blip r:embed="rId2"/>
                <a:stretch>
                  <a:fillRect l="-1603" t="-1474"/>
                </a:stretch>
              </a:blipFill>
            </p:spPr>
            <p:txBody>
              <a:bodyPr/>
              <a:lstStyle/>
              <a:p>
                <a:r>
                  <a:rPr lang="en-US">
                    <a:noFill/>
                  </a:rPr>
                  <a:t> </a:t>
                </a:r>
              </a:p>
            </p:txBody>
          </p:sp>
        </mc:Fallback>
      </mc:AlternateContent>
      <p:sp>
        <p:nvSpPr>
          <p:cNvPr id="5" name="TextBox 4"/>
          <p:cNvSpPr txBox="1"/>
          <p:nvPr/>
        </p:nvSpPr>
        <p:spPr>
          <a:xfrm>
            <a:off x="6364751" y="109497"/>
            <a:ext cx="6572251" cy="2308324"/>
          </a:xfrm>
          <a:prstGeom prst="rect">
            <a:avLst/>
          </a:prstGeom>
          <a:noFill/>
        </p:spPr>
        <p:txBody>
          <a:bodyPr wrap="square" rtlCol="0">
            <a:spAutoFit/>
          </a:bodyPr>
          <a:lstStyle/>
          <a:p>
            <a:pPr>
              <a:lnSpc>
                <a:spcPct val="150000"/>
              </a:lnSpc>
            </a:pPr>
            <a:r>
              <a:rPr lang="vi-VN" sz="2400" b="1" dirty="0" smtClean="0">
                <a:solidFill>
                  <a:srgbClr val="C00000"/>
                </a:solidFill>
                <a:latin typeface="Arial" pitchFamily="34" charset="0"/>
                <a:cs typeface="Arial" pitchFamily="34" charset="0"/>
              </a:rPr>
              <a:t>Hệ số đẳng trương (hệ số Vant’Hoff):</a:t>
            </a:r>
            <a:r>
              <a:rPr lang="vi-VN" sz="2400" dirty="0" smtClean="0">
                <a:latin typeface="Arial" pitchFamily="34" charset="0"/>
                <a:cs typeface="Arial" pitchFamily="34" charset="0"/>
              </a:rPr>
              <a:t> </a:t>
            </a:r>
            <a:r>
              <a:rPr lang="vi-VN" sz="2400" b="1" dirty="0" smtClean="0">
                <a:solidFill>
                  <a:srgbClr val="C00000"/>
                </a:solidFill>
                <a:latin typeface="Arial" pitchFamily="34" charset="0"/>
                <a:cs typeface="Arial" pitchFamily="34" charset="0"/>
              </a:rPr>
              <a:t>i</a:t>
            </a:r>
            <a:r>
              <a:rPr lang="vi-VN" sz="2400" dirty="0" smtClean="0">
                <a:latin typeface="Arial" pitchFamily="34" charset="0"/>
                <a:cs typeface="Arial" pitchFamily="34" charset="0"/>
              </a:rPr>
              <a:t>  </a:t>
            </a:r>
          </a:p>
          <a:p>
            <a:pPr>
              <a:lnSpc>
                <a:spcPct val="150000"/>
              </a:lnSpc>
            </a:pPr>
            <a:r>
              <a:rPr lang="vi-VN" sz="2400" dirty="0" smtClean="0">
                <a:solidFill>
                  <a:schemeClr val="accent4">
                    <a:lumMod val="50000"/>
                  </a:schemeClr>
                </a:solidFill>
                <a:latin typeface="Arial" pitchFamily="34" charset="0"/>
                <a:cs typeface="Arial" pitchFamily="34" charset="0"/>
              </a:rPr>
              <a:t>Dung dịch lỏng phân tử: </a:t>
            </a:r>
            <a:r>
              <a:rPr lang="vi-VN" sz="2400" b="1" dirty="0" smtClean="0">
                <a:solidFill>
                  <a:srgbClr val="C00000"/>
                </a:solidFill>
                <a:latin typeface="Arial" pitchFamily="34" charset="0"/>
                <a:cs typeface="Arial" pitchFamily="34" charset="0"/>
              </a:rPr>
              <a:t>i</a:t>
            </a:r>
            <a:r>
              <a:rPr lang="vi-VN" sz="2400" dirty="0" smtClean="0">
                <a:latin typeface="Arial" pitchFamily="34" charset="0"/>
                <a:cs typeface="Arial" pitchFamily="34" charset="0"/>
              </a:rPr>
              <a:t> =1 </a:t>
            </a:r>
          </a:p>
          <a:p>
            <a:pPr>
              <a:lnSpc>
                <a:spcPct val="150000"/>
              </a:lnSpc>
            </a:pPr>
            <a:r>
              <a:rPr lang="vi-VN" sz="2400" dirty="0" smtClean="0">
                <a:solidFill>
                  <a:srgbClr val="008000"/>
                </a:solidFill>
                <a:latin typeface="Arial" pitchFamily="34" charset="0"/>
                <a:cs typeface="Arial" pitchFamily="34" charset="0"/>
              </a:rPr>
              <a:t>Dung dịch điện ly: </a:t>
            </a:r>
            <a:r>
              <a:rPr lang="vi-VN" sz="2400" dirty="0" smtClean="0">
                <a:latin typeface="Arial" pitchFamily="34" charset="0"/>
                <a:cs typeface="Arial" pitchFamily="34" charset="0"/>
              </a:rPr>
              <a:t>1&lt; </a:t>
            </a:r>
            <a:r>
              <a:rPr lang="vi-VN" sz="2400" b="1" dirty="0" smtClean="0">
                <a:solidFill>
                  <a:srgbClr val="C00000"/>
                </a:solidFill>
                <a:latin typeface="Arial" pitchFamily="34" charset="0"/>
                <a:cs typeface="Arial" pitchFamily="34" charset="0"/>
              </a:rPr>
              <a:t>i</a:t>
            </a:r>
            <a:r>
              <a:rPr lang="vi-VN" sz="2400" dirty="0" smtClean="0">
                <a:latin typeface="Arial" pitchFamily="34" charset="0"/>
                <a:cs typeface="Arial" pitchFamily="34" charset="0"/>
              </a:rPr>
              <a:t> </a:t>
            </a:r>
            <a:r>
              <a:rPr lang="vi-VN" sz="2400" dirty="0" smtClean="0">
                <a:latin typeface="Arial" pitchFamily="34" charset="0"/>
                <a:cs typeface="Arial" pitchFamily="34" charset="0"/>
                <a:sym typeface="Symbol"/>
              </a:rPr>
              <a:t></a:t>
            </a:r>
            <a:r>
              <a:rPr lang="vi-VN" sz="2400" dirty="0" smtClean="0">
                <a:latin typeface="Arial" pitchFamily="34" charset="0"/>
                <a:cs typeface="Arial" pitchFamily="34" charset="0"/>
              </a:rPr>
              <a:t> m </a:t>
            </a:r>
          </a:p>
          <a:p>
            <a:pPr>
              <a:lnSpc>
                <a:spcPct val="150000"/>
              </a:lnSpc>
            </a:pPr>
            <a:r>
              <a:rPr lang="vi-VN" sz="2400" dirty="0" smtClean="0">
                <a:latin typeface="Arial" pitchFamily="34" charset="0"/>
                <a:cs typeface="Arial" pitchFamily="34" charset="0"/>
              </a:rPr>
              <a:t>                    (</a:t>
            </a:r>
            <a:r>
              <a:rPr lang="vi-VN" sz="2400" dirty="0" smtClean="0">
                <a:latin typeface="Arial" pitchFamily="34" charset="0"/>
                <a:cs typeface="Arial" pitchFamily="34" charset="0"/>
                <a:sym typeface="Symbol"/>
              </a:rPr>
              <a:t> = 1 thì </a:t>
            </a:r>
            <a:r>
              <a:rPr lang="vi-VN" sz="2400" b="1" dirty="0">
                <a:solidFill>
                  <a:srgbClr val="C00000"/>
                </a:solidFill>
                <a:latin typeface="Arial" pitchFamily="34" charset="0"/>
                <a:cs typeface="Arial" pitchFamily="34" charset="0"/>
              </a:rPr>
              <a:t>i</a:t>
            </a:r>
            <a:r>
              <a:rPr lang="vi-VN" sz="2400" dirty="0">
                <a:latin typeface="Arial" pitchFamily="34" charset="0"/>
                <a:cs typeface="Arial" pitchFamily="34" charset="0"/>
              </a:rPr>
              <a:t> </a:t>
            </a:r>
            <a:r>
              <a:rPr lang="vi-VN" sz="2400" dirty="0" smtClean="0">
                <a:latin typeface="Arial" pitchFamily="34" charset="0"/>
                <a:cs typeface="Arial" pitchFamily="34" charset="0"/>
              </a:rPr>
              <a:t>= m) </a:t>
            </a:r>
            <a:endParaRPr lang="en-US" sz="24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p:cNvSpPr txBox="1"/>
              <p:nvPr/>
            </p:nvSpPr>
            <p:spPr>
              <a:xfrm>
                <a:off x="10244695" y="1095740"/>
                <a:ext cx="2065564" cy="808811"/>
              </a:xfrm>
              <a:prstGeom prst="rect">
                <a:avLst/>
              </a:prstGeom>
              <a:noFill/>
            </p:spPr>
            <p:txBody>
              <a:bodyPr wrap="square" rtlCol="0">
                <a:spAutoFit/>
              </a:bodyPr>
              <a:lstStyle/>
              <a:p>
                <a:r>
                  <a:rPr lang="en-US" sz="3200" dirty="0" smtClean="0">
                    <a:solidFill>
                      <a:srgbClr val="008000"/>
                    </a:solidFill>
                    <a:sym typeface="Symbol"/>
                  </a:rPr>
                  <a:t></a:t>
                </a:r>
                <a:r>
                  <a:rPr lang="vi-VN" sz="3200" baseline="-25000" dirty="0" smtClean="0">
                    <a:solidFill>
                      <a:srgbClr val="008000"/>
                    </a:solidFill>
                    <a:sym typeface="Symbol"/>
                  </a:rPr>
                  <a:t>bk</a:t>
                </a:r>
                <a:r>
                  <a:rPr lang="vi-VN" sz="3200" dirty="0" smtClean="0">
                    <a:solidFill>
                      <a:srgbClr val="008000"/>
                    </a:solidFill>
                    <a:sym typeface="Symbol"/>
                  </a:rPr>
                  <a:t> = </a:t>
                </a:r>
                <a14:m>
                  <m:oMath xmlns:m="http://schemas.openxmlformats.org/officeDocument/2006/math">
                    <m:f>
                      <m:fPr>
                        <m:ctrlPr>
                          <a:rPr lang="vi-VN" sz="3200" i="1" smtClean="0">
                            <a:solidFill>
                              <a:srgbClr val="008000"/>
                            </a:solidFill>
                            <a:latin typeface="Cambria Math"/>
                            <a:sym typeface="Symbol"/>
                          </a:rPr>
                        </m:ctrlPr>
                      </m:fPr>
                      <m:num>
                        <m:r>
                          <a:rPr lang="vi-VN" sz="3200" b="0" i="1" smtClean="0">
                            <a:solidFill>
                              <a:srgbClr val="008000"/>
                            </a:solidFill>
                            <a:latin typeface="Cambria Math"/>
                            <a:sym typeface="Symbol"/>
                          </a:rPr>
                          <m:t>𝑖</m:t>
                        </m:r>
                        <m:r>
                          <a:rPr lang="vi-VN" sz="3200" b="0" i="1" smtClean="0">
                            <a:solidFill>
                              <a:srgbClr val="008000"/>
                            </a:solidFill>
                            <a:latin typeface="Cambria Math"/>
                            <a:sym typeface="Symbol"/>
                          </a:rPr>
                          <m:t> −1</m:t>
                        </m:r>
                      </m:num>
                      <m:den>
                        <m:r>
                          <a:rPr lang="vi-VN" sz="3200" b="0" i="1" smtClean="0">
                            <a:solidFill>
                              <a:srgbClr val="008000"/>
                            </a:solidFill>
                            <a:latin typeface="Cambria Math"/>
                            <a:sym typeface="Symbol"/>
                          </a:rPr>
                          <m:t>𝑚</m:t>
                        </m:r>
                        <m:r>
                          <a:rPr lang="vi-VN" sz="3200" b="0" i="1" smtClean="0">
                            <a:solidFill>
                              <a:srgbClr val="008000"/>
                            </a:solidFill>
                            <a:latin typeface="Cambria Math"/>
                            <a:sym typeface="Symbol"/>
                          </a:rPr>
                          <m:t> −1</m:t>
                        </m:r>
                      </m:den>
                    </m:f>
                  </m:oMath>
                </a14:m>
                <a:endParaRPr lang="en-US" sz="3200" dirty="0">
                  <a:solidFill>
                    <a:srgbClr val="008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0244695" y="1095740"/>
                <a:ext cx="2065564" cy="808811"/>
              </a:xfrm>
              <a:prstGeom prst="rect">
                <a:avLst/>
              </a:prstGeom>
              <a:blipFill rotWithShape="1">
                <a:blip r:embed="rId3"/>
                <a:stretch>
                  <a:fillRect l="-7692" b="-9848"/>
                </a:stretch>
              </a:blipFill>
            </p:spPr>
            <p:txBody>
              <a:bodyPr/>
              <a:lstStyle/>
              <a:p>
                <a:r>
                  <a:rPr lang="en-US">
                    <a:noFill/>
                  </a:rPr>
                  <a:t> </a:t>
                </a:r>
              </a:p>
            </p:txBody>
          </p:sp>
        </mc:Fallback>
      </mc:AlternateContent>
      <p:sp>
        <p:nvSpPr>
          <p:cNvPr id="7" name="Content Placeholder 3">
            <a:extLst>
              <a:ext uri="{FF2B5EF4-FFF2-40B4-BE49-F238E27FC236}">
                <a16:creationId xmlns:a16="http://schemas.microsoft.com/office/drawing/2014/main" xmlns="" id="{958C49AB-42CD-4DB3-968D-40C369301138}"/>
              </a:ext>
            </a:extLst>
          </p:cNvPr>
          <p:cNvSpPr txBox="1">
            <a:spLocks noChangeArrowheads="1"/>
          </p:cNvSpPr>
          <p:nvPr/>
        </p:nvSpPr>
        <p:spPr>
          <a:xfrm>
            <a:off x="8346530" y="2566343"/>
            <a:ext cx="4295094" cy="3429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altLang="en-US" sz="2400" dirty="0" smtClean="0">
                <a:solidFill>
                  <a:schemeClr val="accent2">
                    <a:lumMod val="50000"/>
                  </a:schemeClr>
                </a:solidFill>
              </a:rPr>
              <a:t>Trong cùng điều kiện:</a:t>
            </a:r>
          </a:p>
          <a:p>
            <a:pPr marL="0" indent="0">
              <a:lnSpc>
                <a:spcPct val="150000"/>
              </a:lnSpc>
              <a:buFont typeface="Arial" panose="020B0604020202020204" pitchFamily="34" charset="0"/>
              <a:buNone/>
            </a:pPr>
            <a:r>
              <a:rPr lang="vi-VN" altLang="en-US" sz="2600" dirty="0" smtClean="0">
                <a:solidFill>
                  <a:srgbClr val="C00000"/>
                </a:solidFill>
                <a:sym typeface="Symbol" panose="05050102010706020507" pitchFamily="18" charset="2"/>
              </a:rPr>
              <a:t>P</a:t>
            </a:r>
            <a:r>
              <a:rPr lang="vi-VN" altLang="en-US" sz="2600" baseline="-25000" dirty="0" smtClean="0">
                <a:solidFill>
                  <a:srgbClr val="C00000"/>
                </a:solidFill>
                <a:sym typeface="Symbol" panose="05050102010706020507" pitchFamily="18" charset="2"/>
              </a:rPr>
              <a:t>ddđly</a:t>
            </a:r>
            <a:r>
              <a:rPr lang="vi-VN" altLang="en-US" sz="2600" dirty="0" smtClean="0">
                <a:solidFill>
                  <a:srgbClr val="C00000"/>
                </a:solidFill>
                <a:sym typeface="Symbol" panose="05050102010706020507" pitchFamily="18" charset="2"/>
              </a:rPr>
              <a:t> </a:t>
            </a:r>
            <a:r>
              <a:rPr lang="vi-VN" altLang="en-US" sz="2600" dirty="0" smtClean="0">
                <a:sym typeface="Symbol" panose="05050102010706020507" pitchFamily="18" charset="2"/>
              </a:rPr>
              <a:t>&lt; </a:t>
            </a:r>
            <a:r>
              <a:rPr lang="vi-VN" altLang="en-US" sz="2600" dirty="0" smtClean="0">
                <a:solidFill>
                  <a:srgbClr val="0000FF"/>
                </a:solidFill>
                <a:sym typeface="Symbol" panose="05050102010706020507" pitchFamily="18" charset="2"/>
              </a:rPr>
              <a:t>P</a:t>
            </a:r>
            <a:r>
              <a:rPr lang="vi-VN" altLang="en-US" sz="2600" baseline="-25000" dirty="0" smtClean="0">
                <a:solidFill>
                  <a:srgbClr val="0000FF"/>
                </a:solidFill>
                <a:sym typeface="Symbol" panose="05050102010706020507" pitchFamily="18" charset="2"/>
              </a:rPr>
              <a:t>ddptử</a:t>
            </a:r>
            <a:r>
              <a:rPr lang="vi-VN" altLang="en-US" sz="2600" dirty="0" smtClean="0">
                <a:solidFill>
                  <a:srgbClr val="0000FF"/>
                </a:solidFill>
                <a:sym typeface="Symbol" panose="05050102010706020507" pitchFamily="18" charset="2"/>
              </a:rPr>
              <a:t> </a:t>
            </a:r>
            <a:r>
              <a:rPr lang="vi-VN" altLang="en-US" sz="2600" dirty="0" smtClean="0">
                <a:sym typeface="Symbol" panose="05050102010706020507" pitchFamily="18" charset="2"/>
              </a:rPr>
              <a:t>&lt; P</a:t>
            </a:r>
            <a:r>
              <a:rPr lang="vi-VN" altLang="en-US" sz="2600" baseline="-25000" dirty="0" smtClean="0">
                <a:sym typeface="Symbol" panose="05050102010706020507" pitchFamily="18" charset="2"/>
              </a:rPr>
              <a:t>0</a:t>
            </a:r>
            <a:r>
              <a:rPr lang="vi-VN" altLang="en-US" sz="2600" dirty="0" smtClean="0">
                <a:sym typeface="Symbol" panose="05050102010706020507" pitchFamily="18" charset="2"/>
              </a:rPr>
              <a:t> </a:t>
            </a:r>
          </a:p>
          <a:p>
            <a:pPr marL="0" indent="0">
              <a:lnSpc>
                <a:spcPct val="150000"/>
              </a:lnSpc>
              <a:buFont typeface="Arial" panose="020B0604020202020204" pitchFamily="34" charset="0"/>
              <a:buNone/>
            </a:pPr>
            <a:r>
              <a:rPr lang="vi-VN" altLang="en-US" sz="2600" dirty="0" smtClean="0">
                <a:solidFill>
                  <a:srgbClr val="C00000"/>
                </a:solidFill>
                <a:sym typeface="Symbol" panose="05050102010706020507" pitchFamily="18" charset="2"/>
              </a:rPr>
              <a:t>T</a:t>
            </a:r>
            <a:r>
              <a:rPr lang="vi-VN" altLang="en-US" sz="2600" baseline="-25000" dirty="0" smtClean="0">
                <a:solidFill>
                  <a:srgbClr val="C00000"/>
                </a:solidFill>
                <a:sym typeface="Symbol" panose="05050102010706020507" pitchFamily="18" charset="2"/>
              </a:rPr>
              <a:t>đđ,đly</a:t>
            </a:r>
            <a:r>
              <a:rPr lang="vi-VN" altLang="en-US" sz="2600" dirty="0" smtClean="0">
                <a:solidFill>
                  <a:srgbClr val="C00000"/>
                </a:solidFill>
                <a:sym typeface="Symbol" panose="05050102010706020507" pitchFamily="18" charset="2"/>
              </a:rPr>
              <a:t> </a:t>
            </a:r>
            <a:r>
              <a:rPr lang="vi-VN" altLang="en-US" sz="2600" dirty="0" smtClean="0">
                <a:sym typeface="Symbol" panose="05050102010706020507" pitchFamily="18" charset="2"/>
              </a:rPr>
              <a:t>&lt; </a:t>
            </a:r>
            <a:r>
              <a:rPr lang="vi-VN" altLang="en-US" sz="2600" dirty="0" smtClean="0">
                <a:solidFill>
                  <a:srgbClr val="0000FF"/>
                </a:solidFill>
                <a:sym typeface="Symbol" panose="05050102010706020507" pitchFamily="18" charset="2"/>
              </a:rPr>
              <a:t>T</a:t>
            </a:r>
            <a:r>
              <a:rPr lang="vi-VN" altLang="en-US" sz="2600" baseline="-25000" dirty="0" smtClean="0">
                <a:solidFill>
                  <a:srgbClr val="0000FF"/>
                </a:solidFill>
                <a:sym typeface="Symbol" panose="05050102010706020507" pitchFamily="18" charset="2"/>
              </a:rPr>
              <a:t>đđ,ptử</a:t>
            </a:r>
            <a:r>
              <a:rPr lang="vi-VN" altLang="en-US" sz="2600" dirty="0" smtClean="0">
                <a:solidFill>
                  <a:srgbClr val="0000FF"/>
                </a:solidFill>
                <a:sym typeface="Symbol" panose="05050102010706020507" pitchFamily="18" charset="2"/>
              </a:rPr>
              <a:t> </a:t>
            </a:r>
            <a:r>
              <a:rPr lang="vi-VN" altLang="en-US" sz="2600" dirty="0" smtClean="0">
                <a:sym typeface="Symbol" panose="05050102010706020507" pitchFamily="18" charset="2"/>
              </a:rPr>
              <a:t>&lt; T</a:t>
            </a:r>
            <a:r>
              <a:rPr lang="vi-VN" altLang="en-US" sz="2600" baseline="-25000" dirty="0" smtClean="0">
                <a:sym typeface="Symbol" panose="05050102010706020507" pitchFamily="18" charset="2"/>
              </a:rPr>
              <a:t>đđ,dm</a:t>
            </a:r>
            <a:r>
              <a:rPr lang="vi-VN" altLang="en-US" sz="2600" dirty="0" smtClean="0">
                <a:sym typeface="Symbol" panose="05050102010706020507" pitchFamily="18" charset="2"/>
              </a:rPr>
              <a:t> </a:t>
            </a:r>
          </a:p>
          <a:p>
            <a:pPr marL="0" indent="0">
              <a:lnSpc>
                <a:spcPct val="150000"/>
              </a:lnSpc>
              <a:buFont typeface="Arial" panose="020B0604020202020204" pitchFamily="34" charset="0"/>
              <a:buNone/>
            </a:pPr>
            <a:r>
              <a:rPr lang="vi-VN" altLang="en-US" sz="2600" dirty="0" smtClean="0">
                <a:solidFill>
                  <a:srgbClr val="C00000"/>
                </a:solidFill>
                <a:sym typeface="Symbol" panose="05050102010706020507" pitchFamily="18" charset="2"/>
              </a:rPr>
              <a:t>T</a:t>
            </a:r>
            <a:r>
              <a:rPr lang="vi-VN" altLang="en-US" sz="2600" baseline="-25000" dirty="0" smtClean="0">
                <a:solidFill>
                  <a:srgbClr val="C00000"/>
                </a:solidFill>
                <a:sym typeface="Symbol" panose="05050102010706020507" pitchFamily="18" charset="2"/>
              </a:rPr>
              <a:t>sôi,đly</a:t>
            </a:r>
            <a:r>
              <a:rPr lang="vi-VN" altLang="en-US" sz="2600" dirty="0" smtClean="0">
                <a:solidFill>
                  <a:srgbClr val="C00000"/>
                </a:solidFill>
                <a:sym typeface="Symbol" panose="05050102010706020507" pitchFamily="18" charset="2"/>
              </a:rPr>
              <a:t>  </a:t>
            </a:r>
            <a:r>
              <a:rPr lang="vi-VN" altLang="en-US" sz="2600" dirty="0" smtClean="0">
                <a:sym typeface="Symbol" panose="05050102010706020507" pitchFamily="18" charset="2"/>
              </a:rPr>
              <a:t>&gt; </a:t>
            </a:r>
            <a:r>
              <a:rPr lang="vi-VN" altLang="en-US" sz="2600" dirty="0" smtClean="0">
                <a:solidFill>
                  <a:srgbClr val="0000FF"/>
                </a:solidFill>
                <a:sym typeface="Symbol" panose="05050102010706020507" pitchFamily="18" charset="2"/>
              </a:rPr>
              <a:t>T</a:t>
            </a:r>
            <a:r>
              <a:rPr lang="vi-VN" altLang="en-US" sz="2600" baseline="-25000" dirty="0" smtClean="0">
                <a:solidFill>
                  <a:srgbClr val="0000FF"/>
                </a:solidFill>
                <a:sym typeface="Symbol" panose="05050102010706020507" pitchFamily="18" charset="2"/>
              </a:rPr>
              <a:t>sôi,ptử</a:t>
            </a:r>
            <a:r>
              <a:rPr lang="vi-VN" altLang="en-US" sz="2600" dirty="0" smtClean="0">
                <a:solidFill>
                  <a:srgbClr val="0000FF"/>
                </a:solidFill>
                <a:sym typeface="Symbol" panose="05050102010706020507" pitchFamily="18" charset="2"/>
              </a:rPr>
              <a:t> </a:t>
            </a:r>
            <a:r>
              <a:rPr lang="vi-VN" altLang="en-US" sz="2600" dirty="0" smtClean="0">
                <a:sym typeface="Symbol" panose="05050102010706020507" pitchFamily="18" charset="2"/>
              </a:rPr>
              <a:t>&gt; T</a:t>
            </a:r>
            <a:r>
              <a:rPr lang="vi-VN" altLang="en-US" sz="2600" baseline="-25000" dirty="0" smtClean="0">
                <a:sym typeface="Symbol" panose="05050102010706020507" pitchFamily="18" charset="2"/>
              </a:rPr>
              <a:t>sôi,dm</a:t>
            </a:r>
            <a:r>
              <a:rPr lang="vi-VN" altLang="en-US" sz="2600" dirty="0" smtClean="0">
                <a:sym typeface="Symbol" panose="05050102010706020507" pitchFamily="18" charset="2"/>
              </a:rPr>
              <a:t> </a:t>
            </a:r>
            <a:endParaRPr lang="en-US" altLang="en-US" sz="2600" dirty="0" smtClean="0"/>
          </a:p>
          <a:p>
            <a:pPr marL="0" indent="0">
              <a:lnSpc>
                <a:spcPct val="150000"/>
              </a:lnSpc>
              <a:buFont typeface="Arial" panose="020B0604020202020204" pitchFamily="34" charset="0"/>
              <a:buNone/>
            </a:pPr>
            <a:r>
              <a:rPr lang="vi-VN" altLang="en-US" sz="2600" dirty="0" smtClean="0">
                <a:sym typeface="Symbol" panose="05050102010706020507" pitchFamily="18" charset="2"/>
              </a:rPr>
              <a:t>  </a:t>
            </a:r>
            <a:r>
              <a:rPr lang="vi-VN" altLang="en-US" sz="2600" dirty="0" smtClean="0">
                <a:solidFill>
                  <a:srgbClr val="C00000"/>
                </a:solidFill>
                <a:sym typeface="Symbol" panose="05050102010706020507" pitchFamily="18" charset="2"/>
              </a:rPr>
              <a:t></a:t>
            </a:r>
            <a:r>
              <a:rPr lang="vi-VN" altLang="en-US" sz="2600" baseline="-25000" dirty="0" smtClean="0">
                <a:solidFill>
                  <a:srgbClr val="C00000"/>
                </a:solidFill>
                <a:sym typeface="Symbol" panose="05050102010706020507" pitchFamily="18" charset="2"/>
              </a:rPr>
              <a:t>đly</a:t>
            </a:r>
            <a:r>
              <a:rPr lang="vi-VN" altLang="en-US" sz="2600" dirty="0" smtClean="0">
                <a:solidFill>
                  <a:srgbClr val="C00000"/>
                </a:solidFill>
                <a:sym typeface="Symbol" panose="05050102010706020507" pitchFamily="18" charset="2"/>
              </a:rPr>
              <a:t>   </a:t>
            </a:r>
            <a:r>
              <a:rPr lang="vi-VN" altLang="en-US" sz="2600" dirty="0" smtClean="0">
                <a:sym typeface="Symbol" panose="05050102010706020507" pitchFamily="18" charset="2"/>
              </a:rPr>
              <a:t>&gt;     </a:t>
            </a:r>
            <a:r>
              <a:rPr lang="vi-VN" altLang="en-US" sz="2600" dirty="0" smtClean="0">
                <a:solidFill>
                  <a:srgbClr val="0000FF"/>
                </a:solidFill>
                <a:sym typeface="Symbol" panose="05050102010706020507" pitchFamily="18" charset="2"/>
              </a:rPr>
              <a:t></a:t>
            </a:r>
            <a:r>
              <a:rPr lang="vi-VN" altLang="en-US" sz="2600" baseline="-25000" dirty="0" smtClean="0">
                <a:solidFill>
                  <a:srgbClr val="0000FF"/>
                </a:solidFill>
                <a:sym typeface="Symbol" panose="05050102010706020507" pitchFamily="18" charset="2"/>
              </a:rPr>
              <a:t>ptử</a:t>
            </a:r>
            <a:r>
              <a:rPr lang="vi-VN" altLang="en-US" sz="2600" dirty="0" smtClean="0">
                <a:solidFill>
                  <a:srgbClr val="0000FF"/>
                </a:solidFill>
                <a:sym typeface="Symbol" panose="05050102010706020507" pitchFamily="18" charset="2"/>
              </a:rPr>
              <a:t> </a:t>
            </a:r>
            <a:endParaRPr lang="en-US" altLang="en-US" sz="2600" dirty="0">
              <a:solidFill>
                <a:srgbClr val="0000FF"/>
              </a:solidFill>
            </a:endParaRPr>
          </a:p>
        </p:txBody>
      </p:sp>
      <p:sp>
        <p:nvSpPr>
          <p:cNvPr id="8" name="TextBox 7"/>
          <p:cNvSpPr txBox="1"/>
          <p:nvPr/>
        </p:nvSpPr>
        <p:spPr>
          <a:xfrm>
            <a:off x="155118" y="5927676"/>
            <a:ext cx="12036881" cy="461665"/>
          </a:xfrm>
          <a:prstGeom prst="rect">
            <a:avLst/>
          </a:prstGeom>
          <a:noFill/>
        </p:spPr>
        <p:txBody>
          <a:bodyPr wrap="square" rtlCol="0">
            <a:spAutoFit/>
          </a:bodyPr>
          <a:lstStyle/>
          <a:p>
            <a:r>
              <a:rPr lang="vi-VN" sz="2400" dirty="0" smtClean="0">
                <a:solidFill>
                  <a:srgbClr val="0000FF"/>
                </a:solidFill>
                <a:latin typeface="Arial" pitchFamily="34" charset="0"/>
                <a:cs typeface="Arial" pitchFamily="34" charset="0"/>
              </a:rPr>
              <a:t>Các đl  Raoult và Vant’Hoff chỉ nghiệm đúng cho dd lỏng </a:t>
            </a:r>
            <a:r>
              <a:rPr lang="vi-VN" sz="2400" u="sng" dirty="0" smtClean="0">
                <a:solidFill>
                  <a:srgbClr val="0000FF"/>
                </a:solidFill>
                <a:latin typeface="Arial" pitchFamily="34" charset="0"/>
                <a:cs typeface="Arial" pitchFamily="34" charset="0"/>
              </a:rPr>
              <a:t>loãng</a:t>
            </a:r>
            <a:r>
              <a:rPr lang="vi-VN" sz="2400" dirty="0" smtClean="0">
                <a:solidFill>
                  <a:srgbClr val="0000FF"/>
                </a:solidFill>
                <a:latin typeface="Arial" pitchFamily="34" charset="0"/>
                <a:cs typeface="Arial" pitchFamily="34" charset="0"/>
              </a:rPr>
              <a:t> </a:t>
            </a:r>
            <a:r>
              <a:rPr lang="vi-VN" sz="2400" u="sng" dirty="0" smtClean="0">
                <a:solidFill>
                  <a:srgbClr val="0000FF"/>
                </a:solidFill>
                <a:latin typeface="Arial" pitchFamily="34" charset="0"/>
                <a:cs typeface="Arial" pitchFamily="34" charset="0"/>
              </a:rPr>
              <a:t>chất tan không bay hơi</a:t>
            </a:r>
            <a:r>
              <a:rPr lang="vi-VN" sz="2400" dirty="0" smtClean="0">
                <a:solidFill>
                  <a:srgbClr val="0000FF"/>
                </a:solidFill>
                <a:latin typeface="Arial" pitchFamily="34" charset="0"/>
                <a:cs typeface="Arial" pitchFamily="34" charset="0"/>
              </a:rPr>
              <a:t>.</a:t>
            </a:r>
            <a:endParaRPr lang="en-US" sz="2400" dirty="0">
              <a:solidFill>
                <a:srgbClr val="0000FF"/>
              </a:solidFill>
              <a:latin typeface="Arial" pitchFamily="34" charset="0"/>
              <a:cs typeface="Arial" pitchFamily="34" charset="0"/>
            </a:endParaRPr>
          </a:p>
        </p:txBody>
      </p:sp>
    </p:spTree>
    <p:extLst>
      <p:ext uri="{BB962C8B-B14F-4D97-AF65-F5344CB8AC3E}">
        <p14:creationId xmlns:p14="http://schemas.microsoft.com/office/powerpoint/2010/main" val="297312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507BEC1-33E5-400D-AB23-C80D307C82CF}"/>
              </a:ext>
            </a:extLst>
          </p:cNvPr>
          <p:cNvSpPr>
            <a:spLocks noGrp="1"/>
          </p:cNvSpPr>
          <p:nvPr>
            <p:ph idx="1"/>
          </p:nvPr>
        </p:nvSpPr>
        <p:spPr>
          <a:xfrm>
            <a:off x="120388" y="0"/>
            <a:ext cx="12071611" cy="6136022"/>
          </a:xfrm>
        </p:spPr>
        <p:txBody>
          <a:bodyPr>
            <a:normAutofit fontScale="25000" lnSpcReduction="20000"/>
          </a:bodyPr>
          <a:lstStyle/>
          <a:p>
            <a:pPr marL="0" indent="0">
              <a:lnSpc>
                <a:spcPct val="120000"/>
              </a:lnSpc>
              <a:buNone/>
            </a:pPr>
            <a:r>
              <a:rPr lang="vi-VN" sz="11200" b="1" dirty="0">
                <a:latin typeface="Arial" pitchFamily="34" charset="0"/>
                <a:cs typeface="Arial" pitchFamily="34" charset="0"/>
              </a:rPr>
              <a:t>Câu</a:t>
            </a:r>
            <a:r>
              <a:rPr lang="en-US" sz="11200" b="1" dirty="0">
                <a:latin typeface="Arial" pitchFamily="34" charset="0"/>
                <a:cs typeface="Arial" pitchFamily="34" charset="0"/>
              </a:rPr>
              <a:t> </a:t>
            </a:r>
            <a:r>
              <a:rPr lang="en-US" sz="11200" b="1" dirty="0" smtClean="0">
                <a:latin typeface="Arial" pitchFamily="34" charset="0"/>
                <a:cs typeface="Arial" pitchFamily="34" charset="0"/>
              </a:rPr>
              <a:t>15</a:t>
            </a:r>
            <a:r>
              <a:rPr lang="vi-VN" sz="11200" dirty="0" smtClean="0">
                <a:latin typeface="Arial" pitchFamily="34" charset="0"/>
                <a:cs typeface="Arial" pitchFamily="34" charset="0"/>
              </a:rPr>
              <a:t>. </a:t>
            </a:r>
            <a:r>
              <a:rPr lang="vi-VN" sz="11200" dirty="0">
                <a:latin typeface="Arial" pitchFamily="34" charset="0"/>
                <a:cs typeface="Arial" pitchFamily="34" charset="0"/>
              </a:rPr>
              <a:t>Chọn phát biểu </a:t>
            </a:r>
            <a:r>
              <a:rPr lang="vi-VN" sz="11200" b="1" dirty="0">
                <a:latin typeface="Arial" pitchFamily="34" charset="0"/>
                <a:cs typeface="Arial" pitchFamily="34" charset="0"/>
              </a:rPr>
              <a:t>đúng</a:t>
            </a:r>
            <a:r>
              <a:rPr lang="vi-VN" sz="11200" dirty="0">
                <a:latin typeface="Arial" pitchFamily="34" charset="0"/>
                <a:cs typeface="Arial" pitchFamily="34" charset="0"/>
              </a:rPr>
              <a:t> về dd </a:t>
            </a:r>
            <a:r>
              <a:rPr lang="vi-VN" sz="11200" u="sng" dirty="0">
                <a:solidFill>
                  <a:srgbClr val="C00000"/>
                </a:solidFill>
                <a:latin typeface="Arial" pitchFamily="34" charset="0"/>
                <a:cs typeface="Arial" pitchFamily="34" charset="0"/>
              </a:rPr>
              <a:t>lỏng loãng phân tử </a:t>
            </a:r>
            <a:r>
              <a:rPr lang="vi-VN" sz="11200" dirty="0">
                <a:latin typeface="Arial" pitchFamily="34" charset="0"/>
                <a:cs typeface="Arial" pitchFamily="34" charset="0"/>
              </a:rPr>
              <a:t>chất tan không điện </a:t>
            </a:r>
            <a:r>
              <a:rPr lang="vi-VN" sz="11200" dirty="0" smtClean="0">
                <a:latin typeface="Arial" pitchFamily="34" charset="0"/>
                <a:cs typeface="Arial" pitchFamily="34" charset="0"/>
              </a:rPr>
              <a:t>ly</a:t>
            </a:r>
            <a:r>
              <a:rPr lang="en-US" sz="11200" dirty="0" smtClean="0">
                <a:latin typeface="Arial" pitchFamily="34" charset="0"/>
                <a:cs typeface="Arial" pitchFamily="34" charset="0"/>
              </a:rPr>
              <a:t>,</a:t>
            </a:r>
            <a:r>
              <a:rPr lang="vi-VN" sz="11200" dirty="0" smtClean="0">
                <a:latin typeface="Arial" pitchFamily="34" charset="0"/>
                <a:cs typeface="Arial" pitchFamily="34" charset="0"/>
              </a:rPr>
              <a:t> </a:t>
            </a:r>
            <a:r>
              <a:rPr lang="vi-VN" sz="11200" u="sng" dirty="0">
                <a:solidFill>
                  <a:srgbClr val="C00000"/>
                </a:solidFill>
                <a:latin typeface="Arial" pitchFamily="34" charset="0"/>
                <a:cs typeface="Arial" pitchFamily="34" charset="0"/>
              </a:rPr>
              <a:t>không bay hơi</a:t>
            </a:r>
            <a:r>
              <a:rPr lang="vi-VN" sz="11200" dirty="0" smtClean="0">
                <a:solidFill>
                  <a:srgbClr val="C00000"/>
                </a:solidFill>
                <a:latin typeface="Arial" pitchFamily="34" charset="0"/>
                <a:cs typeface="Arial" pitchFamily="34" charset="0"/>
              </a:rPr>
              <a:t>.</a:t>
            </a:r>
            <a:endParaRPr lang="en-US" sz="11200" dirty="0" smtClean="0">
              <a:solidFill>
                <a:srgbClr val="C00000"/>
              </a:solidFill>
              <a:latin typeface="Arial" pitchFamily="34" charset="0"/>
              <a:cs typeface="Arial" pitchFamily="34" charset="0"/>
            </a:endParaRPr>
          </a:p>
          <a:p>
            <a:pPr marL="0" indent="0">
              <a:lnSpc>
                <a:spcPct val="120000"/>
              </a:lnSpc>
              <a:buNone/>
            </a:pPr>
            <a:r>
              <a:rPr lang="en-US" sz="11200" dirty="0" smtClean="0">
                <a:latin typeface="Arial" pitchFamily="34" charset="0"/>
                <a:cs typeface="Arial" pitchFamily="34" charset="0"/>
              </a:rPr>
              <a:t>1. </a:t>
            </a:r>
            <a:r>
              <a:rPr lang="en-US" sz="11200" dirty="0" err="1" smtClean="0">
                <a:latin typeface="Arial" pitchFamily="34" charset="0"/>
                <a:cs typeface="Arial" pitchFamily="34" charset="0"/>
              </a:rPr>
              <a:t>Tuân</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theo</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các</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định</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luật</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của</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Raoult</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và</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Vant</a:t>
            </a:r>
            <a:r>
              <a:rPr lang="en-US" sz="11200" dirty="0" smtClean="0">
                <a:latin typeface="Arial" pitchFamily="34" charset="0"/>
                <a:cs typeface="Arial" pitchFamily="34" charset="0"/>
              </a:rPr>
              <a:t>’ Hoff. </a:t>
            </a:r>
            <a:r>
              <a:rPr lang="en-US" sz="11200" dirty="0" err="1" smtClean="0">
                <a:latin typeface="Arial" pitchFamily="34" charset="0"/>
                <a:cs typeface="Arial" pitchFamily="34" charset="0"/>
              </a:rPr>
              <a:t>Ngược</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lại</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dd</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có</a:t>
            </a:r>
            <a:r>
              <a:rPr lang="en-US" sz="11200" dirty="0" smtClean="0">
                <a:latin typeface="Arial" pitchFamily="34" charset="0"/>
                <a:cs typeface="Arial" pitchFamily="34" charset="0"/>
              </a:rPr>
              <a:t> </a:t>
            </a:r>
            <a:r>
              <a:rPr lang="en-US" sz="11200" u="sng" dirty="0" err="1" smtClean="0">
                <a:latin typeface="Arial" pitchFamily="34" charset="0"/>
                <a:cs typeface="Arial" pitchFamily="34" charset="0"/>
              </a:rPr>
              <a:t>chất</a:t>
            </a:r>
            <a:r>
              <a:rPr lang="en-US" sz="11200" u="sng" dirty="0" smtClean="0">
                <a:latin typeface="Arial" pitchFamily="34" charset="0"/>
                <a:cs typeface="Arial" pitchFamily="34" charset="0"/>
              </a:rPr>
              <a:t> tan bay </a:t>
            </a:r>
            <a:r>
              <a:rPr lang="en-US" sz="11200" u="sng" dirty="0" err="1" smtClean="0">
                <a:latin typeface="Arial" pitchFamily="34" charset="0"/>
                <a:cs typeface="Arial" pitchFamily="34" charset="0"/>
              </a:rPr>
              <a:t>hơi</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thì</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không</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sử</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dụng</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các</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định</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luật</a:t>
            </a:r>
            <a:r>
              <a:rPr lang="en-US" sz="11200" dirty="0" smtClean="0">
                <a:latin typeface="Arial" pitchFamily="34" charset="0"/>
                <a:cs typeface="Arial" pitchFamily="34" charset="0"/>
              </a:rPr>
              <a:t> </a:t>
            </a:r>
            <a:r>
              <a:rPr lang="en-US" sz="11200" dirty="0" err="1" smtClean="0">
                <a:latin typeface="Arial" pitchFamily="34" charset="0"/>
                <a:cs typeface="Arial" pitchFamily="34" charset="0"/>
              </a:rPr>
              <a:t>trên</a:t>
            </a:r>
            <a:r>
              <a:rPr lang="en-US" sz="11200" dirty="0" smtClean="0">
                <a:latin typeface="Arial" pitchFamily="34" charset="0"/>
                <a:cs typeface="Arial" pitchFamily="34" charset="0"/>
              </a:rPr>
              <a:t>.</a:t>
            </a:r>
            <a:endParaRPr lang="vi-VN" sz="11200" dirty="0">
              <a:latin typeface="Arial" pitchFamily="34" charset="0"/>
              <a:cs typeface="Arial" pitchFamily="34" charset="0"/>
            </a:endParaRPr>
          </a:p>
          <a:p>
            <a:pPr marL="0" indent="0">
              <a:lnSpc>
                <a:spcPct val="120000"/>
              </a:lnSpc>
              <a:buNone/>
            </a:pPr>
            <a:r>
              <a:rPr lang="en-US" sz="11200" dirty="0" smtClean="0">
                <a:solidFill>
                  <a:srgbClr val="0000FF"/>
                </a:solidFill>
                <a:latin typeface="Arial" pitchFamily="34" charset="0"/>
                <a:cs typeface="Arial" pitchFamily="34" charset="0"/>
              </a:rPr>
              <a:t>2. </a:t>
            </a:r>
            <a:r>
              <a:rPr lang="vi-VN" sz="11200" dirty="0" smtClean="0">
                <a:solidFill>
                  <a:srgbClr val="0000FF"/>
                </a:solidFill>
                <a:latin typeface="Arial" pitchFamily="34" charset="0"/>
                <a:cs typeface="Arial" pitchFamily="34" charset="0"/>
              </a:rPr>
              <a:t>Áp </a:t>
            </a:r>
            <a:r>
              <a:rPr lang="vi-VN" sz="11200" dirty="0">
                <a:solidFill>
                  <a:srgbClr val="0000FF"/>
                </a:solidFill>
                <a:latin typeface="Arial" pitchFamily="34" charset="0"/>
                <a:cs typeface="Arial" pitchFamily="34" charset="0"/>
              </a:rPr>
              <a:t>suất hơi bão hòa của dung dịch là áp suất hơi bão hòa của dung môi trong dung dịch luôn nhỏ hơn áp suất hơi bão hòa của dung môi nguyên chất ở cùng nhiệt độ.</a:t>
            </a:r>
          </a:p>
          <a:p>
            <a:pPr marL="0" indent="0">
              <a:lnSpc>
                <a:spcPct val="120000"/>
              </a:lnSpc>
              <a:buNone/>
            </a:pPr>
            <a:r>
              <a:rPr lang="en-US" sz="11200" dirty="0" smtClean="0">
                <a:solidFill>
                  <a:srgbClr val="C00000"/>
                </a:solidFill>
                <a:latin typeface="Arial" pitchFamily="34" charset="0"/>
                <a:cs typeface="Arial" pitchFamily="34" charset="0"/>
              </a:rPr>
              <a:t>3. </a:t>
            </a:r>
            <a:r>
              <a:rPr lang="vi-VN" sz="11200" dirty="0" smtClean="0">
                <a:solidFill>
                  <a:srgbClr val="C00000"/>
                </a:solidFill>
                <a:latin typeface="Arial" pitchFamily="34" charset="0"/>
                <a:cs typeface="Arial" pitchFamily="34" charset="0"/>
              </a:rPr>
              <a:t>Áp </a:t>
            </a:r>
            <a:r>
              <a:rPr lang="vi-VN" sz="11200" dirty="0">
                <a:solidFill>
                  <a:srgbClr val="C00000"/>
                </a:solidFill>
                <a:latin typeface="Arial" pitchFamily="34" charset="0"/>
                <a:cs typeface="Arial" pitchFamily="34" charset="0"/>
              </a:rPr>
              <a:t>suất hơi bão hòa của dung dịch phụ thuộc bản chất của dung môi, nhiệt độ và nồng độ chất tan trong dung dịch.</a:t>
            </a:r>
          </a:p>
          <a:p>
            <a:pPr marL="0" indent="0">
              <a:lnSpc>
                <a:spcPct val="120000"/>
              </a:lnSpc>
              <a:buNone/>
            </a:pPr>
            <a:r>
              <a:rPr lang="en-US" sz="11200" dirty="0" smtClean="0">
                <a:solidFill>
                  <a:srgbClr val="008000"/>
                </a:solidFill>
                <a:latin typeface="Arial" pitchFamily="34" charset="0"/>
                <a:cs typeface="Arial" pitchFamily="34" charset="0"/>
              </a:rPr>
              <a:t>4. </a:t>
            </a:r>
            <a:r>
              <a:rPr lang="vi-VN" sz="11200" dirty="0" smtClean="0">
                <a:solidFill>
                  <a:srgbClr val="008000"/>
                </a:solidFill>
                <a:latin typeface="Arial" pitchFamily="34" charset="0"/>
                <a:cs typeface="Arial" pitchFamily="34" charset="0"/>
              </a:rPr>
              <a:t>Tính </a:t>
            </a:r>
            <a:r>
              <a:rPr lang="vi-VN" sz="11200" dirty="0">
                <a:solidFill>
                  <a:srgbClr val="008000"/>
                </a:solidFill>
                <a:latin typeface="Arial" pitchFamily="34" charset="0"/>
                <a:cs typeface="Arial" pitchFamily="34" charset="0"/>
              </a:rPr>
              <a:t>chất của </a:t>
            </a:r>
            <a:r>
              <a:rPr lang="vi-VN" sz="11200" dirty="0" smtClean="0">
                <a:solidFill>
                  <a:srgbClr val="008000"/>
                </a:solidFill>
                <a:latin typeface="Arial" pitchFamily="34" charset="0"/>
                <a:cs typeface="Arial" pitchFamily="34" charset="0"/>
              </a:rPr>
              <a:t>dd lỏng </a:t>
            </a:r>
            <a:r>
              <a:rPr lang="vi-VN" sz="11200" u="sng" dirty="0" smtClean="0">
                <a:solidFill>
                  <a:srgbClr val="008000"/>
                </a:solidFill>
                <a:latin typeface="Arial" pitchFamily="34" charset="0"/>
                <a:cs typeface="Arial" pitchFamily="34" charset="0"/>
              </a:rPr>
              <a:t>loãng phân tử</a:t>
            </a:r>
            <a:r>
              <a:rPr lang="vi-VN" sz="11200" dirty="0" smtClean="0">
                <a:solidFill>
                  <a:srgbClr val="008000"/>
                </a:solidFill>
                <a:latin typeface="Arial" pitchFamily="34" charset="0"/>
                <a:cs typeface="Arial" pitchFamily="34" charset="0"/>
              </a:rPr>
              <a:t>(</a:t>
            </a:r>
            <a:r>
              <a:rPr lang="vi-VN" sz="11200" dirty="0" smtClean="0">
                <a:solidFill>
                  <a:srgbClr val="008000"/>
                </a:solidFill>
                <a:latin typeface="Arial" pitchFamily="34" charset="0"/>
                <a:cs typeface="Arial" pitchFamily="34" charset="0"/>
                <a:sym typeface="Symbol" panose="05050102010706020507" pitchFamily="18" charset="2"/>
              </a:rPr>
              <a:t></a:t>
            </a:r>
            <a:r>
              <a:rPr lang="vi-VN" sz="11200" dirty="0">
                <a:solidFill>
                  <a:srgbClr val="008000"/>
                </a:solidFill>
                <a:latin typeface="Arial" pitchFamily="34" charset="0"/>
                <a:cs typeface="Arial" pitchFamily="34" charset="0"/>
                <a:sym typeface="Symbol" panose="05050102010706020507" pitchFamily="18" charset="2"/>
              </a:rPr>
              <a:t>P</a:t>
            </a:r>
            <a:r>
              <a:rPr lang="vi-VN" sz="11200" dirty="0">
                <a:solidFill>
                  <a:srgbClr val="008000"/>
                </a:solidFill>
                <a:latin typeface="Arial" pitchFamily="34" charset="0"/>
                <a:cs typeface="Arial" pitchFamily="34" charset="0"/>
              </a:rPr>
              <a:t>/P</a:t>
            </a:r>
            <a:r>
              <a:rPr lang="vi-VN" sz="11200" baseline="-25000" dirty="0">
                <a:solidFill>
                  <a:srgbClr val="008000"/>
                </a:solidFill>
                <a:latin typeface="Arial" pitchFamily="34" charset="0"/>
                <a:cs typeface="Arial" pitchFamily="34" charset="0"/>
              </a:rPr>
              <a:t>0 </a:t>
            </a:r>
            <a:r>
              <a:rPr lang="vi-VN" sz="11200" dirty="0" smtClean="0">
                <a:solidFill>
                  <a:srgbClr val="008000"/>
                </a:solidFill>
                <a:latin typeface="Arial" pitchFamily="34" charset="0"/>
                <a:cs typeface="Arial" pitchFamily="34" charset="0"/>
              </a:rPr>
              <a:t>, </a:t>
            </a:r>
            <a:r>
              <a:rPr lang="vi-VN" sz="11200" dirty="0" smtClean="0">
                <a:solidFill>
                  <a:srgbClr val="008000"/>
                </a:solidFill>
                <a:latin typeface="Arial" pitchFamily="34" charset="0"/>
                <a:cs typeface="Arial" pitchFamily="34" charset="0"/>
                <a:sym typeface="Symbol" panose="05050102010706020507" pitchFamily="18" charset="2"/>
              </a:rPr>
              <a:t>T</a:t>
            </a:r>
            <a:r>
              <a:rPr lang="vi-VN" sz="11200" baseline="-25000" dirty="0" smtClean="0">
                <a:solidFill>
                  <a:srgbClr val="008000"/>
                </a:solidFill>
                <a:latin typeface="Arial" pitchFamily="34" charset="0"/>
                <a:cs typeface="Arial" pitchFamily="34" charset="0"/>
                <a:sym typeface="Symbol" panose="05050102010706020507" pitchFamily="18" charset="2"/>
              </a:rPr>
              <a:t>s </a:t>
            </a:r>
            <a:r>
              <a:rPr lang="vi-VN" sz="11200" dirty="0" smtClean="0">
                <a:solidFill>
                  <a:srgbClr val="008000"/>
                </a:solidFill>
                <a:latin typeface="Arial" pitchFamily="34" charset="0"/>
                <a:cs typeface="Arial" pitchFamily="34" charset="0"/>
                <a:sym typeface="Symbol" panose="05050102010706020507" pitchFamily="18" charset="2"/>
              </a:rPr>
              <a:t>,T</a:t>
            </a:r>
            <a:r>
              <a:rPr lang="vi-VN" sz="11200" baseline="-25000" dirty="0" smtClean="0">
                <a:solidFill>
                  <a:srgbClr val="008000"/>
                </a:solidFill>
                <a:latin typeface="Arial" pitchFamily="34" charset="0"/>
                <a:cs typeface="Arial" pitchFamily="34" charset="0"/>
                <a:sym typeface="Symbol" panose="05050102010706020507" pitchFamily="18" charset="2"/>
              </a:rPr>
              <a:t>đ </a:t>
            </a:r>
            <a:r>
              <a:rPr lang="vi-VN" sz="11200" dirty="0" smtClean="0">
                <a:solidFill>
                  <a:srgbClr val="008000"/>
                </a:solidFill>
                <a:latin typeface="Arial" pitchFamily="34" charset="0"/>
                <a:cs typeface="Arial" pitchFamily="34" charset="0"/>
                <a:sym typeface="Symbol" panose="05050102010706020507" pitchFamily="18" charset="2"/>
              </a:rPr>
              <a:t>,</a:t>
            </a:r>
            <a:r>
              <a:rPr lang="vi-VN" sz="11200" dirty="0">
                <a:solidFill>
                  <a:srgbClr val="008000"/>
                </a:solidFill>
                <a:latin typeface="Arial" pitchFamily="34" charset="0"/>
                <a:cs typeface="Arial" pitchFamily="34" charset="0"/>
                <a:sym typeface="Symbol" panose="05050102010706020507" pitchFamily="18" charset="2"/>
              </a:rPr>
              <a:t>) </a:t>
            </a:r>
            <a:r>
              <a:rPr lang="vi-VN" sz="11200" u="sng" dirty="0">
                <a:solidFill>
                  <a:srgbClr val="008000"/>
                </a:solidFill>
                <a:latin typeface="Arial" pitchFamily="34" charset="0"/>
                <a:cs typeface="Arial" pitchFamily="34" charset="0"/>
                <a:sym typeface="Symbol" panose="05050102010706020507" pitchFamily="18" charset="2"/>
              </a:rPr>
              <a:t>không phụ thuộc</a:t>
            </a:r>
            <a:r>
              <a:rPr lang="vi-VN" sz="11200" dirty="0">
                <a:solidFill>
                  <a:srgbClr val="008000"/>
                </a:solidFill>
                <a:latin typeface="Arial" pitchFamily="34" charset="0"/>
                <a:cs typeface="Arial" pitchFamily="34" charset="0"/>
                <a:sym typeface="Symbol" panose="05050102010706020507" pitchFamily="18" charset="2"/>
              </a:rPr>
              <a:t> </a:t>
            </a:r>
            <a:r>
              <a:rPr lang="vi-VN" sz="11200" u="sng" dirty="0">
                <a:solidFill>
                  <a:srgbClr val="008000"/>
                </a:solidFill>
                <a:latin typeface="Arial" pitchFamily="34" charset="0"/>
                <a:cs typeface="Arial" pitchFamily="34" charset="0"/>
                <a:sym typeface="Symbol" panose="05050102010706020507" pitchFamily="18" charset="2"/>
              </a:rPr>
              <a:t>vào bản chất của chất tan </a:t>
            </a:r>
            <a:r>
              <a:rPr lang="vi-VN" sz="11200" dirty="0">
                <a:solidFill>
                  <a:srgbClr val="008000"/>
                </a:solidFill>
                <a:latin typeface="Arial" pitchFamily="34" charset="0"/>
                <a:cs typeface="Arial" pitchFamily="34" charset="0"/>
                <a:sym typeface="Symbol" panose="05050102010706020507" pitchFamily="18" charset="2"/>
              </a:rPr>
              <a:t>mà chỉ </a:t>
            </a:r>
            <a:r>
              <a:rPr lang="vi-VN" sz="11200" u="sng" dirty="0">
                <a:solidFill>
                  <a:srgbClr val="008000"/>
                </a:solidFill>
                <a:latin typeface="Arial" pitchFamily="34" charset="0"/>
                <a:cs typeface="Arial" pitchFamily="34" charset="0"/>
                <a:sym typeface="Symbol" panose="05050102010706020507" pitchFamily="18" charset="2"/>
              </a:rPr>
              <a:t>phụ thuộc vào nồng độ của chất tan</a:t>
            </a:r>
            <a:r>
              <a:rPr lang="vi-VN" sz="11200" dirty="0">
                <a:solidFill>
                  <a:srgbClr val="008000"/>
                </a:solidFill>
                <a:latin typeface="Arial" pitchFamily="34" charset="0"/>
                <a:cs typeface="Arial" pitchFamily="34" charset="0"/>
                <a:sym typeface="Symbol" panose="05050102010706020507" pitchFamily="18" charset="2"/>
              </a:rPr>
              <a:t>.</a:t>
            </a:r>
          </a:p>
          <a:p>
            <a:pPr marL="0" indent="0">
              <a:lnSpc>
                <a:spcPct val="120000"/>
              </a:lnSpc>
              <a:buNone/>
            </a:pPr>
            <a:r>
              <a:rPr lang="en-US" sz="11200" dirty="0" smtClean="0">
                <a:solidFill>
                  <a:srgbClr val="9933FF"/>
                </a:solidFill>
                <a:latin typeface="Arial" pitchFamily="34" charset="0"/>
                <a:cs typeface="Arial" pitchFamily="34" charset="0"/>
                <a:sym typeface="Symbol" panose="05050102010706020507" pitchFamily="18" charset="2"/>
              </a:rPr>
              <a:t>5. </a:t>
            </a:r>
            <a:r>
              <a:rPr lang="vi-VN" sz="11200" dirty="0" smtClean="0">
                <a:solidFill>
                  <a:srgbClr val="9933FF"/>
                </a:solidFill>
                <a:latin typeface="Arial" pitchFamily="34" charset="0"/>
                <a:cs typeface="Arial" pitchFamily="34" charset="0"/>
                <a:sym typeface="Symbol" panose="05050102010706020507" pitchFamily="18" charset="2"/>
              </a:rPr>
              <a:t>Nhiệt </a:t>
            </a:r>
            <a:r>
              <a:rPr lang="vi-VN" sz="11200" dirty="0">
                <a:solidFill>
                  <a:srgbClr val="9933FF"/>
                </a:solidFill>
                <a:latin typeface="Arial" pitchFamily="34" charset="0"/>
                <a:cs typeface="Arial" pitchFamily="34" charset="0"/>
                <a:sym typeface="Symbol" panose="05050102010706020507" pitchFamily="18" charset="2"/>
              </a:rPr>
              <a:t>độ sôi tăng dần trong quá trình sôi và nhiệt độ đông đặc giảm dần trong qu</a:t>
            </a:r>
            <a:r>
              <a:rPr lang="en-US" sz="11200" dirty="0">
                <a:solidFill>
                  <a:srgbClr val="9933FF"/>
                </a:solidFill>
                <a:latin typeface="Arial" pitchFamily="34" charset="0"/>
                <a:cs typeface="Arial" pitchFamily="34" charset="0"/>
                <a:sym typeface="Symbol" panose="05050102010706020507" pitchFamily="18" charset="2"/>
              </a:rPr>
              <a:t>á</a:t>
            </a:r>
            <a:r>
              <a:rPr lang="vi-VN" sz="11200" dirty="0">
                <a:solidFill>
                  <a:srgbClr val="9933FF"/>
                </a:solidFill>
                <a:latin typeface="Arial" pitchFamily="34" charset="0"/>
                <a:cs typeface="Arial" pitchFamily="34" charset="0"/>
                <a:sym typeface="Symbol" panose="05050102010706020507" pitchFamily="18" charset="2"/>
              </a:rPr>
              <a:t> trình đông </a:t>
            </a:r>
            <a:r>
              <a:rPr lang="vi-VN" sz="11200" dirty="0" smtClean="0">
                <a:solidFill>
                  <a:srgbClr val="9933FF"/>
                </a:solidFill>
                <a:latin typeface="Arial" pitchFamily="34" charset="0"/>
                <a:cs typeface="Arial" pitchFamily="34" charset="0"/>
                <a:sym typeface="Symbol" panose="05050102010706020507" pitchFamily="18" charset="2"/>
              </a:rPr>
              <a:t>đặc</a:t>
            </a:r>
            <a:r>
              <a:rPr lang="en-US" sz="11200" dirty="0" smtClean="0">
                <a:solidFill>
                  <a:srgbClr val="9933FF"/>
                </a:solidFill>
                <a:latin typeface="Arial" pitchFamily="34" charset="0"/>
                <a:cs typeface="Arial" pitchFamily="34" charset="0"/>
                <a:sym typeface="Symbol" panose="05050102010706020507" pitchFamily="18" charset="2"/>
              </a:rPr>
              <a:t> (</a:t>
            </a:r>
            <a:r>
              <a:rPr lang="en-US" sz="11200" dirty="0" err="1" smtClean="0">
                <a:solidFill>
                  <a:srgbClr val="9933FF"/>
                </a:solidFill>
                <a:latin typeface="Arial" pitchFamily="34" charset="0"/>
                <a:cs typeface="Arial" pitchFamily="34" charset="0"/>
                <a:sym typeface="Symbol" panose="05050102010706020507" pitchFamily="18" charset="2"/>
              </a:rPr>
              <a:t>chất</a:t>
            </a:r>
            <a:r>
              <a:rPr lang="en-US" sz="11200" dirty="0" smtClean="0">
                <a:solidFill>
                  <a:srgbClr val="9933FF"/>
                </a:solidFill>
                <a:latin typeface="Arial" pitchFamily="34" charset="0"/>
                <a:cs typeface="Arial" pitchFamily="34" charset="0"/>
                <a:sym typeface="Symbol" panose="05050102010706020507" pitchFamily="18" charset="2"/>
              </a:rPr>
              <a:t> tan </a:t>
            </a:r>
            <a:r>
              <a:rPr lang="en-US" sz="11200" dirty="0" err="1" smtClean="0">
                <a:solidFill>
                  <a:srgbClr val="9933FF"/>
                </a:solidFill>
                <a:latin typeface="Arial" pitchFamily="34" charset="0"/>
                <a:cs typeface="Arial" pitchFamily="34" charset="0"/>
                <a:sym typeface="Symbol" panose="05050102010706020507" pitchFamily="18" charset="2"/>
              </a:rPr>
              <a:t>không</a:t>
            </a:r>
            <a:r>
              <a:rPr lang="en-US" sz="11200" dirty="0" smtClean="0">
                <a:solidFill>
                  <a:srgbClr val="9933FF"/>
                </a:solidFill>
                <a:latin typeface="Arial" pitchFamily="34" charset="0"/>
                <a:cs typeface="Arial" pitchFamily="34" charset="0"/>
                <a:sym typeface="Symbol" panose="05050102010706020507" pitchFamily="18" charset="2"/>
              </a:rPr>
              <a:t> </a:t>
            </a:r>
            <a:r>
              <a:rPr lang="en-US" sz="11200" dirty="0" err="1" smtClean="0">
                <a:solidFill>
                  <a:srgbClr val="9933FF"/>
                </a:solidFill>
                <a:latin typeface="Arial" pitchFamily="34" charset="0"/>
                <a:cs typeface="Arial" pitchFamily="34" charset="0"/>
                <a:sym typeface="Symbol" panose="05050102010706020507" pitchFamily="18" charset="2"/>
              </a:rPr>
              <a:t>tạo</a:t>
            </a:r>
            <a:r>
              <a:rPr lang="en-US" sz="11200" dirty="0" smtClean="0">
                <a:solidFill>
                  <a:srgbClr val="9933FF"/>
                </a:solidFill>
                <a:latin typeface="Arial" pitchFamily="34" charset="0"/>
                <a:cs typeface="Arial" pitchFamily="34" charset="0"/>
                <a:sym typeface="Symbol" panose="05050102010706020507" pitchFamily="18" charset="2"/>
              </a:rPr>
              <a:t> </a:t>
            </a:r>
            <a:r>
              <a:rPr lang="en-US" sz="11200" dirty="0" err="1" smtClean="0">
                <a:solidFill>
                  <a:srgbClr val="9933FF"/>
                </a:solidFill>
                <a:latin typeface="Arial" pitchFamily="34" charset="0"/>
                <a:cs typeface="Arial" pitchFamily="34" charset="0"/>
                <a:sym typeface="Symbol" panose="05050102010706020507" pitchFamily="18" charset="2"/>
              </a:rPr>
              <a:t>dd</a:t>
            </a:r>
            <a:r>
              <a:rPr lang="en-US" sz="11200" dirty="0" smtClean="0">
                <a:solidFill>
                  <a:srgbClr val="9933FF"/>
                </a:solidFill>
                <a:latin typeface="Arial" pitchFamily="34" charset="0"/>
                <a:cs typeface="Arial" pitchFamily="34" charset="0"/>
                <a:sym typeface="Symbol" panose="05050102010706020507" pitchFamily="18" charset="2"/>
              </a:rPr>
              <a:t> </a:t>
            </a:r>
            <a:r>
              <a:rPr lang="en-US" sz="11200" dirty="0" err="1" smtClean="0">
                <a:solidFill>
                  <a:srgbClr val="9933FF"/>
                </a:solidFill>
                <a:latin typeface="Arial" pitchFamily="34" charset="0"/>
                <a:cs typeface="Arial" pitchFamily="34" charset="0"/>
                <a:sym typeface="Symbol" panose="05050102010706020507" pitchFamily="18" charset="2"/>
              </a:rPr>
              <a:t>rắn</a:t>
            </a:r>
            <a:r>
              <a:rPr lang="en-US" sz="11200" dirty="0" smtClean="0">
                <a:solidFill>
                  <a:srgbClr val="9933FF"/>
                </a:solidFill>
                <a:latin typeface="Arial" pitchFamily="34" charset="0"/>
                <a:cs typeface="Arial" pitchFamily="34" charset="0"/>
                <a:sym typeface="Symbol" panose="05050102010706020507" pitchFamily="18" charset="2"/>
              </a:rPr>
              <a:t> </a:t>
            </a:r>
            <a:r>
              <a:rPr lang="en-US" sz="11200" dirty="0" err="1" smtClean="0">
                <a:solidFill>
                  <a:srgbClr val="9933FF"/>
                </a:solidFill>
                <a:latin typeface="Arial" pitchFamily="34" charset="0"/>
                <a:cs typeface="Arial" pitchFamily="34" charset="0"/>
                <a:sym typeface="Symbol" panose="05050102010706020507" pitchFamily="18" charset="2"/>
              </a:rPr>
              <a:t>với</a:t>
            </a:r>
            <a:r>
              <a:rPr lang="en-US" sz="11200" dirty="0" smtClean="0">
                <a:solidFill>
                  <a:srgbClr val="9933FF"/>
                </a:solidFill>
                <a:latin typeface="Arial" pitchFamily="34" charset="0"/>
                <a:cs typeface="Arial" pitchFamily="34" charset="0"/>
                <a:sym typeface="Symbol" panose="05050102010706020507" pitchFamily="18" charset="2"/>
              </a:rPr>
              <a:t> dung </a:t>
            </a:r>
            <a:r>
              <a:rPr lang="en-US" sz="11200" dirty="0" err="1" smtClean="0">
                <a:solidFill>
                  <a:srgbClr val="9933FF"/>
                </a:solidFill>
                <a:latin typeface="Arial" pitchFamily="34" charset="0"/>
                <a:cs typeface="Arial" pitchFamily="34" charset="0"/>
                <a:sym typeface="Symbol" panose="05050102010706020507" pitchFamily="18" charset="2"/>
              </a:rPr>
              <a:t>môi</a:t>
            </a:r>
            <a:r>
              <a:rPr lang="vi-VN" sz="11200" dirty="0" smtClean="0">
                <a:solidFill>
                  <a:srgbClr val="9933FF"/>
                </a:solidFill>
                <a:latin typeface="Arial" pitchFamily="34" charset="0"/>
                <a:cs typeface="Arial" pitchFamily="34" charset="0"/>
                <a:sym typeface="Symbol" panose="05050102010706020507" pitchFamily="18" charset="2"/>
              </a:rPr>
              <a:t>).</a:t>
            </a:r>
            <a:r>
              <a:rPr lang="en-US" sz="11200" dirty="0" smtClean="0">
                <a:solidFill>
                  <a:srgbClr val="9933FF"/>
                </a:solidFill>
                <a:latin typeface="Arial" pitchFamily="34" charset="0"/>
                <a:cs typeface="Arial" pitchFamily="34" charset="0"/>
                <a:sym typeface="Symbol" panose="05050102010706020507" pitchFamily="18" charset="2"/>
              </a:rPr>
              <a:t> </a:t>
            </a:r>
            <a:endParaRPr lang="vi-VN" sz="11200" dirty="0">
              <a:solidFill>
                <a:srgbClr val="9933FF"/>
              </a:solidFill>
              <a:latin typeface="Arial" pitchFamily="34" charset="0"/>
              <a:cs typeface="Arial" pitchFamily="34" charset="0"/>
            </a:endParaRPr>
          </a:p>
          <a:p>
            <a:pPr marL="514350" indent="-514350">
              <a:buAutoNum type="arabicPeriod"/>
            </a:pP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1FB4AB2A-629C-4E67-9126-BD209D48A6B0}"/>
              </a:ext>
            </a:extLst>
          </p:cNvPr>
          <p:cNvSpPr txBox="1"/>
          <p:nvPr/>
        </p:nvSpPr>
        <p:spPr>
          <a:xfrm>
            <a:off x="3949464" y="505107"/>
            <a:ext cx="3546302" cy="523220"/>
          </a:xfrm>
          <a:prstGeom prst="rect">
            <a:avLst/>
          </a:prstGeom>
          <a:noFill/>
        </p:spPr>
        <p:txBody>
          <a:bodyPr wrap="square" rtlCol="0">
            <a:spAutoFit/>
          </a:bodyPr>
          <a:lstStyle/>
          <a:p>
            <a:r>
              <a:rPr lang="vi-VN" sz="28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28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28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Tree>
    <p:extLst>
      <p:ext uri="{BB962C8B-B14F-4D97-AF65-F5344CB8AC3E}">
        <p14:creationId xmlns:p14="http://schemas.microsoft.com/office/powerpoint/2010/main" val="245408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72234"/>
            <a:ext cx="11996690" cy="1026251"/>
          </a:xfrm>
        </p:spPr>
        <p:txBody>
          <a:bodyPr>
            <a:normAutofit fontScale="92500"/>
          </a:bodyPr>
          <a:lstStyle/>
          <a:p>
            <a:pPr marL="0" indent="0">
              <a:lnSpc>
                <a:spcPct val="150000"/>
              </a:lnSpc>
              <a:buNone/>
            </a:pPr>
            <a:r>
              <a:rPr lang="en-US" sz="3200" dirty="0" err="1" smtClean="0">
                <a:latin typeface="Arial" pitchFamily="34" charset="0"/>
                <a:cs typeface="Arial" pitchFamily="34" charset="0"/>
              </a:rPr>
              <a:t>Câu</a:t>
            </a:r>
            <a:r>
              <a:rPr lang="en-US" sz="3200" dirty="0" smtClean="0">
                <a:latin typeface="Arial" pitchFamily="34" charset="0"/>
                <a:cs typeface="Arial" pitchFamily="34" charset="0"/>
              </a:rPr>
              <a:t> 16. </a:t>
            </a:r>
            <a:r>
              <a:rPr lang="en-US" sz="3200" dirty="0" err="1" smtClean="0">
                <a:latin typeface="Arial" pitchFamily="34" charset="0"/>
                <a:cs typeface="Arial" pitchFamily="34" charset="0"/>
              </a:rPr>
              <a:t>Chọn</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câu</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đúng</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Nhiệt</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độ</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sôi</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của</a:t>
            </a:r>
            <a:r>
              <a:rPr lang="en-US" sz="3200" dirty="0" smtClean="0">
                <a:latin typeface="Arial" pitchFamily="34" charset="0"/>
                <a:cs typeface="Arial" pitchFamily="34" charset="0"/>
              </a:rPr>
              <a:t> dung </a:t>
            </a:r>
            <a:r>
              <a:rPr lang="en-US" sz="3200" dirty="0" err="1" smtClean="0">
                <a:latin typeface="Arial" pitchFamily="34" charset="0"/>
                <a:cs typeface="Arial" pitchFamily="34" charset="0"/>
              </a:rPr>
              <a:t>dịch</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phụ</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thuộc</a:t>
            </a:r>
            <a:r>
              <a:rPr lang="en-US" sz="3200" dirty="0" smtClean="0">
                <a:latin typeface="Arial" pitchFamily="34" charset="0"/>
                <a:cs typeface="Arial" pitchFamily="34" charset="0"/>
              </a:rPr>
              <a:t> </a:t>
            </a:r>
            <a:r>
              <a:rPr lang="en-US" sz="3200" dirty="0" err="1" smtClean="0">
                <a:latin typeface="Arial" pitchFamily="34" charset="0"/>
                <a:cs typeface="Arial" pitchFamily="34" charset="0"/>
              </a:rPr>
              <a:t>vào</a:t>
            </a:r>
            <a:r>
              <a:rPr lang="en-US" sz="3200" dirty="0" smtClean="0">
                <a:latin typeface="Arial" pitchFamily="34" charset="0"/>
                <a:cs typeface="Arial" pitchFamily="34" charset="0"/>
              </a:rPr>
              <a:t>:</a:t>
            </a:r>
          </a:p>
          <a:p>
            <a:pPr marL="514350" indent="-514350">
              <a:lnSpc>
                <a:spcPct val="150000"/>
              </a:lnSpc>
              <a:buAutoNum type="arabicPeriod"/>
            </a:pPr>
            <a:endParaRPr lang="en-US" dirty="0">
              <a:solidFill>
                <a:schemeClr val="accent6">
                  <a:lumMod val="50000"/>
                </a:schemeClr>
              </a:solidFill>
            </a:endParaRPr>
          </a:p>
        </p:txBody>
      </p:sp>
      <p:sp>
        <p:nvSpPr>
          <p:cNvPr id="4" name="TextBox 3"/>
          <p:cNvSpPr txBox="1"/>
          <p:nvPr/>
        </p:nvSpPr>
        <p:spPr>
          <a:xfrm>
            <a:off x="2370337" y="2396739"/>
            <a:ext cx="9436965" cy="2677656"/>
          </a:xfrm>
          <a:prstGeom prst="rect">
            <a:avLst/>
          </a:prstGeom>
          <a:noFill/>
        </p:spPr>
        <p:txBody>
          <a:bodyPr wrap="square" rtlCol="0">
            <a:spAutoFit/>
          </a:bodyPr>
          <a:lstStyle/>
          <a:p>
            <a:pPr>
              <a:lnSpc>
                <a:spcPct val="150000"/>
              </a:lnSpc>
            </a:pPr>
            <a:r>
              <a:rPr lang="en-US" sz="2800" dirty="0" err="1" smtClean="0">
                <a:solidFill>
                  <a:srgbClr val="0099FF"/>
                </a:solidFill>
                <a:latin typeface="Arial" pitchFamily="34" charset="0"/>
                <a:cs typeface="Arial" pitchFamily="34" charset="0"/>
                <a:sym typeface="Symbol"/>
              </a:rPr>
              <a:t>Nhiệt</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độ</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sôi</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của</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dd</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lỏng</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loãng</a:t>
            </a:r>
            <a:r>
              <a:rPr lang="en-US" sz="2800" dirty="0" smtClean="0">
                <a:solidFill>
                  <a:srgbClr val="0099FF"/>
                </a:solidFill>
                <a:latin typeface="Arial" pitchFamily="34" charset="0"/>
                <a:cs typeface="Arial" pitchFamily="34" charset="0"/>
                <a:sym typeface="Symbol"/>
              </a:rPr>
              <a:t>, </a:t>
            </a:r>
            <a:r>
              <a:rPr lang="en-US" sz="2800" dirty="0" err="1" smtClean="0">
                <a:solidFill>
                  <a:srgbClr val="0099FF"/>
                </a:solidFill>
                <a:latin typeface="Arial" pitchFamily="34" charset="0"/>
                <a:cs typeface="Arial" pitchFamily="34" charset="0"/>
                <a:sym typeface="Symbol"/>
              </a:rPr>
              <a:t>chất</a:t>
            </a:r>
            <a:r>
              <a:rPr lang="en-US" sz="2800" dirty="0" smtClean="0">
                <a:solidFill>
                  <a:srgbClr val="0099FF"/>
                </a:solidFill>
                <a:latin typeface="Arial" pitchFamily="34" charset="0"/>
                <a:cs typeface="Arial" pitchFamily="34" charset="0"/>
                <a:sym typeface="Symbol"/>
              </a:rPr>
              <a:t> tan </a:t>
            </a:r>
            <a:r>
              <a:rPr lang="en-US" sz="2800" dirty="0" err="1" smtClean="0">
                <a:solidFill>
                  <a:srgbClr val="0099FF"/>
                </a:solidFill>
                <a:latin typeface="Arial" pitchFamily="34" charset="0"/>
                <a:cs typeface="Arial" pitchFamily="34" charset="0"/>
                <a:sym typeface="Symbol"/>
              </a:rPr>
              <a:t>không</a:t>
            </a:r>
            <a:r>
              <a:rPr lang="en-US" sz="2800" dirty="0" smtClean="0">
                <a:solidFill>
                  <a:srgbClr val="0099FF"/>
                </a:solidFill>
                <a:latin typeface="Arial" pitchFamily="34" charset="0"/>
                <a:cs typeface="Arial" pitchFamily="34" charset="0"/>
                <a:sym typeface="Symbol"/>
              </a:rPr>
              <a:t> bay </a:t>
            </a:r>
            <a:r>
              <a:rPr lang="en-US" sz="2800" dirty="0" err="1" smtClean="0">
                <a:solidFill>
                  <a:srgbClr val="0099FF"/>
                </a:solidFill>
                <a:latin typeface="Arial" pitchFamily="34" charset="0"/>
                <a:cs typeface="Arial" pitchFamily="34" charset="0"/>
                <a:sym typeface="Symbol"/>
              </a:rPr>
              <a:t>hơi</a:t>
            </a:r>
            <a:r>
              <a:rPr lang="en-US" sz="2800" dirty="0" smtClean="0">
                <a:solidFill>
                  <a:srgbClr val="0099FF"/>
                </a:solidFill>
                <a:latin typeface="Arial" pitchFamily="34" charset="0"/>
                <a:cs typeface="Arial" pitchFamily="34" charset="0"/>
                <a:sym typeface="Symbol"/>
              </a:rPr>
              <a:t>: </a:t>
            </a:r>
            <a:r>
              <a:rPr lang="en-US" sz="2800" dirty="0" smtClean="0">
                <a:solidFill>
                  <a:srgbClr val="FF0000"/>
                </a:solidFill>
                <a:latin typeface="Arial" pitchFamily="34" charset="0"/>
                <a:cs typeface="Arial" pitchFamily="34" charset="0"/>
                <a:sym typeface="Symbol"/>
              </a:rPr>
              <a:t></a:t>
            </a:r>
            <a:r>
              <a:rPr lang="en-US" sz="2800" dirty="0" err="1" smtClean="0">
                <a:solidFill>
                  <a:srgbClr val="FF0000"/>
                </a:solidFill>
                <a:latin typeface="Arial" pitchFamily="34" charset="0"/>
                <a:cs typeface="Arial" pitchFamily="34" charset="0"/>
                <a:sym typeface="Symbol"/>
              </a:rPr>
              <a:t>T</a:t>
            </a:r>
            <a:r>
              <a:rPr lang="en-US" sz="2800" baseline="-25000" dirty="0" err="1" smtClean="0">
                <a:solidFill>
                  <a:srgbClr val="FF0000"/>
                </a:solidFill>
                <a:latin typeface="Arial" pitchFamily="34" charset="0"/>
                <a:cs typeface="Arial" pitchFamily="34" charset="0"/>
                <a:sym typeface="Symbol"/>
              </a:rPr>
              <a:t>sôi</a:t>
            </a:r>
            <a:r>
              <a:rPr lang="en-US" sz="2800" dirty="0" smtClean="0">
                <a:solidFill>
                  <a:srgbClr val="FF0000"/>
                </a:solidFill>
                <a:latin typeface="Arial" pitchFamily="34" charset="0"/>
                <a:cs typeface="Arial" pitchFamily="34" charset="0"/>
                <a:sym typeface="Symbol"/>
              </a:rPr>
              <a:t> =  (</a:t>
            </a:r>
            <a:r>
              <a:rPr lang="en-US" sz="2800" dirty="0" err="1" smtClean="0">
                <a:solidFill>
                  <a:srgbClr val="FF0000"/>
                </a:solidFill>
                <a:latin typeface="Arial" pitchFamily="34" charset="0"/>
                <a:cs typeface="Arial" pitchFamily="34" charset="0"/>
                <a:sym typeface="Symbol"/>
              </a:rPr>
              <a:t>T</a:t>
            </a:r>
            <a:r>
              <a:rPr lang="en-US" sz="2800" baseline="-25000" dirty="0" err="1" smtClean="0">
                <a:solidFill>
                  <a:srgbClr val="FF0000"/>
                </a:solidFill>
                <a:latin typeface="Arial" pitchFamily="34" charset="0"/>
                <a:cs typeface="Arial" pitchFamily="34" charset="0"/>
                <a:sym typeface="Symbol"/>
              </a:rPr>
              <a:t>sôi</a:t>
            </a:r>
            <a:r>
              <a:rPr lang="en-US" sz="2800" dirty="0" smtClean="0">
                <a:solidFill>
                  <a:srgbClr val="FF0000"/>
                </a:solidFill>
                <a:latin typeface="Arial" pitchFamily="34" charset="0"/>
                <a:cs typeface="Arial" pitchFamily="34" charset="0"/>
                <a:sym typeface="Symbol"/>
              </a:rPr>
              <a:t>)</a:t>
            </a:r>
            <a:r>
              <a:rPr lang="en-US" sz="2800" baseline="-25000" dirty="0" err="1" smtClean="0">
                <a:solidFill>
                  <a:srgbClr val="FF0000"/>
                </a:solidFill>
                <a:latin typeface="Arial" pitchFamily="34" charset="0"/>
                <a:cs typeface="Arial" pitchFamily="34" charset="0"/>
                <a:sym typeface="Symbol"/>
              </a:rPr>
              <a:t>dd</a:t>
            </a:r>
            <a:r>
              <a:rPr lang="en-US" sz="2800" dirty="0" smtClean="0">
                <a:solidFill>
                  <a:srgbClr val="FF0000"/>
                </a:solidFill>
                <a:latin typeface="Arial" pitchFamily="34" charset="0"/>
                <a:cs typeface="Arial" pitchFamily="34" charset="0"/>
                <a:sym typeface="Symbol"/>
              </a:rPr>
              <a:t>  - (</a:t>
            </a:r>
            <a:r>
              <a:rPr lang="en-US" sz="2800" dirty="0" err="1" smtClean="0">
                <a:solidFill>
                  <a:srgbClr val="FF0000"/>
                </a:solidFill>
                <a:latin typeface="Arial" pitchFamily="34" charset="0"/>
                <a:cs typeface="Arial" pitchFamily="34" charset="0"/>
                <a:sym typeface="Symbol"/>
              </a:rPr>
              <a:t>T</a:t>
            </a:r>
            <a:r>
              <a:rPr lang="en-US" sz="2800" baseline="-25000" dirty="0" err="1" smtClean="0">
                <a:solidFill>
                  <a:srgbClr val="FF0000"/>
                </a:solidFill>
                <a:latin typeface="Arial" pitchFamily="34" charset="0"/>
                <a:cs typeface="Arial" pitchFamily="34" charset="0"/>
                <a:sym typeface="Symbol"/>
              </a:rPr>
              <a:t>sôi</a:t>
            </a:r>
            <a:r>
              <a:rPr lang="en-US" sz="2800" dirty="0" smtClean="0">
                <a:solidFill>
                  <a:srgbClr val="FF0000"/>
                </a:solidFill>
                <a:latin typeface="Arial" pitchFamily="34" charset="0"/>
                <a:cs typeface="Arial" pitchFamily="34" charset="0"/>
                <a:sym typeface="Symbol"/>
              </a:rPr>
              <a:t>)</a:t>
            </a:r>
            <a:r>
              <a:rPr lang="en-US" sz="2800" baseline="-25000" dirty="0" smtClean="0">
                <a:solidFill>
                  <a:srgbClr val="FF0000"/>
                </a:solidFill>
                <a:latin typeface="Arial" pitchFamily="34" charset="0"/>
                <a:cs typeface="Arial" pitchFamily="34" charset="0"/>
                <a:sym typeface="Symbol"/>
              </a:rPr>
              <a:t>dung</a:t>
            </a:r>
            <a:r>
              <a:rPr lang="en-US" sz="2800" dirty="0" smtClean="0">
                <a:solidFill>
                  <a:srgbClr val="FF0000"/>
                </a:solidFill>
                <a:latin typeface="Arial" pitchFamily="34" charset="0"/>
                <a:cs typeface="Arial" pitchFamily="34" charset="0"/>
                <a:sym typeface="Symbol"/>
              </a:rPr>
              <a:t> </a:t>
            </a:r>
            <a:r>
              <a:rPr lang="en-US" sz="2800" baseline="-25000" dirty="0" err="1" smtClean="0">
                <a:solidFill>
                  <a:srgbClr val="FF0000"/>
                </a:solidFill>
                <a:latin typeface="Arial" pitchFamily="34" charset="0"/>
                <a:cs typeface="Arial" pitchFamily="34" charset="0"/>
                <a:sym typeface="Symbol"/>
              </a:rPr>
              <a:t>môi</a:t>
            </a:r>
            <a:r>
              <a:rPr lang="en-US" sz="2800" dirty="0" smtClean="0">
                <a:solidFill>
                  <a:srgbClr val="FF0000"/>
                </a:solidFill>
                <a:latin typeface="Arial" pitchFamily="34" charset="0"/>
                <a:cs typeface="Arial" pitchFamily="34" charset="0"/>
                <a:sym typeface="Symbol"/>
              </a:rPr>
              <a:t> =   </a:t>
            </a:r>
            <a:r>
              <a:rPr lang="en-US" sz="2800" dirty="0" err="1" smtClean="0">
                <a:solidFill>
                  <a:srgbClr val="FF0000"/>
                </a:solidFill>
                <a:latin typeface="Arial" pitchFamily="34" charset="0"/>
                <a:cs typeface="Arial" pitchFamily="34" charset="0"/>
                <a:sym typeface="Symbol"/>
              </a:rPr>
              <a:t>i.k</a:t>
            </a:r>
            <a:r>
              <a:rPr lang="en-US" sz="2800" baseline="-25000" dirty="0" err="1" smtClean="0">
                <a:solidFill>
                  <a:srgbClr val="FF0000"/>
                </a:solidFill>
                <a:latin typeface="Arial" pitchFamily="34" charset="0"/>
                <a:cs typeface="Arial" pitchFamily="34" charset="0"/>
                <a:sym typeface="Symbol"/>
              </a:rPr>
              <a:t>s</a:t>
            </a:r>
            <a:r>
              <a:rPr lang="en-US" sz="2800" dirty="0" err="1" smtClean="0">
                <a:solidFill>
                  <a:srgbClr val="FF0000"/>
                </a:solidFill>
                <a:latin typeface="Arial" pitchFamily="34" charset="0"/>
                <a:cs typeface="Arial" pitchFamily="34" charset="0"/>
                <a:sym typeface="Symbol"/>
              </a:rPr>
              <a:t>.C</a:t>
            </a:r>
            <a:r>
              <a:rPr lang="en-US" sz="2800" baseline="-25000" dirty="0" err="1" smtClean="0">
                <a:solidFill>
                  <a:srgbClr val="FF0000"/>
                </a:solidFill>
                <a:latin typeface="Arial" pitchFamily="34" charset="0"/>
                <a:cs typeface="Arial" pitchFamily="34" charset="0"/>
                <a:sym typeface="Symbol"/>
              </a:rPr>
              <a:t>m</a:t>
            </a:r>
            <a:r>
              <a:rPr lang="en-US" sz="2800" baseline="-25000" dirty="0" smtClean="0">
                <a:solidFill>
                  <a:srgbClr val="FF0000"/>
                </a:solidFill>
                <a:latin typeface="Arial" pitchFamily="34" charset="0"/>
                <a:cs typeface="Arial" pitchFamily="34" charset="0"/>
                <a:sym typeface="Symbol"/>
              </a:rPr>
              <a:t> </a:t>
            </a:r>
          </a:p>
          <a:p>
            <a:pPr>
              <a:lnSpc>
                <a:spcPct val="150000"/>
              </a:lnSpc>
            </a:pPr>
            <a:r>
              <a:rPr lang="en-US" sz="2800" dirty="0" smtClean="0">
                <a:solidFill>
                  <a:schemeClr val="accent4">
                    <a:lumMod val="50000"/>
                  </a:schemeClr>
                </a:solidFill>
                <a:latin typeface="Arial" pitchFamily="34" charset="0"/>
                <a:cs typeface="Arial" pitchFamily="34" charset="0"/>
                <a:sym typeface="Symbol"/>
              </a:rPr>
              <a:t>Dung </a:t>
            </a:r>
            <a:r>
              <a:rPr lang="en-US" sz="2800" dirty="0" err="1" smtClean="0">
                <a:solidFill>
                  <a:schemeClr val="accent4">
                    <a:lumMod val="50000"/>
                  </a:schemeClr>
                </a:solidFill>
                <a:latin typeface="Arial" pitchFamily="34" charset="0"/>
                <a:cs typeface="Arial" pitchFamily="34" charset="0"/>
                <a:sym typeface="Symbol"/>
              </a:rPr>
              <a:t>dịch</a:t>
            </a:r>
            <a:r>
              <a:rPr lang="en-US" sz="2800" dirty="0" smtClean="0">
                <a:solidFill>
                  <a:schemeClr val="accent4">
                    <a:lumMod val="50000"/>
                  </a:schemeClr>
                </a:solidFill>
                <a:latin typeface="Arial" pitchFamily="34" charset="0"/>
                <a:cs typeface="Arial" pitchFamily="34" charset="0"/>
                <a:sym typeface="Symbol"/>
              </a:rPr>
              <a:t> </a:t>
            </a:r>
            <a:r>
              <a:rPr lang="en-US" sz="2800" dirty="0" err="1" smtClean="0">
                <a:solidFill>
                  <a:schemeClr val="accent4">
                    <a:lumMod val="50000"/>
                  </a:schemeClr>
                </a:solidFill>
                <a:latin typeface="Arial" pitchFamily="34" charset="0"/>
                <a:cs typeface="Arial" pitchFamily="34" charset="0"/>
                <a:sym typeface="Symbol"/>
              </a:rPr>
              <a:t>phân</a:t>
            </a:r>
            <a:r>
              <a:rPr lang="en-US" sz="2800" dirty="0" smtClean="0">
                <a:solidFill>
                  <a:schemeClr val="accent4">
                    <a:lumMod val="50000"/>
                  </a:schemeClr>
                </a:solidFill>
                <a:latin typeface="Arial" pitchFamily="34" charset="0"/>
                <a:cs typeface="Arial" pitchFamily="34" charset="0"/>
                <a:sym typeface="Symbol"/>
              </a:rPr>
              <a:t> </a:t>
            </a:r>
            <a:r>
              <a:rPr lang="en-US" sz="2800" dirty="0" err="1" smtClean="0">
                <a:solidFill>
                  <a:schemeClr val="accent4">
                    <a:lumMod val="50000"/>
                  </a:schemeClr>
                </a:solidFill>
                <a:latin typeface="Arial" pitchFamily="34" charset="0"/>
                <a:cs typeface="Arial" pitchFamily="34" charset="0"/>
                <a:sym typeface="Symbol"/>
              </a:rPr>
              <a:t>tử</a:t>
            </a:r>
            <a:r>
              <a:rPr lang="en-US" sz="2800" dirty="0" smtClean="0">
                <a:solidFill>
                  <a:schemeClr val="accent4">
                    <a:lumMod val="50000"/>
                  </a:schemeClr>
                </a:solidFill>
                <a:latin typeface="Arial" pitchFamily="34" charset="0"/>
                <a:cs typeface="Arial" pitchFamily="34" charset="0"/>
                <a:sym typeface="Symbol"/>
              </a:rPr>
              <a:t>: i = 1</a:t>
            </a:r>
          </a:p>
          <a:p>
            <a:pPr>
              <a:lnSpc>
                <a:spcPct val="150000"/>
              </a:lnSpc>
            </a:pPr>
            <a:r>
              <a:rPr lang="en-US" sz="2800" dirty="0" smtClean="0">
                <a:latin typeface="Arial" pitchFamily="34" charset="0"/>
                <a:cs typeface="Arial" pitchFamily="34" charset="0"/>
                <a:sym typeface="Symbol"/>
              </a:rPr>
              <a:t>Dung </a:t>
            </a:r>
            <a:r>
              <a:rPr lang="en-US" sz="2800" dirty="0" err="1" smtClean="0">
                <a:latin typeface="Arial" pitchFamily="34" charset="0"/>
                <a:cs typeface="Arial" pitchFamily="34" charset="0"/>
                <a:sym typeface="Symbol"/>
              </a:rPr>
              <a:t>dịch</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điện</a:t>
            </a:r>
            <a:r>
              <a:rPr lang="en-US" sz="2800" dirty="0" smtClean="0">
                <a:latin typeface="Arial" pitchFamily="34" charset="0"/>
                <a:cs typeface="Arial" pitchFamily="34" charset="0"/>
                <a:sym typeface="Symbol"/>
              </a:rPr>
              <a:t> </a:t>
            </a:r>
            <a:r>
              <a:rPr lang="en-US" sz="2800" dirty="0" err="1" smtClean="0">
                <a:latin typeface="Arial" pitchFamily="34" charset="0"/>
                <a:cs typeface="Arial" pitchFamily="34" charset="0"/>
                <a:sym typeface="Symbol"/>
              </a:rPr>
              <a:t>ly</a:t>
            </a:r>
            <a:r>
              <a:rPr lang="en-US" sz="2800" dirty="0" smtClean="0">
                <a:latin typeface="Arial" pitchFamily="34" charset="0"/>
                <a:cs typeface="Arial" pitchFamily="34" charset="0"/>
                <a:sym typeface="Symbol"/>
              </a:rPr>
              <a:t>: 1  i  m</a:t>
            </a:r>
            <a:endParaRPr lang="en-US" sz="2800" dirty="0">
              <a:latin typeface="Arial" pitchFamily="34" charset="0"/>
              <a:cs typeface="Arial" pitchFamily="34" charset="0"/>
            </a:endParaRPr>
          </a:p>
        </p:txBody>
      </p:sp>
      <p:sp>
        <p:nvSpPr>
          <p:cNvPr id="5" name="TextBox 4">
            <a:extLst>
              <a:ext uri="{FF2B5EF4-FFF2-40B4-BE49-F238E27FC236}">
                <a16:creationId xmlns="" xmlns:a16="http://schemas.microsoft.com/office/drawing/2014/main" id="{E0F4472E-492D-464A-8790-1E51C1CFBB32}"/>
              </a:ext>
            </a:extLst>
          </p:cNvPr>
          <p:cNvSpPr txBox="1"/>
          <p:nvPr/>
        </p:nvSpPr>
        <p:spPr>
          <a:xfrm>
            <a:off x="7583476" y="993658"/>
            <a:ext cx="4608524"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
        <p:nvSpPr>
          <p:cNvPr id="6" name="TextBox 5"/>
          <p:cNvSpPr txBox="1"/>
          <p:nvPr/>
        </p:nvSpPr>
        <p:spPr>
          <a:xfrm>
            <a:off x="168675" y="5567659"/>
            <a:ext cx="11807301" cy="830997"/>
          </a:xfrm>
          <a:prstGeom prst="rect">
            <a:avLst/>
          </a:prstGeom>
          <a:noFill/>
        </p:spPr>
        <p:txBody>
          <a:bodyPr wrap="square" rtlCol="0">
            <a:spAutoFit/>
          </a:bodyPr>
          <a:lstStyle/>
          <a:p>
            <a:r>
              <a:rPr lang="en-US" sz="2400" dirty="0" err="1" smtClean="0">
                <a:solidFill>
                  <a:srgbClr val="3366FF"/>
                </a:solidFill>
                <a:latin typeface="Arial" pitchFamily="34" charset="0"/>
                <a:cs typeface="Arial" pitchFamily="34" charset="0"/>
              </a:rPr>
              <a:t>Nhiệt</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độ</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sôi</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của</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bất</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cứ</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pha</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lỏng</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cũng</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đều</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bắt</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đầu</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sôi</a:t>
            </a:r>
            <a:r>
              <a:rPr lang="en-US" sz="2400" dirty="0" smtClean="0">
                <a:solidFill>
                  <a:srgbClr val="3366FF"/>
                </a:solidFill>
                <a:latin typeface="Arial" pitchFamily="34" charset="0"/>
                <a:cs typeface="Arial" pitchFamily="34" charset="0"/>
              </a:rPr>
              <a:t> ở </a:t>
            </a:r>
            <a:r>
              <a:rPr lang="en-US" sz="2400" dirty="0" err="1" smtClean="0">
                <a:solidFill>
                  <a:srgbClr val="3366FF"/>
                </a:solidFill>
                <a:latin typeface="Arial" pitchFamily="34" charset="0"/>
                <a:cs typeface="Arial" pitchFamily="34" charset="0"/>
              </a:rPr>
              <a:t>nhiệt</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độ</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mà</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tại</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đó</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áp</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suất</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hơi</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bão</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hòa</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của</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nó</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bằng</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áp</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suất</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môi</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trường</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bên</a:t>
            </a:r>
            <a:r>
              <a:rPr lang="en-US" sz="2400" dirty="0" smtClean="0">
                <a:solidFill>
                  <a:srgbClr val="3366FF"/>
                </a:solidFill>
                <a:latin typeface="Arial" pitchFamily="34" charset="0"/>
                <a:cs typeface="Arial" pitchFamily="34" charset="0"/>
              </a:rPr>
              <a:t> </a:t>
            </a:r>
            <a:r>
              <a:rPr lang="en-US" sz="2400" dirty="0" err="1" smtClean="0">
                <a:solidFill>
                  <a:srgbClr val="3366FF"/>
                </a:solidFill>
                <a:latin typeface="Arial" pitchFamily="34" charset="0"/>
                <a:cs typeface="Arial" pitchFamily="34" charset="0"/>
              </a:rPr>
              <a:t>ngoài</a:t>
            </a:r>
            <a:r>
              <a:rPr lang="en-US" sz="2400" dirty="0" smtClean="0">
                <a:solidFill>
                  <a:srgbClr val="3366FF"/>
                </a:solidFill>
                <a:latin typeface="Arial" pitchFamily="34" charset="0"/>
                <a:cs typeface="Arial" pitchFamily="34" charset="0"/>
              </a:rPr>
              <a:t>.</a:t>
            </a:r>
            <a:endParaRPr lang="en-US" sz="2400" dirty="0">
              <a:solidFill>
                <a:srgbClr val="3366FF"/>
              </a:solidFill>
              <a:latin typeface="Arial" pitchFamily="34" charset="0"/>
              <a:cs typeface="Arial" pitchFamily="34" charset="0"/>
            </a:endParaRPr>
          </a:p>
        </p:txBody>
      </p:sp>
      <p:sp>
        <p:nvSpPr>
          <p:cNvPr id="7" name="TextBox 6"/>
          <p:cNvSpPr txBox="1"/>
          <p:nvPr/>
        </p:nvSpPr>
        <p:spPr>
          <a:xfrm>
            <a:off x="390618" y="4912302"/>
            <a:ext cx="8833281" cy="861774"/>
          </a:xfrm>
          <a:prstGeom prst="rect">
            <a:avLst/>
          </a:prstGeom>
          <a:noFill/>
        </p:spPr>
        <p:txBody>
          <a:bodyPr wrap="square" rtlCol="0">
            <a:spAutoFit/>
          </a:bodyPr>
          <a:lstStyle/>
          <a:p>
            <a:r>
              <a:rPr lang="en-US" sz="3200" dirty="0" smtClean="0">
                <a:solidFill>
                  <a:srgbClr val="008000"/>
                </a:solidFill>
                <a:latin typeface="Arial" pitchFamily="34" charset="0"/>
                <a:cs typeface="Arial" pitchFamily="34" charset="0"/>
              </a:rPr>
              <a:t>3. </a:t>
            </a:r>
            <a:r>
              <a:rPr lang="en-US" sz="3200" dirty="0" err="1" smtClean="0">
                <a:solidFill>
                  <a:srgbClr val="008000"/>
                </a:solidFill>
                <a:latin typeface="Arial" pitchFamily="34" charset="0"/>
                <a:cs typeface="Arial" pitchFamily="34" charset="0"/>
              </a:rPr>
              <a:t>Áp</a:t>
            </a:r>
            <a:r>
              <a:rPr lang="en-US" sz="3200" dirty="0" smtClean="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suất</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môi</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trường</a:t>
            </a:r>
            <a:r>
              <a:rPr lang="en-US" sz="3200" dirty="0">
                <a:solidFill>
                  <a:srgbClr val="008000"/>
                </a:solidFill>
                <a:latin typeface="Arial" pitchFamily="34" charset="0"/>
                <a:cs typeface="Arial" pitchFamily="34" charset="0"/>
              </a:rPr>
              <a:t>.</a:t>
            </a:r>
          </a:p>
          <a:p>
            <a:endParaRPr lang="en-US" dirty="0"/>
          </a:p>
        </p:txBody>
      </p:sp>
      <p:sp>
        <p:nvSpPr>
          <p:cNvPr id="8" name="TextBox 7"/>
          <p:cNvSpPr txBox="1"/>
          <p:nvPr/>
        </p:nvSpPr>
        <p:spPr>
          <a:xfrm>
            <a:off x="301841" y="974657"/>
            <a:ext cx="7315200" cy="2000548"/>
          </a:xfrm>
          <a:prstGeom prst="rect">
            <a:avLst/>
          </a:prstGeom>
          <a:noFill/>
        </p:spPr>
        <p:txBody>
          <a:bodyPr wrap="square" rtlCol="0">
            <a:spAutoFit/>
          </a:bodyPr>
          <a:lstStyle/>
          <a:p>
            <a:pPr marL="514350" indent="-514350">
              <a:lnSpc>
                <a:spcPct val="150000"/>
              </a:lnSpc>
              <a:buAutoNum type="arabicPeriod"/>
            </a:pPr>
            <a:r>
              <a:rPr lang="en-US" sz="3200" dirty="0" err="1">
                <a:solidFill>
                  <a:srgbClr val="9933FF"/>
                </a:solidFill>
                <a:latin typeface="Arial" pitchFamily="34" charset="0"/>
                <a:cs typeface="Arial" pitchFamily="34" charset="0"/>
              </a:rPr>
              <a:t>Bản</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chất</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của</a:t>
            </a:r>
            <a:r>
              <a:rPr lang="en-US" sz="3200" dirty="0">
                <a:solidFill>
                  <a:srgbClr val="9933FF"/>
                </a:solidFill>
                <a:latin typeface="Arial" pitchFamily="34" charset="0"/>
                <a:cs typeface="Arial" pitchFamily="34" charset="0"/>
              </a:rPr>
              <a:t> dung </a:t>
            </a:r>
            <a:r>
              <a:rPr lang="en-US" sz="3200" dirty="0" err="1">
                <a:solidFill>
                  <a:srgbClr val="9933FF"/>
                </a:solidFill>
                <a:latin typeface="Arial" pitchFamily="34" charset="0"/>
                <a:cs typeface="Arial" pitchFamily="34" charset="0"/>
              </a:rPr>
              <a:t>môi</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và</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chất</a:t>
            </a:r>
            <a:r>
              <a:rPr lang="en-US" sz="3200" dirty="0">
                <a:solidFill>
                  <a:srgbClr val="9933FF"/>
                </a:solidFill>
                <a:latin typeface="Arial" pitchFamily="34" charset="0"/>
                <a:cs typeface="Arial" pitchFamily="34" charset="0"/>
              </a:rPr>
              <a:t> tan.</a:t>
            </a:r>
          </a:p>
          <a:p>
            <a:pPr marL="514350" indent="-514350">
              <a:lnSpc>
                <a:spcPct val="150000"/>
              </a:lnSpc>
              <a:buAutoNum type="arabicPeriod"/>
            </a:pPr>
            <a:r>
              <a:rPr lang="en-US" sz="3200" dirty="0" err="1">
                <a:solidFill>
                  <a:srgbClr val="C00000"/>
                </a:solidFill>
                <a:latin typeface="Arial" pitchFamily="34" charset="0"/>
                <a:cs typeface="Arial" pitchFamily="34" charset="0"/>
              </a:rPr>
              <a:t>Nồng</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độ</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chất</a:t>
            </a:r>
            <a:r>
              <a:rPr lang="en-US" sz="3200" dirty="0">
                <a:solidFill>
                  <a:srgbClr val="C00000"/>
                </a:solidFill>
                <a:latin typeface="Arial" pitchFamily="34" charset="0"/>
                <a:cs typeface="Arial" pitchFamily="34" charset="0"/>
              </a:rPr>
              <a:t> tan </a:t>
            </a:r>
            <a:r>
              <a:rPr lang="en-US" sz="3200" dirty="0" err="1">
                <a:solidFill>
                  <a:srgbClr val="C00000"/>
                </a:solidFill>
                <a:latin typeface="Arial" pitchFamily="34" charset="0"/>
                <a:cs typeface="Arial" pitchFamily="34" charset="0"/>
              </a:rPr>
              <a:t>trong</a:t>
            </a:r>
            <a:r>
              <a:rPr lang="en-US" sz="3200" dirty="0">
                <a:solidFill>
                  <a:srgbClr val="C00000"/>
                </a:solidFill>
                <a:latin typeface="Arial" pitchFamily="34" charset="0"/>
                <a:cs typeface="Arial" pitchFamily="34" charset="0"/>
              </a:rPr>
              <a:t> dung </a:t>
            </a:r>
            <a:r>
              <a:rPr lang="en-US" sz="3200" dirty="0" err="1">
                <a:solidFill>
                  <a:srgbClr val="C00000"/>
                </a:solidFill>
                <a:latin typeface="Arial" pitchFamily="34" charset="0"/>
                <a:cs typeface="Arial" pitchFamily="34" charset="0"/>
              </a:rPr>
              <a:t>dịch</a:t>
            </a:r>
            <a:r>
              <a:rPr lang="en-US" sz="3200" dirty="0">
                <a:solidFill>
                  <a:srgbClr val="C00000"/>
                </a:solidFill>
                <a:latin typeface="Arial" pitchFamily="34" charset="0"/>
                <a:cs typeface="Arial" pitchFamily="34" charset="0"/>
              </a:rPr>
              <a:t>.</a:t>
            </a:r>
          </a:p>
          <a:p>
            <a:endParaRPr lang="en-US" sz="2800" dirty="0"/>
          </a:p>
        </p:txBody>
      </p:sp>
    </p:spTree>
    <p:extLst>
      <p:ext uri="{BB962C8B-B14F-4D97-AF65-F5344CB8AC3E}">
        <p14:creationId xmlns:p14="http://schemas.microsoft.com/office/powerpoint/2010/main" val="284723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F957C74-C192-4CA4-9E9F-CBA9C0999C53}"/>
              </a:ext>
            </a:extLst>
          </p:cNvPr>
          <p:cNvSpPr>
            <a:spLocks noGrp="1"/>
          </p:cNvSpPr>
          <p:nvPr>
            <p:ph idx="1"/>
          </p:nvPr>
        </p:nvSpPr>
        <p:spPr>
          <a:xfrm>
            <a:off x="838200" y="310393"/>
            <a:ext cx="10515600" cy="5268286"/>
          </a:xfrm>
        </p:spPr>
        <p:txBody>
          <a:bodyPr>
            <a:normAutofit/>
          </a:bodyPr>
          <a:lstStyle/>
          <a:p>
            <a:pPr marL="0" indent="0">
              <a:lnSpc>
                <a:spcPct val="150000"/>
              </a:lnSpc>
              <a:buNone/>
            </a:pPr>
            <a:r>
              <a:rPr lang="en-US" sz="3200" b="1" dirty="0" err="1">
                <a:latin typeface="Arial" pitchFamily="34" charset="0"/>
                <a:cs typeface="Arial" pitchFamily="34" charset="0"/>
              </a:rPr>
              <a:t>Câu</a:t>
            </a:r>
            <a:r>
              <a:rPr lang="en-US" sz="3200" b="1" dirty="0">
                <a:latin typeface="Arial" pitchFamily="34" charset="0"/>
                <a:cs typeface="Arial" pitchFamily="34" charset="0"/>
              </a:rPr>
              <a:t> 17</a:t>
            </a:r>
            <a:r>
              <a:rPr lang="en-US" sz="3200" dirty="0">
                <a:latin typeface="Arial" pitchFamily="34" charset="0"/>
                <a:cs typeface="Arial" pitchFamily="34" charset="0"/>
              </a:rPr>
              <a:t>. </a:t>
            </a:r>
            <a:r>
              <a:rPr lang="en-US" sz="3200" dirty="0" err="1">
                <a:latin typeface="Arial" pitchFamily="34" charset="0"/>
                <a:cs typeface="Arial" pitchFamily="34" charset="0"/>
              </a:rPr>
              <a:t>Chọn</a:t>
            </a:r>
            <a:r>
              <a:rPr lang="en-US" sz="3200" dirty="0">
                <a:latin typeface="Arial" pitchFamily="34" charset="0"/>
                <a:cs typeface="Arial" pitchFamily="34" charset="0"/>
              </a:rPr>
              <a:t> </a:t>
            </a:r>
            <a:r>
              <a:rPr lang="en-US" sz="3200" dirty="0" err="1">
                <a:latin typeface="Arial" pitchFamily="34" charset="0"/>
                <a:cs typeface="Arial" pitchFamily="34" charset="0"/>
              </a:rPr>
              <a:t>phát</a:t>
            </a:r>
            <a:r>
              <a:rPr lang="en-US" sz="3200" dirty="0">
                <a:latin typeface="Arial" pitchFamily="34" charset="0"/>
                <a:cs typeface="Arial" pitchFamily="34" charset="0"/>
              </a:rPr>
              <a:t> </a:t>
            </a:r>
            <a:r>
              <a:rPr lang="en-US" sz="3200" dirty="0" err="1">
                <a:latin typeface="Arial" pitchFamily="34" charset="0"/>
                <a:cs typeface="Arial" pitchFamily="34" charset="0"/>
              </a:rPr>
              <a:t>biểu</a:t>
            </a:r>
            <a:r>
              <a:rPr lang="en-US" sz="3200" dirty="0">
                <a:latin typeface="Arial" pitchFamily="34" charset="0"/>
                <a:cs typeface="Arial" pitchFamily="34" charset="0"/>
              </a:rPr>
              <a:t> </a:t>
            </a:r>
            <a:r>
              <a:rPr lang="en-US" sz="3200" b="1" dirty="0" err="1">
                <a:latin typeface="Arial" pitchFamily="34" charset="0"/>
                <a:cs typeface="Arial" pitchFamily="34" charset="0"/>
              </a:rPr>
              <a:t>đúng</a:t>
            </a:r>
            <a:r>
              <a:rPr lang="en-US" sz="3200" dirty="0">
                <a:latin typeface="Arial" pitchFamily="34" charset="0"/>
                <a:cs typeface="Arial" pitchFamily="34" charset="0"/>
              </a:rPr>
              <a:t> </a:t>
            </a:r>
            <a:r>
              <a:rPr lang="en-US" sz="3200" dirty="0" err="1">
                <a:latin typeface="Arial" pitchFamily="34" charset="0"/>
                <a:cs typeface="Arial" pitchFamily="34" charset="0"/>
              </a:rPr>
              <a:t>về</a:t>
            </a:r>
            <a:r>
              <a:rPr lang="en-US" sz="3200" dirty="0">
                <a:latin typeface="Arial" pitchFamily="34" charset="0"/>
                <a:cs typeface="Arial" pitchFamily="34" charset="0"/>
              </a:rPr>
              <a:t> </a:t>
            </a:r>
            <a:r>
              <a:rPr lang="en-US" sz="3200" dirty="0" err="1">
                <a:latin typeface="Arial" pitchFamily="34" charset="0"/>
                <a:cs typeface="Arial" pitchFamily="34" charset="0"/>
              </a:rPr>
              <a:t>hằng</a:t>
            </a:r>
            <a:r>
              <a:rPr lang="en-US" sz="3200" dirty="0">
                <a:latin typeface="Arial" pitchFamily="34" charset="0"/>
                <a:cs typeface="Arial" pitchFamily="34" charset="0"/>
              </a:rPr>
              <a:t> </a:t>
            </a:r>
            <a:r>
              <a:rPr lang="en-US" sz="3200" dirty="0" err="1">
                <a:latin typeface="Arial" pitchFamily="34" charset="0"/>
                <a:cs typeface="Arial" pitchFamily="34" charset="0"/>
              </a:rPr>
              <a:t>số</a:t>
            </a:r>
            <a:r>
              <a:rPr lang="en-US" sz="3200" dirty="0">
                <a:latin typeface="Arial" pitchFamily="34" charset="0"/>
                <a:cs typeface="Arial" pitchFamily="34" charset="0"/>
              </a:rPr>
              <a:t> </a:t>
            </a:r>
            <a:r>
              <a:rPr lang="en-US" sz="3200" dirty="0" err="1">
                <a:latin typeface="Arial" pitchFamily="34" charset="0"/>
                <a:cs typeface="Arial" pitchFamily="34" charset="0"/>
              </a:rPr>
              <a:t>nghiệm</a:t>
            </a:r>
            <a:r>
              <a:rPr lang="en-US" sz="3200" dirty="0">
                <a:latin typeface="Arial" pitchFamily="34" charset="0"/>
                <a:cs typeface="Arial" pitchFamily="34" charset="0"/>
              </a:rPr>
              <a:t> </a:t>
            </a:r>
            <a:r>
              <a:rPr lang="en-US" sz="3200" dirty="0" err="1">
                <a:latin typeface="Arial" pitchFamily="34" charset="0"/>
                <a:cs typeface="Arial" pitchFamily="34" charset="0"/>
              </a:rPr>
              <a:t>sôi</a:t>
            </a:r>
            <a:r>
              <a:rPr lang="en-US" sz="3200" dirty="0">
                <a:latin typeface="Arial" pitchFamily="34" charset="0"/>
                <a:cs typeface="Arial" pitchFamily="34" charset="0"/>
              </a:rPr>
              <a:t> (</a:t>
            </a:r>
            <a:r>
              <a:rPr lang="en-US" sz="3200" dirty="0" err="1">
                <a:latin typeface="Arial" pitchFamily="34" charset="0"/>
                <a:cs typeface="Arial" pitchFamily="34" charset="0"/>
              </a:rPr>
              <a:t>k</a:t>
            </a:r>
            <a:r>
              <a:rPr lang="en-US" sz="3200" baseline="-25000" dirty="0" err="1">
                <a:latin typeface="Arial" pitchFamily="34" charset="0"/>
                <a:cs typeface="Arial" pitchFamily="34" charset="0"/>
              </a:rPr>
              <a:t>s</a:t>
            </a:r>
            <a:r>
              <a:rPr lang="en-US" sz="3200" dirty="0">
                <a:latin typeface="Arial" pitchFamily="34" charset="0"/>
                <a:cs typeface="Arial" pitchFamily="34" charset="0"/>
              </a:rPr>
              <a:t>) </a:t>
            </a:r>
            <a:r>
              <a:rPr lang="en-US" sz="3200" dirty="0" err="1">
                <a:latin typeface="Arial" pitchFamily="34" charset="0"/>
                <a:cs typeface="Arial" pitchFamily="34" charset="0"/>
              </a:rPr>
              <a:t>và</a:t>
            </a:r>
            <a:r>
              <a:rPr lang="en-US" sz="3200" dirty="0">
                <a:latin typeface="Arial" pitchFamily="34" charset="0"/>
                <a:cs typeface="Arial" pitchFamily="34" charset="0"/>
              </a:rPr>
              <a:t> </a:t>
            </a:r>
            <a:r>
              <a:rPr lang="en-US" sz="3200" dirty="0" err="1">
                <a:latin typeface="Arial" pitchFamily="34" charset="0"/>
                <a:cs typeface="Arial" pitchFamily="34" charset="0"/>
              </a:rPr>
              <a:t>hằng</a:t>
            </a:r>
            <a:r>
              <a:rPr lang="en-US" sz="3200" dirty="0">
                <a:latin typeface="Arial" pitchFamily="34" charset="0"/>
                <a:cs typeface="Arial" pitchFamily="34" charset="0"/>
              </a:rPr>
              <a:t> </a:t>
            </a:r>
            <a:r>
              <a:rPr lang="en-US" sz="3200" dirty="0" err="1">
                <a:latin typeface="Arial" pitchFamily="34" charset="0"/>
                <a:cs typeface="Arial" pitchFamily="34" charset="0"/>
              </a:rPr>
              <a:t>số</a:t>
            </a:r>
            <a:r>
              <a:rPr lang="en-US" sz="3200" dirty="0">
                <a:latin typeface="Arial" pitchFamily="34" charset="0"/>
                <a:cs typeface="Arial" pitchFamily="34" charset="0"/>
              </a:rPr>
              <a:t> </a:t>
            </a:r>
            <a:r>
              <a:rPr lang="en-US" sz="3200" dirty="0" err="1">
                <a:latin typeface="Arial" pitchFamily="34" charset="0"/>
                <a:cs typeface="Arial" pitchFamily="34" charset="0"/>
              </a:rPr>
              <a:t>nghiệm</a:t>
            </a:r>
            <a:r>
              <a:rPr lang="en-US" sz="3200" dirty="0">
                <a:latin typeface="Arial" pitchFamily="34" charset="0"/>
                <a:cs typeface="Arial" pitchFamily="34" charset="0"/>
              </a:rPr>
              <a:t> </a:t>
            </a:r>
            <a:r>
              <a:rPr lang="en-US" sz="3200" dirty="0" err="1">
                <a:latin typeface="Arial" pitchFamily="34" charset="0"/>
                <a:cs typeface="Arial" pitchFamily="34" charset="0"/>
              </a:rPr>
              <a:t>đông</a:t>
            </a:r>
            <a:r>
              <a:rPr lang="en-US" sz="3200" dirty="0">
                <a:latin typeface="Arial" pitchFamily="34" charset="0"/>
                <a:cs typeface="Arial" pitchFamily="34" charset="0"/>
              </a:rPr>
              <a:t> (</a:t>
            </a:r>
            <a:r>
              <a:rPr lang="en-US" sz="3200" dirty="0" err="1">
                <a:latin typeface="Arial" pitchFamily="34" charset="0"/>
                <a:cs typeface="Arial" pitchFamily="34" charset="0"/>
              </a:rPr>
              <a:t>k</a:t>
            </a:r>
            <a:r>
              <a:rPr lang="en-US" sz="3200" baseline="-25000" dirty="0" err="1">
                <a:latin typeface="Arial" pitchFamily="34" charset="0"/>
                <a:cs typeface="Arial" pitchFamily="34" charset="0"/>
              </a:rPr>
              <a:t>đ</a:t>
            </a:r>
            <a:r>
              <a:rPr lang="en-US" sz="3200" dirty="0">
                <a:latin typeface="Arial" pitchFamily="34" charset="0"/>
                <a:cs typeface="Arial" pitchFamily="34" charset="0"/>
              </a:rPr>
              <a:t>):</a:t>
            </a:r>
          </a:p>
          <a:p>
            <a:pPr marL="514350" indent="-514350">
              <a:lnSpc>
                <a:spcPct val="150000"/>
              </a:lnSpc>
              <a:buFont typeface="+mj-lt"/>
              <a:buAutoNum type="alphaUcPeriod"/>
            </a:pPr>
            <a:r>
              <a:rPr lang="en-US" sz="3200" dirty="0" err="1">
                <a:solidFill>
                  <a:srgbClr val="0000FF"/>
                </a:solidFill>
                <a:latin typeface="Arial" pitchFamily="34" charset="0"/>
                <a:cs typeface="Arial" pitchFamily="34" charset="0"/>
              </a:rPr>
              <a:t>Chỉ</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phụ</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thuộc</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vào</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bản</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chất</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của</a:t>
            </a:r>
            <a:r>
              <a:rPr lang="en-US" sz="3200" dirty="0">
                <a:solidFill>
                  <a:srgbClr val="0000FF"/>
                </a:solidFill>
                <a:latin typeface="Arial" pitchFamily="34" charset="0"/>
                <a:cs typeface="Arial" pitchFamily="34" charset="0"/>
              </a:rPr>
              <a:t> dung </a:t>
            </a:r>
            <a:r>
              <a:rPr lang="en-US" sz="3200" dirty="0" err="1">
                <a:solidFill>
                  <a:srgbClr val="0000FF"/>
                </a:solidFill>
                <a:latin typeface="Arial" pitchFamily="34" charset="0"/>
                <a:cs typeface="Arial" pitchFamily="34" charset="0"/>
              </a:rPr>
              <a:t>môi</a:t>
            </a:r>
            <a:r>
              <a:rPr lang="en-US" sz="3200" dirty="0">
                <a:solidFill>
                  <a:srgbClr val="0000FF"/>
                </a:solidFill>
                <a:latin typeface="Arial" pitchFamily="34" charset="0"/>
                <a:cs typeface="Arial" pitchFamily="34" charset="0"/>
              </a:rPr>
              <a:t>.</a:t>
            </a:r>
          </a:p>
          <a:p>
            <a:pPr marL="0" indent="0">
              <a:lnSpc>
                <a:spcPct val="150000"/>
              </a:lnSpc>
              <a:buNone/>
            </a:pPr>
            <a:r>
              <a:rPr lang="en-US" sz="3200" dirty="0">
                <a:solidFill>
                  <a:srgbClr val="C00000"/>
                </a:solidFill>
                <a:latin typeface="Arial" pitchFamily="34" charset="0"/>
                <a:cs typeface="Arial" pitchFamily="34" charset="0"/>
              </a:rPr>
              <a:t>B.</a:t>
            </a:r>
            <a:r>
              <a:rPr lang="en-US" sz="3200" dirty="0">
                <a:latin typeface="Arial" pitchFamily="34" charset="0"/>
                <a:cs typeface="Arial" pitchFamily="34" charset="0"/>
              </a:rPr>
              <a:t> </a:t>
            </a:r>
            <a:r>
              <a:rPr lang="en-US" sz="3200" dirty="0" err="1">
                <a:solidFill>
                  <a:srgbClr val="C00000"/>
                </a:solidFill>
                <a:latin typeface="Arial" pitchFamily="34" charset="0"/>
                <a:cs typeface="Arial" pitchFamily="34" charset="0"/>
              </a:rPr>
              <a:t>Chỉ</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phụ</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thuộc</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vào</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bản</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chất</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của</a:t>
            </a:r>
            <a:r>
              <a:rPr lang="en-US" sz="3200" dirty="0">
                <a:solidFill>
                  <a:srgbClr val="C00000"/>
                </a:solidFill>
                <a:latin typeface="Arial" pitchFamily="34" charset="0"/>
                <a:cs typeface="Arial" pitchFamily="34" charset="0"/>
              </a:rPr>
              <a:t> dung </a:t>
            </a:r>
            <a:r>
              <a:rPr lang="en-US" sz="3200" dirty="0" err="1">
                <a:solidFill>
                  <a:srgbClr val="C00000"/>
                </a:solidFill>
                <a:latin typeface="Arial" pitchFamily="34" charset="0"/>
                <a:cs typeface="Arial" pitchFamily="34" charset="0"/>
              </a:rPr>
              <a:t>môi</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và</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nhiệt</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độ</a:t>
            </a:r>
            <a:r>
              <a:rPr lang="en-US" sz="3200" dirty="0">
                <a:solidFill>
                  <a:srgbClr val="C00000"/>
                </a:solidFill>
                <a:latin typeface="Arial" pitchFamily="34" charset="0"/>
                <a:cs typeface="Arial" pitchFamily="34" charset="0"/>
              </a:rPr>
              <a:t>.</a:t>
            </a:r>
          </a:p>
          <a:p>
            <a:pPr marL="0" indent="0">
              <a:lnSpc>
                <a:spcPct val="150000"/>
              </a:lnSpc>
              <a:buNone/>
            </a:pPr>
            <a:r>
              <a:rPr lang="en-US" sz="3200" dirty="0">
                <a:solidFill>
                  <a:srgbClr val="9933FF"/>
                </a:solidFill>
                <a:latin typeface="Arial" pitchFamily="34" charset="0"/>
                <a:cs typeface="Arial" pitchFamily="34" charset="0"/>
              </a:rPr>
              <a:t>C.</a:t>
            </a:r>
            <a:r>
              <a:rPr lang="en-US" sz="3200" dirty="0">
                <a:latin typeface="Arial" pitchFamily="34" charset="0"/>
                <a:cs typeface="Arial" pitchFamily="34" charset="0"/>
              </a:rPr>
              <a:t> </a:t>
            </a:r>
            <a:r>
              <a:rPr lang="en-US" sz="3200" dirty="0" err="1">
                <a:solidFill>
                  <a:srgbClr val="9933FF"/>
                </a:solidFill>
                <a:latin typeface="Arial" pitchFamily="34" charset="0"/>
                <a:cs typeface="Arial" pitchFamily="34" charset="0"/>
              </a:rPr>
              <a:t>Phụ</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thuộc</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vào</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bản</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chất</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của</a:t>
            </a:r>
            <a:r>
              <a:rPr lang="en-US" sz="3200" dirty="0">
                <a:solidFill>
                  <a:srgbClr val="9933FF"/>
                </a:solidFill>
                <a:latin typeface="Arial" pitchFamily="34" charset="0"/>
                <a:cs typeface="Arial" pitchFamily="34" charset="0"/>
              </a:rPr>
              <a:t> dung </a:t>
            </a:r>
            <a:r>
              <a:rPr lang="en-US" sz="3200" dirty="0" err="1">
                <a:solidFill>
                  <a:srgbClr val="9933FF"/>
                </a:solidFill>
                <a:latin typeface="Arial" pitchFamily="34" charset="0"/>
                <a:cs typeface="Arial" pitchFamily="34" charset="0"/>
              </a:rPr>
              <a:t>môi</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và</a:t>
            </a:r>
            <a:r>
              <a:rPr lang="en-US" sz="3200" dirty="0">
                <a:solidFill>
                  <a:srgbClr val="9933FF"/>
                </a:solidFill>
                <a:latin typeface="Arial" pitchFamily="34" charset="0"/>
                <a:cs typeface="Arial" pitchFamily="34" charset="0"/>
              </a:rPr>
              <a:t> </a:t>
            </a:r>
            <a:r>
              <a:rPr lang="en-US" sz="3200" dirty="0" err="1">
                <a:solidFill>
                  <a:srgbClr val="9933FF"/>
                </a:solidFill>
                <a:latin typeface="Arial" pitchFamily="34" charset="0"/>
                <a:cs typeface="Arial" pitchFamily="34" charset="0"/>
              </a:rPr>
              <a:t>chất</a:t>
            </a:r>
            <a:r>
              <a:rPr lang="en-US" sz="3200" dirty="0">
                <a:solidFill>
                  <a:srgbClr val="9933FF"/>
                </a:solidFill>
                <a:latin typeface="Arial" pitchFamily="34" charset="0"/>
                <a:cs typeface="Arial" pitchFamily="34" charset="0"/>
              </a:rPr>
              <a:t> tan. </a:t>
            </a:r>
          </a:p>
          <a:p>
            <a:pPr marL="0" indent="0">
              <a:lnSpc>
                <a:spcPct val="150000"/>
              </a:lnSpc>
              <a:buNone/>
            </a:pPr>
            <a:r>
              <a:rPr lang="en-US" sz="3200" dirty="0">
                <a:solidFill>
                  <a:srgbClr val="008000"/>
                </a:solidFill>
                <a:latin typeface="Arial" pitchFamily="34" charset="0"/>
                <a:cs typeface="Arial" pitchFamily="34" charset="0"/>
              </a:rPr>
              <a:t>D. </a:t>
            </a:r>
            <a:r>
              <a:rPr lang="en-US" sz="3200" dirty="0" err="1">
                <a:solidFill>
                  <a:srgbClr val="008000"/>
                </a:solidFill>
                <a:latin typeface="Arial" pitchFamily="34" charset="0"/>
                <a:cs typeface="Arial" pitchFamily="34" charset="0"/>
              </a:rPr>
              <a:t>Chỉ</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phụ</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thuộc</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vào</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nhiệt</a:t>
            </a:r>
            <a:r>
              <a:rPr lang="en-US" sz="3200" dirty="0">
                <a:solidFill>
                  <a:srgbClr val="008000"/>
                </a:solidFill>
                <a:latin typeface="Arial" pitchFamily="34" charset="0"/>
                <a:cs typeface="Arial" pitchFamily="34" charset="0"/>
              </a:rPr>
              <a:t> </a:t>
            </a:r>
            <a:r>
              <a:rPr lang="en-US" sz="3200" dirty="0" err="1">
                <a:solidFill>
                  <a:srgbClr val="008000"/>
                </a:solidFill>
                <a:latin typeface="Arial" pitchFamily="34" charset="0"/>
                <a:cs typeface="Arial" pitchFamily="34" charset="0"/>
              </a:rPr>
              <a:t>độ</a:t>
            </a:r>
            <a:r>
              <a:rPr lang="en-US" sz="3200" dirty="0">
                <a:solidFill>
                  <a:srgbClr val="008000"/>
                </a:solidFill>
                <a:latin typeface="Arial" pitchFamily="34" charset="0"/>
                <a:cs typeface="Arial" pitchFamily="34" charset="0"/>
              </a:rPr>
              <a:t>.</a:t>
            </a:r>
          </a:p>
          <a:p>
            <a:pPr marL="514350" indent="-514350">
              <a:buFont typeface="+mj-lt"/>
              <a:buAutoNum type="arabicPeriod"/>
            </a:pPr>
            <a:endParaRPr lang="en-US" sz="3200" dirty="0">
              <a:solidFill>
                <a:schemeClr val="accent6">
                  <a:lumMod val="50000"/>
                </a:schemeClr>
              </a:solidFill>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2A9AC828-6701-46D2-BBF2-73F621AE0FD1}"/>
              </a:ext>
            </a:extLst>
          </p:cNvPr>
          <p:cNvSpPr txBox="1"/>
          <p:nvPr/>
        </p:nvSpPr>
        <p:spPr>
          <a:xfrm>
            <a:off x="7388561" y="1269187"/>
            <a:ext cx="3875713" cy="707886"/>
          </a:xfrm>
          <a:prstGeom prst="rect">
            <a:avLst/>
          </a:prstGeom>
          <a:noFill/>
        </p:spPr>
        <p:txBody>
          <a:bodyPr wrap="square" rtlCol="0">
            <a:spAutoFit/>
          </a:bodyPr>
          <a:lstStyle/>
          <a:p>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ĐÁP ÁN A</a:t>
            </a:r>
          </a:p>
        </p:txBody>
      </p:sp>
    </p:spTree>
    <p:extLst>
      <p:ext uri="{BB962C8B-B14F-4D97-AF65-F5344CB8AC3E}">
        <p14:creationId xmlns:p14="http://schemas.microsoft.com/office/powerpoint/2010/main" val="130878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767FBED-D0C0-4342-A73F-7880897AE253}"/>
              </a:ext>
            </a:extLst>
          </p:cNvPr>
          <p:cNvSpPr>
            <a:spLocks noGrp="1"/>
          </p:cNvSpPr>
          <p:nvPr>
            <p:ph idx="1"/>
          </p:nvPr>
        </p:nvSpPr>
        <p:spPr>
          <a:xfrm>
            <a:off x="97654" y="398041"/>
            <a:ext cx="11814427" cy="4351338"/>
          </a:xfrm>
        </p:spPr>
        <p:txBody>
          <a:bodyPr>
            <a:normAutofit fontScale="92500"/>
          </a:bodyPr>
          <a:lstStyle/>
          <a:p>
            <a:pPr marL="0" indent="0">
              <a:lnSpc>
                <a:spcPct val="150000"/>
              </a:lnSpc>
              <a:buNone/>
            </a:pPr>
            <a:r>
              <a:rPr lang="vi-VN" sz="3200" b="1" dirty="0">
                <a:latin typeface="Arial" pitchFamily="34" charset="0"/>
                <a:cs typeface="Arial" pitchFamily="34" charset="0"/>
              </a:rPr>
              <a:t>Câu</a:t>
            </a:r>
            <a:r>
              <a:rPr lang="en-US" sz="3200" b="1" dirty="0">
                <a:latin typeface="Arial" pitchFamily="34" charset="0"/>
                <a:cs typeface="Arial" pitchFamily="34" charset="0"/>
              </a:rPr>
              <a:t> 18</a:t>
            </a:r>
            <a:r>
              <a:rPr lang="vi-VN" sz="3200" b="1" dirty="0">
                <a:latin typeface="Arial" pitchFamily="34" charset="0"/>
                <a:cs typeface="Arial" pitchFamily="34" charset="0"/>
              </a:rPr>
              <a:t>. </a:t>
            </a:r>
            <a:r>
              <a:rPr lang="vi-VN" sz="3200" dirty="0">
                <a:latin typeface="Arial" pitchFamily="34" charset="0"/>
                <a:cs typeface="Arial" pitchFamily="34" charset="0"/>
              </a:rPr>
              <a:t>Chọn phát biểu </a:t>
            </a:r>
            <a:r>
              <a:rPr lang="vi-VN" sz="3200" b="1" dirty="0">
                <a:latin typeface="Arial" pitchFamily="34" charset="0"/>
                <a:cs typeface="Arial" pitchFamily="34" charset="0"/>
              </a:rPr>
              <a:t>đúng</a:t>
            </a:r>
            <a:r>
              <a:rPr lang="vi-VN" sz="3200" dirty="0">
                <a:latin typeface="Arial" pitchFamily="34" charset="0"/>
                <a:cs typeface="Arial" pitchFamily="34" charset="0"/>
              </a:rPr>
              <a:t> về hằng số điện ly.</a:t>
            </a:r>
          </a:p>
          <a:p>
            <a:pPr marL="514350" indent="-514350">
              <a:lnSpc>
                <a:spcPct val="150000"/>
              </a:lnSpc>
              <a:buFont typeface="+mj-lt"/>
              <a:buAutoNum type="arabicPeriod"/>
            </a:pPr>
            <a:r>
              <a:rPr lang="vi-VN" sz="3200" dirty="0">
                <a:solidFill>
                  <a:srgbClr val="9933FF"/>
                </a:solidFill>
                <a:latin typeface="Arial" pitchFamily="34" charset="0"/>
                <a:cs typeface="Arial" pitchFamily="34" charset="0"/>
              </a:rPr>
              <a:t>Phụ thuộc vào bản chất chất điện ly và dung môi.</a:t>
            </a:r>
          </a:p>
          <a:p>
            <a:pPr marL="514350" indent="-514350">
              <a:lnSpc>
                <a:spcPct val="150000"/>
              </a:lnSpc>
              <a:buFont typeface="+mj-lt"/>
              <a:buAutoNum type="arabicPeriod"/>
            </a:pPr>
            <a:r>
              <a:rPr lang="vi-VN" sz="3200" dirty="0">
                <a:solidFill>
                  <a:srgbClr val="0000FF"/>
                </a:solidFill>
                <a:latin typeface="Arial" pitchFamily="34" charset="0"/>
                <a:cs typeface="Arial" pitchFamily="34" charset="0"/>
              </a:rPr>
              <a:t>Thường tăng theo nhiệt độ vì đa số quá trình điện ly là thu nhiệt. </a:t>
            </a:r>
          </a:p>
          <a:p>
            <a:pPr marL="514350" indent="-514350">
              <a:lnSpc>
                <a:spcPct val="150000"/>
              </a:lnSpc>
              <a:buFont typeface="+mj-lt"/>
              <a:buAutoNum type="arabicPeriod"/>
            </a:pPr>
            <a:r>
              <a:rPr lang="vi-VN" sz="3200" dirty="0">
                <a:solidFill>
                  <a:srgbClr val="008000"/>
                </a:solidFill>
                <a:latin typeface="Arial" pitchFamily="34" charset="0"/>
                <a:cs typeface="Arial" pitchFamily="34" charset="0"/>
              </a:rPr>
              <a:t>Không phụ thuộc vào nồng độ chất điện ly.</a:t>
            </a:r>
            <a:endParaRPr lang="en-US" sz="3200" dirty="0">
              <a:solidFill>
                <a:srgbClr val="008000"/>
              </a:solidFill>
              <a:latin typeface="Arial" pitchFamily="34" charset="0"/>
              <a:cs typeface="Arial" pitchFamily="34" charset="0"/>
            </a:endParaRPr>
          </a:p>
          <a:p>
            <a:pPr marL="514350" indent="-514350">
              <a:lnSpc>
                <a:spcPct val="150000"/>
              </a:lnSpc>
              <a:buFont typeface="+mj-lt"/>
              <a:buAutoNum type="arabicPeriod"/>
            </a:pPr>
            <a:r>
              <a:rPr lang="en-US" sz="3200" dirty="0" err="1">
                <a:solidFill>
                  <a:srgbClr val="C00000"/>
                </a:solidFill>
                <a:latin typeface="Arial" pitchFamily="34" charset="0"/>
                <a:cs typeface="Arial" pitchFamily="34" charset="0"/>
              </a:rPr>
              <a:t>Là</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hằng</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số</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cân</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bằng</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tuân</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theo</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định</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luật</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tác</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dụng</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khối</a:t>
            </a:r>
            <a:r>
              <a:rPr lang="en-US" sz="3200" dirty="0">
                <a:solidFill>
                  <a:srgbClr val="C00000"/>
                </a:solidFill>
                <a:latin typeface="Arial" pitchFamily="34" charset="0"/>
                <a:cs typeface="Arial" pitchFamily="34" charset="0"/>
              </a:rPr>
              <a:t> </a:t>
            </a:r>
            <a:r>
              <a:rPr lang="en-US" sz="3200" dirty="0" err="1">
                <a:solidFill>
                  <a:srgbClr val="C00000"/>
                </a:solidFill>
                <a:latin typeface="Arial" pitchFamily="34" charset="0"/>
                <a:cs typeface="Arial" pitchFamily="34" charset="0"/>
              </a:rPr>
              <a:t>lượng</a:t>
            </a:r>
            <a:r>
              <a:rPr lang="en-US" sz="3200" dirty="0">
                <a:solidFill>
                  <a:srgbClr val="C00000"/>
                </a:solidFill>
                <a:latin typeface="Arial" pitchFamily="34" charset="0"/>
                <a:cs typeface="Arial" pitchFamily="34" charset="0"/>
              </a:rPr>
              <a:t>.</a:t>
            </a:r>
          </a:p>
        </p:txBody>
      </p:sp>
      <p:sp>
        <p:nvSpPr>
          <p:cNvPr id="4" name="TextBox 3">
            <a:extLst>
              <a:ext uri="{FF2B5EF4-FFF2-40B4-BE49-F238E27FC236}">
                <a16:creationId xmlns="" xmlns:a16="http://schemas.microsoft.com/office/drawing/2014/main" id="{3C6A2F1C-93BE-487D-9CD9-C170EBF16397}"/>
              </a:ext>
            </a:extLst>
          </p:cNvPr>
          <p:cNvSpPr txBox="1"/>
          <p:nvPr/>
        </p:nvSpPr>
        <p:spPr>
          <a:xfrm>
            <a:off x="3278584" y="4749379"/>
            <a:ext cx="5913193"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p:spTree>
    <p:extLst>
      <p:ext uri="{BB962C8B-B14F-4D97-AF65-F5344CB8AC3E}">
        <p14:creationId xmlns:p14="http://schemas.microsoft.com/office/powerpoint/2010/main" val="13490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9DF3DDD-4DAA-4439-A727-29211BE10976}"/>
              </a:ext>
            </a:extLst>
          </p:cNvPr>
          <p:cNvSpPr>
            <a:spLocks noGrp="1"/>
          </p:cNvSpPr>
          <p:nvPr>
            <p:ph idx="1"/>
          </p:nvPr>
        </p:nvSpPr>
        <p:spPr>
          <a:xfrm>
            <a:off x="219722" y="97012"/>
            <a:ext cx="10515600" cy="4351338"/>
          </a:xfrm>
        </p:spPr>
        <p:txBody>
          <a:bodyPr>
            <a:noAutofit/>
          </a:bodyPr>
          <a:lstStyle/>
          <a:p>
            <a:pPr marL="0" indent="0">
              <a:lnSpc>
                <a:spcPct val="150000"/>
              </a:lnSpc>
              <a:buNone/>
            </a:pPr>
            <a:r>
              <a:rPr lang="vi-VN" b="1" dirty="0">
                <a:latin typeface="Arial" pitchFamily="34" charset="0"/>
                <a:cs typeface="Arial" pitchFamily="34" charset="0"/>
              </a:rPr>
              <a:t>Câu</a:t>
            </a:r>
            <a:r>
              <a:rPr lang="en-US" b="1" dirty="0">
                <a:latin typeface="Arial" pitchFamily="34" charset="0"/>
                <a:cs typeface="Arial" pitchFamily="34" charset="0"/>
              </a:rPr>
              <a:t> </a:t>
            </a:r>
            <a:r>
              <a:rPr lang="en-US" b="1" dirty="0" smtClean="0">
                <a:latin typeface="Arial" pitchFamily="34" charset="0"/>
                <a:cs typeface="Arial" pitchFamily="34" charset="0"/>
              </a:rPr>
              <a:t>19</a:t>
            </a:r>
            <a:r>
              <a:rPr lang="vi-VN" dirty="0" smtClean="0">
                <a:latin typeface="Arial" pitchFamily="34" charset="0"/>
                <a:cs typeface="Arial" pitchFamily="34" charset="0"/>
              </a:rPr>
              <a:t>.</a:t>
            </a:r>
            <a:r>
              <a:rPr lang="en-US" dirty="0" smtClean="0">
                <a:latin typeface="Arial" pitchFamily="34" charset="0"/>
                <a:cs typeface="Arial" pitchFamily="34" charset="0"/>
              </a:rPr>
              <a:t> </a:t>
            </a:r>
            <a:r>
              <a:rPr lang="vi-VN" dirty="0">
                <a:latin typeface="Arial" pitchFamily="34" charset="0"/>
                <a:cs typeface="Arial" pitchFamily="34" charset="0"/>
              </a:rPr>
              <a:t>Chọn </a:t>
            </a:r>
            <a:r>
              <a:rPr lang="vi-VN" dirty="0" smtClean="0">
                <a:latin typeface="Arial" pitchFamily="34" charset="0"/>
                <a:cs typeface="Arial" pitchFamily="34" charset="0"/>
              </a:rPr>
              <a:t>ph</a:t>
            </a:r>
            <a:r>
              <a:rPr lang="en-US" dirty="0" err="1" smtClean="0">
                <a:latin typeface="Arial" pitchFamily="34" charset="0"/>
                <a:cs typeface="Arial" pitchFamily="34" charset="0"/>
              </a:rPr>
              <a:t>ương</a:t>
            </a:r>
            <a:r>
              <a:rPr lang="en-US" dirty="0" smtClean="0">
                <a:latin typeface="Arial" pitchFamily="34" charset="0"/>
                <a:cs typeface="Arial" pitchFamily="34" charset="0"/>
              </a:rPr>
              <a:t> </a:t>
            </a:r>
            <a:r>
              <a:rPr lang="en-US" dirty="0" err="1" smtClean="0">
                <a:latin typeface="Arial" pitchFamily="34" charset="0"/>
                <a:cs typeface="Arial" pitchFamily="34" charset="0"/>
              </a:rPr>
              <a:t>án</a:t>
            </a:r>
            <a:r>
              <a:rPr lang="vi-VN" dirty="0" smtClean="0">
                <a:latin typeface="Arial" pitchFamily="34" charset="0"/>
                <a:cs typeface="Arial" pitchFamily="34" charset="0"/>
              </a:rPr>
              <a:t> </a:t>
            </a:r>
            <a:r>
              <a:rPr lang="vi-VN" b="1" dirty="0">
                <a:latin typeface="Arial" pitchFamily="34" charset="0"/>
                <a:cs typeface="Arial" pitchFamily="34" charset="0"/>
              </a:rPr>
              <a:t>đúng</a:t>
            </a:r>
            <a:r>
              <a:rPr lang="en-US" b="1" dirty="0">
                <a:latin typeface="Arial" pitchFamily="34" charset="0"/>
                <a:cs typeface="Arial" pitchFamily="34" charset="0"/>
              </a:rPr>
              <a:t> </a:t>
            </a:r>
            <a:r>
              <a:rPr lang="en-US" b="1" dirty="0" err="1">
                <a:latin typeface="Arial" pitchFamily="34" charset="0"/>
                <a:cs typeface="Arial" pitchFamily="34" charset="0"/>
              </a:rPr>
              <a:t>về</a:t>
            </a:r>
            <a:r>
              <a:rPr lang="en-US" b="1" dirty="0">
                <a:latin typeface="Arial" pitchFamily="34" charset="0"/>
                <a:cs typeface="Arial" pitchFamily="34" charset="0"/>
              </a:rPr>
              <a:t> </a:t>
            </a:r>
            <a:r>
              <a:rPr lang="vi-VN" dirty="0">
                <a:latin typeface="Arial" pitchFamily="34" charset="0"/>
                <a:cs typeface="Arial" pitchFamily="34" charset="0"/>
              </a:rPr>
              <a:t> </a:t>
            </a:r>
            <a:r>
              <a:rPr lang="en-US" dirty="0">
                <a:latin typeface="Arial" pitchFamily="34" charset="0"/>
                <a:cs typeface="Arial" pitchFamily="34" charset="0"/>
              </a:rPr>
              <a:t>đ</a:t>
            </a:r>
            <a:r>
              <a:rPr lang="vi-VN" dirty="0">
                <a:latin typeface="Arial" pitchFamily="34" charset="0"/>
                <a:cs typeface="Arial" pitchFamily="34" charset="0"/>
              </a:rPr>
              <a:t>ộ điện ly </a:t>
            </a:r>
            <a:r>
              <a:rPr lang="vi-VN" dirty="0">
                <a:latin typeface="Arial" pitchFamily="34" charset="0"/>
                <a:cs typeface="Arial" pitchFamily="34" charset="0"/>
                <a:sym typeface="Symbol" panose="05050102010706020507" pitchFamily="18" charset="2"/>
              </a:rPr>
              <a:t></a:t>
            </a:r>
            <a:r>
              <a:rPr lang="vi-VN" dirty="0">
                <a:latin typeface="Arial" pitchFamily="34" charset="0"/>
                <a:cs typeface="Arial" pitchFamily="34" charset="0"/>
              </a:rPr>
              <a:t>:</a:t>
            </a:r>
          </a:p>
          <a:p>
            <a:pPr marL="514350" indent="-514350">
              <a:lnSpc>
                <a:spcPct val="150000"/>
              </a:lnSpc>
              <a:buFont typeface="+mj-lt"/>
              <a:buAutoNum type="arabicPeriod"/>
            </a:pPr>
            <a:r>
              <a:rPr lang="vi-VN" dirty="0">
                <a:solidFill>
                  <a:srgbClr val="9933FF"/>
                </a:solidFill>
                <a:latin typeface="Arial" pitchFamily="34" charset="0"/>
                <a:cs typeface="Arial" pitchFamily="34" charset="0"/>
              </a:rPr>
              <a:t>Có giá trị</a:t>
            </a:r>
            <a:r>
              <a:rPr lang="en-US" dirty="0">
                <a:solidFill>
                  <a:srgbClr val="9933FF"/>
                </a:solidFill>
                <a:latin typeface="Arial" pitchFamily="34" charset="0"/>
                <a:cs typeface="Arial" pitchFamily="34" charset="0"/>
              </a:rPr>
              <a:t>: 0 </a:t>
            </a:r>
            <a:r>
              <a:rPr lang="en-US" dirty="0">
                <a:solidFill>
                  <a:srgbClr val="9933FF"/>
                </a:solidFill>
                <a:latin typeface="Arial" pitchFamily="34" charset="0"/>
                <a:cs typeface="Arial" pitchFamily="34" charset="0"/>
                <a:sym typeface="Symbol" panose="05050102010706020507" pitchFamily="18" charset="2"/>
              </a:rPr>
              <a:t> </a:t>
            </a:r>
            <a:r>
              <a:rPr lang="vi-VN" dirty="0">
                <a:solidFill>
                  <a:srgbClr val="9933FF"/>
                </a:solidFill>
                <a:latin typeface="Arial" pitchFamily="34" charset="0"/>
                <a:cs typeface="Arial" pitchFamily="34" charset="0"/>
                <a:sym typeface="Symbol" panose="05050102010706020507" pitchFamily="18" charset="2"/>
              </a:rPr>
              <a:t> </a:t>
            </a:r>
            <a:r>
              <a:rPr lang="en-US" dirty="0">
                <a:solidFill>
                  <a:srgbClr val="9933FF"/>
                </a:solidFill>
                <a:latin typeface="Arial" pitchFamily="34" charset="0"/>
                <a:cs typeface="Arial" pitchFamily="34" charset="0"/>
                <a:sym typeface="Symbol" panose="05050102010706020507" pitchFamily="18" charset="2"/>
              </a:rPr>
              <a:t>  1 </a:t>
            </a:r>
          </a:p>
          <a:p>
            <a:pPr marL="514350" indent="-514350">
              <a:lnSpc>
                <a:spcPct val="150000"/>
              </a:lnSpc>
              <a:buFont typeface="+mj-lt"/>
              <a:buAutoNum type="arabicPeriod"/>
            </a:pPr>
            <a:r>
              <a:rPr lang="vi-VN" dirty="0">
                <a:solidFill>
                  <a:srgbClr val="008000"/>
                </a:solidFill>
                <a:latin typeface="Arial" pitchFamily="34" charset="0"/>
                <a:cs typeface="Arial" pitchFamily="34" charset="0"/>
              </a:rPr>
              <a:t>Phụ thuộc vào bản chất chất điện ly và dung môi.</a:t>
            </a:r>
          </a:p>
          <a:p>
            <a:pPr marL="514350" indent="-514350">
              <a:lnSpc>
                <a:spcPct val="150000"/>
              </a:lnSpc>
              <a:buFont typeface="+mj-lt"/>
              <a:buAutoNum type="arabicPeriod"/>
            </a:pPr>
            <a:r>
              <a:rPr lang="vi-VN" dirty="0">
                <a:solidFill>
                  <a:srgbClr val="FF00FF"/>
                </a:solidFill>
                <a:latin typeface="Arial" pitchFamily="34" charset="0"/>
                <a:cs typeface="Arial" pitchFamily="34" charset="0"/>
              </a:rPr>
              <a:t>Thường tăng theo nhiệt độ</a:t>
            </a:r>
            <a:r>
              <a:rPr lang="vi-VN" dirty="0" smtClean="0">
                <a:solidFill>
                  <a:srgbClr val="FF00FF"/>
                </a:solidFill>
                <a:latin typeface="Arial" pitchFamily="34" charset="0"/>
                <a:cs typeface="Arial" pitchFamily="34" charset="0"/>
              </a:rPr>
              <a:t>.</a:t>
            </a:r>
            <a:endParaRPr lang="en-US" dirty="0" smtClean="0">
              <a:solidFill>
                <a:srgbClr val="FF00FF"/>
              </a:solidFill>
              <a:latin typeface="Arial" pitchFamily="34" charset="0"/>
              <a:cs typeface="Arial" pitchFamily="34" charset="0"/>
            </a:endParaRPr>
          </a:p>
          <a:p>
            <a:pPr marL="514350" indent="-514350">
              <a:lnSpc>
                <a:spcPct val="150000"/>
              </a:lnSpc>
              <a:buFont typeface="+mj-lt"/>
              <a:buAutoNum type="arabicPeriod"/>
            </a:pPr>
            <a:r>
              <a:rPr lang="en-US" dirty="0" err="1" smtClean="0">
                <a:solidFill>
                  <a:srgbClr val="0000FF"/>
                </a:solidFill>
                <a:latin typeface="Arial" pitchFamily="34" charset="0"/>
                <a:cs typeface="Arial" pitchFamily="34" charset="0"/>
              </a:rPr>
              <a:t>Tăng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khi</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hằng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số</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điện</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ly</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càng</a:t>
            </a:r>
            <a:r>
              <a:rPr lang="en-US" dirty="0" smtClean="0">
                <a:solidFill>
                  <a:srgbClr val="0000FF"/>
                </a:solidFill>
                <a:latin typeface="Arial" pitchFamily="34" charset="0"/>
                <a:cs typeface="Arial" pitchFamily="34" charset="0"/>
              </a:rPr>
              <a:t> </a:t>
            </a:r>
            <a:r>
              <a:rPr lang="en-US" dirty="0" err="1" smtClean="0">
                <a:solidFill>
                  <a:srgbClr val="0000FF"/>
                </a:solidFill>
                <a:latin typeface="Arial" pitchFamily="34" charset="0"/>
                <a:cs typeface="Arial" pitchFamily="34" charset="0"/>
              </a:rPr>
              <a:t>lớn</a:t>
            </a:r>
            <a:r>
              <a:rPr lang="en-US" dirty="0" smtClean="0">
                <a:solidFill>
                  <a:srgbClr val="0000FF"/>
                </a:solidFill>
                <a:latin typeface="Arial" pitchFamily="34" charset="0"/>
                <a:cs typeface="Arial" pitchFamily="34" charset="0"/>
              </a:rPr>
              <a:t>.</a:t>
            </a:r>
            <a:endParaRPr lang="vi-VN" dirty="0">
              <a:solidFill>
                <a:srgbClr val="0000FF"/>
              </a:solidFill>
              <a:latin typeface="Arial" pitchFamily="34" charset="0"/>
              <a:cs typeface="Arial" pitchFamily="34" charset="0"/>
            </a:endParaRPr>
          </a:p>
          <a:p>
            <a:pPr marL="514350" indent="-514350">
              <a:lnSpc>
                <a:spcPct val="150000"/>
              </a:lnSpc>
              <a:buFont typeface="+mj-lt"/>
              <a:buAutoNum type="arabicPeriod"/>
            </a:pPr>
            <a:r>
              <a:rPr lang="vi-VN" dirty="0">
                <a:solidFill>
                  <a:srgbClr val="C00000"/>
                </a:solidFill>
                <a:latin typeface="Arial" pitchFamily="34" charset="0"/>
                <a:cs typeface="Arial" pitchFamily="34" charset="0"/>
              </a:rPr>
              <a:t>Tăng khi giảm nồng độ chất điện ly</a:t>
            </a:r>
            <a:r>
              <a:rPr lang="vi-VN" dirty="0" smtClean="0">
                <a:solidFill>
                  <a:srgbClr val="C00000"/>
                </a:solidFill>
                <a:latin typeface="Times New Roman" panose="02020603050405020304" pitchFamily="18" charset="0"/>
                <a:cs typeface="Times New Roman" panose="02020603050405020304" pitchFamily="18" charset="0"/>
              </a:rPr>
              <a:t>.</a:t>
            </a:r>
            <a:endParaRPr lang="en-US" dirty="0" smtClean="0">
              <a:solidFill>
                <a:srgbClr val="C00000"/>
              </a:solidFill>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en-US" dirty="0" err="1" smtClean="0">
                <a:solidFill>
                  <a:schemeClr val="accent4">
                    <a:lumMod val="50000"/>
                  </a:schemeClr>
                </a:solidFill>
                <a:latin typeface="Arial" pitchFamily="34" charset="0"/>
                <a:cs typeface="Arial" pitchFamily="34" charset="0"/>
              </a:rPr>
              <a:t>Phụ</a:t>
            </a:r>
            <a:r>
              <a:rPr lang="en-US" dirty="0" smtClean="0">
                <a:solidFill>
                  <a:schemeClr val="accent4">
                    <a:lumMod val="50000"/>
                  </a:schemeClr>
                </a:solidFill>
                <a:latin typeface="Arial" pitchFamily="34" charset="0"/>
                <a:cs typeface="Arial" pitchFamily="34" charset="0"/>
              </a:rPr>
              <a:t> </a:t>
            </a:r>
            <a:r>
              <a:rPr lang="en-US" dirty="0" err="1" smtClean="0">
                <a:solidFill>
                  <a:schemeClr val="accent4">
                    <a:lumMod val="50000"/>
                  </a:schemeClr>
                </a:solidFill>
                <a:latin typeface="Arial" pitchFamily="34" charset="0"/>
                <a:cs typeface="Arial" pitchFamily="34" charset="0"/>
              </a:rPr>
              <a:t>thuộc</a:t>
            </a:r>
            <a:r>
              <a:rPr lang="en-US" dirty="0" smtClean="0">
                <a:solidFill>
                  <a:schemeClr val="accent4">
                    <a:lumMod val="50000"/>
                  </a:schemeClr>
                </a:solidFill>
                <a:latin typeface="Arial" pitchFamily="34" charset="0"/>
                <a:cs typeface="Arial" pitchFamily="34" charset="0"/>
              </a:rPr>
              <a:t> </a:t>
            </a:r>
            <a:r>
              <a:rPr lang="en-US" dirty="0" err="1" smtClean="0">
                <a:solidFill>
                  <a:schemeClr val="accent4">
                    <a:lumMod val="50000"/>
                  </a:schemeClr>
                </a:solidFill>
                <a:latin typeface="Arial" pitchFamily="34" charset="0"/>
                <a:cs typeface="Arial" pitchFamily="34" charset="0"/>
              </a:rPr>
              <a:t>vào</a:t>
            </a:r>
            <a:r>
              <a:rPr lang="en-US" dirty="0" smtClean="0">
                <a:solidFill>
                  <a:schemeClr val="accent4">
                    <a:lumMod val="50000"/>
                  </a:schemeClr>
                </a:solidFill>
                <a:latin typeface="Arial" pitchFamily="34" charset="0"/>
                <a:cs typeface="Arial" pitchFamily="34" charset="0"/>
              </a:rPr>
              <a:t> </a:t>
            </a:r>
            <a:r>
              <a:rPr lang="en-US" dirty="0" err="1" smtClean="0">
                <a:solidFill>
                  <a:schemeClr val="accent4">
                    <a:lumMod val="50000"/>
                  </a:schemeClr>
                </a:solidFill>
                <a:latin typeface="Arial" pitchFamily="34" charset="0"/>
                <a:cs typeface="Arial" pitchFamily="34" charset="0"/>
              </a:rPr>
              <a:t>môi</a:t>
            </a:r>
            <a:r>
              <a:rPr lang="en-US" dirty="0" smtClean="0">
                <a:solidFill>
                  <a:schemeClr val="accent4">
                    <a:lumMod val="50000"/>
                  </a:schemeClr>
                </a:solidFill>
                <a:latin typeface="Arial" pitchFamily="34" charset="0"/>
                <a:cs typeface="Arial" pitchFamily="34" charset="0"/>
              </a:rPr>
              <a:t> </a:t>
            </a:r>
            <a:r>
              <a:rPr lang="en-US" dirty="0" err="1" smtClean="0">
                <a:solidFill>
                  <a:schemeClr val="accent4">
                    <a:lumMod val="50000"/>
                  </a:schemeClr>
                </a:solidFill>
                <a:latin typeface="Arial" pitchFamily="34" charset="0"/>
                <a:cs typeface="Arial" pitchFamily="34" charset="0"/>
              </a:rPr>
              <a:t>trường</a:t>
            </a:r>
            <a:r>
              <a:rPr lang="en-US" dirty="0" smtClean="0">
                <a:solidFill>
                  <a:schemeClr val="accent4">
                    <a:lumMod val="50000"/>
                  </a:schemeClr>
                </a:solidFill>
                <a:latin typeface="Arial" pitchFamily="34" charset="0"/>
                <a:cs typeface="Arial" pitchFamily="34" charset="0"/>
              </a:rPr>
              <a:t>.</a:t>
            </a:r>
            <a:endParaRPr lang="en-US" dirty="0">
              <a:solidFill>
                <a:schemeClr val="accent4">
                  <a:lumMod val="50000"/>
                </a:schemeClr>
              </a:solidFill>
              <a:latin typeface="Arial" pitchFamily="34" charset="0"/>
              <a:cs typeface="Arial" pitchFamily="34" charset="0"/>
            </a:endParaRPr>
          </a:p>
        </p:txBody>
      </p:sp>
      <p:sp>
        <p:nvSpPr>
          <p:cNvPr id="4" name="TextBox 3">
            <a:extLst>
              <a:ext uri="{FF2B5EF4-FFF2-40B4-BE49-F238E27FC236}">
                <a16:creationId xmlns="" xmlns:a16="http://schemas.microsoft.com/office/drawing/2014/main" id="{9F02C04D-3640-4C7E-B76D-C89905C32350}"/>
              </a:ext>
            </a:extLst>
          </p:cNvPr>
          <p:cNvSpPr txBox="1"/>
          <p:nvPr/>
        </p:nvSpPr>
        <p:spPr>
          <a:xfrm>
            <a:off x="5050645" y="1000767"/>
            <a:ext cx="4617138"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Đ</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ÁP ÁN</a:t>
            </a:r>
            <a:r>
              <a:rPr lang="vi-VN"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a:t>
            </a:r>
            <a:r>
              <a:rPr lang="en-US" sz="4000" b="1" dirty="0">
                <a:solidFill>
                  <a:srgbClr val="FF0000"/>
                </a:solidFill>
                <a:effectLst>
                  <a:outerShdw blurRad="38100" dist="38100" dir="2700000" algn="tl">
                    <a:srgbClr val="000000">
                      <a:alpha val="43137"/>
                    </a:srgbClr>
                  </a:outerShdw>
                </a:effectLst>
                <a:latin typeface="Arial" pitchFamily="34" charset="0"/>
                <a:cs typeface="Arial" pitchFamily="34" charset="0"/>
              </a:rPr>
              <a:t> TẤT CẢ</a:t>
            </a:r>
          </a:p>
        </p:txBody>
      </p:sp>
      <mc:AlternateContent xmlns:mc="http://schemas.openxmlformats.org/markup-compatibility/2006" xmlns:a14="http://schemas.microsoft.com/office/drawing/2010/main">
        <mc:Choice Requires="a14">
          <p:sp>
            <p:nvSpPr>
              <p:cNvPr id="2" name="TextBox 1"/>
              <p:cNvSpPr txBox="1"/>
              <p:nvPr/>
            </p:nvSpPr>
            <p:spPr>
              <a:xfrm>
                <a:off x="6764784" y="3720677"/>
                <a:ext cx="1731146" cy="969176"/>
              </a:xfrm>
              <a:prstGeom prst="rect">
                <a:avLst/>
              </a:prstGeom>
              <a:noFill/>
            </p:spPr>
            <p:txBody>
              <a:bodyPr wrap="square" rtlCol="0">
                <a:spAutoFit/>
              </a:bodyPr>
              <a:lstStyle/>
              <a:p>
                <a:r>
                  <a:rPr lang="en-US" sz="2800" dirty="0" smtClean="0">
                    <a:solidFill>
                      <a:schemeClr val="tx1">
                        <a:lumMod val="95000"/>
                        <a:lumOff val="5000"/>
                      </a:schemeClr>
                    </a:solidFill>
                    <a:sym typeface="Symbol"/>
                  </a:rPr>
                  <a:t> </a:t>
                </a:r>
                <a14:m>
                  <m:oMath xmlns:m="http://schemas.openxmlformats.org/officeDocument/2006/math">
                    <m:r>
                      <a:rPr lang="en-US" sz="2800" b="0" i="0" smtClean="0">
                        <a:solidFill>
                          <a:schemeClr val="tx1">
                            <a:lumMod val="95000"/>
                            <a:lumOff val="5000"/>
                          </a:schemeClr>
                        </a:solidFill>
                        <a:latin typeface="Cambria Math"/>
                        <a:sym typeface="Symbol"/>
                      </a:rPr>
                      <m:t>  </m:t>
                    </m:r>
                    <m:rad>
                      <m:radPr>
                        <m:degHide m:val="on"/>
                        <m:ctrlPr>
                          <a:rPr lang="en-US" sz="2800" i="1" smtClean="0">
                            <a:solidFill>
                              <a:schemeClr val="tx1">
                                <a:lumMod val="95000"/>
                                <a:lumOff val="5000"/>
                              </a:schemeClr>
                            </a:solidFill>
                            <a:latin typeface="Cambria Math"/>
                            <a:sym typeface="Symbol"/>
                          </a:rPr>
                        </m:ctrlPr>
                      </m:radPr>
                      <m:deg/>
                      <m:e>
                        <m:f>
                          <m:fPr>
                            <m:ctrlPr>
                              <a:rPr lang="en-US" sz="2800" i="1" smtClean="0">
                                <a:solidFill>
                                  <a:schemeClr val="tx1">
                                    <a:lumMod val="95000"/>
                                    <a:lumOff val="5000"/>
                                  </a:schemeClr>
                                </a:solidFill>
                                <a:latin typeface="Cambria Math"/>
                                <a:sym typeface="Symbol"/>
                              </a:rPr>
                            </m:ctrlPr>
                          </m:fPr>
                          <m:num>
                            <m:r>
                              <a:rPr lang="en-US" sz="2800" b="0" i="1" smtClean="0">
                                <a:solidFill>
                                  <a:schemeClr val="tx1">
                                    <a:lumMod val="95000"/>
                                    <a:lumOff val="5000"/>
                                  </a:schemeClr>
                                </a:solidFill>
                                <a:latin typeface="Cambria Math"/>
                                <a:sym typeface="Symbol"/>
                              </a:rPr>
                              <m:t>𝐾</m:t>
                            </m:r>
                          </m:num>
                          <m:den>
                            <m:r>
                              <a:rPr lang="en-US" sz="2800" b="0" i="1" smtClean="0">
                                <a:solidFill>
                                  <a:schemeClr val="tx1">
                                    <a:lumMod val="95000"/>
                                    <a:lumOff val="5000"/>
                                  </a:schemeClr>
                                </a:solidFill>
                                <a:latin typeface="Cambria Math"/>
                                <a:sym typeface="Symbol"/>
                              </a:rPr>
                              <m:t>𝐶</m:t>
                            </m:r>
                          </m:den>
                        </m:f>
                      </m:e>
                    </m:rad>
                  </m:oMath>
                </a14:m>
                <a:endParaRPr lang="en-US" sz="2800" dirty="0">
                  <a:solidFill>
                    <a:schemeClr val="tx1">
                      <a:lumMod val="95000"/>
                      <a:lumOff val="5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764784" y="3720677"/>
                <a:ext cx="1731146" cy="969176"/>
              </a:xfrm>
              <a:prstGeom prst="rect">
                <a:avLst/>
              </a:prstGeom>
              <a:blipFill rotWithShape="1">
                <a:blip r:embed="rId2"/>
                <a:stretch>
                  <a:fillRect l="-7394"/>
                </a:stretch>
              </a:blipFill>
            </p:spPr>
            <p:txBody>
              <a:bodyPr/>
              <a:lstStyle/>
              <a:p>
                <a:r>
                  <a:rPr lang="en-US">
                    <a:noFill/>
                  </a:rPr>
                  <a:t> </a:t>
                </a:r>
              </a:p>
            </p:txBody>
          </p:sp>
        </mc:Fallback>
      </mc:AlternateContent>
      <p:sp>
        <p:nvSpPr>
          <p:cNvPr id="5" name="TextBox 4"/>
          <p:cNvSpPr txBox="1"/>
          <p:nvPr/>
        </p:nvSpPr>
        <p:spPr>
          <a:xfrm>
            <a:off x="5477522" y="2272681"/>
            <a:ext cx="6714477" cy="1200329"/>
          </a:xfrm>
          <a:prstGeom prst="rect">
            <a:avLst/>
          </a:prstGeom>
          <a:noFill/>
        </p:spPr>
        <p:txBody>
          <a:bodyPr wrap="square" rtlCol="0">
            <a:spAutoFit/>
          </a:bodyPr>
          <a:lstStyle/>
          <a:p>
            <a:pPr>
              <a:lnSpc>
                <a:spcPct val="150000"/>
              </a:lnSpc>
            </a:pPr>
            <a:r>
              <a:rPr lang="en-US" sz="2400" dirty="0" smtClean="0">
                <a:solidFill>
                  <a:srgbClr val="FF00FF"/>
                </a:solidFill>
                <a:latin typeface="Arial" pitchFamily="34" charset="0"/>
                <a:cs typeface="Arial" pitchFamily="34" charset="0"/>
              </a:rPr>
              <a:t>AB(</a:t>
            </a:r>
            <a:r>
              <a:rPr lang="en-US" sz="2400" dirty="0" err="1" smtClean="0">
                <a:solidFill>
                  <a:srgbClr val="FF00FF"/>
                </a:solidFill>
                <a:latin typeface="Arial" pitchFamily="34" charset="0"/>
                <a:cs typeface="Arial" pitchFamily="34" charset="0"/>
              </a:rPr>
              <a:t>dd</a:t>
            </a:r>
            <a:r>
              <a:rPr lang="en-US" sz="2400" dirty="0" smtClean="0">
                <a:solidFill>
                  <a:srgbClr val="FF00FF"/>
                </a:solidFill>
                <a:latin typeface="Arial" pitchFamily="34" charset="0"/>
                <a:cs typeface="Arial" pitchFamily="34" charset="0"/>
              </a:rPr>
              <a:t>) </a:t>
            </a:r>
            <a:r>
              <a:rPr lang="en-US" altLang="en-US" sz="2400" dirty="0">
                <a:solidFill>
                  <a:srgbClr val="FF00FF"/>
                </a:solidFill>
                <a:latin typeface="Arial" pitchFamily="34" charset="0"/>
                <a:cs typeface="Arial" pitchFamily="34" charset="0"/>
              </a:rPr>
              <a:t>⇌</a:t>
            </a:r>
            <a:r>
              <a:rPr lang="en-US" sz="2400" dirty="0" smtClean="0">
                <a:solidFill>
                  <a:srgbClr val="FF00FF"/>
                </a:solidFill>
                <a:latin typeface="Arial" pitchFamily="34" charset="0"/>
                <a:cs typeface="Arial" pitchFamily="34" charset="0"/>
              </a:rPr>
              <a:t>   A</a:t>
            </a:r>
            <a:r>
              <a:rPr lang="en-US" sz="2400" baseline="30000" dirty="0" smtClean="0">
                <a:solidFill>
                  <a:srgbClr val="FF00FF"/>
                </a:solidFill>
                <a:latin typeface="Arial" pitchFamily="34" charset="0"/>
                <a:cs typeface="Arial" pitchFamily="34" charset="0"/>
              </a:rPr>
              <a:t>+</a:t>
            </a:r>
            <a:r>
              <a:rPr lang="en-US" sz="2400" dirty="0" smtClean="0">
                <a:solidFill>
                  <a:srgbClr val="FF00FF"/>
                </a:solidFill>
                <a:latin typeface="Arial" pitchFamily="34" charset="0"/>
                <a:cs typeface="Arial" pitchFamily="34" charset="0"/>
              </a:rPr>
              <a:t>(</a:t>
            </a:r>
            <a:r>
              <a:rPr lang="en-US" sz="2400" dirty="0" err="1" smtClean="0">
                <a:solidFill>
                  <a:srgbClr val="FF00FF"/>
                </a:solidFill>
                <a:latin typeface="Arial" pitchFamily="34" charset="0"/>
                <a:cs typeface="Arial" pitchFamily="34" charset="0"/>
              </a:rPr>
              <a:t>dd</a:t>
            </a:r>
            <a:r>
              <a:rPr lang="en-US" sz="2400" dirty="0" smtClean="0">
                <a:solidFill>
                  <a:srgbClr val="FF00FF"/>
                </a:solidFill>
                <a:latin typeface="Arial" pitchFamily="34" charset="0"/>
                <a:cs typeface="Arial" pitchFamily="34" charset="0"/>
              </a:rPr>
              <a:t>)  +  B</a:t>
            </a:r>
            <a:r>
              <a:rPr lang="en-US" sz="2400" baseline="30000" dirty="0" smtClean="0">
                <a:solidFill>
                  <a:srgbClr val="FF00FF"/>
                </a:solidFill>
                <a:latin typeface="Arial" pitchFamily="34" charset="0"/>
                <a:cs typeface="Arial" pitchFamily="34" charset="0"/>
              </a:rPr>
              <a:t>-</a:t>
            </a:r>
            <a:r>
              <a:rPr lang="en-US" sz="2400" dirty="0" smtClean="0">
                <a:solidFill>
                  <a:srgbClr val="FF00FF"/>
                </a:solidFill>
                <a:latin typeface="Arial" pitchFamily="34" charset="0"/>
                <a:cs typeface="Arial" pitchFamily="34" charset="0"/>
              </a:rPr>
              <a:t>(</a:t>
            </a:r>
            <a:r>
              <a:rPr lang="en-US" sz="2400" dirty="0" err="1" smtClean="0">
                <a:solidFill>
                  <a:srgbClr val="FF00FF"/>
                </a:solidFill>
                <a:latin typeface="Arial" pitchFamily="34" charset="0"/>
                <a:cs typeface="Arial" pitchFamily="34" charset="0"/>
              </a:rPr>
              <a:t>dd</a:t>
            </a:r>
            <a:r>
              <a:rPr lang="en-US" sz="2400" dirty="0" smtClean="0">
                <a:solidFill>
                  <a:srgbClr val="FF00FF"/>
                </a:solidFill>
                <a:latin typeface="Arial" pitchFamily="34" charset="0"/>
                <a:cs typeface="Arial" pitchFamily="34" charset="0"/>
              </a:rPr>
              <a:t>) ; </a:t>
            </a:r>
            <a:r>
              <a:rPr lang="en-US" sz="2400" dirty="0" smtClean="0">
                <a:solidFill>
                  <a:srgbClr val="FF00FF"/>
                </a:solidFill>
                <a:latin typeface="Arial" pitchFamily="34" charset="0"/>
                <a:cs typeface="Arial" pitchFamily="34" charset="0"/>
                <a:sym typeface="Symbol"/>
              </a:rPr>
              <a:t></a:t>
            </a:r>
            <a:r>
              <a:rPr lang="en-US" sz="2400" dirty="0" err="1" smtClean="0">
                <a:solidFill>
                  <a:srgbClr val="FF00FF"/>
                </a:solidFill>
                <a:latin typeface="Arial" pitchFamily="34" charset="0"/>
                <a:cs typeface="Arial" pitchFamily="34" charset="0"/>
                <a:sym typeface="Symbol"/>
              </a:rPr>
              <a:t>H</a:t>
            </a:r>
            <a:r>
              <a:rPr lang="en-US" sz="2400" baseline="-25000" dirty="0" err="1" smtClean="0">
                <a:solidFill>
                  <a:srgbClr val="FF00FF"/>
                </a:solidFill>
                <a:latin typeface="Arial" pitchFamily="34" charset="0"/>
                <a:cs typeface="Arial" pitchFamily="34" charset="0"/>
                <a:sym typeface="Symbol"/>
              </a:rPr>
              <a:t>đly</a:t>
            </a:r>
            <a:r>
              <a:rPr lang="en-US" sz="2400" dirty="0" smtClean="0">
                <a:solidFill>
                  <a:srgbClr val="FF00FF"/>
                </a:solidFill>
                <a:latin typeface="Arial" pitchFamily="34" charset="0"/>
                <a:cs typeface="Arial" pitchFamily="34" charset="0"/>
                <a:sym typeface="Symbol"/>
              </a:rPr>
              <a:t> &gt; 0 (</a:t>
            </a:r>
            <a:r>
              <a:rPr lang="en-US" sz="2400" dirty="0" err="1" smtClean="0">
                <a:solidFill>
                  <a:srgbClr val="FF00FF"/>
                </a:solidFill>
                <a:latin typeface="Arial" pitchFamily="34" charset="0"/>
                <a:cs typeface="Arial" pitchFamily="34" charset="0"/>
                <a:sym typeface="Symbol"/>
              </a:rPr>
              <a:t>thường</a:t>
            </a:r>
            <a:r>
              <a:rPr lang="en-US" sz="2400" dirty="0" smtClean="0">
                <a:solidFill>
                  <a:srgbClr val="FF00FF"/>
                </a:solidFill>
                <a:latin typeface="Arial" pitchFamily="34" charset="0"/>
                <a:cs typeface="Arial" pitchFamily="34" charset="0"/>
                <a:sym typeface="Symbol"/>
              </a:rPr>
              <a:t>)</a:t>
            </a:r>
          </a:p>
          <a:p>
            <a:pPr>
              <a:lnSpc>
                <a:spcPct val="150000"/>
              </a:lnSpc>
            </a:pPr>
            <a:r>
              <a:rPr lang="en-US" sz="2400" dirty="0" smtClean="0">
                <a:solidFill>
                  <a:srgbClr val="FF00FF"/>
                </a:solidFill>
                <a:latin typeface="Arial" pitchFamily="34" charset="0"/>
                <a:cs typeface="Arial" pitchFamily="34" charset="0"/>
                <a:sym typeface="Symbol"/>
              </a:rPr>
              <a:t>T  </a:t>
            </a:r>
            <a:r>
              <a:rPr lang="en-US" sz="2400" dirty="0" err="1" smtClean="0">
                <a:solidFill>
                  <a:srgbClr val="FF00FF"/>
                </a:solidFill>
                <a:latin typeface="Arial" pitchFamily="34" charset="0"/>
                <a:cs typeface="Arial" pitchFamily="34" charset="0"/>
                <a:sym typeface="Symbol"/>
              </a:rPr>
              <a:t>cân</a:t>
            </a:r>
            <a:r>
              <a:rPr lang="en-US" sz="2400" dirty="0" smtClean="0">
                <a:solidFill>
                  <a:srgbClr val="FF00FF"/>
                </a:solidFill>
                <a:latin typeface="Arial" pitchFamily="34" charset="0"/>
                <a:cs typeface="Arial" pitchFamily="34" charset="0"/>
                <a:sym typeface="Symbol"/>
              </a:rPr>
              <a:t> </a:t>
            </a:r>
            <a:r>
              <a:rPr lang="en-US" sz="2400" dirty="0" err="1" smtClean="0">
                <a:solidFill>
                  <a:srgbClr val="FF00FF"/>
                </a:solidFill>
                <a:latin typeface="Arial" pitchFamily="34" charset="0"/>
                <a:cs typeface="Arial" pitchFamily="34" charset="0"/>
                <a:sym typeface="Symbol"/>
              </a:rPr>
              <a:t>bằng</a:t>
            </a:r>
            <a:r>
              <a:rPr lang="en-US" sz="2400" dirty="0" smtClean="0">
                <a:solidFill>
                  <a:srgbClr val="FF00FF"/>
                </a:solidFill>
                <a:latin typeface="Arial" pitchFamily="34" charset="0"/>
                <a:cs typeface="Arial" pitchFamily="34" charset="0"/>
                <a:sym typeface="Symbol"/>
              </a:rPr>
              <a:t>  </a:t>
            </a:r>
            <a:r>
              <a:rPr lang="en-US" sz="2400" dirty="0" err="1" smtClean="0">
                <a:solidFill>
                  <a:srgbClr val="FF00FF"/>
                </a:solidFill>
                <a:latin typeface="Arial" pitchFamily="34" charset="0"/>
                <a:cs typeface="Arial" pitchFamily="34" charset="0"/>
                <a:sym typeface="Symbol"/>
              </a:rPr>
              <a:t>chiều</a:t>
            </a:r>
            <a:r>
              <a:rPr lang="en-US" sz="2400" dirty="0" smtClean="0">
                <a:solidFill>
                  <a:srgbClr val="FF00FF"/>
                </a:solidFill>
                <a:latin typeface="Arial" pitchFamily="34" charset="0"/>
                <a:cs typeface="Arial" pitchFamily="34" charset="0"/>
                <a:sym typeface="Symbol"/>
              </a:rPr>
              <a:t> </a:t>
            </a:r>
            <a:r>
              <a:rPr lang="en-US" sz="2400" dirty="0" err="1" smtClean="0">
                <a:solidFill>
                  <a:srgbClr val="FF00FF"/>
                </a:solidFill>
                <a:latin typeface="Arial" pitchFamily="34" charset="0"/>
                <a:cs typeface="Arial" pitchFamily="34" charset="0"/>
                <a:sym typeface="Symbol"/>
              </a:rPr>
              <a:t>thuận</a:t>
            </a:r>
            <a:r>
              <a:rPr lang="en-US" sz="2400" dirty="0" smtClean="0">
                <a:solidFill>
                  <a:srgbClr val="FF00FF"/>
                </a:solidFill>
                <a:latin typeface="Arial" pitchFamily="34" charset="0"/>
                <a:cs typeface="Arial" pitchFamily="34" charset="0"/>
                <a:sym typeface="Symbol"/>
              </a:rPr>
              <a:t>: </a:t>
            </a:r>
            <a:endParaRPr lang="en-US" sz="2400" dirty="0">
              <a:solidFill>
                <a:srgbClr val="FF00FF"/>
              </a:solidFill>
              <a:latin typeface="Arial" pitchFamily="34" charset="0"/>
              <a:cs typeface="Arial" pitchFamily="34" charset="0"/>
            </a:endParaRPr>
          </a:p>
        </p:txBody>
      </p:sp>
      <p:sp>
        <p:nvSpPr>
          <p:cNvPr id="6" name="TextBox 5"/>
          <p:cNvSpPr txBox="1"/>
          <p:nvPr/>
        </p:nvSpPr>
        <p:spPr>
          <a:xfrm>
            <a:off x="2086252" y="5414254"/>
            <a:ext cx="9188483" cy="1200329"/>
          </a:xfrm>
          <a:prstGeom prst="rect">
            <a:avLst/>
          </a:prstGeom>
          <a:noFill/>
        </p:spPr>
        <p:txBody>
          <a:bodyPr wrap="square" rtlCol="0">
            <a:spAutoFit/>
          </a:bodyPr>
          <a:lstStyle/>
          <a:p>
            <a:pPr>
              <a:lnSpc>
                <a:spcPct val="150000"/>
              </a:lnSpc>
            </a:pPr>
            <a:r>
              <a:rPr lang="en-US" sz="2400" dirty="0" smtClean="0">
                <a:latin typeface="Arial" pitchFamily="34" charset="0"/>
                <a:cs typeface="Arial" pitchFamily="34" charset="0"/>
              </a:rPr>
              <a:t>HA(</a:t>
            </a:r>
            <a:r>
              <a:rPr lang="en-US" sz="2400" dirty="0" err="1" smtClean="0">
                <a:latin typeface="Arial" pitchFamily="34" charset="0"/>
                <a:cs typeface="Arial" pitchFamily="34" charset="0"/>
              </a:rPr>
              <a:t>dd</a:t>
            </a:r>
            <a:r>
              <a:rPr lang="en-US" sz="2400" dirty="0" smtClean="0">
                <a:latin typeface="Arial" pitchFamily="34" charset="0"/>
                <a:cs typeface="Arial" pitchFamily="34" charset="0"/>
              </a:rPr>
              <a:t>) </a:t>
            </a:r>
            <a:r>
              <a:rPr lang="en-US" altLang="en-US" sz="2400" dirty="0">
                <a:latin typeface="Arial" pitchFamily="34" charset="0"/>
                <a:cs typeface="Arial" pitchFamily="34" charset="0"/>
              </a:rPr>
              <a:t>⇌</a:t>
            </a:r>
            <a:r>
              <a:rPr lang="en-US" sz="2400" dirty="0" smtClean="0">
                <a:latin typeface="Arial" pitchFamily="34" charset="0"/>
                <a:cs typeface="Arial" pitchFamily="34" charset="0"/>
              </a:rPr>
              <a:t>   H</a:t>
            </a:r>
            <a:r>
              <a:rPr lang="en-US" sz="2400" baseline="30000" dirty="0" smtClean="0">
                <a:latin typeface="Arial" pitchFamily="34" charset="0"/>
                <a:cs typeface="Arial" pitchFamily="34" charset="0"/>
              </a:rPr>
              <a:t>+</a:t>
            </a:r>
            <a:r>
              <a:rPr lang="en-US" sz="2400" dirty="0" smtClean="0">
                <a:latin typeface="Arial" pitchFamily="34" charset="0"/>
                <a:cs typeface="Arial" pitchFamily="34" charset="0"/>
              </a:rPr>
              <a:t>(</a:t>
            </a:r>
            <a:r>
              <a:rPr lang="en-US" sz="2400" dirty="0" err="1" smtClean="0">
                <a:latin typeface="Arial" pitchFamily="34" charset="0"/>
                <a:cs typeface="Arial" pitchFamily="34" charset="0"/>
              </a:rPr>
              <a:t>dd</a:t>
            </a:r>
            <a:r>
              <a:rPr lang="en-US" sz="2400" dirty="0" smtClean="0">
                <a:latin typeface="Arial" pitchFamily="34" charset="0"/>
                <a:cs typeface="Arial" pitchFamily="34" charset="0"/>
              </a:rPr>
              <a:t>)  +  A</a:t>
            </a:r>
            <a:r>
              <a:rPr lang="en-US" sz="2400" baseline="30000" dirty="0" smtClean="0">
                <a:latin typeface="Arial" pitchFamily="34" charset="0"/>
                <a:cs typeface="Arial" pitchFamily="34" charset="0"/>
              </a:rPr>
              <a:t>-</a:t>
            </a:r>
            <a:r>
              <a:rPr lang="en-US" sz="2400" dirty="0" smtClean="0">
                <a:latin typeface="Arial" pitchFamily="34" charset="0"/>
                <a:cs typeface="Arial" pitchFamily="34" charset="0"/>
              </a:rPr>
              <a:t>(</a:t>
            </a:r>
            <a:r>
              <a:rPr lang="en-US" sz="2400" dirty="0" err="1" smtClean="0">
                <a:latin typeface="Arial" pitchFamily="34" charset="0"/>
                <a:cs typeface="Arial" pitchFamily="34" charset="0"/>
              </a:rPr>
              <a:t>dd</a:t>
            </a:r>
            <a:r>
              <a:rPr lang="en-US" sz="2400" dirty="0" smtClean="0">
                <a:latin typeface="Arial" pitchFamily="34" charset="0"/>
                <a:cs typeface="Arial" pitchFamily="34" charset="0"/>
              </a:rPr>
              <a:t>) </a:t>
            </a:r>
            <a:endParaRPr lang="en-US" sz="2400" dirty="0" smtClean="0">
              <a:latin typeface="Arial" pitchFamily="34" charset="0"/>
              <a:cs typeface="Arial" pitchFamily="34" charset="0"/>
              <a:sym typeface="Symbol"/>
            </a:endParaRPr>
          </a:p>
          <a:p>
            <a:pPr>
              <a:lnSpc>
                <a:spcPct val="150000"/>
              </a:lnSpc>
            </a:pPr>
            <a:r>
              <a:rPr lang="en-US" sz="2400" dirty="0" smtClean="0">
                <a:latin typeface="Arial" pitchFamily="34" charset="0"/>
                <a:cs typeface="Arial" pitchFamily="34" charset="0"/>
                <a:sym typeface="Symbol"/>
              </a:rPr>
              <a:t>pH  : [H</a:t>
            </a:r>
            <a:r>
              <a:rPr lang="en-US" sz="2400" baseline="30000" dirty="0" smtClean="0">
                <a:latin typeface="Arial" pitchFamily="34" charset="0"/>
                <a:cs typeface="Arial" pitchFamily="34" charset="0"/>
                <a:sym typeface="Symbol"/>
              </a:rPr>
              <a:t>+</a:t>
            </a:r>
            <a:r>
              <a:rPr lang="en-US" sz="2400" dirty="0" smtClean="0">
                <a:latin typeface="Arial" pitchFamily="34" charset="0"/>
                <a:cs typeface="Arial" pitchFamily="34" charset="0"/>
                <a:sym typeface="Symbol"/>
              </a:rPr>
              <a:t>]     </a:t>
            </a:r>
            <a:r>
              <a:rPr lang="en-US" sz="2400" dirty="0" err="1" smtClean="0">
                <a:latin typeface="Arial" pitchFamily="34" charset="0"/>
                <a:cs typeface="Arial" pitchFamily="34" charset="0"/>
                <a:sym typeface="Symbol"/>
              </a:rPr>
              <a:t>cân</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bằng</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chuyển</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dịch</a:t>
            </a:r>
            <a:r>
              <a:rPr lang="en-US" sz="2400" dirty="0" smtClean="0">
                <a:latin typeface="Arial" pitchFamily="34" charset="0"/>
                <a:cs typeface="Arial" pitchFamily="34" charset="0"/>
                <a:sym typeface="Symbol"/>
              </a:rPr>
              <a:t> sang </a:t>
            </a:r>
            <a:r>
              <a:rPr lang="en-US" sz="2400" dirty="0" err="1" smtClean="0">
                <a:latin typeface="Arial" pitchFamily="34" charset="0"/>
                <a:cs typeface="Arial" pitchFamily="34" charset="0"/>
                <a:sym typeface="Symbol"/>
              </a:rPr>
              <a:t>chiều</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thuận</a:t>
            </a:r>
            <a:r>
              <a:rPr lang="en-US" sz="2400" dirty="0" smtClean="0">
                <a:latin typeface="Arial" pitchFamily="34" charset="0"/>
                <a:cs typeface="Arial" pitchFamily="34" charset="0"/>
                <a:sym typeface="Symbol"/>
              </a:rPr>
              <a:t>: </a:t>
            </a:r>
            <a:r>
              <a:rPr lang="en-US" sz="2400" baseline="-25000" dirty="0" err="1" smtClean="0">
                <a:latin typeface="Arial" pitchFamily="34" charset="0"/>
                <a:cs typeface="Arial" pitchFamily="34" charset="0"/>
                <a:sym typeface="Symbol"/>
              </a:rPr>
              <a:t>axit</a:t>
            </a:r>
            <a:r>
              <a:rPr lang="en-US" sz="2400" dirty="0" smtClean="0">
                <a:latin typeface="Arial" pitchFamily="34" charset="0"/>
                <a:cs typeface="Arial" pitchFamily="34" charset="0"/>
                <a:sym typeface="Symbol"/>
              </a:rPr>
              <a:t>  </a:t>
            </a:r>
            <a:endParaRPr lang="en-US" sz="2400" dirty="0">
              <a:latin typeface="Arial" pitchFamily="34" charset="0"/>
              <a:cs typeface="Arial" pitchFamily="34" charset="0"/>
            </a:endParaRPr>
          </a:p>
        </p:txBody>
      </p:sp>
      <p:sp>
        <p:nvSpPr>
          <p:cNvPr id="7" name="TextBox 6"/>
          <p:cNvSpPr txBox="1"/>
          <p:nvPr/>
        </p:nvSpPr>
        <p:spPr>
          <a:xfrm>
            <a:off x="812212" y="5414251"/>
            <a:ext cx="10311602" cy="1200329"/>
          </a:xfrm>
          <a:prstGeom prst="rect">
            <a:avLst/>
          </a:prstGeom>
          <a:solidFill>
            <a:schemeClr val="bg1"/>
          </a:solidFill>
        </p:spPr>
        <p:txBody>
          <a:bodyPr wrap="square" rtlCol="0">
            <a:spAutoFit/>
          </a:bodyPr>
          <a:lstStyle/>
          <a:p>
            <a:pPr>
              <a:lnSpc>
                <a:spcPct val="150000"/>
              </a:lnSpc>
            </a:pPr>
            <a:r>
              <a:rPr lang="en-US" sz="2400" dirty="0" smtClean="0">
                <a:latin typeface="Arial" pitchFamily="34" charset="0"/>
                <a:cs typeface="Arial" pitchFamily="34" charset="0"/>
              </a:rPr>
              <a:t>MOH(</a:t>
            </a:r>
            <a:r>
              <a:rPr lang="en-US" sz="2400" dirty="0" err="1" smtClean="0">
                <a:latin typeface="Arial" pitchFamily="34" charset="0"/>
                <a:cs typeface="Arial" pitchFamily="34" charset="0"/>
              </a:rPr>
              <a:t>dd</a:t>
            </a:r>
            <a:r>
              <a:rPr lang="en-US" sz="2400" dirty="0" smtClean="0">
                <a:latin typeface="Arial" pitchFamily="34" charset="0"/>
                <a:cs typeface="Arial" pitchFamily="34" charset="0"/>
              </a:rPr>
              <a:t>) </a:t>
            </a:r>
            <a:r>
              <a:rPr lang="en-US" altLang="en-US" sz="2400" dirty="0">
                <a:latin typeface="Arial" pitchFamily="34" charset="0"/>
                <a:cs typeface="Arial" pitchFamily="34" charset="0"/>
              </a:rPr>
              <a:t>⇌</a:t>
            </a:r>
            <a:r>
              <a:rPr lang="en-US" sz="2400" dirty="0" smtClean="0">
                <a:latin typeface="Arial" pitchFamily="34" charset="0"/>
                <a:cs typeface="Arial" pitchFamily="34" charset="0"/>
              </a:rPr>
              <a:t>   M</a:t>
            </a:r>
            <a:r>
              <a:rPr lang="en-US" sz="2400" baseline="30000" dirty="0" smtClean="0">
                <a:latin typeface="Arial" pitchFamily="34" charset="0"/>
                <a:cs typeface="Arial" pitchFamily="34" charset="0"/>
              </a:rPr>
              <a:t>+</a:t>
            </a:r>
            <a:r>
              <a:rPr lang="en-US" sz="2400" dirty="0" smtClean="0">
                <a:latin typeface="Arial" pitchFamily="34" charset="0"/>
                <a:cs typeface="Arial" pitchFamily="34" charset="0"/>
              </a:rPr>
              <a:t>(</a:t>
            </a:r>
            <a:r>
              <a:rPr lang="en-US" sz="2400" dirty="0" err="1" smtClean="0">
                <a:latin typeface="Arial" pitchFamily="34" charset="0"/>
                <a:cs typeface="Arial" pitchFamily="34" charset="0"/>
              </a:rPr>
              <a:t>dd</a:t>
            </a:r>
            <a:r>
              <a:rPr lang="en-US" sz="2400" dirty="0" smtClean="0">
                <a:latin typeface="Arial" pitchFamily="34" charset="0"/>
                <a:cs typeface="Arial" pitchFamily="34" charset="0"/>
              </a:rPr>
              <a:t>)  +  OH</a:t>
            </a:r>
            <a:r>
              <a:rPr lang="en-US" sz="2400" baseline="30000" dirty="0" smtClean="0">
                <a:latin typeface="Arial" pitchFamily="34" charset="0"/>
                <a:cs typeface="Arial" pitchFamily="34" charset="0"/>
              </a:rPr>
              <a:t>-</a:t>
            </a:r>
            <a:r>
              <a:rPr lang="en-US" sz="2400" dirty="0" smtClean="0">
                <a:latin typeface="Arial" pitchFamily="34" charset="0"/>
                <a:cs typeface="Arial" pitchFamily="34" charset="0"/>
              </a:rPr>
              <a:t>(</a:t>
            </a:r>
            <a:r>
              <a:rPr lang="en-US" sz="2400" dirty="0" err="1" smtClean="0">
                <a:latin typeface="Arial" pitchFamily="34" charset="0"/>
                <a:cs typeface="Arial" pitchFamily="34" charset="0"/>
              </a:rPr>
              <a:t>dd</a:t>
            </a:r>
            <a:r>
              <a:rPr lang="en-US" sz="2400" dirty="0" smtClean="0">
                <a:latin typeface="Arial" pitchFamily="34" charset="0"/>
                <a:cs typeface="Arial" pitchFamily="34" charset="0"/>
              </a:rPr>
              <a:t>) </a:t>
            </a:r>
            <a:endParaRPr lang="en-US" sz="2400" dirty="0" smtClean="0">
              <a:latin typeface="Arial" pitchFamily="34" charset="0"/>
              <a:cs typeface="Arial" pitchFamily="34" charset="0"/>
              <a:sym typeface="Symbol"/>
            </a:endParaRPr>
          </a:p>
          <a:p>
            <a:pPr>
              <a:lnSpc>
                <a:spcPct val="150000"/>
              </a:lnSpc>
            </a:pPr>
            <a:r>
              <a:rPr lang="en-US" sz="2400" dirty="0" smtClean="0">
                <a:latin typeface="Arial" pitchFamily="34" charset="0"/>
                <a:cs typeface="Arial" pitchFamily="34" charset="0"/>
                <a:sym typeface="Symbol"/>
              </a:rPr>
              <a:t>pH  : [OH</a:t>
            </a:r>
            <a:r>
              <a:rPr lang="en-US" sz="2400" baseline="30000" dirty="0" smtClean="0">
                <a:latin typeface="Arial" pitchFamily="34" charset="0"/>
                <a:cs typeface="Arial" pitchFamily="34" charset="0"/>
                <a:sym typeface="Symbol"/>
              </a:rPr>
              <a:t>-</a:t>
            </a:r>
            <a:r>
              <a:rPr lang="en-US" sz="2400" dirty="0" smtClean="0">
                <a:latin typeface="Arial" pitchFamily="34" charset="0"/>
                <a:cs typeface="Arial" pitchFamily="34" charset="0"/>
                <a:sym typeface="Symbol"/>
              </a:rPr>
              <a:t>] </a:t>
            </a:r>
            <a:r>
              <a:rPr lang="en-US" sz="2400" dirty="0">
                <a:latin typeface="Arial" pitchFamily="34" charset="0"/>
                <a:cs typeface="Arial" pitchFamily="34" charset="0"/>
                <a:sym typeface="Symbol"/>
              </a:rPr>
              <a:t></a:t>
            </a:r>
            <a:r>
              <a:rPr lang="en-US" sz="2400" dirty="0" smtClean="0">
                <a:latin typeface="Arial" pitchFamily="34" charset="0"/>
                <a:cs typeface="Arial" pitchFamily="34" charset="0"/>
                <a:sym typeface="Symbol"/>
              </a:rPr>
              <a:t>    </a:t>
            </a:r>
            <a:r>
              <a:rPr lang="en-US" sz="2400" dirty="0" err="1" smtClean="0">
                <a:latin typeface="Arial" pitchFamily="34" charset="0"/>
                <a:cs typeface="Arial" pitchFamily="34" charset="0"/>
                <a:sym typeface="Symbol"/>
              </a:rPr>
              <a:t>cân</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bằng</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chuyển</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dịch</a:t>
            </a:r>
            <a:r>
              <a:rPr lang="en-US" sz="2400" dirty="0" smtClean="0">
                <a:latin typeface="Arial" pitchFamily="34" charset="0"/>
                <a:cs typeface="Arial" pitchFamily="34" charset="0"/>
                <a:sym typeface="Symbol"/>
              </a:rPr>
              <a:t> sang </a:t>
            </a:r>
            <a:r>
              <a:rPr lang="en-US" sz="2400" dirty="0" err="1" smtClean="0">
                <a:latin typeface="Arial" pitchFamily="34" charset="0"/>
                <a:cs typeface="Arial" pitchFamily="34" charset="0"/>
                <a:sym typeface="Symbol"/>
              </a:rPr>
              <a:t>chiều</a:t>
            </a:r>
            <a:r>
              <a:rPr lang="en-US" sz="2400" dirty="0" smtClean="0">
                <a:latin typeface="Arial" pitchFamily="34" charset="0"/>
                <a:cs typeface="Arial" pitchFamily="34" charset="0"/>
                <a:sym typeface="Symbol"/>
              </a:rPr>
              <a:t> </a:t>
            </a:r>
            <a:r>
              <a:rPr lang="en-US" sz="2400" dirty="0" err="1" smtClean="0">
                <a:latin typeface="Arial" pitchFamily="34" charset="0"/>
                <a:cs typeface="Arial" pitchFamily="34" charset="0"/>
                <a:sym typeface="Symbol"/>
              </a:rPr>
              <a:t>nghịch</a:t>
            </a:r>
            <a:r>
              <a:rPr lang="en-US" sz="2400" dirty="0" smtClean="0">
                <a:latin typeface="Arial" pitchFamily="34" charset="0"/>
                <a:cs typeface="Arial" pitchFamily="34" charset="0"/>
                <a:sym typeface="Symbol"/>
              </a:rPr>
              <a:t>: </a:t>
            </a:r>
            <a:r>
              <a:rPr lang="en-US" sz="2400" baseline="-25000" dirty="0" smtClean="0">
                <a:latin typeface="Arial" pitchFamily="34" charset="0"/>
                <a:cs typeface="Arial" pitchFamily="34" charset="0"/>
                <a:sym typeface="Symbol"/>
              </a:rPr>
              <a:t>base</a:t>
            </a:r>
            <a:r>
              <a:rPr lang="en-US" sz="2400" dirty="0" smtClean="0">
                <a:latin typeface="Arial" pitchFamily="34" charset="0"/>
                <a:cs typeface="Arial" pitchFamily="34" charset="0"/>
                <a:sym typeface="Symbol"/>
              </a:rPr>
              <a:t>  </a:t>
            </a:r>
            <a:endParaRPr lang="en-US" sz="2400" dirty="0">
              <a:latin typeface="Arial" pitchFamily="34" charset="0"/>
              <a:cs typeface="Arial" pitchFamily="34" charset="0"/>
            </a:endParaRPr>
          </a:p>
        </p:txBody>
      </p:sp>
    </p:spTree>
    <p:extLst>
      <p:ext uri="{BB962C8B-B14F-4D97-AF65-F5344CB8AC3E}">
        <p14:creationId xmlns:p14="http://schemas.microsoft.com/office/powerpoint/2010/main" val="79842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2" grpId="0"/>
      <p:bldP spid="5" grpId="0"/>
      <p:bldP spid="6" grpId="0"/>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 xmlns:a16="http://schemas.microsoft.com/office/drawing/2014/main" id="{2627F335-22F0-4FB0-8317-3EA6F5CE7506}"/>
              </a:ext>
            </a:extLst>
          </p:cNvPr>
          <p:cNvSpPr>
            <a:spLocks noGrp="1" noChangeArrowheads="1"/>
          </p:cNvSpPr>
          <p:nvPr>
            <p:ph type="title"/>
          </p:nvPr>
        </p:nvSpPr>
        <p:spPr>
          <a:xfrm>
            <a:off x="457199" y="474383"/>
            <a:ext cx="11591365" cy="1695076"/>
          </a:xfrm>
        </p:spPr>
        <p:txBody>
          <a:bodyPr rtlCol="0">
            <a:normAutofit fontScale="90000"/>
          </a:bodyPr>
          <a:lstStyle/>
          <a:p>
            <a:pPr>
              <a:lnSpc>
                <a:spcPct val="150000"/>
              </a:lnSpc>
              <a:defRPr/>
            </a:pPr>
            <a:r>
              <a:rPr lang="vi-VN" sz="3200" b="1" dirty="0">
                <a:solidFill>
                  <a:srgbClr val="0000FF"/>
                </a:solidFill>
                <a:effectLst>
                  <a:outerShdw blurRad="38100" dist="38100" dir="2700000" algn="tl">
                    <a:srgbClr val="000000">
                      <a:alpha val="43137"/>
                    </a:srgbClr>
                  </a:outerShdw>
                </a:effectLst>
                <a:cs typeface="Times New Roman" panose="02020603050405020304" pitchFamily="18" charset="0"/>
              </a:rPr>
              <a:t>  </a:t>
            </a:r>
            <a:r>
              <a:rPr lang="en-US" sz="3600" b="1" dirty="0" err="1">
                <a:latin typeface="Arial" pitchFamily="34" charset="0"/>
                <a:cs typeface="Arial" pitchFamily="34" charset="0"/>
              </a:rPr>
              <a:t>Câu</a:t>
            </a:r>
            <a:r>
              <a:rPr lang="vi-VN" sz="3600" b="1" dirty="0">
                <a:latin typeface="Arial" pitchFamily="34" charset="0"/>
                <a:cs typeface="Arial" pitchFamily="34" charset="0"/>
              </a:rPr>
              <a:t> </a:t>
            </a:r>
            <a:r>
              <a:rPr lang="vi-VN" sz="3600" b="1" dirty="0" smtClean="0">
                <a:latin typeface="Arial" pitchFamily="34" charset="0"/>
                <a:cs typeface="Arial" pitchFamily="34" charset="0"/>
              </a:rPr>
              <a:t>2</a:t>
            </a:r>
            <a:r>
              <a:rPr lang="vi-VN" sz="3600" b="1" dirty="0">
                <a:latin typeface="Arial" pitchFamily="34" charset="0"/>
                <a:cs typeface="Arial" pitchFamily="34" charset="0"/>
              </a:rPr>
              <a:t>0</a:t>
            </a:r>
            <a:r>
              <a:rPr lang="en-US" sz="3600" dirty="0" smtClean="0">
                <a:latin typeface="Arial" pitchFamily="34" charset="0"/>
                <a:cs typeface="Arial" pitchFamily="34" charset="0"/>
              </a:rPr>
              <a:t>. </a:t>
            </a:r>
            <a:r>
              <a:rPr lang="en-US" sz="3600" dirty="0" err="1">
                <a:latin typeface="Arial" pitchFamily="34" charset="0"/>
                <a:cs typeface="Arial" pitchFamily="34" charset="0"/>
              </a:rPr>
              <a:t>Cân</a:t>
            </a:r>
            <a:r>
              <a:rPr lang="en-US" sz="3600" dirty="0">
                <a:latin typeface="Arial" pitchFamily="34" charset="0"/>
                <a:cs typeface="Arial" pitchFamily="34" charset="0"/>
              </a:rPr>
              <a:t> </a:t>
            </a:r>
            <a:r>
              <a:rPr lang="en-US" sz="3600" dirty="0" err="1">
                <a:latin typeface="Arial" pitchFamily="34" charset="0"/>
                <a:cs typeface="Arial" pitchFamily="34" charset="0"/>
              </a:rPr>
              <a:t>bằng</a:t>
            </a:r>
            <a:r>
              <a:rPr lang="en-US" sz="3600" dirty="0">
                <a:latin typeface="Arial" pitchFamily="34" charset="0"/>
                <a:cs typeface="Arial" pitchFamily="34" charset="0"/>
              </a:rPr>
              <a:t> </a:t>
            </a:r>
            <a:r>
              <a:rPr lang="en-US" sz="3600" dirty="0" err="1">
                <a:latin typeface="Arial" pitchFamily="34" charset="0"/>
                <a:cs typeface="Arial" pitchFamily="34" charset="0"/>
              </a:rPr>
              <a:t>và</a:t>
            </a:r>
            <a:r>
              <a:rPr lang="en-US" sz="3600" dirty="0">
                <a:latin typeface="Arial" pitchFamily="34" charset="0"/>
                <a:cs typeface="Arial" pitchFamily="34" charset="0"/>
              </a:rPr>
              <a:t> </a:t>
            </a:r>
            <a:r>
              <a:rPr lang="en-US" sz="3600" dirty="0" err="1">
                <a:latin typeface="Arial" pitchFamily="34" charset="0"/>
                <a:cs typeface="Arial" pitchFamily="34" charset="0"/>
              </a:rPr>
              <a:t>xác</a:t>
            </a:r>
            <a:r>
              <a:rPr lang="en-US" sz="3600" dirty="0">
                <a:latin typeface="Arial" pitchFamily="34" charset="0"/>
                <a:cs typeface="Arial" pitchFamily="34" charset="0"/>
              </a:rPr>
              <a:t> </a:t>
            </a:r>
            <a:r>
              <a:rPr lang="en-US" sz="3600" dirty="0" err="1">
                <a:latin typeface="Arial" pitchFamily="34" charset="0"/>
                <a:cs typeface="Arial" pitchFamily="34" charset="0"/>
              </a:rPr>
              <a:t>định</a:t>
            </a:r>
            <a:r>
              <a:rPr lang="en-US" sz="3600" dirty="0">
                <a:latin typeface="Arial" pitchFamily="34" charset="0"/>
                <a:cs typeface="Arial" pitchFamily="34" charset="0"/>
              </a:rPr>
              <a:t> </a:t>
            </a:r>
            <a:r>
              <a:rPr lang="en-US" sz="3600" dirty="0" err="1">
                <a:latin typeface="Arial" pitchFamily="34" charset="0"/>
                <a:cs typeface="Arial" pitchFamily="34" charset="0"/>
              </a:rPr>
              <a:t>vai</a:t>
            </a:r>
            <a:r>
              <a:rPr lang="en-US" sz="3600" dirty="0">
                <a:latin typeface="Arial" pitchFamily="34" charset="0"/>
                <a:cs typeface="Arial" pitchFamily="34" charset="0"/>
              </a:rPr>
              <a:t> </a:t>
            </a:r>
            <a:r>
              <a:rPr lang="en-US" sz="3600" dirty="0" err="1">
                <a:latin typeface="Arial" pitchFamily="34" charset="0"/>
                <a:cs typeface="Arial" pitchFamily="34" charset="0"/>
              </a:rPr>
              <a:t>trò</a:t>
            </a:r>
            <a:r>
              <a:rPr lang="en-US" sz="3600" dirty="0">
                <a:latin typeface="Arial" pitchFamily="34" charset="0"/>
                <a:cs typeface="Arial" pitchFamily="34" charset="0"/>
              </a:rPr>
              <a:t> </a:t>
            </a:r>
            <a:r>
              <a:rPr lang="en-US" sz="3600" dirty="0" err="1">
                <a:latin typeface="Arial" pitchFamily="34" charset="0"/>
                <a:cs typeface="Arial" pitchFamily="34" charset="0"/>
              </a:rPr>
              <a:t>chất</a:t>
            </a:r>
            <a:r>
              <a:rPr lang="vi-VN" sz="3600" dirty="0">
                <a:latin typeface="Arial" pitchFamily="34" charset="0"/>
                <a:cs typeface="Arial" pitchFamily="34" charset="0"/>
              </a:rPr>
              <a:t> pư</a:t>
            </a:r>
            <a:r>
              <a:rPr lang="en-US" sz="3600" dirty="0">
                <a:latin typeface="Arial" pitchFamily="34" charset="0"/>
                <a:cs typeface="Arial" pitchFamily="34" charset="0"/>
              </a:rPr>
              <a:t> </a:t>
            </a:r>
            <a:r>
              <a:rPr lang="en-US" sz="3600" dirty="0" err="1">
                <a:latin typeface="Arial" pitchFamily="34" charset="0"/>
                <a:cs typeface="Arial" pitchFamily="34" charset="0"/>
              </a:rPr>
              <a:t>trong</a:t>
            </a:r>
            <a:r>
              <a:rPr lang="en-US" sz="3600" dirty="0">
                <a:latin typeface="Arial" pitchFamily="34" charset="0"/>
                <a:cs typeface="Arial" pitchFamily="34" charset="0"/>
              </a:rPr>
              <a:t> </a:t>
            </a:r>
            <a:r>
              <a:rPr lang="en-US" sz="3600" dirty="0" err="1">
                <a:latin typeface="Arial" pitchFamily="34" charset="0"/>
                <a:cs typeface="Arial" pitchFamily="34" charset="0"/>
              </a:rPr>
              <a:t>phản</a:t>
            </a:r>
            <a:r>
              <a:rPr lang="en-US" sz="3600" dirty="0">
                <a:latin typeface="Arial" pitchFamily="34" charset="0"/>
                <a:cs typeface="Arial" pitchFamily="34" charset="0"/>
              </a:rPr>
              <a:t> </a:t>
            </a:r>
            <a:r>
              <a:rPr lang="en-US" sz="3600" dirty="0" err="1">
                <a:latin typeface="Arial" pitchFamily="34" charset="0"/>
                <a:cs typeface="Arial" pitchFamily="34" charset="0"/>
              </a:rPr>
              <a:t>ứng</a:t>
            </a:r>
            <a:r>
              <a:rPr lang="en-US" sz="3600" dirty="0">
                <a:latin typeface="Arial" pitchFamily="34" charset="0"/>
                <a:cs typeface="Arial" pitchFamily="34" charset="0"/>
              </a:rPr>
              <a:t>:        </a:t>
            </a:r>
            <a:r>
              <a:rPr lang="vi-VN" sz="3600" dirty="0">
                <a:latin typeface="Arial" pitchFamily="34" charset="0"/>
                <a:cs typeface="Arial" pitchFamily="34" charset="0"/>
              </a:rPr>
              <a:t>      </a:t>
            </a:r>
            <a:r>
              <a:rPr lang="en-US" sz="3600" dirty="0">
                <a:latin typeface="Arial" pitchFamily="34" charset="0"/>
                <a:cs typeface="Arial" pitchFamily="34" charset="0"/>
              </a:rPr>
              <a:t>2NaCrO</a:t>
            </a:r>
            <a:r>
              <a:rPr lang="en-US" sz="3600" baseline="-25000" dirty="0">
                <a:latin typeface="Arial" pitchFamily="34" charset="0"/>
                <a:cs typeface="Arial" pitchFamily="34" charset="0"/>
              </a:rPr>
              <a:t>2</a:t>
            </a:r>
            <a:r>
              <a:rPr lang="en-US" sz="3600" dirty="0">
                <a:latin typeface="Arial" pitchFamily="34" charset="0"/>
                <a:cs typeface="Arial" pitchFamily="34" charset="0"/>
              </a:rPr>
              <a:t>  +  </a:t>
            </a:r>
            <a:r>
              <a:rPr lang="en-US" sz="3600" dirty="0">
                <a:solidFill>
                  <a:srgbClr val="FF0000"/>
                </a:solidFill>
                <a:latin typeface="Arial" pitchFamily="34" charset="0"/>
                <a:cs typeface="Arial" pitchFamily="34" charset="0"/>
              </a:rPr>
              <a:t>a</a:t>
            </a:r>
            <a:r>
              <a:rPr lang="en-US" sz="3600" dirty="0">
                <a:latin typeface="Arial" pitchFamily="34" charset="0"/>
                <a:cs typeface="Arial" pitchFamily="34" charset="0"/>
              </a:rPr>
              <a:t>Br</a:t>
            </a:r>
            <a:r>
              <a:rPr lang="en-US" sz="3600" baseline="-25000" dirty="0">
                <a:latin typeface="Arial" pitchFamily="34" charset="0"/>
                <a:cs typeface="Arial" pitchFamily="34" charset="0"/>
              </a:rPr>
              <a:t>2</a:t>
            </a:r>
            <a:r>
              <a:rPr lang="en-US" sz="3600" dirty="0">
                <a:latin typeface="Arial" pitchFamily="34" charset="0"/>
                <a:cs typeface="Arial" pitchFamily="34" charset="0"/>
              </a:rPr>
              <a:t>  +  </a:t>
            </a:r>
            <a:r>
              <a:rPr lang="en-US" sz="3600" dirty="0" err="1">
                <a:solidFill>
                  <a:srgbClr val="FF0000"/>
                </a:solidFill>
                <a:latin typeface="Arial" pitchFamily="34" charset="0"/>
                <a:cs typeface="Arial" pitchFamily="34" charset="0"/>
              </a:rPr>
              <a:t>b</a:t>
            </a:r>
            <a:r>
              <a:rPr lang="en-US" sz="3600" dirty="0" err="1">
                <a:latin typeface="Arial" pitchFamily="34" charset="0"/>
                <a:cs typeface="Arial" pitchFamily="34" charset="0"/>
              </a:rPr>
              <a:t>NaOH</a:t>
            </a:r>
            <a:r>
              <a:rPr lang="en-US" sz="3600" dirty="0">
                <a:latin typeface="Arial" pitchFamily="34" charset="0"/>
                <a:cs typeface="Arial" pitchFamily="34" charset="0"/>
              </a:rPr>
              <a:t> </a:t>
            </a:r>
            <a:r>
              <a:rPr lang="en-US" altLang="en-US" sz="3200" dirty="0">
                <a:latin typeface="Arial" pitchFamily="34" charset="0"/>
                <a:cs typeface="Arial" pitchFamily="34" charset="0"/>
              </a:rPr>
              <a:t>⇌  </a:t>
            </a:r>
            <a:r>
              <a:rPr lang="en-US" altLang="en-US" sz="3200" dirty="0">
                <a:solidFill>
                  <a:srgbClr val="FF0000"/>
                </a:solidFill>
                <a:latin typeface="Arial" pitchFamily="34" charset="0"/>
                <a:cs typeface="Arial" pitchFamily="34" charset="0"/>
              </a:rPr>
              <a:t>c</a:t>
            </a:r>
            <a:r>
              <a:rPr lang="en-US" altLang="en-US" sz="3200" dirty="0">
                <a:latin typeface="Arial" pitchFamily="34" charset="0"/>
                <a:cs typeface="Arial" pitchFamily="34" charset="0"/>
              </a:rPr>
              <a:t>Na</a:t>
            </a:r>
            <a:r>
              <a:rPr lang="en-US" altLang="en-US" sz="3200" baseline="-25000" dirty="0">
                <a:latin typeface="Arial" pitchFamily="34" charset="0"/>
                <a:cs typeface="Arial" pitchFamily="34" charset="0"/>
              </a:rPr>
              <a:t>2</a:t>
            </a:r>
            <a:r>
              <a:rPr lang="en-US" altLang="en-US" sz="3200" dirty="0">
                <a:latin typeface="Arial" pitchFamily="34" charset="0"/>
                <a:cs typeface="Arial" pitchFamily="34" charset="0"/>
              </a:rPr>
              <a:t>CrO</a:t>
            </a:r>
            <a:r>
              <a:rPr lang="en-US" altLang="en-US" sz="3200" baseline="-25000" dirty="0">
                <a:latin typeface="Arial" pitchFamily="34" charset="0"/>
                <a:cs typeface="Arial" pitchFamily="34" charset="0"/>
              </a:rPr>
              <a:t>4</a:t>
            </a:r>
            <a:r>
              <a:rPr lang="en-US" altLang="en-US" sz="3200" dirty="0">
                <a:latin typeface="Arial" pitchFamily="34" charset="0"/>
                <a:cs typeface="Arial" pitchFamily="34" charset="0"/>
              </a:rPr>
              <a:t>  + </a:t>
            </a:r>
            <a:r>
              <a:rPr lang="en-US" altLang="en-US" sz="3200" dirty="0" err="1">
                <a:solidFill>
                  <a:srgbClr val="FF0000"/>
                </a:solidFill>
                <a:latin typeface="Arial" pitchFamily="34" charset="0"/>
                <a:cs typeface="Arial" pitchFamily="34" charset="0"/>
              </a:rPr>
              <a:t>d</a:t>
            </a:r>
            <a:r>
              <a:rPr lang="en-US" altLang="en-US" sz="3200" dirty="0" err="1">
                <a:latin typeface="Arial" pitchFamily="34" charset="0"/>
                <a:cs typeface="Arial" pitchFamily="34" charset="0"/>
              </a:rPr>
              <a:t>NaBr</a:t>
            </a:r>
            <a:r>
              <a:rPr lang="en-US" altLang="en-US" sz="3200" dirty="0">
                <a:latin typeface="Arial" pitchFamily="34" charset="0"/>
                <a:cs typeface="Arial" pitchFamily="34" charset="0"/>
              </a:rPr>
              <a:t>  +  </a:t>
            </a:r>
            <a:r>
              <a:rPr lang="en-US" altLang="en-US" sz="3200" dirty="0">
                <a:solidFill>
                  <a:srgbClr val="FF0000"/>
                </a:solidFill>
                <a:latin typeface="Arial" pitchFamily="34" charset="0"/>
                <a:cs typeface="Arial" pitchFamily="34" charset="0"/>
              </a:rPr>
              <a:t>e</a:t>
            </a:r>
            <a:r>
              <a:rPr lang="en-US" altLang="en-US" sz="3200" dirty="0">
                <a:latin typeface="Arial" pitchFamily="34" charset="0"/>
                <a:cs typeface="Arial" pitchFamily="34" charset="0"/>
              </a:rPr>
              <a:t>H</a:t>
            </a:r>
            <a:r>
              <a:rPr lang="en-US" altLang="en-US" sz="3200" baseline="-25000" dirty="0">
                <a:latin typeface="Arial" pitchFamily="34" charset="0"/>
                <a:cs typeface="Arial" pitchFamily="34" charset="0"/>
              </a:rPr>
              <a:t>2</a:t>
            </a:r>
            <a:r>
              <a:rPr lang="en-US" altLang="en-US" sz="3200" dirty="0">
                <a:latin typeface="Arial" pitchFamily="34" charset="0"/>
                <a:cs typeface="Arial" pitchFamily="34" charset="0"/>
              </a:rPr>
              <a:t>O</a:t>
            </a:r>
            <a:br>
              <a:rPr lang="en-US" altLang="en-US" sz="3200" dirty="0">
                <a:latin typeface="Arial" pitchFamily="34" charset="0"/>
                <a:cs typeface="Arial" pitchFamily="34" charset="0"/>
              </a:rPr>
            </a:br>
            <a:r>
              <a:rPr lang="en-US" altLang="en-US" sz="3200" dirty="0">
                <a:latin typeface="Arial" pitchFamily="34" charset="0"/>
                <a:cs typeface="Arial" pitchFamily="34" charset="0"/>
              </a:rPr>
              <a:t> </a:t>
            </a:r>
            <a:endParaRPr lang="en-US" sz="3200" b="1" dirty="0">
              <a:solidFill>
                <a:srgbClr val="0000FF"/>
              </a:solidFill>
              <a:effectLst>
                <a:outerShdw blurRad="38100" dist="38100" dir="2700000" algn="tl">
                  <a:srgbClr val="000000">
                    <a:alpha val="43137"/>
                  </a:srgbClr>
                </a:outerShdw>
              </a:effectLst>
              <a:latin typeface="Arial" pitchFamily="34" charset="0"/>
              <a:cs typeface="Arial" pitchFamily="34" charset="0"/>
            </a:endParaRPr>
          </a:p>
        </p:txBody>
      </p:sp>
      <p:sp>
        <p:nvSpPr>
          <p:cNvPr id="6" name="TextBox 5">
            <a:extLst>
              <a:ext uri="{FF2B5EF4-FFF2-40B4-BE49-F238E27FC236}">
                <a16:creationId xmlns="" xmlns:a16="http://schemas.microsoft.com/office/drawing/2014/main" id="{F6DF2F71-F2C5-4F4A-9DBB-F4919C3E0112}"/>
              </a:ext>
            </a:extLst>
          </p:cNvPr>
          <p:cNvSpPr txBox="1"/>
          <p:nvPr/>
        </p:nvSpPr>
        <p:spPr>
          <a:xfrm>
            <a:off x="905630" y="2111753"/>
            <a:ext cx="10762130" cy="3539430"/>
          </a:xfrm>
          <a:prstGeom prst="rect">
            <a:avLst/>
          </a:prstGeom>
          <a:noFill/>
        </p:spPr>
        <p:txBody>
          <a:bodyPr wrap="square">
            <a:spAutoFit/>
          </a:bodyPr>
          <a:lstStyle/>
          <a:p>
            <a:pPr>
              <a:lnSpc>
                <a:spcPct val="150000"/>
              </a:lnSpc>
              <a:defRPr/>
            </a:pPr>
            <a:r>
              <a:rPr lang="en-US" sz="3200" dirty="0">
                <a:latin typeface="+mj-lt"/>
              </a:rPr>
              <a:t> </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  </a:t>
            </a:r>
            <a:r>
              <a:rPr lang="en-US" sz="3200" dirty="0" err="1">
                <a:latin typeface="Arial" pitchFamily="34" charset="0"/>
                <a:cs typeface="Arial" pitchFamily="34" charset="0"/>
              </a:rPr>
              <a:t>Các</a:t>
            </a:r>
            <a:r>
              <a:rPr lang="en-US" sz="3200" dirty="0">
                <a:latin typeface="Arial" pitchFamily="34" charset="0"/>
                <a:cs typeface="Arial" pitchFamily="34" charset="0"/>
              </a:rPr>
              <a:t> </a:t>
            </a:r>
            <a:r>
              <a:rPr lang="en-US" sz="3200" dirty="0" err="1">
                <a:latin typeface="Arial" pitchFamily="34" charset="0"/>
                <a:cs typeface="Arial" pitchFamily="34" charset="0"/>
              </a:rPr>
              <a:t>hệ</a:t>
            </a:r>
            <a:r>
              <a:rPr lang="en-US" sz="3200" dirty="0">
                <a:latin typeface="Arial" pitchFamily="34" charset="0"/>
                <a:cs typeface="Arial" pitchFamily="34" charset="0"/>
              </a:rPr>
              <a:t> </a:t>
            </a:r>
            <a:r>
              <a:rPr lang="en-US" sz="3200" dirty="0" err="1">
                <a:latin typeface="Arial" pitchFamily="34" charset="0"/>
                <a:cs typeface="Arial" pitchFamily="34" charset="0"/>
              </a:rPr>
              <a:t>số</a:t>
            </a:r>
            <a:r>
              <a:rPr lang="en-US" sz="3200" dirty="0">
                <a:latin typeface="Arial" pitchFamily="34" charset="0"/>
                <a:cs typeface="Arial" pitchFamily="34" charset="0"/>
              </a:rPr>
              <a:t> </a:t>
            </a:r>
            <a:r>
              <a:rPr lang="en-US" sz="3200" dirty="0" err="1">
                <a:latin typeface="Arial" pitchFamily="34" charset="0"/>
                <a:cs typeface="Arial" pitchFamily="34" charset="0"/>
              </a:rPr>
              <a:t>tỉ</a:t>
            </a:r>
            <a:r>
              <a:rPr lang="en-US" sz="3200" dirty="0">
                <a:latin typeface="Arial" pitchFamily="34" charset="0"/>
                <a:cs typeface="Arial" pitchFamily="34" charset="0"/>
              </a:rPr>
              <a:t> </a:t>
            </a:r>
            <a:r>
              <a:rPr lang="en-US" sz="3200" dirty="0" err="1">
                <a:latin typeface="Arial" pitchFamily="34" charset="0"/>
                <a:cs typeface="Arial" pitchFamily="34" charset="0"/>
              </a:rPr>
              <a:t>lượng</a:t>
            </a:r>
            <a:r>
              <a:rPr lang="en-US" sz="3200" dirty="0">
                <a:latin typeface="Arial" pitchFamily="34" charset="0"/>
                <a:cs typeface="Arial" pitchFamily="34" charset="0"/>
              </a:rPr>
              <a:t>: </a:t>
            </a:r>
            <a:r>
              <a:rPr lang="en-US" sz="3200" dirty="0">
                <a:solidFill>
                  <a:srgbClr val="FF0000"/>
                </a:solidFill>
                <a:latin typeface="Arial" pitchFamily="34" charset="0"/>
                <a:cs typeface="Arial" pitchFamily="34" charset="0"/>
              </a:rPr>
              <a:t>a = 3 ; b = 8 ; c = 2 ; d = 6 ; e = 4</a:t>
            </a:r>
          </a:p>
          <a:p>
            <a:pPr>
              <a:lnSpc>
                <a:spcPct val="150000"/>
              </a:lnSpc>
              <a:defRPr/>
            </a:pPr>
            <a:r>
              <a:rPr lang="en-US" sz="3200" dirty="0">
                <a:latin typeface="Arial" pitchFamily="34" charset="0"/>
                <a:cs typeface="Arial" pitchFamily="34" charset="0"/>
              </a:rPr>
              <a:t> </a:t>
            </a:r>
            <a:r>
              <a:rPr lang="vi-VN" sz="3200" dirty="0">
                <a:latin typeface="Arial" pitchFamily="34" charset="0"/>
                <a:cs typeface="Arial" pitchFamily="34" charset="0"/>
              </a:rPr>
              <a:t>   </a:t>
            </a:r>
            <a:r>
              <a:rPr lang="en-US" sz="3200" dirty="0">
                <a:solidFill>
                  <a:srgbClr val="0000FF"/>
                </a:solidFill>
                <a:latin typeface="Arial" pitchFamily="34" charset="0"/>
                <a:cs typeface="Arial" pitchFamily="34" charset="0"/>
              </a:rPr>
              <a:t>NaCrO</a:t>
            </a:r>
            <a:r>
              <a:rPr lang="en-US" sz="3200" baseline="-25000" dirty="0">
                <a:solidFill>
                  <a:srgbClr val="0000FF"/>
                </a:solidFill>
                <a:latin typeface="Arial" pitchFamily="34" charset="0"/>
                <a:cs typeface="Arial" pitchFamily="34" charset="0"/>
              </a:rPr>
              <a:t>2</a:t>
            </a:r>
            <a:r>
              <a:rPr lang="en-US" sz="3200" dirty="0">
                <a:solidFill>
                  <a:srgbClr val="0000FF"/>
                </a:solidFill>
                <a:latin typeface="Arial" pitchFamily="34" charset="0"/>
                <a:cs typeface="Arial" pitchFamily="34" charset="0"/>
              </a:rPr>
              <a:t> : </a:t>
            </a:r>
            <a:r>
              <a:rPr lang="en-US" sz="3200" dirty="0" err="1">
                <a:solidFill>
                  <a:srgbClr val="0000FF"/>
                </a:solidFill>
                <a:latin typeface="Arial" pitchFamily="34" charset="0"/>
                <a:cs typeface="Arial" pitchFamily="34" charset="0"/>
              </a:rPr>
              <a:t>Chất</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khử</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chất</a:t>
            </a:r>
            <a:r>
              <a:rPr lang="en-US" sz="3200" dirty="0">
                <a:solidFill>
                  <a:srgbClr val="0000FF"/>
                </a:solidFill>
                <a:latin typeface="Arial" pitchFamily="34" charset="0"/>
                <a:cs typeface="Arial" pitchFamily="34" charset="0"/>
              </a:rPr>
              <a:t> </a:t>
            </a:r>
            <a:r>
              <a:rPr lang="en-US" sz="3200" dirty="0" err="1">
                <a:solidFill>
                  <a:srgbClr val="0000FF"/>
                </a:solidFill>
                <a:latin typeface="Arial" pitchFamily="34" charset="0"/>
                <a:cs typeface="Arial" pitchFamily="34" charset="0"/>
              </a:rPr>
              <a:t>bị</a:t>
            </a:r>
            <a:r>
              <a:rPr lang="en-US" sz="3200" dirty="0">
                <a:solidFill>
                  <a:srgbClr val="0000FF"/>
                </a:solidFill>
                <a:latin typeface="Arial" pitchFamily="34" charset="0"/>
                <a:cs typeface="Arial" pitchFamily="34" charset="0"/>
              </a:rPr>
              <a:t> oxy</a:t>
            </a:r>
            <a:r>
              <a:rPr lang="vi-VN" sz="3200" dirty="0">
                <a:solidFill>
                  <a:srgbClr val="0000FF"/>
                </a:solidFill>
                <a:latin typeface="Arial" pitchFamily="34" charset="0"/>
                <a:cs typeface="Arial" pitchFamily="34" charset="0"/>
              </a:rPr>
              <a:t> </a:t>
            </a:r>
            <a:r>
              <a:rPr lang="en-US" sz="3200" dirty="0">
                <a:solidFill>
                  <a:srgbClr val="0000FF"/>
                </a:solidFill>
                <a:latin typeface="Arial" pitchFamily="34" charset="0"/>
                <a:cs typeface="Arial" pitchFamily="34" charset="0"/>
              </a:rPr>
              <a:t>ho</a:t>
            </a:r>
            <a:r>
              <a:rPr lang="vi-VN" sz="3200" dirty="0">
                <a:solidFill>
                  <a:srgbClr val="0000FF"/>
                </a:solidFill>
                <a:latin typeface="Arial" pitchFamily="34" charset="0"/>
                <a:cs typeface="Arial" pitchFamily="34" charset="0"/>
              </a:rPr>
              <a:t>á)</a:t>
            </a:r>
          </a:p>
          <a:p>
            <a:pPr>
              <a:lnSpc>
                <a:spcPct val="150000"/>
              </a:lnSpc>
              <a:defRPr/>
            </a:pPr>
            <a:r>
              <a:rPr lang="vi-VN" sz="3200" dirty="0">
                <a:latin typeface="Arial" pitchFamily="34" charset="0"/>
                <a:cs typeface="Arial" pitchFamily="34" charset="0"/>
              </a:rPr>
              <a:t>     </a:t>
            </a:r>
            <a:r>
              <a:rPr lang="en-US" sz="3200" dirty="0">
                <a:solidFill>
                  <a:srgbClr val="FF0000"/>
                </a:solidFill>
                <a:latin typeface="Arial" pitchFamily="34" charset="0"/>
                <a:cs typeface="Arial" pitchFamily="34" charset="0"/>
              </a:rPr>
              <a:t>Br</a:t>
            </a:r>
            <a:r>
              <a:rPr lang="en-US" sz="3200" baseline="-25000" dirty="0">
                <a:solidFill>
                  <a:srgbClr val="FF0000"/>
                </a:solidFill>
                <a:latin typeface="Arial" pitchFamily="34" charset="0"/>
                <a:cs typeface="Arial" pitchFamily="34" charset="0"/>
              </a:rPr>
              <a:t>2</a:t>
            </a:r>
            <a:r>
              <a:rPr lang="en-US" sz="3200" dirty="0">
                <a:solidFill>
                  <a:srgbClr val="FF0000"/>
                </a:solidFill>
                <a:latin typeface="Arial" pitchFamily="34" charset="0"/>
                <a:cs typeface="Arial" pitchFamily="34" charset="0"/>
              </a:rPr>
              <a:t> </a:t>
            </a:r>
            <a:r>
              <a:rPr lang="vi-VN" sz="3200" dirty="0">
                <a:solidFill>
                  <a:srgbClr val="FF0000"/>
                </a:solidFill>
                <a:latin typeface="Arial" pitchFamily="34" charset="0"/>
                <a:cs typeface="Arial" pitchFamily="34" charset="0"/>
              </a:rPr>
              <a:t>       : Chất oxy hoá (chất bị khử)</a:t>
            </a:r>
          </a:p>
          <a:p>
            <a:pPr>
              <a:lnSpc>
                <a:spcPct val="150000"/>
              </a:lnSpc>
              <a:defRPr/>
            </a:pPr>
            <a:r>
              <a:rPr lang="vi-VN" sz="3200" dirty="0">
                <a:latin typeface="Arial" pitchFamily="34" charset="0"/>
                <a:cs typeface="Arial" pitchFamily="34" charset="0"/>
              </a:rPr>
              <a:t>     </a:t>
            </a:r>
            <a:r>
              <a:rPr lang="vi-VN" sz="3200" dirty="0">
                <a:solidFill>
                  <a:srgbClr val="008000"/>
                </a:solidFill>
                <a:latin typeface="Arial" pitchFamily="34" charset="0"/>
                <a:cs typeface="Arial" pitchFamily="34" charset="0"/>
              </a:rPr>
              <a:t>NaOH   : Chất tạo môi trường.</a:t>
            </a:r>
          </a:p>
          <a:p>
            <a:pPr>
              <a:defRPr/>
            </a:pPr>
            <a:r>
              <a:rPr lang="vi-VN" sz="3200" dirty="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96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69F164D-7150-4629-A901-947635A50512}"/>
              </a:ext>
            </a:extLst>
          </p:cNvPr>
          <p:cNvSpPr>
            <a:spLocks noGrp="1"/>
          </p:cNvSpPr>
          <p:nvPr>
            <p:ph idx="1"/>
          </p:nvPr>
        </p:nvSpPr>
        <p:spPr>
          <a:xfrm>
            <a:off x="233084" y="579531"/>
            <a:ext cx="11958916" cy="1603375"/>
          </a:xfrm>
        </p:spPr>
        <p:txBody>
          <a:bodyPr>
            <a:normAutofit fontScale="85000" lnSpcReduction="10000"/>
          </a:bodyPr>
          <a:lstStyle/>
          <a:p>
            <a:pPr marL="0" indent="0">
              <a:lnSpc>
                <a:spcPct val="150000"/>
              </a:lnSpc>
              <a:buNone/>
            </a:pPr>
            <a:r>
              <a:rPr lang="vi-VN" sz="3200" b="1" dirty="0">
                <a:latin typeface="Arial" pitchFamily="34" charset="0"/>
                <a:cs typeface="Arial" pitchFamily="34" charset="0"/>
              </a:rPr>
              <a:t>Câu </a:t>
            </a:r>
            <a:r>
              <a:rPr lang="vi-VN" sz="3200" b="1" dirty="0" smtClean="0">
                <a:latin typeface="Arial" pitchFamily="34" charset="0"/>
                <a:cs typeface="Arial" pitchFamily="34" charset="0"/>
              </a:rPr>
              <a:t>2</a:t>
            </a:r>
            <a:r>
              <a:rPr lang="vi-VN" sz="3200" b="1" dirty="0">
                <a:latin typeface="Arial" pitchFamily="34" charset="0"/>
                <a:cs typeface="Arial" pitchFamily="34" charset="0"/>
              </a:rPr>
              <a:t>1</a:t>
            </a:r>
            <a:r>
              <a:rPr lang="vi-VN" sz="3200" dirty="0" smtClean="0">
                <a:latin typeface="Arial" pitchFamily="34" charset="0"/>
                <a:cs typeface="Arial" pitchFamily="34" charset="0"/>
              </a:rPr>
              <a:t> </a:t>
            </a:r>
            <a:r>
              <a:rPr lang="vi-VN" sz="3200" dirty="0">
                <a:latin typeface="Arial" pitchFamily="34" charset="0"/>
                <a:cs typeface="Arial" pitchFamily="34" charset="0"/>
              </a:rPr>
              <a:t>. Viết p</a:t>
            </a:r>
            <a:r>
              <a:rPr lang="pt-BR" sz="3200" dirty="0">
                <a:latin typeface="Arial" pitchFamily="34" charset="0"/>
                <a:cs typeface="Arial" pitchFamily="34" charset="0"/>
              </a:rPr>
              <a:t>hương trình Ner</a:t>
            </a:r>
            <a:r>
              <a:rPr lang="vi-VN" sz="3200" dirty="0">
                <a:latin typeface="Arial" pitchFamily="34" charset="0"/>
                <a:cs typeface="Arial" pitchFamily="34" charset="0"/>
              </a:rPr>
              <a:t>n</a:t>
            </a:r>
            <a:r>
              <a:rPr lang="pt-BR" sz="3200" dirty="0">
                <a:latin typeface="Arial" pitchFamily="34" charset="0"/>
                <a:cs typeface="Arial" pitchFamily="34" charset="0"/>
              </a:rPr>
              <a:t>st </a:t>
            </a:r>
            <a:r>
              <a:rPr lang="vi-VN" sz="3200" dirty="0">
                <a:latin typeface="Arial" pitchFamily="34" charset="0"/>
                <a:cs typeface="Arial" pitchFamily="34" charset="0"/>
              </a:rPr>
              <a:t>cho </a:t>
            </a:r>
            <a:r>
              <a:rPr lang="pt-BR" sz="3200" dirty="0">
                <a:latin typeface="Arial" pitchFamily="34" charset="0"/>
                <a:cs typeface="Arial" pitchFamily="34" charset="0"/>
              </a:rPr>
              <a:t>quá trình </a:t>
            </a:r>
            <a:r>
              <a:rPr lang="vi-VN" sz="3200" dirty="0">
                <a:latin typeface="Arial" pitchFamily="34" charset="0"/>
                <a:cs typeface="Arial" pitchFamily="34" charset="0"/>
              </a:rPr>
              <a:t>khử sau đây </a:t>
            </a:r>
            <a:r>
              <a:rPr lang="pt-BR" sz="3200" dirty="0">
                <a:latin typeface="Arial" pitchFamily="34" charset="0"/>
                <a:cs typeface="Arial" pitchFamily="34" charset="0"/>
              </a:rPr>
              <a:t>ở 25</a:t>
            </a:r>
            <a:r>
              <a:rPr lang="pt-BR" sz="3200" baseline="30000" dirty="0">
                <a:latin typeface="Arial" pitchFamily="34" charset="0"/>
                <a:cs typeface="Arial" pitchFamily="34" charset="0"/>
              </a:rPr>
              <a:t>0</a:t>
            </a:r>
            <a:r>
              <a:rPr lang="pt-BR" sz="3200" dirty="0">
                <a:latin typeface="Arial" pitchFamily="34" charset="0"/>
                <a:cs typeface="Arial" pitchFamily="34" charset="0"/>
              </a:rPr>
              <a:t>C</a:t>
            </a:r>
            <a:r>
              <a:rPr lang="vi-VN" sz="3200" dirty="0">
                <a:latin typeface="Arial" pitchFamily="34" charset="0"/>
                <a:cs typeface="Arial" pitchFamily="34" charset="0"/>
              </a:rPr>
              <a:t> : </a:t>
            </a:r>
            <a:endParaRPr lang="en-US" sz="3200" dirty="0">
              <a:latin typeface="Arial" pitchFamily="34" charset="0"/>
              <a:cs typeface="Arial" pitchFamily="34" charset="0"/>
            </a:endParaRPr>
          </a:p>
          <a:p>
            <a:pPr marL="0" indent="0">
              <a:lnSpc>
                <a:spcPct val="150000"/>
              </a:lnSpc>
              <a:buNone/>
            </a:pPr>
            <a:r>
              <a:rPr lang="vi-VN" sz="3200" dirty="0">
                <a:latin typeface="Arial" pitchFamily="34" charset="0"/>
                <a:cs typeface="Arial" pitchFamily="34" charset="0"/>
              </a:rPr>
              <a:t>          </a:t>
            </a:r>
            <a:r>
              <a:rPr lang="pt-BR" sz="3200" b="1" dirty="0">
                <a:solidFill>
                  <a:srgbClr val="3366FF"/>
                </a:solidFill>
                <a:latin typeface="Arial" pitchFamily="34" charset="0"/>
                <a:cs typeface="Arial" pitchFamily="34" charset="0"/>
              </a:rPr>
              <a:t>3</a:t>
            </a:r>
            <a:r>
              <a:rPr lang="pt-BR" sz="3200" dirty="0">
                <a:solidFill>
                  <a:srgbClr val="FF0000"/>
                </a:solidFill>
                <a:latin typeface="Arial" pitchFamily="34" charset="0"/>
                <a:cs typeface="Arial" pitchFamily="34" charset="0"/>
              </a:rPr>
              <a:t>Fe</a:t>
            </a:r>
            <a:r>
              <a:rPr lang="pt-BR" sz="3200" baseline="30000" dirty="0">
                <a:solidFill>
                  <a:srgbClr val="FF0000"/>
                </a:solidFill>
                <a:latin typeface="Arial" pitchFamily="34" charset="0"/>
                <a:cs typeface="Arial" pitchFamily="34" charset="0"/>
              </a:rPr>
              <a:t>3+</a:t>
            </a:r>
            <a:r>
              <a:rPr lang="pt-BR" sz="3200" dirty="0">
                <a:latin typeface="Arial" pitchFamily="34" charset="0"/>
                <a:cs typeface="Arial" pitchFamily="34" charset="0"/>
              </a:rPr>
              <a:t>(dd) + 4H</a:t>
            </a:r>
            <a:r>
              <a:rPr lang="pt-BR" sz="3200" baseline="-25000" dirty="0">
                <a:latin typeface="Arial" pitchFamily="34" charset="0"/>
                <a:cs typeface="Arial" pitchFamily="34" charset="0"/>
              </a:rPr>
              <a:t>2</a:t>
            </a:r>
            <a:r>
              <a:rPr lang="pt-BR" sz="3200" dirty="0">
                <a:latin typeface="Arial" pitchFamily="34" charset="0"/>
                <a:cs typeface="Arial" pitchFamily="34" charset="0"/>
              </a:rPr>
              <a:t>O</a:t>
            </a:r>
            <a:r>
              <a:rPr lang="en-US" sz="3200" dirty="0">
                <a:latin typeface="Arial" pitchFamily="34" charset="0"/>
                <a:cs typeface="Arial" pitchFamily="34" charset="0"/>
              </a:rPr>
              <a:t>(</a:t>
            </a:r>
            <a:r>
              <a:rPr lang="pt-BR" sz="3200" dirty="0">
                <a:latin typeface="Arial" pitchFamily="34" charset="0"/>
                <a:cs typeface="Arial" pitchFamily="34" charset="0"/>
              </a:rPr>
              <a:t>ℓ) + 1e → </a:t>
            </a:r>
            <a:r>
              <a:rPr lang="pt-BR" sz="3200" dirty="0">
                <a:solidFill>
                  <a:srgbClr val="0000FF"/>
                </a:solidFill>
                <a:latin typeface="Arial" pitchFamily="34" charset="0"/>
                <a:cs typeface="Arial" pitchFamily="34" charset="0"/>
              </a:rPr>
              <a:t>Fe</a:t>
            </a:r>
            <a:r>
              <a:rPr lang="pt-BR" sz="3200" baseline="-25000" dirty="0">
                <a:solidFill>
                  <a:srgbClr val="0000FF"/>
                </a:solidFill>
                <a:latin typeface="Arial" pitchFamily="34" charset="0"/>
                <a:cs typeface="Arial" pitchFamily="34" charset="0"/>
              </a:rPr>
              <a:t>3</a:t>
            </a:r>
            <a:r>
              <a:rPr lang="pt-BR" sz="3200" dirty="0">
                <a:solidFill>
                  <a:srgbClr val="0000FF"/>
                </a:solidFill>
                <a:latin typeface="Arial" pitchFamily="34" charset="0"/>
                <a:cs typeface="Arial" pitchFamily="34" charset="0"/>
              </a:rPr>
              <a:t>O</a:t>
            </a:r>
            <a:r>
              <a:rPr lang="pt-BR" sz="3200" baseline="-25000" dirty="0">
                <a:solidFill>
                  <a:srgbClr val="0000FF"/>
                </a:solidFill>
                <a:latin typeface="Arial" pitchFamily="34" charset="0"/>
                <a:cs typeface="Arial" pitchFamily="34" charset="0"/>
              </a:rPr>
              <a:t>4</a:t>
            </a:r>
            <a:r>
              <a:rPr lang="pt-BR" sz="3200" dirty="0">
                <a:latin typeface="Arial" pitchFamily="34" charset="0"/>
                <a:cs typeface="Arial" pitchFamily="34" charset="0"/>
              </a:rPr>
              <a:t>(r)</a:t>
            </a:r>
            <a:r>
              <a:rPr lang="pt-BR" sz="3200" baseline="-25000" dirty="0">
                <a:latin typeface="Arial" pitchFamily="34" charset="0"/>
                <a:cs typeface="Arial" pitchFamily="34" charset="0"/>
              </a:rPr>
              <a:t> </a:t>
            </a:r>
            <a:r>
              <a:rPr lang="pt-BR" sz="3200" dirty="0">
                <a:latin typeface="Arial" pitchFamily="34" charset="0"/>
                <a:cs typeface="Arial" pitchFamily="34" charset="0"/>
              </a:rPr>
              <a:t> + </a:t>
            </a:r>
            <a:r>
              <a:rPr lang="pt-BR" sz="3200" b="1" dirty="0">
                <a:solidFill>
                  <a:srgbClr val="FF00FF"/>
                </a:solidFill>
                <a:latin typeface="Arial" pitchFamily="34" charset="0"/>
                <a:cs typeface="Arial" pitchFamily="34" charset="0"/>
              </a:rPr>
              <a:t>8</a:t>
            </a:r>
            <a:r>
              <a:rPr lang="pt-BR" sz="3200" dirty="0">
                <a:latin typeface="Arial" pitchFamily="34" charset="0"/>
                <a:cs typeface="Arial" pitchFamily="34" charset="0"/>
              </a:rPr>
              <a:t>H</a:t>
            </a:r>
            <a:r>
              <a:rPr lang="pt-BR" sz="3200" baseline="30000" dirty="0">
                <a:latin typeface="Arial" pitchFamily="34" charset="0"/>
                <a:cs typeface="Arial" pitchFamily="34" charset="0"/>
              </a:rPr>
              <a:t>+</a:t>
            </a:r>
            <a:r>
              <a:rPr lang="pt-BR" sz="3200" dirty="0">
                <a:latin typeface="Arial" pitchFamily="34" charset="0"/>
                <a:cs typeface="Arial" pitchFamily="34" charset="0"/>
              </a:rPr>
              <a:t>(dd)</a:t>
            </a:r>
            <a:endParaRPr lang="en-US" sz="3200" dirty="0">
              <a:latin typeface="Arial" pitchFamily="34" charset="0"/>
              <a:cs typeface="Arial" pitchFamily="34" charset="0"/>
            </a:endParaRPr>
          </a:p>
          <a:p>
            <a:pPr marL="0" indent="0">
              <a:buNone/>
            </a:pPr>
            <a:endParaRPr lang="en-US"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 xmlns:a16="http://schemas.microsoft.com/office/drawing/2014/main" id="{4B0E47F0-72C0-4EA7-8253-559CFBA88F39}"/>
                  </a:ext>
                </a:extLst>
              </p:cNvPr>
              <p:cNvSpPr txBox="1"/>
              <p:nvPr/>
            </p:nvSpPr>
            <p:spPr>
              <a:xfrm>
                <a:off x="592631" y="2014403"/>
                <a:ext cx="8821271" cy="1154483"/>
              </a:xfrm>
              <a:prstGeom prst="rect">
                <a:avLst/>
              </a:prstGeom>
              <a:noFill/>
            </p:spPr>
            <p:txBody>
              <a:bodyPr wrap="square" rtlCol="0">
                <a:spAutoFit/>
              </a:bodyPr>
              <a:lstStyle/>
              <a:p>
                <a:r>
                  <a:rPr lang="vi-VN" sz="4000" dirty="0">
                    <a:latin typeface="Arial" pitchFamily="34" charset="0"/>
                    <a:cs typeface="Arial" pitchFamily="34" charset="0"/>
                  </a:rPr>
                  <a:t>Ở</a:t>
                </a:r>
                <a:r>
                  <a:rPr lang="pt-BR" sz="4000" dirty="0">
                    <a:latin typeface="Arial" pitchFamily="34" charset="0"/>
                    <a:cs typeface="Arial" pitchFamily="34" charset="0"/>
                  </a:rPr>
                  <a:t> 25</a:t>
                </a:r>
                <a:r>
                  <a:rPr lang="pt-BR" sz="4000" baseline="30000" dirty="0">
                    <a:latin typeface="Arial" pitchFamily="34" charset="0"/>
                    <a:cs typeface="Arial" pitchFamily="34" charset="0"/>
                  </a:rPr>
                  <a:t>0</a:t>
                </a:r>
                <a:r>
                  <a:rPr lang="pt-BR" sz="4000" dirty="0">
                    <a:latin typeface="Arial" pitchFamily="34" charset="0"/>
                    <a:cs typeface="Arial" pitchFamily="34" charset="0"/>
                  </a:rPr>
                  <a:t>C</a:t>
                </a:r>
                <a:r>
                  <a:rPr lang="vi-VN" sz="4000" dirty="0">
                    <a:latin typeface="Arial" pitchFamily="34" charset="0"/>
                    <a:cs typeface="Arial" pitchFamily="34" charset="0"/>
                  </a:rPr>
                  <a:t>,       </a:t>
                </a:r>
                <a:r>
                  <a:rPr lang="en-US" sz="4000" dirty="0">
                    <a:latin typeface="Arial" pitchFamily="34" charset="0"/>
                    <a:cs typeface="Arial" pitchFamily="34" charset="0"/>
                    <a:sym typeface="Symbol" panose="05050102010706020507" pitchFamily="18" charset="2"/>
                  </a:rPr>
                  <a:t></a:t>
                </a:r>
                <a:r>
                  <a:rPr lang="vi-VN" sz="4000" dirty="0">
                    <a:latin typeface="Arial" pitchFamily="34" charset="0"/>
                    <a:cs typeface="Arial" pitchFamily="34" charset="0"/>
                    <a:sym typeface="Symbol" panose="05050102010706020507" pitchFamily="18" charset="2"/>
                  </a:rPr>
                  <a:t> = </a:t>
                </a:r>
                <a:r>
                  <a:rPr lang="vi-VN" sz="4000" baseline="30000" dirty="0">
                    <a:latin typeface="Arial" pitchFamily="34" charset="0"/>
                    <a:cs typeface="Arial" pitchFamily="34" charset="0"/>
                    <a:sym typeface="Symbol" panose="05050102010706020507" pitchFamily="18" charset="2"/>
                  </a:rPr>
                  <a:t>0</a:t>
                </a:r>
                <a:r>
                  <a:rPr lang="vi-VN" sz="4000" dirty="0">
                    <a:latin typeface="Arial" pitchFamily="34" charset="0"/>
                    <a:cs typeface="Arial" pitchFamily="34" charset="0"/>
                    <a:sym typeface="Symbol" panose="05050102010706020507" pitchFamily="18" charset="2"/>
                  </a:rPr>
                  <a:t> + 0,059lg</a:t>
                </a:r>
                <a14:m>
                  <m:oMath xmlns:m="http://schemas.openxmlformats.org/officeDocument/2006/math">
                    <m:f>
                      <m:fPr>
                        <m:ctrlPr>
                          <a:rPr lang="vi-VN" sz="4000" i="1" smtClean="0">
                            <a:latin typeface="Cambria Math"/>
                            <a:cs typeface="Times New Roman" panose="02020603050405020304" pitchFamily="18" charset="0"/>
                            <a:sym typeface="Symbol" panose="05050102010706020507" pitchFamily="18" charset="2"/>
                          </a:rPr>
                        </m:ctrlPr>
                      </m:fPr>
                      <m:num>
                        <m:sSup>
                          <m:sSupPr>
                            <m:ctrlPr>
                              <a:rPr lang="vi-VN" sz="4000" i="1" smtClean="0">
                                <a:latin typeface="Cambria Math"/>
                                <a:cs typeface="Times New Roman" panose="02020603050405020304" pitchFamily="18" charset="0"/>
                                <a:sym typeface="Symbol" panose="05050102010706020507" pitchFamily="18" charset="2"/>
                              </a:rPr>
                            </m:ctrlPr>
                          </m:sSupPr>
                          <m:e>
                            <m:r>
                              <a:rPr lang="vi-VN" sz="4000" b="0" i="1" smtClean="0">
                                <a:latin typeface="Cambria Math" panose="02040503050406030204" pitchFamily="18" charset="0"/>
                                <a:cs typeface="Times New Roman" panose="02020603050405020304" pitchFamily="18" charset="0"/>
                                <a:sym typeface="Symbol" panose="05050102010706020507" pitchFamily="18" charset="2"/>
                              </a:rPr>
                              <m:t>[</m:t>
                            </m:r>
                            <m:r>
                              <a:rPr lang="vi-VN" sz="4000" b="0" i="1" smtClean="0">
                                <a:latin typeface="Cambria Math" panose="02040503050406030204" pitchFamily="18" charset="0"/>
                                <a:cs typeface="Times New Roman" panose="02020603050405020304" pitchFamily="18" charset="0"/>
                                <a:sym typeface="Symbol" panose="05050102010706020507" pitchFamily="18" charset="2"/>
                              </a:rPr>
                              <m:t>𝐹𝑒</m:t>
                            </m:r>
                          </m:e>
                          <m:sup>
                            <m:r>
                              <a:rPr lang="vi-VN" sz="4000" b="0" i="1" smtClean="0">
                                <a:latin typeface="Cambria Math" panose="02040503050406030204" pitchFamily="18" charset="0"/>
                                <a:cs typeface="Times New Roman" panose="02020603050405020304" pitchFamily="18" charset="0"/>
                                <a:sym typeface="Symbol" panose="05050102010706020507" pitchFamily="18" charset="2"/>
                              </a:rPr>
                              <m:t>3+</m:t>
                            </m:r>
                          </m:sup>
                        </m:sSup>
                        <m:sSup>
                          <m:sSupPr>
                            <m:ctrlPr>
                              <a:rPr lang="vi-VN" sz="4000" i="1" smtClean="0">
                                <a:latin typeface="Cambria Math"/>
                                <a:cs typeface="Times New Roman" panose="02020603050405020304" pitchFamily="18" charset="0"/>
                                <a:sym typeface="Symbol" panose="05050102010706020507" pitchFamily="18" charset="2"/>
                              </a:rPr>
                            </m:ctrlPr>
                          </m:sSupPr>
                          <m:e>
                            <m:r>
                              <a:rPr lang="vi-VN" sz="4000" b="0" i="1" smtClean="0">
                                <a:latin typeface="Cambria Math" panose="02040503050406030204" pitchFamily="18" charset="0"/>
                                <a:cs typeface="Times New Roman" panose="02020603050405020304" pitchFamily="18" charset="0"/>
                                <a:sym typeface="Symbol" panose="05050102010706020507" pitchFamily="18" charset="2"/>
                              </a:rPr>
                              <m:t>]</m:t>
                            </m:r>
                          </m:e>
                          <m:sup>
                            <m:r>
                              <a:rPr lang="vi-VN" sz="4000" b="1" i="1" smtClean="0">
                                <a:solidFill>
                                  <a:srgbClr val="3366FF"/>
                                </a:solidFill>
                                <a:latin typeface="Cambria Math" panose="02040503050406030204" pitchFamily="18" charset="0"/>
                                <a:cs typeface="Times New Roman" panose="02020603050405020304" pitchFamily="18" charset="0"/>
                                <a:sym typeface="Symbol" panose="05050102010706020507" pitchFamily="18" charset="2"/>
                              </a:rPr>
                              <m:t>𝟑</m:t>
                            </m:r>
                          </m:sup>
                        </m:sSup>
                      </m:num>
                      <m:den>
                        <m:sSup>
                          <m:sSupPr>
                            <m:ctrlPr>
                              <a:rPr lang="vi-VN" sz="4000" i="1" smtClean="0">
                                <a:latin typeface="Cambria Math"/>
                                <a:cs typeface="Times New Roman" panose="02020603050405020304" pitchFamily="18" charset="0"/>
                                <a:sym typeface="Symbol" panose="05050102010706020507" pitchFamily="18" charset="2"/>
                              </a:rPr>
                            </m:ctrlPr>
                          </m:sSupPr>
                          <m:e>
                            <m:r>
                              <a:rPr lang="vi-VN" sz="4000" b="0" i="1" smtClean="0">
                                <a:latin typeface="Cambria Math" panose="02040503050406030204" pitchFamily="18" charset="0"/>
                                <a:cs typeface="Times New Roman" panose="02020603050405020304" pitchFamily="18" charset="0"/>
                                <a:sym typeface="Symbol" panose="05050102010706020507" pitchFamily="18" charset="2"/>
                              </a:rPr>
                              <m:t>[</m:t>
                            </m:r>
                            <m:r>
                              <a:rPr lang="vi-VN" sz="4000" b="0" i="1" smtClean="0">
                                <a:latin typeface="Cambria Math" panose="02040503050406030204" pitchFamily="18" charset="0"/>
                                <a:cs typeface="Times New Roman" panose="02020603050405020304" pitchFamily="18" charset="0"/>
                                <a:sym typeface="Symbol" panose="05050102010706020507" pitchFamily="18" charset="2"/>
                              </a:rPr>
                              <m:t>𝐻</m:t>
                            </m:r>
                          </m:e>
                          <m:sup>
                            <m:r>
                              <a:rPr lang="vi-VN" sz="40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vi-VN" sz="4000" i="1" smtClean="0">
                                <a:latin typeface="Cambria Math"/>
                                <a:cs typeface="Times New Roman" panose="02020603050405020304" pitchFamily="18" charset="0"/>
                                <a:sym typeface="Symbol" panose="05050102010706020507" pitchFamily="18" charset="2"/>
                              </a:rPr>
                            </m:ctrlPr>
                          </m:sSupPr>
                          <m:e>
                            <m:r>
                              <a:rPr lang="vi-VN" sz="4000" b="0" i="1" smtClean="0">
                                <a:latin typeface="Cambria Math" panose="02040503050406030204" pitchFamily="18" charset="0"/>
                                <a:cs typeface="Times New Roman" panose="02020603050405020304" pitchFamily="18" charset="0"/>
                                <a:sym typeface="Symbol" panose="05050102010706020507" pitchFamily="18" charset="2"/>
                              </a:rPr>
                              <m:t>]</m:t>
                            </m:r>
                          </m:e>
                          <m:sup>
                            <m:r>
                              <a:rPr lang="vi-VN" sz="4000" b="1" i="1" smtClean="0">
                                <a:solidFill>
                                  <a:srgbClr val="FF00FF"/>
                                </a:solidFill>
                                <a:latin typeface="Cambria Math" panose="02040503050406030204" pitchFamily="18" charset="0"/>
                                <a:cs typeface="Times New Roman" panose="02020603050405020304" pitchFamily="18" charset="0"/>
                                <a:sym typeface="Symbol" panose="05050102010706020507" pitchFamily="18" charset="2"/>
                              </a:rPr>
                              <m:t>𝟖</m:t>
                            </m:r>
                          </m:sup>
                        </m:sSup>
                      </m:den>
                    </m:f>
                  </m:oMath>
                </a14:m>
                <a:endParaRPr lang="en-US" sz="4000" dirty="0">
                  <a:latin typeface="Arial" pitchFamily="34" charset="0"/>
                  <a:cs typeface="Arial" pitchFamily="34" charset="0"/>
                </a:endParaRPr>
              </a:p>
            </p:txBody>
          </p:sp>
        </mc:Choice>
        <mc:Fallback xmlns="">
          <p:sp>
            <p:nvSpPr>
              <p:cNvPr id="4" name="TextBox 3">
                <a:extLst>
                  <a:ext uri="{FF2B5EF4-FFF2-40B4-BE49-F238E27FC236}">
                    <a16:creationId xmlns="" xmlns:a16="http://schemas.microsoft.com/office/drawing/2014/main" xmlns:a14="http://schemas.microsoft.com/office/drawing/2010/main" id="{4B0E47F0-72C0-4EA7-8253-559CFBA88F39}"/>
                  </a:ext>
                </a:extLst>
              </p:cNvPr>
              <p:cNvSpPr txBox="1">
                <a:spLocks noRot="1" noChangeAspect="1" noMove="1" noResize="1" noEditPoints="1" noAdjustHandles="1" noChangeArrowheads="1" noChangeShapeType="1" noTextEdit="1"/>
              </p:cNvSpPr>
              <p:nvPr/>
            </p:nvSpPr>
            <p:spPr>
              <a:xfrm>
                <a:off x="592631" y="2014403"/>
                <a:ext cx="8821271" cy="1154483"/>
              </a:xfrm>
              <a:prstGeom prst="rect">
                <a:avLst/>
              </a:prstGeom>
              <a:blipFill rotWithShape="1">
                <a:blip r:embed="rId2"/>
                <a:stretch>
                  <a:fillRect l="-2419" b="-2105"/>
                </a:stretch>
              </a:blipFill>
            </p:spPr>
            <p:txBody>
              <a:bodyPr/>
              <a:lstStyle/>
              <a:p>
                <a:r>
                  <a:rPr lang="en-US">
                    <a:noFill/>
                  </a:rPr>
                  <a:t> </a:t>
                </a:r>
              </a:p>
            </p:txBody>
          </p:sp>
        </mc:Fallback>
      </mc:AlternateContent>
    </p:spTree>
    <p:extLst>
      <p:ext uri="{BB962C8B-B14F-4D97-AF65-F5344CB8AC3E}">
        <p14:creationId xmlns:p14="http://schemas.microsoft.com/office/powerpoint/2010/main" val="389533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9272A7C-E247-4DB6-9AC6-F3F2D0735B0A}"/>
              </a:ext>
            </a:extLst>
          </p:cNvPr>
          <p:cNvSpPr>
            <a:spLocks noGrp="1"/>
          </p:cNvSpPr>
          <p:nvPr>
            <p:ph idx="1"/>
          </p:nvPr>
        </p:nvSpPr>
        <p:spPr>
          <a:xfrm>
            <a:off x="352339" y="436096"/>
            <a:ext cx="11839662" cy="5534398"/>
          </a:xfrm>
        </p:spPr>
        <p:txBody>
          <a:bodyPr>
            <a:normAutofit/>
          </a:bodyPr>
          <a:lstStyle/>
          <a:p>
            <a:pPr marL="0" indent="0">
              <a:lnSpc>
                <a:spcPct val="150000"/>
              </a:lnSpc>
              <a:buNone/>
            </a:pPr>
            <a:r>
              <a:rPr lang="vi-VN" sz="3200" b="1" dirty="0">
                <a:cs typeface="Times New Roman" panose="02020603050405020304" pitchFamily="18" charset="0"/>
              </a:rPr>
              <a:t>Câu </a:t>
            </a:r>
            <a:r>
              <a:rPr lang="vi-VN" sz="3200" b="1" dirty="0" smtClean="0">
                <a:cs typeface="Times New Roman" panose="02020603050405020304" pitchFamily="18" charset="0"/>
              </a:rPr>
              <a:t>2</a:t>
            </a:r>
            <a:r>
              <a:rPr lang="vi-VN" sz="3200" b="1" dirty="0">
                <a:latin typeface="Arial" pitchFamily="34" charset="0"/>
                <a:cs typeface="Arial" pitchFamily="34" charset="0"/>
              </a:rPr>
              <a:t>2</a:t>
            </a:r>
            <a:r>
              <a:rPr lang="vi-VN" sz="3200" dirty="0" smtClean="0">
                <a:cs typeface="Times New Roman" panose="02020603050405020304" pitchFamily="18" charset="0"/>
              </a:rPr>
              <a:t>. </a:t>
            </a:r>
            <a:r>
              <a:rPr lang="vi-VN" sz="3200" dirty="0">
                <a:cs typeface="Times New Roman" panose="02020603050405020304" pitchFamily="18" charset="0"/>
              </a:rPr>
              <a:t>Ở đk chuẩn 25</a:t>
            </a:r>
            <a:r>
              <a:rPr lang="vi-VN" sz="3200" baseline="30000" dirty="0">
                <a:cs typeface="Times New Roman" panose="02020603050405020304" pitchFamily="18" charset="0"/>
              </a:rPr>
              <a:t>0</a:t>
            </a:r>
            <a:r>
              <a:rPr lang="vi-VN" sz="3200" dirty="0">
                <a:cs typeface="Times New Roman" panose="02020603050405020304" pitchFamily="18" charset="0"/>
              </a:rPr>
              <a:t>C, chọn chất có khả năng oxy hoá </a:t>
            </a:r>
            <a:r>
              <a:rPr lang="en-US" sz="3200" dirty="0" smtClean="0">
                <a:solidFill>
                  <a:srgbClr val="0000FF"/>
                </a:solidFill>
                <a:latin typeface="Arial" pitchFamily="34" charset="0"/>
                <a:cs typeface="Arial" pitchFamily="34" charset="0"/>
              </a:rPr>
              <a:t>I</a:t>
            </a:r>
            <a:r>
              <a:rPr lang="vi-VN" sz="3200" baseline="30000" dirty="0" smtClean="0">
                <a:solidFill>
                  <a:srgbClr val="0000FF"/>
                </a:solidFill>
                <a:cs typeface="Times New Roman" panose="02020603050405020304" pitchFamily="18" charset="0"/>
              </a:rPr>
              <a:t>–</a:t>
            </a:r>
            <a:r>
              <a:rPr lang="vi-VN" sz="3200" dirty="0" smtClean="0">
                <a:solidFill>
                  <a:srgbClr val="0000FF"/>
                </a:solidFill>
                <a:cs typeface="Times New Roman" panose="02020603050405020304" pitchFamily="18" charset="0"/>
              </a:rPr>
              <a:t>(</a:t>
            </a:r>
            <a:r>
              <a:rPr lang="vi-VN" sz="3200" dirty="0">
                <a:solidFill>
                  <a:srgbClr val="0000FF"/>
                </a:solidFill>
                <a:cs typeface="Times New Roman" panose="02020603050405020304" pitchFamily="18" charset="0"/>
              </a:rPr>
              <a:t>dd)</a:t>
            </a:r>
            <a:r>
              <a:rPr lang="vi-VN" sz="3200" dirty="0">
                <a:cs typeface="Times New Roman" panose="02020603050405020304" pitchFamily="18" charset="0"/>
              </a:rPr>
              <a:t> thành </a:t>
            </a:r>
            <a:r>
              <a:rPr lang="en-US" sz="3200" dirty="0">
                <a:solidFill>
                  <a:srgbClr val="FF0000"/>
                </a:solidFill>
                <a:latin typeface="Arial" pitchFamily="34" charset="0"/>
                <a:cs typeface="Arial" pitchFamily="34" charset="0"/>
              </a:rPr>
              <a:t>I</a:t>
            </a:r>
            <a:r>
              <a:rPr lang="vi-VN" sz="3200" baseline="-25000" dirty="0" smtClean="0">
                <a:solidFill>
                  <a:srgbClr val="FF0000"/>
                </a:solidFill>
                <a:cs typeface="Times New Roman" panose="02020603050405020304" pitchFamily="18" charset="0"/>
              </a:rPr>
              <a:t>2</a:t>
            </a:r>
            <a:r>
              <a:rPr lang="vi-VN" sz="3200" dirty="0" smtClean="0">
                <a:cs typeface="Times New Roman" panose="02020603050405020304" pitchFamily="18" charset="0"/>
              </a:rPr>
              <a:t> </a:t>
            </a:r>
            <a:r>
              <a:rPr lang="vi-VN" sz="3200" dirty="0">
                <a:cs typeface="Times New Roman" panose="02020603050405020304" pitchFamily="18" charset="0"/>
              </a:rPr>
              <a:t>trong các chất dưới đây: </a:t>
            </a:r>
            <a:r>
              <a:rPr lang="vi-VN" sz="3200" dirty="0" smtClean="0">
                <a:cs typeface="Times New Roman" panose="02020603050405020304" pitchFamily="18" charset="0"/>
              </a:rPr>
              <a:t>(</a:t>
            </a:r>
            <a:r>
              <a:rPr lang="en-US" sz="3200" dirty="0" smtClean="0">
                <a:cs typeface="Times New Roman" panose="02020603050405020304" pitchFamily="18" charset="0"/>
              </a:rPr>
              <a:t>Cho</a:t>
            </a:r>
            <a:r>
              <a:rPr lang="vi-VN" sz="3200" dirty="0" smtClean="0">
                <a:cs typeface="Times New Roman" panose="02020603050405020304" pitchFamily="18" charset="0"/>
              </a:rPr>
              <a:t> </a:t>
            </a:r>
            <a:r>
              <a:rPr lang="vi-VN" sz="3200" dirty="0">
                <a:cs typeface="Times New Roman" panose="02020603050405020304" pitchFamily="18" charset="0"/>
                <a:sym typeface="Symbol" panose="05050102010706020507" pitchFamily="18" charset="2"/>
              </a:rPr>
              <a:t></a:t>
            </a:r>
            <a:r>
              <a:rPr lang="vi-VN" sz="3200" baseline="30000" dirty="0" smtClean="0">
                <a:cs typeface="Times New Roman" panose="02020603050405020304" pitchFamily="18" charset="0"/>
                <a:sym typeface="Symbol" panose="05050102010706020507" pitchFamily="18" charset="2"/>
              </a:rPr>
              <a:t>0</a:t>
            </a:r>
            <a:r>
              <a:rPr lang="vi-VN" sz="3200" dirty="0" smtClean="0">
                <a:cs typeface="Times New Roman" panose="02020603050405020304" pitchFamily="18" charset="0"/>
                <a:sym typeface="Symbol" panose="05050102010706020507" pitchFamily="18" charset="2"/>
              </a:rPr>
              <a:t>(</a:t>
            </a:r>
            <a:r>
              <a:rPr lang="en-US" sz="3200" dirty="0">
                <a:solidFill>
                  <a:srgbClr val="FF0000"/>
                </a:solidFill>
                <a:cs typeface="Times New Roman" panose="02020603050405020304" pitchFamily="18" charset="0"/>
                <a:sym typeface="Symbol" panose="05050102010706020507" pitchFamily="18" charset="2"/>
              </a:rPr>
              <a:t>I</a:t>
            </a:r>
            <a:r>
              <a:rPr lang="vi-VN" sz="3200" baseline="-25000" dirty="0" smtClean="0">
                <a:solidFill>
                  <a:srgbClr val="FF0000"/>
                </a:solidFill>
                <a:cs typeface="Times New Roman" panose="02020603050405020304" pitchFamily="18" charset="0"/>
                <a:sym typeface="Symbol" panose="05050102010706020507" pitchFamily="18" charset="2"/>
              </a:rPr>
              <a:t>2</a:t>
            </a:r>
            <a:r>
              <a:rPr lang="vi-VN" sz="3200" dirty="0" smtClean="0">
                <a:cs typeface="Times New Roman" panose="02020603050405020304" pitchFamily="18" charset="0"/>
                <a:sym typeface="Symbol" panose="05050102010706020507" pitchFamily="18" charset="2"/>
              </a:rPr>
              <a:t>/</a:t>
            </a:r>
            <a:r>
              <a:rPr lang="en-US" sz="3200" dirty="0">
                <a:solidFill>
                  <a:srgbClr val="0000FF"/>
                </a:solidFill>
                <a:cs typeface="Times New Roman" panose="02020603050405020304" pitchFamily="18" charset="0"/>
                <a:sym typeface="Symbol" panose="05050102010706020507" pitchFamily="18" charset="2"/>
              </a:rPr>
              <a:t>I</a:t>
            </a:r>
            <a:r>
              <a:rPr lang="vi-VN" sz="3200" dirty="0" smtClean="0">
                <a:solidFill>
                  <a:srgbClr val="0000FF"/>
                </a:solidFill>
                <a:cs typeface="Times New Roman" panose="02020603050405020304" pitchFamily="18" charset="0"/>
                <a:sym typeface="Symbol" panose="05050102010706020507" pitchFamily="18" charset="2"/>
              </a:rPr>
              <a:t> </a:t>
            </a:r>
            <a:r>
              <a:rPr lang="vi-VN" sz="3200" baseline="30000" dirty="0">
                <a:solidFill>
                  <a:srgbClr val="0000FF"/>
                </a:solidFill>
                <a:cs typeface="Times New Roman" panose="02020603050405020304" pitchFamily="18" charset="0"/>
                <a:sym typeface="Symbol" panose="05050102010706020507" pitchFamily="18" charset="2"/>
              </a:rPr>
              <a:t>-</a:t>
            </a:r>
            <a:r>
              <a:rPr lang="vi-VN" sz="3200" dirty="0">
                <a:cs typeface="Times New Roman" panose="02020603050405020304" pitchFamily="18" charset="0"/>
                <a:sym typeface="Symbol" panose="05050102010706020507" pitchFamily="18" charset="2"/>
              </a:rPr>
              <a:t>) = </a:t>
            </a:r>
            <a:r>
              <a:rPr lang="en-US" sz="3200" dirty="0" smtClean="0">
                <a:latin typeface="Arial" pitchFamily="34" charset="0"/>
                <a:cs typeface="Arial" pitchFamily="34" charset="0"/>
                <a:sym typeface="Symbol" panose="05050102010706020507" pitchFamily="18" charset="2"/>
              </a:rPr>
              <a:t>0</a:t>
            </a:r>
            <a:r>
              <a:rPr lang="vi-VN" sz="3200" dirty="0" smtClean="0">
                <a:latin typeface="Arial" pitchFamily="34" charset="0"/>
                <a:cs typeface="Arial" pitchFamily="34" charset="0"/>
                <a:sym typeface="Symbol" panose="05050102010706020507" pitchFamily="18" charset="2"/>
              </a:rPr>
              <a:t>,</a:t>
            </a:r>
            <a:r>
              <a:rPr lang="en-US" sz="3200" dirty="0" smtClean="0">
                <a:latin typeface="Arial" pitchFamily="34" charset="0"/>
                <a:cs typeface="Arial" pitchFamily="34" charset="0"/>
                <a:sym typeface="Symbol" panose="05050102010706020507" pitchFamily="18" charset="2"/>
              </a:rPr>
              <a:t>53</a:t>
            </a:r>
            <a:r>
              <a:rPr lang="vi-VN" sz="3200" dirty="0" smtClean="0">
                <a:latin typeface="Arial" pitchFamily="34" charset="0"/>
                <a:cs typeface="Arial" pitchFamily="34" charset="0"/>
                <a:sym typeface="Symbol" panose="05050102010706020507" pitchFamily="18" charset="2"/>
              </a:rPr>
              <a:t>V</a:t>
            </a:r>
            <a:r>
              <a:rPr lang="vi-VN" sz="3200" dirty="0">
                <a:latin typeface="Arial" pitchFamily="34" charset="0"/>
                <a:cs typeface="Arial" pitchFamily="34" charset="0"/>
                <a:sym typeface="Symbol" panose="05050102010706020507" pitchFamily="18" charset="2"/>
              </a:rPr>
              <a:t>) </a:t>
            </a:r>
            <a:endParaRPr lang="vi-VN" sz="3200" dirty="0">
              <a:latin typeface="Arial" pitchFamily="34" charset="0"/>
              <a:cs typeface="Arial" pitchFamily="34" charset="0"/>
            </a:endParaRPr>
          </a:p>
          <a:p>
            <a:pPr marL="514350" indent="-514350">
              <a:lnSpc>
                <a:spcPct val="150000"/>
              </a:lnSpc>
              <a:buAutoNum type="arabicPeriod"/>
            </a:pPr>
            <a:r>
              <a:rPr lang="en-US" sz="3200" dirty="0" smtClean="0">
                <a:solidFill>
                  <a:srgbClr val="FF0000"/>
                </a:solidFill>
                <a:latin typeface="Arial" pitchFamily="34" charset="0"/>
                <a:cs typeface="Arial" pitchFamily="34" charset="0"/>
              </a:rPr>
              <a:t>Br</a:t>
            </a:r>
            <a:r>
              <a:rPr lang="vi-VN" sz="3200" baseline="-25000" dirty="0" smtClean="0">
                <a:solidFill>
                  <a:srgbClr val="FF0000"/>
                </a:solidFill>
                <a:latin typeface="Arial" pitchFamily="34" charset="0"/>
                <a:cs typeface="Arial" pitchFamily="34" charset="0"/>
              </a:rPr>
              <a:t>2 </a:t>
            </a:r>
            <a:r>
              <a:rPr lang="vi-VN" sz="3200" dirty="0">
                <a:cs typeface="Times New Roman" panose="02020603050405020304" pitchFamily="18" charset="0"/>
              </a:rPr>
              <a:t>(k)  ; </a:t>
            </a:r>
            <a:r>
              <a:rPr lang="vi-VN" sz="3200" dirty="0">
                <a:cs typeface="Times New Roman" panose="02020603050405020304" pitchFamily="18" charset="0"/>
                <a:sym typeface="Symbol" panose="05050102010706020507" pitchFamily="18" charset="2"/>
              </a:rPr>
              <a:t></a:t>
            </a:r>
            <a:r>
              <a:rPr lang="vi-VN" sz="3200" baseline="30000" dirty="0" smtClean="0">
                <a:cs typeface="Times New Roman" panose="02020603050405020304" pitchFamily="18" charset="0"/>
                <a:sym typeface="Symbol" panose="05050102010706020507" pitchFamily="18" charset="2"/>
              </a:rPr>
              <a:t>0</a:t>
            </a:r>
            <a:r>
              <a:rPr lang="vi-VN" sz="3200" dirty="0" smtClean="0">
                <a:cs typeface="Times New Roman" panose="02020603050405020304" pitchFamily="18" charset="0"/>
                <a:sym typeface="Symbol" panose="05050102010706020507" pitchFamily="18" charset="2"/>
              </a:rPr>
              <a:t>(</a:t>
            </a:r>
            <a:r>
              <a:rPr lang="en-US" sz="3200" dirty="0">
                <a:solidFill>
                  <a:srgbClr val="FF0000"/>
                </a:solidFill>
                <a:latin typeface="Arial" pitchFamily="34" charset="0"/>
                <a:cs typeface="Arial" pitchFamily="34" charset="0"/>
                <a:sym typeface="Symbol" panose="05050102010706020507" pitchFamily="18" charset="2"/>
              </a:rPr>
              <a:t>B</a:t>
            </a:r>
            <a:r>
              <a:rPr lang="en-US" sz="3200" dirty="0" smtClean="0">
                <a:solidFill>
                  <a:srgbClr val="FF0000"/>
                </a:solidFill>
                <a:latin typeface="Arial" pitchFamily="34" charset="0"/>
                <a:cs typeface="Arial" pitchFamily="34" charset="0"/>
                <a:sym typeface="Symbol" panose="05050102010706020507" pitchFamily="18" charset="2"/>
              </a:rPr>
              <a:t>r</a:t>
            </a:r>
            <a:r>
              <a:rPr lang="vi-VN" sz="3200" baseline="-25000" dirty="0" smtClean="0">
                <a:solidFill>
                  <a:srgbClr val="FF0000"/>
                </a:solidFill>
                <a:latin typeface="Arial" pitchFamily="34" charset="0"/>
                <a:cs typeface="Arial" pitchFamily="34" charset="0"/>
                <a:sym typeface="Symbol" panose="05050102010706020507" pitchFamily="18" charset="2"/>
              </a:rPr>
              <a:t>2</a:t>
            </a:r>
            <a:r>
              <a:rPr lang="vi-VN" sz="3200" dirty="0" smtClean="0">
                <a:solidFill>
                  <a:srgbClr val="0000FF"/>
                </a:solidFill>
                <a:latin typeface="Arial" pitchFamily="34" charset="0"/>
                <a:cs typeface="Arial" pitchFamily="34" charset="0"/>
                <a:sym typeface="Symbol" panose="05050102010706020507" pitchFamily="18" charset="2"/>
              </a:rPr>
              <a:t>/</a:t>
            </a:r>
            <a:r>
              <a:rPr lang="en-US" sz="3200" dirty="0" smtClean="0">
                <a:solidFill>
                  <a:srgbClr val="0000FF"/>
                </a:solidFill>
                <a:latin typeface="Arial" pitchFamily="34" charset="0"/>
                <a:cs typeface="Arial" pitchFamily="34" charset="0"/>
                <a:sym typeface="Symbol" panose="05050102010706020507" pitchFamily="18" charset="2"/>
              </a:rPr>
              <a:t>Br </a:t>
            </a:r>
            <a:r>
              <a:rPr lang="vi-VN" sz="3200" baseline="30000" dirty="0" smtClean="0">
                <a:solidFill>
                  <a:srgbClr val="0000FF"/>
                </a:solidFill>
                <a:latin typeface="Arial" pitchFamily="34" charset="0"/>
                <a:cs typeface="Arial" pitchFamily="34" charset="0"/>
                <a:sym typeface="Symbol" panose="05050102010706020507" pitchFamily="18" charset="2"/>
              </a:rPr>
              <a:t>-</a:t>
            </a:r>
            <a:r>
              <a:rPr lang="vi-VN" sz="3200" dirty="0" smtClean="0">
                <a:cs typeface="Times New Roman" panose="02020603050405020304" pitchFamily="18" charset="0"/>
                <a:sym typeface="Symbol" panose="05050102010706020507" pitchFamily="18" charset="2"/>
              </a:rPr>
              <a:t>) </a:t>
            </a:r>
            <a:r>
              <a:rPr lang="vi-VN" sz="3200" dirty="0">
                <a:cs typeface="Times New Roman" panose="02020603050405020304" pitchFamily="18" charset="0"/>
                <a:sym typeface="Symbol" panose="05050102010706020507" pitchFamily="18" charset="2"/>
              </a:rPr>
              <a:t>= </a:t>
            </a:r>
            <a:r>
              <a:rPr lang="vi-VN" sz="3200" dirty="0" smtClean="0">
                <a:cs typeface="Times New Roman" panose="02020603050405020304" pitchFamily="18" charset="0"/>
                <a:sym typeface="Symbol" panose="05050102010706020507" pitchFamily="18" charset="2"/>
              </a:rPr>
              <a:t>1,</a:t>
            </a:r>
            <a:r>
              <a:rPr lang="en-US" sz="3200" dirty="0" smtClean="0">
                <a:latin typeface="Arial" pitchFamily="34" charset="0"/>
                <a:cs typeface="Arial" pitchFamily="34" charset="0"/>
                <a:sym typeface="Symbol" panose="05050102010706020507" pitchFamily="18" charset="2"/>
              </a:rPr>
              <a:t>0</a:t>
            </a:r>
            <a:r>
              <a:rPr lang="en-US" sz="3200" dirty="0">
                <a:latin typeface="Arial" pitchFamily="34" charset="0"/>
                <a:cs typeface="Arial" pitchFamily="34" charset="0"/>
                <a:sym typeface="Symbol" panose="05050102010706020507" pitchFamily="18" charset="2"/>
              </a:rPr>
              <a:t>7</a:t>
            </a:r>
            <a:r>
              <a:rPr lang="vi-VN" sz="3200" dirty="0" smtClean="0">
                <a:latin typeface="Arial" pitchFamily="34" charset="0"/>
                <a:cs typeface="Arial" pitchFamily="34" charset="0"/>
                <a:sym typeface="Symbol" panose="05050102010706020507" pitchFamily="18" charset="2"/>
              </a:rPr>
              <a:t> </a:t>
            </a:r>
            <a:r>
              <a:rPr lang="vi-VN" sz="3200" dirty="0">
                <a:cs typeface="Times New Roman" panose="02020603050405020304" pitchFamily="18" charset="0"/>
                <a:sym typeface="Symbol" panose="05050102010706020507" pitchFamily="18" charset="2"/>
              </a:rPr>
              <a:t>V</a:t>
            </a:r>
          </a:p>
          <a:p>
            <a:pPr marL="514350" indent="-514350">
              <a:lnSpc>
                <a:spcPct val="150000"/>
              </a:lnSpc>
              <a:buAutoNum type="arabicPeriod"/>
            </a:pPr>
            <a:r>
              <a:rPr lang="vi-VN" sz="3200" dirty="0">
                <a:solidFill>
                  <a:srgbClr val="FF0000"/>
                </a:solidFill>
                <a:cs typeface="Times New Roman" panose="02020603050405020304" pitchFamily="18" charset="0"/>
                <a:sym typeface="Symbol" panose="05050102010706020507" pitchFamily="18" charset="2"/>
              </a:rPr>
              <a:t>H</a:t>
            </a:r>
            <a:r>
              <a:rPr lang="vi-VN" sz="3200" baseline="30000" dirty="0">
                <a:solidFill>
                  <a:srgbClr val="FF0000"/>
                </a:solidFill>
                <a:cs typeface="Times New Roman" panose="02020603050405020304" pitchFamily="18" charset="0"/>
                <a:sym typeface="Symbol" panose="05050102010706020507" pitchFamily="18" charset="2"/>
              </a:rPr>
              <a:t>+</a:t>
            </a:r>
            <a:r>
              <a:rPr lang="vi-VN" sz="3200" dirty="0">
                <a:solidFill>
                  <a:schemeClr val="accent6">
                    <a:lumMod val="50000"/>
                  </a:schemeClr>
                </a:solidFill>
                <a:cs typeface="Times New Roman" panose="02020603050405020304" pitchFamily="18" charset="0"/>
                <a:sym typeface="Symbol" panose="05050102010706020507" pitchFamily="18" charset="2"/>
              </a:rPr>
              <a:t>(dd) ; </a:t>
            </a:r>
            <a:r>
              <a:rPr lang="vi-VN" sz="3200" baseline="30000" dirty="0">
                <a:solidFill>
                  <a:schemeClr val="accent6">
                    <a:lumMod val="50000"/>
                  </a:schemeClr>
                </a:solidFill>
                <a:cs typeface="Times New Roman" panose="02020603050405020304" pitchFamily="18" charset="0"/>
                <a:sym typeface="Symbol" panose="05050102010706020507" pitchFamily="18" charset="2"/>
              </a:rPr>
              <a:t>0</a:t>
            </a:r>
            <a:r>
              <a:rPr lang="vi-VN" sz="3200" dirty="0">
                <a:solidFill>
                  <a:schemeClr val="accent6">
                    <a:lumMod val="50000"/>
                  </a:schemeClr>
                </a:solidFill>
                <a:cs typeface="Times New Roman" panose="02020603050405020304" pitchFamily="18" charset="0"/>
                <a:sym typeface="Symbol" panose="05050102010706020507" pitchFamily="18" charset="2"/>
              </a:rPr>
              <a:t>(</a:t>
            </a:r>
            <a:r>
              <a:rPr lang="vi-VN" sz="3200" dirty="0">
                <a:solidFill>
                  <a:srgbClr val="FF0000"/>
                </a:solidFill>
                <a:cs typeface="Times New Roman" panose="02020603050405020304" pitchFamily="18" charset="0"/>
                <a:sym typeface="Symbol" panose="05050102010706020507" pitchFamily="18" charset="2"/>
              </a:rPr>
              <a:t>H</a:t>
            </a:r>
            <a:r>
              <a:rPr lang="vi-VN" sz="3200" baseline="30000" dirty="0">
                <a:solidFill>
                  <a:srgbClr val="FF0000"/>
                </a:solidFill>
                <a:cs typeface="Times New Roman" panose="02020603050405020304" pitchFamily="18" charset="0"/>
                <a:sym typeface="Symbol" panose="05050102010706020507" pitchFamily="18" charset="2"/>
              </a:rPr>
              <a:t>+</a:t>
            </a:r>
            <a:r>
              <a:rPr lang="vi-VN" sz="3200" dirty="0">
                <a:solidFill>
                  <a:schemeClr val="accent6">
                    <a:lumMod val="50000"/>
                  </a:schemeClr>
                </a:solidFill>
                <a:cs typeface="Times New Roman" panose="02020603050405020304" pitchFamily="18" charset="0"/>
                <a:sym typeface="Symbol" panose="05050102010706020507" pitchFamily="18" charset="2"/>
              </a:rPr>
              <a:t>/</a:t>
            </a:r>
            <a:r>
              <a:rPr lang="vi-VN" sz="3200" dirty="0">
                <a:solidFill>
                  <a:srgbClr val="0000FF"/>
                </a:solidFill>
                <a:cs typeface="Times New Roman" panose="02020603050405020304" pitchFamily="18" charset="0"/>
                <a:sym typeface="Symbol" panose="05050102010706020507" pitchFamily="18" charset="2"/>
              </a:rPr>
              <a:t>H</a:t>
            </a:r>
            <a:r>
              <a:rPr lang="vi-VN" sz="3200" baseline="-25000" dirty="0">
                <a:solidFill>
                  <a:srgbClr val="0000FF"/>
                </a:solidFill>
                <a:cs typeface="Times New Roman" panose="02020603050405020304" pitchFamily="18" charset="0"/>
                <a:sym typeface="Symbol" panose="05050102010706020507" pitchFamily="18" charset="2"/>
              </a:rPr>
              <a:t>2</a:t>
            </a:r>
            <a:r>
              <a:rPr lang="vi-VN" sz="3200" dirty="0">
                <a:cs typeface="Times New Roman" panose="02020603050405020304" pitchFamily="18" charset="0"/>
                <a:sym typeface="Symbol" panose="05050102010706020507" pitchFamily="18" charset="2"/>
              </a:rPr>
              <a:t>) = 0 V</a:t>
            </a:r>
          </a:p>
          <a:p>
            <a:pPr marL="514350" indent="-514350">
              <a:lnSpc>
                <a:spcPct val="150000"/>
              </a:lnSpc>
              <a:buAutoNum type="arabicPeriod"/>
            </a:pPr>
            <a:r>
              <a:rPr lang="en-US" sz="3200" dirty="0" smtClean="0">
                <a:solidFill>
                  <a:srgbClr val="FF0000"/>
                </a:solidFill>
                <a:latin typeface="Arial" pitchFamily="34" charset="0"/>
                <a:cs typeface="Arial" pitchFamily="34" charset="0"/>
                <a:sym typeface="Symbol" panose="05050102010706020507" pitchFamily="18" charset="2"/>
              </a:rPr>
              <a:t>Zn</a:t>
            </a:r>
            <a:r>
              <a:rPr lang="vi-VN" sz="3200" baseline="30000" dirty="0" smtClean="0">
                <a:solidFill>
                  <a:srgbClr val="FF0000"/>
                </a:solidFill>
                <a:latin typeface="Arial" pitchFamily="34" charset="0"/>
                <a:cs typeface="Arial" pitchFamily="34" charset="0"/>
                <a:sym typeface="Symbol" panose="05050102010706020507" pitchFamily="18" charset="2"/>
              </a:rPr>
              <a:t>2</a:t>
            </a:r>
            <a:r>
              <a:rPr lang="vi-VN" sz="3200" baseline="30000" dirty="0">
                <a:solidFill>
                  <a:srgbClr val="FF0000"/>
                </a:solidFill>
                <a:latin typeface="Arial" pitchFamily="34" charset="0"/>
                <a:cs typeface="Arial" pitchFamily="34" charset="0"/>
                <a:sym typeface="Symbol" panose="05050102010706020507" pitchFamily="18" charset="2"/>
              </a:rPr>
              <a:t>+</a:t>
            </a:r>
            <a:r>
              <a:rPr lang="vi-VN" sz="3200" dirty="0">
                <a:latin typeface="Arial" pitchFamily="34" charset="0"/>
                <a:cs typeface="Arial" pitchFamily="34" charset="0"/>
                <a:sym typeface="Symbol" panose="05050102010706020507" pitchFamily="18" charset="2"/>
              </a:rPr>
              <a:t>(dd)</a:t>
            </a:r>
            <a:r>
              <a:rPr lang="vi-VN" sz="3200" dirty="0">
                <a:solidFill>
                  <a:srgbClr val="9933FF"/>
                </a:solidFill>
                <a:latin typeface="Arial" pitchFamily="34" charset="0"/>
                <a:cs typeface="Arial" pitchFamily="34" charset="0"/>
                <a:sym typeface="Symbol" panose="05050102010706020507" pitchFamily="18" charset="2"/>
              </a:rPr>
              <a:t> </a:t>
            </a:r>
            <a:r>
              <a:rPr lang="vi-VN" sz="3200" dirty="0">
                <a:latin typeface="Arial" pitchFamily="34" charset="0"/>
                <a:cs typeface="Arial" pitchFamily="34" charset="0"/>
                <a:sym typeface="Symbol" panose="05050102010706020507" pitchFamily="18" charset="2"/>
              </a:rPr>
              <a:t>; </a:t>
            </a:r>
            <a:r>
              <a:rPr lang="vi-VN" sz="3200" baseline="30000" dirty="0" smtClean="0">
                <a:latin typeface="Arial" pitchFamily="34" charset="0"/>
                <a:cs typeface="Arial" pitchFamily="34" charset="0"/>
                <a:sym typeface="Symbol" panose="05050102010706020507" pitchFamily="18" charset="2"/>
              </a:rPr>
              <a:t>0</a:t>
            </a:r>
            <a:r>
              <a:rPr lang="vi-VN" sz="3200" dirty="0" smtClean="0">
                <a:latin typeface="Arial" pitchFamily="34" charset="0"/>
                <a:cs typeface="Arial" pitchFamily="34" charset="0"/>
                <a:sym typeface="Symbol" panose="05050102010706020507" pitchFamily="18" charset="2"/>
              </a:rPr>
              <a:t>(</a:t>
            </a:r>
            <a:r>
              <a:rPr lang="en-US" sz="3200" dirty="0" smtClean="0">
                <a:solidFill>
                  <a:srgbClr val="FF0000"/>
                </a:solidFill>
                <a:latin typeface="Arial" pitchFamily="34" charset="0"/>
                <a:cs typeface="Arial" pitchFamily="34" charset="0"/>
                <a:sym typeface="Symbol" panose="05050102010706020507" pitchFamily="18" charset="2"/>
              </a:rPr>
              <a:t>Zn</a:t>
            </a:r>
            <a:r>
              <a:rPr lang="vi-VN" sz="3200" baseline="30000" dirty="0" smtClean="0">
                <a:solidFill>
                  <a:srgbClr val="FF0000"/>
                </a:solidFill>
                <a:latin typeface="Arial" pitchFamily="34" charset="0"/>
                <a:cs typeface="Arial" pitchFamily="34" charset="0"/>
                <a:sym typeface="Symbol" panose="05050102010706020507" pitchFamily="18" charset="2"/>
              </a:rPr>
              <a:t>2+</a:t>
            </a:r>
            <a:r>
              <a:rPr lang="vi-VN" sz="3200" dirty="0" smtClean="0">
                <a:latin typeface="Arial" pitchFamily="34" charset="0"/>
                <a:cs typeface="Arial" pitchFamily="34" charset="0"/>
                <a:sym typeface="Symbol" panose="05050102010706020507" pitchFamily="18" charset="2"/>
              </a:rPr>
              <a:t>/</a:t>
            </a:r>
            <a:r>
              <a:rPr lang="en-US" sz="3200" dirty="0" smtClean="0">
                <a:solidFill>
                  <a:srgbClr val="0000FF"/>
                </a:solidFill>
                <a:latin typeface="Arial" pitchFamily="34" charset="0"/>
                <a:cs typeface="Arial" pitchFamily="34" charset="0"/>
                <a:sym typeface="Symbol" panose="05050102010706020507" pitchFamily="18" charset="2"/>
              </a:rPr>
              <a:t>Zn</a:t>
            </a:r>
            <a:r>
              <a:rPr lang="vi-VN" sz="3200" dirty="0" smtClean="0">
                <a:latin typeface="Arial" pitchFamily="34" charset="0"/>
                <a:cs typeface="Arial" pitchFamily="34" charset="0"/>
                <a:sym typeface="Symbol" panose="05050102010706020507" pitchFamily="18" charset="2"/>
              </a:rPr>
              <a:t>) </a:t>
            </a:r>
            <a:r>
              <a:rPr lang="vi-VN" sz="3200" dirty="0">
                <a:latin typeface="Arial" pitchFamily="34" charset="0"/>
                <a:cs typeface="Arial" pitchFamily="34" charset="0"/>
                <a:sym typeface="Symbol" panose="05050102010706020507" pitchFamily="18" charset="2"/>
              </a:rPr>
              <a:t>= </a:t>
            </a:r>
            <a:r>
              <a:rPr lang="vi-VN" sz="3200" dirty="0" smtClean="0">
                <a:latin typeface="Arial" pitchFamily="34" charset="0"/>
                <a:cs typeface="Arial" pitchFamily="34" charset="0"/>
                <a:sym typeface="Symbol" panose="05050102010706020507" pitchFamily="18" charset="2"/>
              </a:rPr>
              <a:t> </a:t>
            </a:r>
            <a:r>
              <a:rPr lang="en-US" sz="3200" dirty="0" smtClean="0">
                <a:latin typeface="Arial" pitchFamily="34" charset="0"/>
                <a:cs typeface="Arial" pitchFamily="34" charset="0"/>
                <a:sym typeface="Symbol" panose="05050102010706020507" pitchFamily="18" charset="2"/>
              </a:rPr>
              <a:t>- </a:t>
            </a:r>
            <a:r>
              <a:rPr lang="vi-VN" sz="3200" dirty="0" smtClean="0">
                <a:latin typeface="Arial" pitchFamily="34" charset="0"/>
                <a:cs typeface="Arial" pitchFamily="34" charset="0"/>
                <a:sym typeface="Symbol" panose="05050102010706020507" pitchFamily="18" charset="2"/>
              </a:rPr>
              <a:t>0,</a:t>
            </a:r>
            <a:r>
              <a:rPr lang="en-US" sz="3200" dirty="0" smtClean="0">
                <a:latin typeface="Arial" pitchFamily="34" charset="0"/>
                <a:cs typeface="Arial" pitchFamily="34" charset="0"/>
                <a:sym typeface="Symbol" panose="05050102010706020507" pitchFamily="18" charset="2"/>
              </a:rPr>
              <a:t>76</a:t>
            </a:r>
            <a:r>
              <a:rPr lang="vi-VN" sz="3200" dirty="0" smtClean="0">
                <a:latin typeface="Arial" pitchFamily="34" charset="0"/>
                <a:cs typeface="Arial" pitchFamily="34" charset="0"/>
                <a:sym typeface="Symbol" panose="05050102010706020507" pitchFamily="18" charset="2"/>
              </a:rPr>
              <a:t> </a:t>
            </a:r>
            <a:r>
              <a:rPr lang="vi-VN" sz="3200" dirty="0">
                <a:latin typeface="Arial" pitchFamily="34" charset="0"/>
                <a:cs typeface="Arial" pitchFamily="34" charset="0"/>
                <a:sym typeface="Symbol" panose="05050102010706020507" pitchFamily="18" charset="2"/>
              </a:rPr>
              <a:t>V</a:t>
            </a:r>
          </a:p>
          <a:p>
            <a:pPr marL="514350" indent="-514350">
              <a:lnSpc>
                <a:spcPct val="150000"/>
              </a:lnSpc>
              <a:buAutoNum type="arabicPeriod"/>
            </a:pPr>
            <a:r>
              <a:rPr lang="vi-VN" sz="3200" dirty="0">
                <a:solidFill>
                  <a:srgbClr val="FF0000"/>
                </a:solidFill>
                <a:cs typeface="Times New Roman" panose="02020603050405020304" pitchFamily="18" charset="0"/>
                <a:sym typeface="Symbol" panose="05050102010706020507" pitchFamily="18" charset="2"/>
              </a:rPr>
              <a:t>MnO</a:t>
            </a:r>
            <a:r>
              <a:rPr lang="vi-VN" sz="3200" baseline="-25000" dirty="0">
                <a:solidFill>
                  <a:srgbClr val="FF0000"/>
                </a:solidFill>
                <a:cs typeface="Times New Roman" panose="02020603050405020304" pitchFamily="18" charset="0"/>
                <a:sym typeface="Symbol" panose="05050102010706020507" pitchFamily="18" charset="2"/>
              </a:rPr>
              <a:t>4</a:t>
            </a:r>
            <a:r>
              <a:rPr lang="vi-VN" sz="3200" baseline="30000" dirty="0">
                <a:solidFill>
                  <a:srgbClr val="FF0000"/>
                </a:solidFill>
                <a:cs typeface="Times New Roman" panose="02020603050405020304" pitchFamily="18" charset="0"/>
                <a:sym typeface="Symbol" panose="05050102010706020507" pitchFamily="18" charset="2"/>
              </a:rPr>
              <a:t>-</a:t>
            </a:r>
            <a:r>
              <a:rPr lang="vi-VN" sz="3200" dirty="0">
                <a:cs typeface="Times New Roman" panose="02020603050405020304" pitchFamily="18" charset="0"/>
                <a:sym typeface="Symbol" panose="05050102010706020507" pitchFamily="18" charset="2"/>
              </a:rPr>
              <a:t>(dd)</a:t>
            </a:r>
            <a:r>
              <a:rPr lang="vi-VN" sz="3200" dirty="0">
                <a:solidFill>
                  <a:srgbClr val="FF0000"/>
                </a:solidFill>
                <a:cs typeface="Times New Roman" panose="02020603050405020304" pitchFamily="18" charset="0"/>
                <a:sym typeface="Symbol" panose="05050102010706020507" pitchFamily="18" charset="2"/>
              </a:rPr>
              <a:t> </a:t>
            </a:r>
            <a:r>
              <a:rPr lang="vi-VN" sz="3200" dirty="0">
                <a:cs typeface="Times New Roman" panose="02020603050405020304" pitchFamily="18" charset="0"/>
                <a:sym typeface="Symbol" panose="05050102010706020507" pitchFamily="18" charset="2"/>
              </a:rPr>
              <a:t>; </a:t>
            </a:r>
            <a:r>
              <a:rPr lang="vi-VN" sz="3200" baseline="30000" dirty="0">
                <a:cs typeface="Times New Roman" panose="02020603050405020304" pitchFamily="18" charset="0"/>
                <a:sym typeface="Symbol" panose="05050102010706020507" pitchFamily="18" charset="2"/>
              </a:rPr>
              <a:t>0</a:t>
            </a:r>
            <a:r>
              <a:rPr lang="vi-VN" sz="3200" dirty="0">
                <a:cs typeface="Times New Roman" panose="02020603050405020304" pitchFamily="18" charset="0"/>
                <a:sym typeface="Symbol" panose="05050102010706020507" pitchFamily="18" charset="2"/>
              </a:rPr>
              <a:t>(</a:t>
            </a:r>
            <a:r>
              <a:rPr lang="vi-VN" sz="3200" dirty="0">
                <a:solidFill>
                  <a:srgbClr val="FF0000"/>
                </a:solidFill>
                <a:cs typeface="Times New Roman" panose="02020603050405020304" pitchFamily="18" charset="0"/>
                <a:sym typeface="Symbol" panose="05050102010706020507" pitchFamily="18" charset="2"/>
              </a:rPr>
              <a:t>MnO</a:t>
            </a:r>
            <a:r>
              <a:rPr lang="vi-VN" sz="3200" baseline="-25000" dirty="0">
                <a:solidFill>
                  <a:srgbClr val="FF0000"/>
                </a:solidFill>
                <a:cs typeface="Times New Roman" panose="02020603050405020304" pitchFamily="18" charset="0"/>
                <a:sym typeface="Symbol" panose="05050102010706020507" pitchFamily="18" charset="2"/>
              </a:rPr>
              <a:t>4</a:t>
            </a:r>
            <a:r>
              <a:rPr lang="vi-VN" sz="3200" baseline="30000" dirty="0">
                <a:solidFill>
                  <a:srgbClr val="FF0000"/>
                </a:solidFill>
                <a:cs typeface="Times New Roman" panose="02020603050405020304" pitchFamily="18" charset="0"/>
                <a:sym typeface="Symbol" panose="05050102010706020507" pitchFamily="18" charset="2"/>
              </a:rPr>
              <a:t>-</a:t>
            </a:r>
            <a:r>
              <a:rPr lang="vi-VN" sz="3200" dirty="0">
                <a:solidFill>
                  <a:srgbClr val="C00000"/>
                </a:solidFill>
                <a:cs typeface="Times New Roman" panose="02020603050405020304" pitchFamily="18" charset="0"/>
                <a:sym typeface="Symbol" panose="05050102010706020507" pitchFamily="18" charset="2"/>
              </a:rPr>
              <a:t> </a:t>
            </a:r>
            <a:r>
              <a:rPr lang="vi-VN" sz="3200" dirty="0">
                <a:cs typeface="Times New Roman" panose="02020603050405020304" pitchFamily="18" charset="0"/>
                <a:sym typeface="Symbol" panose="05050102010706020507" pitchFamily="18" charset="2"/>
              </a:rPr>
              <a:t>,H</a:t>
            </a:r>
            <a:r>
              <a:rPr lang="vi-VN" sz="3200" baseline="30000" dirty="0">
                <a:cs typeface="Times New Roman" panose="02020603050405020304" pitchFamily="18" charset="0"/>
                <a:sym typeface="Symbol" panose="05050102010706020507" pitchFamily="18" charset="2"/>
              </a:rPr>
              <a:t>+</a:t>
            </a:r>
            <a:r>
              <a:rPr lang="vi-VN" sz="3200" dirty="0">
                <a:cs typeface="Times New Roman" panose="02020603050405020304" pitchFamily="18" charset="0"/>
                <a:sym typeface="Symbol" panose="05050102010706020507" pitchFamily="18" charset="2"/>
              </a:rPr>
              <a:t>/</a:t>
            </a:r>
            <a:r>
              <a:rPr lang="vi-VN" sz="3200" dirty="0">
                <a:solidFill>
                  <a:srgbClr val="C00000"/>
                </a:solidFill>
                <a:cs typeface="Times New Roman" panose="02020603050405020304" pitchFamily="18" charset="0"/>
                <a:sym typeface="Symbol" panose="05050102010706020507" pitchFamily="18" charset="2"/>
              </a:rPr>
              <a:t> </a:t>
            </a:r>
            <a:r>
              <a:rPr lang="vi-VN" sz="3200" dirty="0">
                <a:solidFill>
                  <a:srgbClr val="0000FF"/>
                </a:solidFill>
                <a:cs typeface="Times New Roman" panose="02020603050405020304" pitchFamily="18" charset="0"/>
                <a:sym typeface="Symbol" panose="05050102010706020507" pitchFamily="18" charset="2"/>
              </a:rPr>
              <a:t>Mn</a:t>
            </a:r>
            <a:r>
              <a:rPr lang="vi-VN" sz="3200" baseline="30000" dirty="0">
                <a:solidFill>
                  <a:srgbClr val="0000FF"/>
                </a:solidFill>
                <a:cs typeface="Times New Roman" panose="02020603050405020304" pitchFamily="18" charset="0"/>
                <a:sym typeface="Symbol" panose="05050102010706020507" pitchFamily="18" charset="2"/>
              </a:rPr>
              <a:t>2+</a:t>
            </a:r>
            <a:r>
              <a:rPr lang="vi-VN" sz="3200" dirty="0">
                <a:cs typeface="Times New Roman" panose="02020603050405020304" pitchFamily="18" charset="0"/>
                <a:sym typeface="Symbol" panose="05050102010706020507" pitchFamily="18" charset="2"/>
              </a:rPr>
              <a:t>) = 1,51 V</a:t>
            </a:r>
            <a:endParaRPr lang="en-US" sz="3200" dirty="0">
              <a:cs typeface="Times New Roman" panose="02020603050405020304" pitchFamily="18" charset="0"/>
            </a:endParaRPr>
          </a:p>
        </p:txBody>
      </p:sp>
      <p:sp>
        <p:nvSpPr>
          <p:cNvPr id="4" name="TextBox 3">
            <a:extLst>
              <a:ext uri="{FF2B5EF4-FFF2-40B4-BE49-F238E27FC236}">
                <a16:creationId xmlns="" xmlns:a16="http://schemas.microsoft.com/office/drawing/2014/main" id="{62CA78EF-D8C5-43D9-890E-F392CEEED11B}"/>
              </a:ext>
            </a:extLst>
          </p:cNvPr>
          <p:cNvSpPr txBox="1"/>
          <p:nvPr/>
        </p:nvSpPr>
        <p:spPr>
          <a:xfrm>
            <a:off x="6339178" y="3069290"/>
            <a:ext cx="6347012" cy="707886"/>
          </a:xfrm>
          <a:prstGeom prst="rect">
            <a:avLst/>
          </a:prstGeom>
          <a:noFill/>
        </p:spPr>
        <p:txBody>
          <a:bodyPr wrap="square" rtlCol="0">
            <a:spAutoFit/>
          </a:bodyPr>
          <a:lstStyle/>
          <a:p>
            <a:r>
              <a:rPr lang="vi-VN" sz="4000" b="1" dirty="0">
                <a:solidFill>
                  <a:srgbClr val="FF0000"/>
                </a:solidFill>
                <a:effectLst>
                  <a:outerShdw blurRad="38100" dist="38100" dir="2700000" algn="tl">
                    <a:srgbClr val="000000">
                      <a:alpha val="43137"/>
                    </a:srgbClr>
                  </a:outerShdw>
                </a:effectLst>
                <a:cs typeface="Times New Roman" panose="02020603050405020304" pitchFamily="18" charset="0"/>
              </a:rPr>
              <a:t>ĐÁP ÁN : </a:t>
            </a:r>
            <a:r>
              <a:rPr lang="en-US" sz="4000" b="1" dirty="0" smtClean="0">
                <a:solidFill>
                  <a:srgbClr val="FF0000"/>
                </a:solidFill>
                <a:effectLst>
                  <a:outerShdw blurRad="38100" dist="38100" dir="2700000" algn="tl">
                    <a:srgbClr val="000000">
                      <a:alpha val="43137"/>
                    </a:srgbClr>
                  </a:outerShdw>
                </a:effectLst>
                <a:latin typeface="Arial" pitchFamily="34" charset="0"/>
                <a:cs typeface="Arial" pitchFamily="34" charset="0"/>
              </a:rPr>
              <a:t>Br</a:t>
            </a:r>
            <a:r>
              <a:rPr lang="vi-VN" sz="4000" b="1" baseline="-25000" dirty="0" smtClean="0">
                <a:solidFill>
                  <a:srgbClr val="FF0000"/>
                </a:solidFill>
                <a:effectLst>
                  <a:outerShdw blurRad="38100" dist="38100" dir="2700000" algn="tl">
                    <a:srgbClr val="000000">
                      <a:alpha val="43137"/>
                    </a:srgbClr>
                  </a:outerShdw>
                </a:effectLst>
                <a:cs typeface="Times New Roman" panose="02020603050405020304" pitchFamily="18" charset="0"/>
              </a:rPr>
              <a:t>2</a:t>
            </a:r>
            <a:r>
              <a:rPr lang="vi-VN" sz="4000" b="1" dirty="0" smtClean="0">
                <a:solidFill>
                  <a:srgbClr val="FF0000"/>
                </a:solidFill>
                <a:effectLst>
                  <a:outerShdw blurRad="38100" dist="38100" dir="2700000" algn="tl">
                    <a:srgbClr val="000000">
                      <a:alpha val="43137"/>
                    </a:srgbClr>
                  </a:outerShdw>
                </a:effectLst>
                <a:cs typeface="Times New Roman" panose="02020603050405020304" pitchFamily="18" charset="0"/>
              </a:rPr>
              <a:t> </a:t>
            </a:r>
            <a:r>
              <a:rPr lang="vi-VN" sz="4000" b="1" dirty="0">
                <a:solidFill>
                  <a:srgbClr val="FF0000"/>
                </a:solidFill>
                <a:effectLst>
                  <a:outerShdw blurRad="38100" dist="38100" dir="2700000" algn="tl">
                    <a:srgbClr val="000000">
                      <a:alpha val="43137"/>
                    </a:srgbClr>
                  </a:outerShdw>
                </a:effectLst>
                <a:cs typeface="Times New Roman" panose="02020603050405020304" pitchFamily="18" charset="0"/>
              </a:rPr>
              <a:t>, MnO</a:t>
            </a:r>
            <a:r>
              <a:rPr lang="vi-VN" sz="4000" b="1" baseline="-25000" dirty="0">
                <a:solidFill>
                  <a:srgbClr val="FF0000"/>
                </a:solidFill>
                <a:effectLst>
                  <a:outerShdw blurRad="38100" dist="38100" dir="2700000" algn="tl">
                    <a:srgbClr val="000000">
                      <a:alpha val="43137"/>
                    </a:srgbClr>
                  </a:outerShdw>
                </a:effectLst>
                <a:cs typeface="Times New Roman" panose="02020603050405020304" pitchFamily="18" charset="0"/>
              </a:rPr>
              <a:t>4</a:t>
            </a:r>
            <a:r>
              <a:rPr lang="vi-VN" sz="4000" b="1" baseline="30000" dirty="0">
                <a:solidFill>
                  <a:srgbClr val="FF0000"/>
                </a:solidFill>
                <a:effectLst>
                  <a:outerShdw blurRad="38100" dist="38100" dir="2700000" algn="tl">
                    <a:srgbClr val="000000">
                      <a:alpha val="43137"/>
                    </a:srgbClr>
                  </a:outerShdw>
                </a:effectLst>
                <a:cs typeface="Times New Roman" panose="02020603050405020304" pitchFamily="18" charset="0"/>
              </a:rPr>
              <a:t>-</a:t>
            </a:r>
            <a:endParaRPr lang="en-US" sz="4000" b="1" dirty="0">
              <a:solidFill>
                <a:srgbClr val="FF0000"/>
              </a:solidFill>
              <a:effectLst>
                <a:outerShdw blurRad="38100" dist="38100" dir="2700000" algn="tl">
                  <a:srgbClr val="000000">
                    <a:alpha val="43137"/>
                  </a:srgbClr>
                </a:outerShdw>
              </a:effectLst>
              <a:cs typeface="Times New Roman" panose="02020603050405020304" pitchFamily="18" charset="0"/>
            </a:endParaRPr>
          </a:p>
        </p:txBody>
      </p:sp>
      <p:sp>
        <p:nvSpPr>
          <p:cNvPr id="2" name="TextBox 1"/>
          <p:cNvSpPr txBox="1"/>
          <p:nvPr/>
        </p:nvSpPr>
        <p:spPr>
          <a:xfrm>
            <a:off x="8602463" y="4688561"/>
            <a:ext cx="2201662" cy="584775"/>
          </a:xfrm>
          <a:prstGeom prst="rect">
            <a:avLst/>
          </a:prstGeom>
          <a:noFill/>
        </p:spPr>
        <p:txBody>
          <a:bodyPr wrap="square" rtlCol="0">
            <a:spAutoFit/>
          </a:bodyPr>
          <a:lstStyle/>
          <a:p>
            <a:r>
              <a:rPr lang="en-US" sz="3200" dirty="0" smtClean="0">
                <a:solidFill>
                  <a:srgbClr val="FF00FF"/>
                </a:solidFill>
                <a:latin typeface="Arial" pitchFamily="34" charset="0"/>
                <a:cs typeface="Arial" pitchFamily="34" charset="0"/>
              </a:rPr>
              <a:t>&gt; 0,53 V</a:t>
            </a:r>
            <a:endParaRPr lang="en-US" sz="3200" dirty="0">
              <a:solidFill>
                <a:srgbClr val="FF00FF"/>
              </a:solidFill>
              <a:latin typeface="Arial" pitchFamily="34" charset="0"/>
              <a:cs typeface="Arial" pitchFamily="34" charset="0"/>
            </a:endParaRPr>
          </a:p>
        </p:txBody>
      </p:sp>
      <p:sp>
        <p:nvSpPr>
          <p:cNvPr id="5" name="TextBox 4"/>
          <p:cNvSpPr txBox="1"/>
          <p:nvPr/>
        </p:nvSpPr>
        <p:spPr>
          <a:xfrm>
            <a:off x="6162583" y="2125298"/>
            <a:ext cx="2201662" cy="584775"/>
          </a:xfrm>
          <a:prstGeom prst="rect">
            <a:avLst/>
          </a:prstGeom>
          <a:noFill/>
        </p:spPr>
        <p:txBody>
          <a:bodyPr wrap="square" rtlCol="0">
            <a:spAutoFit/>
          </a:bodyPr>
          <a:lstStyle/>
          <a:p>
            <a:r>
              <a:rPr lang="en-US" sz="3200" dirty="0" smtClean="0">
                <a:solidFill>
                  <a:srgbClr val="FF00FF"/>
                </a:solidFill>
                <a:latin typeface="Arial" pitchFamily="34" charset="0"/>
                <a:cs typeface="Arial" pitchFamily="34" charset="0"/>
              </a:rPr>
              <a:t>&gt; 0,53 V</a:t>
            </a:r>
            <a:endParaRPr lang="en-US" sz="3200" dirty="0">
              <a:solidFill>
                <a:srgbClr val="FF00FF"/>
              </a:solidFill>
              <a:latin typeface="Arial" pitchFamily="34" charset="0"/>
              <a:cs typeface="Arial" pitchFamily="34" charset="0"/>
            </a:endParaRPr>
          </a:p>
        </p:txBody>
      </p:sp>
      <p:sp>
        <p:nvSpPr>
          <p:cNvPr id="6" name="Oval 5"/>
          <p:cNvSpPr/>
          <p:nvPr/>
        </p:nvSpPr>
        <p:spPr>
          <a:xfrm>
            <a:off x="3613732" y="4688561"/>
            <a:ext cx="1268986" cy="790113"/>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922232" y="2165246"/>
            <a:ext cx="735367" cy="622916"/>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8182514" y="1367736"/>
            <a:ext cx="529702" cy="622916"/>
          </a:xfrm>
          <a:prstGeom prst="ellipse">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6421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2" grpId="0"/>
      <p:bldP spid="5" grpId="0"/>
      <p:bldP spid="6"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8742" y="2026794"/>
            <a:ext cx="10972800" cy="1200329"/>
          </a:xfrm>
          <a:prstGeom prst="rect">
            <a:avLst/>
          </a:prstGeom>
          <a:noFill/>
        </p:spPr>
        <p:txBody>
          <a:bodyPr wrap="square" rtlCol="0">
            <a:spAutoFit/>
          </a:bodyPr>
          <a:lstStyle/>
          <a:p>
            <a:pPr algn="ctr"/>
            <a:r>
              <a:rPr lang="en-US" sz="2800" dirty="0" smtClean="0">
                <a:latin typeface="Arial" pitchFamily="34" charset="0"/>
                <a:cs typeface="Arial" pitchFamily="34" charset="0"/>
              </a:rPr>
              <a:t>      </a:t>
            </a:r>
            <a:r>
              <a:rPr lang="en-US" sz="2400" dirty="0" smtClean="0">
                <a:solidFill>
                  <a:srgbClr val="0000FF"/>
                </a:solidFill>
                <a:latin typeface="Arial" pitchFamily="34" charset="0"/>
                <a:cs typeface="Arial" pitchFamily="34" charset="0"/>
              </a:rPr>
              <a:t>KH</a:t>
            </a:r>
            <a:r>
              <a:rPr lang="en-US" sz="2400" baseline="-25000" dirty="0" smtClean="0">
                <a:solidFill>
                  <a:srgbClr val="0000FF"/>
                </a:solidFill>
                <a:latin typeface="Arial" pitchFamily="34" charset="0"/>
                <a:cs typeface="Arial" pitchFamily="34" charset="0"/>
              </a:rPr>
              <a:t>2</a:t>
            </a:r>
            <a:r>
              <a:rPr lang="en-US" sz="2400" dirty="0" smtClean="0">
                <a:latin typeface="Arial" pitchFamily="34" charset="0"/>
                <a:cs typeface="Arial" pitchFamily="34" charset="0"/>
              </a:rPr>
              <a:t>, </a:t>
            </a:r>
            <a:r>
              <a:rPr lang="en-US" sz="2400" dirty="0" smtClean="0">
                <a:solidFill>
                  <a:srgbClr val="FF0000"/>
                </a:solidFill>
                <a:latin typeface="Arial" pitchFamily="34" charset="0"/>
                <a:cs typeface="Arial" pitchFamily="34" charset="0"/>
              </a:rPr>
              <a:t>OHX</a:t>
            </a:r>
            <a:r>
              <a:rPr lang="en-US" sz="2400" baseline="-25000" dirty="0" smtClean="0">
                <a:solidFill>
                  <a:srgbClr val="FF0000"/>
                </a:solidFill>
                <a:latin typeface="Arial" pitchFamily="34" charset="0"/>
                <a:cs typeface="Arial" pitchFamily="34" charset="0"/>
              </a:rPr>
              <a:t>2</a:t>
            </a:r>
            <a:r>
              <a:rPr lang="en-US" sz="2400" dirty="0" smtClean="0">
                <a:latin typeface="Arial" pitchFamily="34" charset="0"/>
                <a:cs typeface="Arial" pitchFamily="34" charset="0"/>
              </a:rPr>
              <a:t>  ││ </a:t>
            </a:r>
            <a:r>
              <a:rPr lang="en-US" sz="2400" dirty="0" smtClean="0">
                <a:solidFill>
                  <a:srgbClr val="FF0000"/>
                </a:solidFill>
                <a:latin typeface="Arial" pitchFamily="34" charset="0"/>
                <a:cs typeface="Arial" pitchFamily="34" charset="0"/>
              </a:rPr>
              <a:t>OXH</a:t>
            </a:r>
            <a:r>
              <a:rPr lang="en-US" sz="2400" baseline="-25000" dirty="0" smtClean="0">
                <a:solidFill>
                  <a:srgbClr val="FF0000"/>
                </a:solidFill>
                <a:latin typeface="Arial" pitchFamily="34" charset="0"/>
                <a:cs typeface="Arial" pitchFamily="34" charset="0"/>
              </a:rPr>
              <a:t>1</a:t>
            </a:r>
            <a:r>
              <a:rPr lang="en-US" sz="2400" dirty="0" smtClean="0">
                <a:latin typeface="Arial" pitchFamily="34" charset="0"/>
                <a:cs typeface="Arial" pitchFamily="34" charset="0"/>
              </a:rPr>
              <a:t>, </a:t>
            </a:r>
            <a:r>
              <a:rPr lang="en-US" sz="2400" dirty="0" smtClean="0">
                <a:solidFill>
                  <a:srgbClr val="0000FF"/>
                </a:solidFill>
                <a:latin typeface="Arial" pitchFamily="34" charset="0"/>
                <a:cs typeface="Arial" pitchFamily="34" charset="0"/>
              </a:rPr>
              <a:t>KH</a:t>
            </a:r>
            <a:r>
              <a:rPr lang="en-US" sz="2400" baseline="-25000" dirty="0" smtClean="0">
                <a:solidFill>
                  <a:srgbClr val="0000FF"/>
                </a:solidFill>
                <a:latin typeface="Arial" pitchFamily="34" charset="0"/>
                <a:cs typeface="Arial" pitchFamily="34" charset="0"/>
              </a:rPr>
              <a:t>1</a:t>
            </a:r>
            <a:r>
              <a:rPr lang="en-US" sz="2400" dirty="0" smtClean="0">
                <a:latin typeface="Arial" pitchFamily="34" charset="0"/>
                <a:cs typeface="Arial" pitchFamily="34" charset="0"/>
              </a:rPr>
              <a:t> </a:t>
            </a:r>
          </a:p>
          <a:p>
            <a:pPr algn="ctr"/>
            <a:endParaRPr lang="en-US" sz="2000" dirty="0" smtClean="0">
              <a:solidFill>
                <a:srgbClr val="0000FF"/>
              </a:solidFill>
              <a:latin typeface="Arial" pitchFamily="34" charset="0"/>
              <a:cs typeface="Arial" pitchFamily="34" charset="0"/>
            </a:endParaRPr>
          </a:p>
          <a:p>
            <a:endParaRPr lang="en-US" sz="2400" dirty="0">
              <a:latin typeface="Arial" pitchFamily="34" charset="0"/>
              <a:cs typeface="Arial" pitchFamily="34" charset="0"/>
            </a:endParaRPr>
          </a:p>
        </p:txBody>
      </p:sp>
      <p:sp>
        <p:nvSpPr>
          <p:cNvPr id="4" name="Curved Down Arrow 3"/>
          <p:cNvSpPr/>
          <p:nvPr/>
        </p:nvSpPr>
        <p:spPr>
          <a:xfrm>
            <a:off x="4204129" y="1729720"/>
            <a:ext cx="2347579" cy="3810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6" name="TextBox 5"/>
              <p:cNvSpPr txBox="1"/>
              <p:nvPr/>
            </p:nvSpPr>
            <p:spPr>
              <a:xfrm>
                <a:off x="1435188" y="2710425"/>
                <a:ext cx="4876800" cy="681790"/>
              </a:xfrm>
              <a:prstGeom prst="rect">
                <a:avLst/>
              </a:prstGeom>
              <a:noFill/>
            </p:spPr>
            <p:txBody>
              <a:bodyPr wrap="square" rtlCol="0">
                <a:spAutoFit/>
              </a:bodyPr>
              <a:lstStyle/>
              <a:p>
                <a:r>
                  <a:rPr lang="en-US" sz="2400" dirty="0" smtClean="0">
                    <a:latin typeface="Arial" pitchFamily="34" charset="0"/>
                    <a:cs typeface="Arial" pitchFamily="34" charset="0"/>
                  </a:rPr>
                  <a:t>φ</a:t>
                </a:r>
                <a:r>
                  <a:rPr lang="en-US" sz="2400" baseline="-25000" dirty="0" smtClean="0">
                    <a:latin typeface="Arial" pitchFamily="34" charset="0"/>
                    <a:cs typeface="Arial" pitchFamily="34" charset="0"/>
                  </a:rPr>
                  <a:t>2      </a:t>
                </a:r>
                <a:r>
                  <a:rPr lang="en-US" sz="2400" dirty="0" smtClean="0">
                    <a:latin typeface="Arial" pitchFamily="34" charset="0"/>
                    <a:cs typeface="Arial" pitchFamily="34" charset="0"/>
                  </a:rPr>
                  <a:t>= </a:t>
                </a:r>
                <a:r>
                  <a:rPr lang="en-US" sz="2400" dirty="0">
                    <a:latin typeface="Arial" pitchFamily="34" charset="0"/>
                    <a:cs typeface="Arial" pitchFamily="34" charset="0"/>
                  </a:rPr>
                  <a:t>φ</a:t>
                </a:r>
                <a:r>
                  <a:rPr lang="en-US" sz="2400" baseline="-25000" dirty="0">
                    <a:latin typeface="Arial" pitchFamily="34" charset="0"/>
                    <a:cs typeface="Arial" pitchFamily="34" charset="0"/>
                  </a:rPr>
                  <a:t>2</a:t>
                </a:r>
                <a:r>
                  <a:rPr lang="en-US" sz="2400" baseline="30000" dirty="0">
                    <a:latin typeface="Arial" pitchFamily="34" charset="0"/>
                    <a:cs typeface="Arial" pitchFamily="34" charset="0"/>
                  </a:rPr>
                  <a:t>0</a:t>
                </a:r>
                <a:r>
                  <a:rPr lang="en-US" sz="2400" dirty="0">
                    <a:latin typeface="Arial" pitchFamily="34" charset="0"/>
                    <a:cs typeface="Arial" pitchFamily="34" charset="0"/>
                  </a:rPr>
                  <a:t> + </a:t>
                </a:r>
                <a14:m>
                  <m:oMath xmlns:m="http://schemas.openxmlformats.org/officeDocument/2006/math">
                    <m:f>
                      <m:fPr>
                        <m:ctrlPr>
                          <a:rPr lang="en-US" sz="2400" i="1" smtClean="0">
                            <a:latin typeface="Cambria Math"/>
                            <a:cs typeface="Arial" pitchFamily="34" charset="0"/>
                          </a:rPr>
                        </m:ctrlPr>
                      </m:fPr>
                      <m:num>
                        <m:r>
                          <a:rPr lang="en-US" sz="2400" b="0" i="1" smtClean="0">
                            <a:latin typeface="Cambria Math"/>
                            <a:cs typeface="Arial" pitchFamily="34" charset="0"/>
                          </a:rPr>
                          <m:t>0,059</m:t>
                        </m:r>
                      </m:num>
                      <m:den>
                        <m:sSub>
                          <m:sSubPr>
                            <m:ctrlPr>
                              <a:rPr lang="en-US" sz="2400" b="1" i="1" dirty="0" smtClean="0">
                                <a:solidFill>
                                  <a:srgbClr val="FF00FF"/>
                                </a:solidFill>
                                <a:latin typeface="Cambria Math"/>
                                <a:cs typeface="Arial" pitchFamily="34" charset="0"/>
                              </a:rPr>
                            </m:ctrlPr>
                          </m:sSubPr>
                          <m:e>
                            <m:r>
                              <a:rPr lang="vi-VN" sz="2400" b="1" i="1" dirty="0" smtClean="0">
                                <a:solidFill>
                                  <a:srgbClr val="FF00FF"/>
                                </a:solidFill>
                                <a:latin typeface="Cambria Math"/>
                                <a:cs typeface="Arial" pitchFamily="34" charset="0"/>
                              </a:rPr>
                              <m:t>𝒏</m:t>
                            </m:r>
                          </m:e>
                          <m:sub>
                            <m:r>
                              <a:rPr lang="vi-VN" sz="2400" b="1" i="1" dirty="0" smtClean="0">
                                <a:solidFill>
                                  <a:srgbClr val="FF00FF"/>
                                </a:solidFill>
                                <a:latin typeface="Cambria Math"/>
                                <a:cs typeface="Arial" pitchFamily="34" charset="0"/>
                              </a:rPr>
                              <m:t>𝟐</m:t>
                            </m:r>
                          </m:sub>
                        </m:sSub>
                      </m:den>
                    </m:f>
                  </m:oMath>
                </a14:m>
                <a:r>
                  <a:rPr lang="en-US" sz="2400" dirty="0" smtClean="0">
                    <a:latin typeface="Arial" pitchFamily="34" charset="0"/>
                    <a:cs typeface="Arial" pitchFamily="34" charset="0"/>
                  </a:rPr>
                  <a:t>.lg</a:t>
                </a:r>
                <a14:m>
                  <m:oMath xmlns:m="http://schemas.openxmlformats.org/officeDocument/2006/math">
                    <m:f>
                      <m:fPr>
                        <m:ctrlPr>
                          <a:rPr lang="en-US" sz="2400" i="1" dirty="0" smtClean="0">
                            <a:latin typeface="Cambria Math"/>
                            <a:cs typeface="Arial" pitchFamily="34" charset="0"/>
                          </a:rPr>
                        </m:ctrlPr>
                      </m:fPr>
                      <m:num>
                        <m:sSub>
                          <m:sSubPr>
                            <m:ctrlPr>
                              <a:rPr lang="en-US" sz="2400" i="1" dirty="0" smtClean="0">
                                <a:solidFill>
                                  <a:srgbClr val="FF0000"/>
                                </a:solidFill>
                                <a:latin typeface="Cambria Math"/>
                                <a:cs typeface="Arial" pitchFamily="34" charset="0"/>
                              </a:rPr>
                            </m:ctrlPr>
                          </m:sSubPr>
                          <m:e>
                            <m:r>
                              <a:rPr lang="en-US" sz="2400" b="0" i="1" dirty="0" smtClean="0">
                                <a:solidFill>
                                  <a:srgbClr val="FF0000"/>
                                </a:solidFill>
                                <a:latin typeface="Cambria Math"/>
                                <a:cs typeface="Arial" pitchFamily="34" charset="0"/>
                              </a:rPr>
                              <m:t>[</m:t>
                            </m:r>
                            <m:r>
                              <a:rPr lang="en-US" sz="2400" b="0" i="1" dirty="0" smtClean="0">
                                <a:solidFill>
                                  <a:srgbClr val="FF0000"/>
                                </a:solidFill>
                                <a:latin typeface="Cambria Math"/>
                                <a:cs typeface="Arial" pitchFamily="34" charset="0"/>
                              </a:rPr>
                              <m:t>𝑂𝑋𝐻</m:t>
                            </m:r>
                          </m:e>
                          <m:sub>
                            <m:r>
                              <a:rPr lang="en-US" sz="2400" b="0" i="1" dirty="0" smtClean="0">
                                <a:solidFill>
                                  <a:srgbClr val="FF0000"/>
                                </a:solidFill>
                                <a:latin typeface="Cambria Math"/>
                                <a:cs typeface="Arial" pitchFamily="34" charset="0"/>
                              </a:rPr>
                              <m:t>2</m:t>
                            </m:r>
                          </m:sub>
                        </m:sSub>
                        <m:r>
                          <a:rPr lang="en-US" sz="2400" b="0" i="1" dirty="0" smtClean="0">
                            <a:latin typeface="Cambria Math"/>
                            <a:cs typeface="Arial" pitchFamily="34" charset="0"/>
                          </a:rPr>
                          <m:t>]</m:t>
                        </m:r>
                      </m:num>
                      <m:den>
                        <m:sSub>
                          <m:sSubPr>
                            <m:ctrlPr>
                              <a:rPr lang="en-US" sz="2400" i="1" dirty="0" smtClean="0">
                                <a:solidFill>
                                  <a:srgbClr val="0000FF"/>
                                </a:solidFill>
                                <a:latin typeface="Cambria Math"/>
                                <a:cs typeface="Arial" pitchFamily="34" charset="0"/>
                              </a:rPr>
                            </m:ctrlPr>
                          </m:sSubPr>
                          <m:e>
                            <m:r>
                              <a:rPr lang="en-US" sz="2400" b="0" i="1" dirty="0" smtClean="0">
                                <a:solidFill>
                                  <a:srgbClr val="0000FF"/>
                                </a:solidFill>
                                <a:latin typeface="Cambria Math"/>
                                <a:cs typeface="Arial" pitchFamily="34" charset="0"/>
                              </a:rPr>
                              <m:t>[</m:t>
                            </m:r>
                            <m:r>
                              <a:rPr lang="en-US" sz="2400" b="0" i="1" dirty="0" smtClean="0">
                                <a:solidFill>
                                  <a:srgbClr val="0000FF"/>
                                </a:solidFill>
                                <a:latin typeface="Cambria Math"/>
                                <a:cs typeface="Arial" pitchFamily="34" charset="0"/>
                              </a:rPr>
                              <m:t>𝐾𝐻</m:t>
                            </m:r>
                          </m:e>
                          <m:sub>
                            <m:r>
                              <a:rPr lang="en-US" sz="2400" b="0" i="1" dirty="0" smtClean="0">
                                <a:solidFill>
                                  <a:srgbClr val="0000FF"/>
                                </a:solidFill>
                                <a:latin typeface="Cambria Math"/>
                                <a:cs typeface="Arial" pitchFamily="34" charset="0"/>
                              </a:rPr>
                              <m:t>2</m:t>
                            </m:r>
                          </m:sub>
                        </m:sSub>
                        <m:r>
                          <a:rPr lang="en-US" sz="2400" b="0" i="1" dirty="0" smtClean="0">
                            <a:latin typeface="Cambria Math"/>
                            <a:cs typeface="Arial" pitchFamily="34" charset="0"/>
                          </a:rPr>
                          <m:t>]</m:t>
                        </m:r>
                      </m:den>
                    </m:f>
                  </m:oMath>
                </a14:m>
                <a:endParaRPr lang="en-US" sz="2400" dirty="0">
                  <a:latin typeface="Arial" pitchFamily="34" charset="0"/>
                  <a:cs typeface="Arial" pitchFamily="34"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435188" y="2710425"/>
                <a:ext cx="4876800" cy="681790"/>
              </a:xfrm>
              <a:prstGeom prst="rect">
                <a:avLst/>
              </a:prstGeom>
              <a:blipFill rotWithShape="1">
                <a:blip r:embed="rId2"/>
                <a:stretch>
                  <a:fillRect l="-1875" b="-9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502400" y="2633167"/>
                <a:ext cx="5406845" cy="681790"/>
              </a:xfrm>
              <a:prstGeom prst="rect">
                <a:avLst/>
              </a:prstGeom>
              <a:noFill/>
            </p:spPr>
            <p:txBody>
              <a:bodyPr wrap="square" rtlCol="0">
                <a:spAutoFit/>
              </a:bodyPr>
              <a:lstStyle/>
              <a:p>
                <a:r>
                  <a:rPr lang="en-US" sz="2400" dirty="0" smtClean="0">
                    <a:latin typeface="Arial" pitchFamily="34" charset="0"/>
                    <a:cs typeface="Arial" pitchFamily="34" charset="0"/>
                  </a:rPr>
                  <a:t>φ</a:t>
                </a:r>
                <a:r>
                  <a:rPr lang="en-US" sz="2400" baseline="-25000" dirty="0" smtClean="0">
                    <a:latin typeface="Arial" pitchFamily="34" charset="0"/>
                    <a:cs typeface="Arial" pitchFamily="34" charset="0"/>
                  </a:rPr>
                  <a:t>1</a:t>
                </a:r>
                <a:r>
                  <a:rPr lang="en-US" sz="2400" dirty="0" smtClean="0">
                    <a:latin typeface="Arial" pitchFamily="34" charset="0"/>
                    <a:cs typeface="Arial" pitchFamily="34" charset="0"/>
                  </a:rPr>
                  <a:t>    = φ</a:t>
                </a:r>
                <a:r>
                  <a:rPr lang="en-US" sz="2400" baseline="-25000" dirty="0">
                    <a:latin typeface="Arial" pitchFamily="34" charset="0"/>
                    <a:cs typeface="Arial" pitchFamily="34" charset="0"/>
                  </a:rPr>
                  <a:t>1</a:t>
                </a:r>
                <a:r>
                  <a:rPr lang="en-US" sz="2400" baseline="30000" dirty="0" smtClean="0">
                    <a:latin typeface="Arial" pitchFamily="34" charset="0"/>
                    <a:cs typeface="Arial" pitchFamily="34" charset="0"/>
                  </a:rPr>
                  <a:t>0</a:t>
                </a:r>
                <a:r>
                  <a:rPr lang="en-US" sz="2400" dirty="0" smtClean="0">
                    <a:latin typeface="Arial" pitchFamily="34" charset="0"/>
                    <a:cs typeface="Arial" pitchFamily="34" charset="0"/>
                  </a:rPr>
                  <a:t> </a:t>
                </a:r>
                <a:r>
                  <a:rPr lang="en-US" sz="2400" dirty="0">
                    <a:latin typeface="Arial" pitchFamily="34" charset="0"/>
                    <a:cs typeface="Arial" pitchFamily="34" charset="0"/>
                  </a:rPr>
                  <a:t>+ </a:t>
                </a:r>
                <a14:m>
                  <m:oMath xmlns:m="http://schemas.openxmlformats.org/officeDocument/2006/math">
                    <m:f>
                      <m:fPr>
                        <m:ctrlPr>
                          <a:rPr lang="en-US" sz="2400" i="1" smtClean="0">
                            <a:solidFill>
                              <a:schemeClr val="tx1"/>
                            </a:solidFill>
                            <a:latin typeface="Cambria Math"/>
                            <a:cs typeface="Arial" pitchFamily="34" charset="0"/>
                          </a:rPr>
                        </m:ctrlPr>
                      </m:fPr>
                      <m:num>
                        <m:r>
                          <a:rPr lang="en-US" sz="2400" b="0" i="1" smtClean="0">
                            <a:solidFill>
                              <a:schemeClr val="tx1"/>
                            </a:solidFill>
                            <a:latin typeface="Cambria Math"/>
                            <a:cs typeface="Arial" pitchFamily="34" charset="0"/>
                          </a:rPr>
                          <m:t>0,059</m:t>
                        </m:r>
                      </m:num>
                      <m:den>
                        <m:sSub>
                          <m:sSubPr>
                            <m:ctrlPr>
                              <a:rPr lang="en-US" sz="2400" b="1" i="1" dirty="0" smtClean="0">
                                <a:solidFill>
                                  <a:srgbClr val="008000"/>
                                </a:solidFill>
                                <a:latin typeface="Cambria Math"/>
                                <a:cs typeface="Arial" pitchFamily="34" charset="0"/>
                              </a:rPr>
                            </m:ctrlPr>
                          </m:sSubPr>
                          <m:e>
                            <m:r>
                              <a:rPr lang="vi-VN" sz="2400" b="1" i="1" dirty="0" smtClean="0">
                                <a:solidFill>
                                  <a:srgbClr val="008000"/>
                                </a:solidFill>
                                <a:latin typeface="Cambria Math"/>
                                <a:cs typeface="Arial" pitchFamily="34" charset="0"/>
                              </a:rPr>
                              <m:t>𝒏</m:t>
                            </m:r>
                          </m:e>
                          <m:sub>
                            <m:r>
                              <a:rPr lang="en-US" sz="2400" b="1" i="1" dirty="0">
                                <a:solidFill>
                                  <a:srgbClr val="008000"/>
                                </a:solidFill>
                                <a:latin typeface="Cambria Math"/>
                                <a:cs typeface="Arial" pitchFamily="34" charset="0"/>
                              </a:rPr>
                              <m:t>𝟏</m:t>
                            </m:r>
                          </m:sub>
                        </m:sSub>
                      </m:den>
                    </m:f>
                  </m:oMath>
                </a14:m>
                <a:r>
                  <a:rPr lang="en-US" sz="2400" dirty="0" smtClean="0">
                    <a:latin typeface="Arial" pitchFamily="34" charset="0"/>
                    <a:cs typeface="Arial" pitchFamily="34" charset="0"/>
                  </a:rPr>
                  <a:t>.lg</a:t>
                </a:r>
                <a14:m>
                  <m:oMath xmlns:m="http://schemas.openxmlformats.org/officeDocument/2006/math">
                    <m:f>
                      <m:fPr>
                        <m:ctrlPr>
                          <a:rPr lang="en-US" sz="2400" i="1" dirty="0" smtClean="0">
                            <a:latin typeface="Cambria Math"/>
                            <a:cs typeface="Arial" pitchFamily="34" charset="0"/>
                          </a:rPr>
                        </m:ctrlPr>
                      </m:fPr>
                      <m:num>
                        <m:sSub>
                          <m:sSubPr>
                            <m:ctrlPr>
                              <a:rPr lang="en-US" sz="2400" i="1" dirty="0" smtClean="0">
                                <a:solidFill>
                                  <a:srgbClr val="FF0000"/>
                                </a:solidFill>
                                <a:latin typeface="Cambria Math"/>
                                <a:cs typeface="Arial" pitchFamily="34" charset="0"/>
                              </a:rPr>
                            </m:ctrlPr>
                          </m:sSubPr>
                          <m:e>
                            <m:r>
                              <a:rPr lang="en-US" sz="2400" b="0" i="1" dirty="0" smtClean="0">
                                <a:solidFill>
                                  <a:srgbClr val="FF0000"/>
                                </a:solidFill>
                                <a:latin typeface="Cambria Math"/>
                                <a:cs typeface="Arial" pitchFamily="34" charset="0"/>
                              </a:rPr>
                              <m:t>[</m:t>
                            </m:r>
                            <m:r>
                              <a:rPr lang="en-US" sz="2400" b="0" i="1" dirty="0" smtClean="0">
                                <a:solidFill>
                                  <a:srgbClr val="FF0000"/>
                                </a:solidFill>
                                <a:latin typeface="Cambria Math"/>
                                <a:cs typeface="Arial" pitchFamily="34" charset="0"/>
                              </a:rPr>
                              <m:t>𝑂𝑋𝐻</m:t>
                            </m:r>
                          </m:e>
                          <m:sub>
                            <m:r>
                              <a:rPr lang="en-US" sz="2400" b="0" i="1" dirty="0" smtClean="0">
                                <a:solidFill>
                                  <a:srgbClr val="FF0000"/>
                                </a:solidFill>
                                <a:latin typeface="Cambria Math"/>
                                <a:cs typeface="Arial" pitchFamily="34" charset="0"/>
                              </a:rPr>
                              <m:t>1</m:t>
                            </m:r>
                          </m:sub>
                        </m:sSub>
                        <m:r>
                          <a:rPr lang="en-US" sz="2400" b="0" i="1" dirty="0" smtClean="0">
                            <a:latin typeface="Cambria Math"/>
                            <a:cs typeface="Arial" pitchFamily="34" charset="0"/>
                          </a:rPr>
                          <m:t>]</m:t>
                        </m:r>
                      </m:num>
                      <m:den>
                        <m:sSub>
                          <m:sSubPr>
                            <m:ctrlPr>
                              <a:rPr lang="en-US" sz="2400" i="1" dirty="0" smtClean="0">
                                <a:solidFill>
                                  <a:srgbClr val="0000FF"/>
                                </a:solidFill>
                                <a:latin typeface="Cambria Math"/>
                                <a:cs typeface="Arial" pitchFamily="34" charset="0"/>
                              </a:rPr>
                            </m:ctrlPr>
                          </m:sSubPr>
                          <m:e>
                            <m:r>
                              <a:rPr lang="en-US" sz="2400" b="0" i="1" dirty="0" smtClean="0">
                                <a:solidFill>
                                  <a:srgbClr val="0000FF"/>
                                </a:solidFill>
                                <a:latin typeface="Cambria Math"/>
                                <a:cs typeface="Arial" pitchFamily="34" charset="0"/>
                              </a:rPr>
                              <m:t>[</m:t>
                            </m:r>
                            <m:r>
                              <a:rPr lang="en-US" sz="2400" b="0" i="1" dirty="0" smtClean="0">
                                <a:solidFill>
                                  <a:srgbClr val="0000FF"/>
                                </a:solidFill>
                                <a:latin typeface="Cambria Math"/>
                                <a:cs typeface="Arial" pitchFamily="34" charset="0"/>
                              </a:rPr>
                              <m:t>𝐾𝐻</m:t>
                            </m:r>
                          </m:e>
                          <m:sub>
                            <m:r>
                              <a:rPr lang="en-US" sz="2400" b="0" i="1" dirty="0" smtClean="0">
                                <a:solidFill>
                                  <a:srgbClr val="0000FF"/>
                                </a:solidFill>
                                <a:latin typeface="Cambria Math"/>
                                <a:cs typeface="Arial" pitchFamily="34" charset="0"/>
                              </a:rPr>
                              <m:t>1</m:t>
                            </m:r>
                          </m:sub>
                        </m:sSub>
                        <m:r>
                          <a:rPr lang="en-US" sz="2400" b="0" i="1" dirty="0" smtClean="0">
                            <a:latin typeface="Cambria Math"/>
                            <a:cs typeface="Arial" pitchFamily="34" charset="0"/>
                          </a:rPr>
                          <m:t>]</m:t>
                        </m:r>
                      </m:den>
                    </m:f>
                  </m:oMath>
                </a14:m>
                <a:endParaRPr lang="en-US" sz="2400" dirty="0">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502400" y="2633167"/>
                <a:ext cx="5406845" cy="681790"/>
              </a:xfrm>
              <a:prstGeom prst="rect">
                <a:avLst/>
              </a:prstGeom>
              <a:blipFill rotWithShape="1">
                <a:blip r:embed="rId3"/>
                <a:stretch>
                  <a:fillRect l="-1804"/>
                </a:stretch>
              </a:blipFill>
            </p:spPr>
            <p:txBody>
              <a:bodyPr/>
              <a:lstStyle/>
              <a:p>
                <a:r>
                  <a:rPr lang="en-US">
                    <a:noFill/>
                  </a:rPr>
                  <a:t> </a:t>
                </a:r>
              </a:p>
            </p:txBody>
          </p:sp>
        </mc:Fallback>
      </mc:AlternateContent>
      <p:sp>
        <p:nvSpPr>
          <p:cNvPr id="8" name="TextBox 7"/>
          <p:cNvSpPr txBox="1"/>
          <p:nvPr/>
        </p:nvSpPr>
        <p:spPr>
          <a:xfrm>
            <a:off x="506508" y="266008"/>
            <a:ext cx="12090400" cy="523220"/>
          </a:xfrm>
          <a:prstGeom prst="rect">
            <a:avLst/>
          </a:prstGeom>
          <a:noFill/>
        </p:spPr>
        <p:txBody>
          <a:bodyPr wrap="square" rtlCol="0">
            <a:spAutoFit/>
          </a:bodyPr>
          <a:lstStyle/>
          <a:p>
            <a:r>
              <a:rPr lang="en-US" sz="2800" dirty="0">
                <a:solidFill>
                  <a:srgbClr val="006600"/>
                </a:solidFill>
                <a:latin typeface="Arial" pitchFamily="34" charset="0"/>
                <a:cs typeface="Arial" pitchFamily="34" charset="0"/>
              </a:rPr>
              <a:t>Ở 25</a:t>
            </a:r>
            <a:r>
              <a:rPr lang="en-US" sz="2800" baseline="30000" dirty="0">
                <a:solidFill>
                  <a:srgbClr val="006600"/>
                </a:solidFill>
                <a:latin typeface="Arial" pitchFamily="34" charset="0"/>
                <a:cs typeface="Arial" pitchFamily="34" charset="0"/>
              </a:rPr>
              <a:t>0</a:t>
            </a:r>
            <a:r>
              <a:rPr lang="en-US" sz="2800" dirty="0">
                <a:solidFill>
                  <a:srgbClr val="006600"/>
                </a:solidFill>
                <a:latin typeface="Arial" pitchFamily="34" charset="0"/>
                <a:cs typeface="Arial" pitchFamily="34" charset="0"/>
              </a:rPr>
              <a:t>C</a:t>
            </a:r>
            <a:r>
              <a:rPr lang="en-US" sz="2800" b="1" dirty="0">
                <a:solidFill>
                  <a:srgbClr val="006600"/>
                </a:solidFill>
                <a:latin typeface="Arial" pitchFamily="34" charset="0"/>
                <a:cs typeface="Arial" pitchFamily="34" charset="0"/>
              </a:rPr>
              <a:t>; </a:t>
            </a:r>
            <a:r>
              <a:rPr lang="en-US" sz="2800" b="1" dirty="0" smtClean="0">
                <a:solidFill>
                  <a:srgbClr val="006600"/>
                </a:solidFill>
                <a:latin typeface="Arial" pitchFamily="34" charset="0"/>
                <a:cs typeface="Arial" pitchFamily="34" charset="0"/>
              </a:rPr>
              <a:t>   Đ</a:t>
            </a:r>
            <a:r>
              <a:rPr lang="vi-VN" sz="2800" b="1" dirty="0" smtClean="0">
                <a:solidFill>
                  <a:srgbClr val="006600"/>
                </a:solidFill>
                <a:latin typeface="Arial" pitchFamily="34" charset="0"/>
                <a:cs typeface="Arial" pitchFamily="34" charset="0"/>
              </a:rPr>
              <a:t>IỆN CỰC</a:t>
            </a:r>
            <a:r>
              <a:rPr lang="en-US" sz="2800" b="1" dirty="0" smtClean="0">
                <a:solidFill>
                  <a:srgbClr val="006600"/>
                </a:solidFill>
                <a:latin typeface="Arial" pitchFamily="34" charset="0"/>
                <a:cs typeface="Arial" pitchFamily="34" charset="0"/>
              </a:rPr>
              <a:t> 2 </a:t>
            </a:r>
            <a:r>
              <a:rPr lang="vi-VN" sz="2800" dirty="0">
                <a:solidFill>
                  <a:srgbClr val="006600"/>
                </a:solidFill>
                <a:latin typeface="Arial" pitchFamily="34" charset="0"/>
                <a:cs typeface="Arial" pitchFamily="34" charset="0"/>
                <a:sym typeface="Symbol"/>
              </a:rPr>
              <a:t>:</a:t>
            </a:r>
            <a:r>
              <a:rPr lang="en-US" sz="2800" dirty="0" smtClean="0">
                <a:solidFill>
                  <a:srgbClr val="006600"/>
                </a:solidFill>
                <a:latin typeface="Arial" pitchFamily="34" charset="0"/>
                <a:cs typeface="Arial" pitchFamily="34" charset="0"/>
                <a:sym typeface="Symbol"/>
              </a:rPr>
              <a:t> </a:t>
            </a:r>
            <a:r>
              <a:rPr lang="en-US" sz="2800" b="1" dirty="0" smtClean="0">
                <a:solidFill>
                  <a:srgbClr val="006600"/>
                </a:solidFill>
                <a:latin typeface="Arial" pitchFamily="34" charset="0"/>
                <a:cs typeface="Arial" pitchFamily="34" charset="0"/>
              </a:rPr>
              <a:t>φ</a:t>
            </a:r>
            <a:r>
              <a:rPr lang="en-US" sz="2800" b="1" baseline="-25000" dirty="0" smtClean="0">
                <a:solidFill>
                  <a:srgbClr val="006600"/>
                </a:solidFill>
                <a:latin typeface="Arial" pitchFamily="34" charset="0"/>
                <a:cs typeface="Arial" pitchFamily="34" charset="0"/>
              </a:rPr>
              <a:t>2</a:t>
            </a:r>
            <a:r>
              <a:rPr lang="en-US" sz="2800" b="1" dirty="0" smtClean="0">
                <a:solidFill>
                  <a:srgbClr val="006600"/>
                </a:solidFill>
                <a:latin typeface="Arial" pitchFamily="34" charset="0"/>
                <a:cs typeface="Arial" pitchFamily="34" charset="0"/>
              </a:rPr>
              <a:t> </a:t>
            </a:r>
            <a:r>
              <a:rPr lang="vi-VN" sz="2800" b="1" dirty="0" smtClean="0">
                <a:solidFill>
                  <a:srgbClr val="006600"/>
                </a:solidFill>
                <a:latin typeface="Arial" pitchFamily="34" charset="0"/>
                <a:cs typeface="Arial" pitchFamily="34" charset="0"/>
              </a:rPr>
              <a:t> </a:t>
            </a:r>
            <a:r>
              <a:rPr lang="en-US" sz="2800" b="1" dirty="0" smtClean="0">
                <a:solidFill>
                  <a:srgbClr val="006600"/>
                </a:solidFill>
                <a:latin typeface="Arial" pitchFamily="34" charset="0"/>
                <a:cs typeface="Arial" pitchFamily="34" charset="0"/>
              </a:rPr>
              <a:t>       φ</a:t>
            </a:r>
            <a:r>
              <a:rPr lang="en-US" sz="2800" b="1" baseline="-25000" dirty="0" smtClean="0">
                <a:solidFill>
                  <a:srgbClr val="006600"/>
                </a:solidFill>
                <a:latin typeface="Arial" pitchFamily="34" charset="0"/>
                <a:cs typeface="Arial" pitchFamily="34" charset="0"/>
              </a:rPr>
              <a:t>1</a:t>
            </a:r>
            <a:r>
              <a:rPr lang="en-US" sz="2800" dirty="0" smtClean="0">
                <a:solidFill>
                  <a:srgbClr val="006600"/>
                </a:solidFill>
                <a:latin typeface="Arial" pitchFamily="34" charset="0"/>
                <a:cs typeface="Arial" pitchFamily="34" charset="0"/>
              </a:rPr>
              <a:t> </a:t>
            </a:r>
            <a:r>
              <a:rPr lang="vi-VN" sz="2800" dirty="0">
                <a:solidFill>
                  <a:srgbClr val="006600"/>
                </a:solidFill>
                <a:latin typeface="Arial" pitchFamily="34" charset="0"/>
                <a:cs typeface="Arial" pitchFamily="34" charset="0"/>
                <a:sym typeface="Symbol"/>
              </a:rPr>
              <a:t> </a:t>
            </a:r>
            <a:r>
              <a:rPr lang="vi-VN" sz="2800" dirty="0" smtClean="0">
                <a:solidFill>
                  <a:srgbClr val="006600"/>
                </a:solidFill>
                <a:latin typeface="Arial" pitchFamily="34" charset="0"/>
                <a:cs typeface="Arial" pitchFamily="34" charset="0"/>
                <a:sym typeface="Symbol"/>
              </a:rPr>
              <a:t>: </a:t>
            </a:r>
            <a:r>
              <a:rPr lang="en-US" sz="2800" b="1" dirty="0" smtClean="0">
                <a:solidFill>
                  <a:srgbClr val="006600"/>
                </a:solidFill>
                <a:latin typeface="Arial" pitchFamily="34" charset="0"/>
                <a:cs typeface="Arial" pitchFamily="34" charset="0"/>
              </a:rPr>
              <a:t>Đ</a:t>
            </a:r>
            <a:r>
              <a:rPr lang="vi-VN" sz="2800" b="1" dirty="0" smtClean="0">
                <a:solidFill>
                  <a:srgbClr val="006600"/>
                </a:solidFill>
                <a:latin typeface="Arial" pitchFamily="34" charset="0"/>
                <a:cs typeface="Arial" pitchFamily="34" charset="0"/>
              </a:rPr>
              <a:t>IỆN CỰC</a:t>
            </a:r>
            <a:r>
              <a:rPr lang="en-US" sz="2800" b="1" dirty="0" smtClean="0">
                <a:solidFill>
                  <a:srgbClr val="006600"/>
                </a:solidFill>
                <a:latin typeface="Arial" pitchFamily="34" charset="0"/>
                <a:cs typeface="Arial" pitchFamily="34" charset="0"/>
              </a:rPr>
              <a:t> 1</a:t>
            </a:r>
            <a:endParaRPr lang="en-US" sz="2800" b="1" dirty="0">
              <a:solidFill>
                <a:srgbClr val="006600"/>
              </a:solidFill>
              <a:latin typeface="Arial" pitchFamily="34" charset="0"/>
              <a:cs typeface="Arial" pitchFamily="34" charset="0"/>
            </a:endParaRPr>
          </a:p>
        </p:txBody>
      </p:sp>
      <p:sp>
        <p:nvSpPr>
          <p:cNvPr id="9" name="TextBox 8"/>
          <p:cNvSpPr txBox="1"/>
          <p:nvPr/>
        </p:nvSpPr>
        <p:spPr>
          <a:xfrm>
            <a:off x="5174749" y="1669072"/>
            <a:ext cx="711200" cy="646331"/>
          </a:xfrm>
          <a:prstGeom prst="rect">
            <a:avLst/>
          </a:prstGeom>
          <a:noFill/>
        </p:spPr>
        <p:txBody>
          <a:bodyPr wrap="square" rtlCol="0">
            <a:spAutoFit/>
          </a:bodyPr>
          <a:lstStyle/>
          <a:p>
            <a:r>
              <a:rPr lang="en-US" b="1" dirty="0">
                <a:solidFill>
                  <a:schemeClr val="tx2">
                    <a:lumMod val="75000"/>
                  </a:schemeClr>
                </a:solidFill>
                <a:latin typeface="Arial" pitchFamily="34" charset="0"/>
                <a:cs typeface="Arial" pitchFamily="34" charset="0"/>
              </a:rPr>
              <a:t>ne</a:t>
            </a:r>
            <a:endParaRPr lang="en-US" b="1" dirty="0">
              <a:solidFill>
                <a:schemeClr val="tx2">
                  <a:lumMod val="75000"/>
                </a:schemeClr>
              </a:solidFill>
            </a:endParaRPr>
          </a:p>
          <a:p>
            <a:endParaRPr lang="en-US" dirty="0"/>
          </a:p>
        </p:txBody>
      </p:sp>
      <p:sp>
        <p:nvSpPr>
          <p:cNvPr id="11" name="TextBox 10"/>
          <p:cNvSpPr txBox="1"/>
          <p:nvPr/>
        </p:nvSpPr>
        <p:spPr>
          <a:xfrm>
            <a:off x="3149600" y="2026794"/>
            <a:ext cx="812800" cy="523220"/>
          </a:xfrm>
          <a:prstGeom prst="rect">
            <a:avLst/>
          </a:prstGeom>
          <a:noFill/>
        </p:spPr>
        <p:txBody>
          <a:bodyPr wrap="square" rtlCol="0">
            <a:spAutoFit/>
          </a:bodyPr>
          <a:lstStyle/>
          <a:p>
            <a:r>
              <a:rPr lang="en-US" sz="2800" dirty="0">
                <a:latin typeface="Arial" pitchFamily="34" charset="0"/>
                <a:cs typeface="Arial" pitchFamily="34" charset="0"/>
              </a:rPr>
              <a:t>(-)</a:t>
            </a:r>
            <a:endParaRPr lang="en-US" sz="2800" dirty="0"/>
          </a:p>
        </p:txBody>
      </p:sp>
      <p:sp>
        <p:nvSpPr>
          <p:cNvPr id="12" name="TextBox 11"/>
          <p:cNvSpPr txBox="1"/>
          <p:nvPr/>
        </p:nvSpPr>
        <p:spPr>
          <a:xfrm>
            <a:off x="7711865" y="1992237"/>
            <a:ext cx="812800" cy="800219"/>
          </a:xfrm>
          <a:prstGeom prst="rect">
            <a:avLst/>
          </a:prstGeom>
          <a:noFill/>
        </p:spPr>
        <p:txBody>
          <a:bodyPr wrap="square" rtlCol="0">
            <a:spAutoFit/>
          </a:bodyPr>
          <a:lstStyle/>
          <a:p>
            <a:r>
              <a:rPr lang="en-US" sz="2800" dirty="0">
                <a:latin typeface="Arial" pitchFamily="34" charset="0"/>
                <a:cs typeface="Arial" pitchFamily="34" charset="0"/>
              </a:rPr>
              <a:t>(+)</a:t>
            </a:r>
          </a:p>
          <a:p>
            <a:endParaRPr lang="en-US" dirty="0"/>
          </a:p>
        </p:txBody>
      </p:sp>
      <p:sp>
        <p:nvSpPr>
          <p:cNvPr id="13" name="TextBox 12"/>
          <p:cNvSpPr txBox="1"/>
          <p:nvPr/>
        </p:nvSpPr>
        <p:spPr>
          <a:xfrm>
            <a:off x="5277786" y="289189"/>
            <a:ext cx="608163" cy="584775"/>
          </a:xfrm>
          <a:prstGeom prst="rect">
            <a:avLst/>
          </a:prstGeom>
          <a:noFill/>
        </p:spPr>
        <p:txBody>
          <a:bodyPr wrap="square" rtlCol="0">
            <a:spAutoFit/>
          </a:bodyPr>
          <a:lstStyle/>
          <a:p>
            <a:r>
              <a:rPr lang="en-US" sz="3200" b="1" dirty="0">
                <a:solidFill>
                  <a:srgbClr val="CC00FF"/>
                </a:solidFill>
                <a:latin typeface="Arial" pitchFamily="34" charset="0"/>
                <a:cs typeface="Arial" pitchFamily="34" charset="0"/>
              </a:rPr>
              <a:t>&lt;</a:t>
            </a:r>
            <a:endParaRPr lang="en-US" sz="3200" dirty="0">
              <a:solidFill>
                <a:srgbClr val="CC00FF"/>
              </a:solidFill>
            </a:endParaRPr>
          </a:p>
        </p:txBody>
      </p:sp>
      <p:sp>
        <p:nvSpPr>
          <p:cNvPr id="14" name="TextBox 13"/>
          <p:cNvSpPr txBox="1"/>
          <p:nvPr/>
        </p:nvSpPr>
        <p:spPr>
          <a:xfrm>
            <a:off x="665019" y="872862"/>
            <a:ext cx="4645648" cy="523220"/>
          </a:xfrm>
          <a:prstGeom prst="rect">
            <a:avLst/>
          </a:prstGeom>
          <a:noFill/>
        </p:spPr>
        <p:txBody>
          <a:bodyPr wrap="square" rtlCol="0">
            <a:spAutoFit/>
          </a:bodyPr>
          <a:lstStyle/>
          <a:p>
            <a:r>
              <a:rPr lang="en-US" sz="2800" dirty="0" err="1" smtClean="0">
                <a:solidFill>
                  <a:srgbClr val="C00000"/>
                </a:solidFill>
                <a:latin typeface="Arial" pitchFamily="34" charset="0"/>
                <a:cs typeface="Arial" pitchFamily="34" charset="0"/>
              </a:rPr>
              <a:t>Mật</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độ</a:t>
            </a:r>
            <a:r>
              <a:rPr lang="en-US" sz="2800" dirty="0" smtClean="0">
                <a:solidFill>
                  <a:srgbClr val="C00000"/>
                </a:solidFill>
                <a:latin typeface="Arial" pitchFamily="34" charset="0"/>
                <a:cs typeface="Arial" pitchFamily="34" charset="0"/>
              </a:rPr>
              <a:t> e </a:t>
            </a:r>
            <a:r>
              <a:rPr lang="en-US" sz="2800" dirty="0" err="1" smtClean="0">
                <a:solidFill>
                  <a:srgbClr val="C00000"/>
                </a:solidFill>
                <a:latin typeface="Arial" pitchFamily="34" charset="0"/>
                <a:cs typeface="Arial" pitchFamily="34" charset="0"/>
              </a:rPr>
              <a:t>trên</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điện</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cực</a:t>
            </a:r>
            <a:r>
              <a:rPr lang="en-US" sz="2800" dirty="0" smtClean="0">
                <a:solidFill>
                  <a:srgbClr val="C00000"/>
                </a:solidFill>
                <a:latin typeface="Arial" pitchFamily="34" charset="0"/>
                <a:cs typeface="Arial" pitchFamily="34" charset="0"/>
              </a:rPr>
              <a:t> 2</a:t>
            </a:r>
            <a:endParaRPr lang="en-US" sz="2800" dirty="0">
              <a:solidFill>
                <a:srgbClr val="C00000"/>
              </a:solidFill>
              <a:latin typeface="Arial" pitchFamily="34" charset="0"/>
              <a:cs typeface="Arial" pitchFamily="34" charset="0"/>
            </a:endParaRPr>
          </a:p>
        </p:txBody>
      </p:sp>
      <p:sp>
        <p:nvSpPr>
          <p:cNvPr id="15" name="TextBox 14"/>
          <p:cNvSpPr txBox="1"/>
          <p:nvPr/>
        </p:nvSpPr>
        <p:spPr>
          <a:xfrm>
            <a:off x="6128917" y="931930"/>
            <a:ext cx="4791495" cy="523220"/>
          </a:xfrm>
          <a:prstGeom prst="rect">
            <a:avLst/>
          </a:prstGeom>
          <a:noFill/>
        </p:spPr>
        <p:txBody>
          <a:bodyPr wrap="square" rtlCol="0">
            <a:spAutoFit/>
          </a:bodyPr>
          <a:lstStyle/>
          <a:p>
            <a:r>
              <a:rPr lang="en-US" sz="2800" dirty="0" err="1" smtClean="0">
                <a:solidFill>
                  <a:srgbClr val="C00000"/>
                </a:solidFill>
                <a:latin typeface="Arial" pitchFamily="34" charset="0"/>
                <a:cs typeface="Arial" pitchFamily="34" charset="0"/>
              </a:rPr>
              <a:t>Mật</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độ</a:t>
            </a:r>
            <a:r>
              <a:rPr lang="en-US" sz="2800" dirty="0" smtClean="0">
                <a:solidFill>
                  <a:srgbClr val="C00000"/>
                </a:solidFill>
                <a:latin typeface="Arial" pitchFamily="34" charset="0"/>
                <a:cs typeface="Arial" pitchFamily="34" charset="0"/>
              </a:rPr>
              <a:t> e </a:t>
            </a:r>
            <a:r>
              <a:rPr lang="en-US" sz="2800" dirty="0" err="1" smtClean="0">
                <a:solidFill>
                  <a:srgbClr val="C00000"/>
                </a:solidFill>
                <a:latin typeface="Arial" pitchFamily="34" charset="0"/>
                <a:cs typeface="Arial" pitchFamily="34" charset="0"/>
              </a:rPr>
              <a:t>trên</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điện</a:t>
            </a:r>
            <a:r>
              <a:rPr lang="en-US" sz="2800" dirty="0" smtClean="0">
                <a:solidFill>
                  <a:srgbClr val="C00000"/>
                </a:solidFill>
                <a:latin typeface="Arial" pitchFamily="34" charset="0"/>
                <a:cs typeface="Arial" pitchFamily="34" charset="0"/>
              </a:rPr>
              <a:t> </a:t>
            </a:r>
            <a:r>
              <a:rPr lang="en-US" sz="2800" dirty="0" err="1" smtClean="0">
                <a:solidFill>
                  <a:srgbClr val="C00000"/>
                </a:solidFill>
                <a:latin typeface="Arial" pitchFamily="34" charset="0"/>
                <a:cs typeface="Arial" pitchFamily="34" charset="0"/>
              </a:rPr>
              <a:t>cực</a:t>
            </a:r>
            <a:r>
              <a:rPr lang="en-US" sz="2800" dirty="0" smtClean="0">
                <a:solidFill>
                  <a:srgbClr val="C00000"/>
                </a:solidFill>
                <a:latin typeface="Arial" pitchFamily="34" charset="0"/>
                <a:cs typeface="Arial" pitchFamily="34" charset="0"/>
              </a:rPr>
              <a:t> 1</a:t>
            </a:r>
            <a:endParaRPr lang="en-US" sz="2800" dirty="0">
              <a:solidFill>
                <a:srgbClr val="C00000"/>
              </a:solidFill>
              <a:latin typeface="Arial" pitchFamily="34" charset="0"/>
              <a:cs typeface="Arial" pitchFamily="34" charset="0"/>
            </a:endParaRPr>
          </a:p>
        </p:txBody>
      </p:sp>
      <p:sp>
        <p:nvSpPr>
          <p:cNvPr id="16" name="TextBox 15"/>
          <p:cNvSpPr txBox="1"/>
          <p:nvPr/>
        </p:nvSpPr>
        <p:spPr>
          <a:xfrm>
            <a:off x="5281468" y="870375"/>
            <a:ext cx="558800" cy="584775"/>
          </a:xfrm>
          <a:prstGeom prst="rect">
            <a:avLst/>
          </a:prstGeom>
          <a:noFill/>
        </p:spPr>
        <p:txBody>
          <a:bodyPr wrap="square" rtlCol="0">
            <a:spAutoFit/>
          </a:bodyPr>
          <a:lstStyle/>
          <a:p>
            <a:r>
              <a:rPr lang="en-US" sz="3200" b="1" dirty="0" smtClean="0">
                <a:solidFill>
                  <a:srgbClr val="CC00FF"/>
                </a:solidFill>
                <a:latin typeface="Arial" pitchFamily="34" charset="0"/>
                <a:cs typeface="Arial" pitchFamily="34" charset="0"/>
              </a:rPr>
              <a:t>&gt;</a:t>
            </a:r>
            <a:endParaRPr lang="en-US" sz="3200" b="1" dirty="0">
              <a:solidFill>
                <a:srgbClr val="CC00FF"/>
              </a:solidFill>
              <a:latin typeface="Arial" pitchFamily="34" charset="0"/>
              <a:cs typeface="Arial" pitchFamily="34" charset="0"/>
            </a:endParaRPr>
          </a:p>
        </p:txBody>
      </p:sp>
      <p:sp>
        <p:nvSpPr>
          <p:cNvPr id="17" name="TextBox 16"/>
          <p:cNvSpPr txBox="1"/>
          <p:nvPr/>
        </p:nvSpPr>
        <p:spPr>
          <a:xfrm>
            <a:off x="1747328" y="2053793"/>
            <a:ext cx="1524000" cy="523220"/>
          </a:xfrm>
          <a:prstGeom prst="rect">
            <a:avLst/>
          </a:prstGeom>
          <a:noFill/>
        </p:spPr>
        <p:txBody>
          <a:bodyPr wrap="square" rtlCol="0">
            <a:spAutoFit/>
          </a:bodyPr>
          <a:lstStyle/>
          <a:p>
            <a:r>
              <a:rPr lang="en-US" sz="2800" b="1" u="sng" dirty="0" smtClean="0">
                <a:solidFill>
                  <a:srgbClr val="FF0000"/>
                </a:solidFill>
                <a:latin typeface="Arial" pitchFamily="34" charset="0"/>
                <a:cs typeface="Arial" pitchFamily="34" charset="0"/>
              </a:rPr>
              <a:t>A</a:t>
            </a:r>
            <a:r>
              <a:rPr lang="vi-VN" sz="2800" b="1" dirty="0" smtClean="0">
                <a:latin typeface="Arial" pitchFamily="34" charset="0"/>
                <a:cs typeface="Arial" pitchFamily="34" charset="0"/>
              </a:rPr>
              <a:t>NOD</a:t>
            </a:r>
            <a:r>
              <a:rPr lang="en-US" sz="2800" dirty="0" smtClean="0">
                <a:latin typeface="Arial" pitchFamily="34" charset="0"/>
                <a:cs typeface="Arial" pitchFamily="34" charset="0"/>
              </a:rPr>
              <a:t> </a:t>
            </a:r>
            <a:endParaRPr lang="en-US" sz="2800" dirty="0"/>
          </a:p>
        </p:txBody>
      </p:sp>
      <p:sp>
        <p:nvSpPr>
          <p:cNvPr id="18" name="TextBox 17"/>
          <p:cNvSpPr txBox="1"/>
          <p:nvPr/>
        </p:nvSpPr>
        <p:spPr>
          <a:xfrm>
            <a:off x="8604847" y="2017689"/>
            <a:ext cx="1632577" cy="800219"/>
          </a:xfrm>
          <a:prstGeom prst="rect">
            <a:avLst/>
          </a:prstGeom>
          <a:noFill/>
        </p:spPr>
        <p:txBody>
          <a:bodyPr wrap="square" rtlCol="0">
            <a:spAutoFit/>
          </a:bodyPr>
          <a:lstStyle/>
          <a:p>
            <a:r>
              <a:rPr lang="en-US" dirty="0" smtClean="0">
                <a:latin typeface="Arial" pitchFamily="34" charset="0"/>
                <a:cs typeface="Arial" pitchFamily="34" charset="0"/>
              </a:rPr>
              <a:t>   </a:t>
            </a:r>
            <a:r>
              <a:rPr lang="en-US" sz="2800" b="1" u="sng" dirty="0" smtClean="0">
                <a:solidFill>
                  <a:srgbClr val="0000FF"/>
                </a:solidFill>
                <a:latin typeface="Arial" pitchFamily="34" charset="0"/>
                <a:cs typeface="Arial" pitchFamily="34" charset="0"/>
              </a:rPr>
              <a:t>C</a:t>
            </a:r>
            <a:r>
              <a:rPr lang="vi-VN" sz="2800" b="1" dirty="0" smtClean="0">
                <a:latin typeface="Arial" pitchFamily="34" charset="0"/>
                <a:cs typeface="Arial" pitchFamily="34" charset="0"/>
              </a:rPr>
              <a:t>ATOD</a:t>
            </a:r>
            <a:endParaRPr lang="en-US" sz="2800" dirty="0">
              <a:latin typeface="Arial" pitchFamily="34" charset="0"/>
              <a:cs typeface="Arial" pitchFamily="34" charset="0"/>
            </a:endParaRPr>
          </a:p>
          <a:p>
            <a:endParaRPr lang="en-US" dirty="0"/>
          </a:p>
        </p:txBody>
      </p:sp>
      <p:sp>
        <p:nvSpPr>
          <p:cNvPr id="19" name="TextBox 18"/>
          <p:cNvSpPr txBox="1"/>
          <p:nvPr/>
        </p:nvSpPr>
        <p:spPr>
          <a:xfrm>
            <a:off x="89749" y="3393435"/>
            <a:ext cx="2844800" cy="461665"/>
          </a:xfrm>
          <a:prstGeom prst="rect">
            <a:avLst/>
          </a:prstGeom>
          <a:noFill/>
        </p:spPr>
        <p:txBody>
          <a:bodyPr wrap="square" rtlCol="0">
            <a:spAutoFit/>
          </a:bodyPr>
          <a:lstStyle/>
          <a:p>
            <a:r>
              <a:rPr lang="en-US" sz="2400" dirty="0" err="1">
                <a:latin typeface="Arial" pitchFamily="34" charset="0"/>
                <a:cs typeface="Arial" pitchFamily="34" charset="0"/>
              </a:rPr>
              <a:t>Quá</a:t>
            </a:r>
            <a:r>
              <a:rPr lang="en-US" sz="2400" dirty="0">
                <a:latin typeface="Arial" pitchFamily="34" charset="0"/>
                <a:cs typeface="Arial" pitchFamily="34" charset="0"/>
              </a:rPr>
              <a:t> </a:t>
            </a:r>
            <a:r>
              <a:rPr lang="en-US" sz="2400" dirty="0" err="1">
                <a:latin typeface="Arial" pitchFamily="34" charset="0"/>
                <a:cs typeface="Arial" pitchFamily="34" charset="0"/>
              </a:rPr>
              <a:t>trình</a:t>
            </a:r>
            <a:r>
              <a:rPr lang="en-US" sz="2400" dirty="0">
                <a:latin typeface="Arial" pitchFamily="34" charset="0"/>
                <a:cs typeface="Arial" pitchFamily="34" charset="0"/>
              </a:rPr>
              <a:t> </a:t>
            </a:r>
            <a:r>
              <a:rPr lang="en-US" sz="2400" b="1" u="sng" dirty="0" err="1">
                <a:solidFill>
                  <a:srgbClr val="FF0000"/>
                </a:solidFill>
                <a:latin typeface="Arial" pitchFamily="34" charset="0"/>
                <a:cs typeface="Arial" pitchFamily="34" charset="0"/>
              </a:rPr>
              <a:t>O</a:t>
            </a:r>
            <a:r>
              <a:rPr lang="en-US" sz="2400" b="1" dirty="0" err="1">
                <a:latin typeface="Arial" pitchFamily="34" charset="0"/>
                <a:cs typeface="Arial" pitchFamily="34" charset="0"/>
              </a:rPr>
              <a:t>xyhóa</a:t>
            </a:r>
            <a:r>
              <a:rPr lang="en-US" sz="2400" dirty="0">
                <a:latin typeface="Arial" pitchFamily="34" charset="0"/>
                <a:cs typeface="Arial" pitchFamily="34" charset="0"/>
              </a:rPr>
              <a:t>:</a:t>
            </a:r>
            <a:endParaRPr lang="en-US" sz="2400" dirty="0"/>
          </a:p>
        </p:txBody>
      </p:sp>
      <p:sp>
        <p:nvSpPr>
          <p:cNvPr id="20" name="TextBox 19"/>
          <p:cNvSpPr txBox="1"/>
          <p:nvPr/>
        </p:nvSpPr>
        <p:spPr>
          <a:xfrm>
            <a:off x="5834071" y="3392560"/>
            <a:ext cx="2489200" cy="461665"/>
          </a:xfrm>
          <a:prstGeom prst="rect">
            <a:avLst/>
          </a:prstGeom>
          <a:noFill/>
        </p:spPr>
        <p:txBody>
          <a:bodyPr wrap="square" rtlCol="0">
            <a:spAutoFit/>
          </a:bodyPr>
          <a:lstStyle/>
          <a:p>
            <a:r>
              <a:rPr lang="en-US" sz="2400" dirty="0" err="1">
                <a:latin typeface="Arial" pitchFamily="34" charset="0"/>
                <a:cs typeface="Arial" pitchFamily="34" charset="0"/>
              </a:rPr>
              <a:t>Quá</a:t>
            </a:r>
            <a:r>
              <a:rPr lang="en-US" sz="2400" dirty="0">
                <a:latin typeface="Arial" pitchFamily="34" charset="0"/>
                <a:cs typeface="Arial" pitchFamily="34" charset="0"/>
              </a:rPr>
              <a:t> </a:t>
            </a:r>
            <a:r>
              <a:rPr lang="en-US" sz="2400" dirty="0" err="1">
                <a:latin typeface="Arial" pitchFamily="34" charset="0"/>
                <a:cs typeface="Arial" pitchFamily="34" charset="0"/>
              </a:rPr>
              <a:t>trình</a:t>
            </a:r>
            <a:r>
              <a:rPr lang="en-US" sz="2400" dirty="0">
                <a:latin typeface="Arial" pitchFamily="34" charset="0"/>
                <a:cs typeface="Arial" pitchFamily="34" charset="0"/>
              </a:rPr>
              <a:t> </a:t>
            </a:r>
            <a:r>
              <a:rPr lang="en-US" sz="2400" b="1" u="sng" dirty="0" err="1">
                <a:solidFill>
                  <a:srgbClr val="0000FF"/>
                </a:solidFill>
                <a:latin typeface="Arial" pitchFamily="34" charset="0"/>
                <a:cs typeface="Arial" pitchFamily="34" charset="0"/>
              </a:rPr>
              <a:t>K</a:t>
            </a:r>
            <a:r>
              <a:rPr lang="en-US" sz="2400" b="1" dirty="0" err="1">
                <a:latin typeface="Arial" pitchFamily="34" charset="0"/>
                <a:cs typeface="Arial" pitchFamily="34" charset="0"/>
              </a:rPr>
              <a:t>hử</a:t>
            </a:r>
            <a:r>
              <a:rPr lang="en-US" sz="2400" dirty="0">
                <a:latin typeface="Arial" pitchFamily="34" charset="0"/>
                <a:cs typeface="Arial" pitchFamily="34" charset="0"/>
              </a:rPr>
              <a:t>:</a:t>
            </a:r>
            <a:endParaRPr lang="en-US" sz="2400" dirty="0"/>
          </a:p>
        </p:txBody>
      </p:sp>
      <p:sp>
        <p:nvSpPr>
          <p:cNvPr id="22" name="TextBox 21"/>
          <p:cNvSpPr txBox="1"/>
          <p:nvPr/>
        </p:nvSpPr>
        <p:spPr>
          <a:xfrm>
            <a:off x="8118265" y="3443975"/>
            <a:ext cx="3327879" cy="646331"/>
          </a:xfrm>
          <a:prstGeom prst="rect">
            <a:avLst/>
          </a:prstGeom>
          <a:noFill/>
        </p:spPr>
        <p:txBody>
          <a:bodyPr wrap="square" rtlCol="0">
            <a:spAutoFit/>
          </a:bodyPr>
          <a:lstStyle/>
          <a:p>
            <a:r>
              <a:rPr lang="en-US" dirty="0">
                <a:solidFill>
                  <a:srgbClr val="FF0000"/>
                </a:solidFill>
                <a:latin typeface="Arial" pitchFamily="34" charset="0"/>
                <a:cs typeface="Arial" pitchFamily="34" charset="0"/>
              </a:rPr>
              <a:t>OXH</a:t>
            </a:r>
            <a:r>
              <a:rPr lang="en-US" baseline="-25000" dirty="0">
                <a:solidFill>
                  <a:srgbClr val="FF0000"/>
                </a:solidFill>
                <a:latin typeface="Arial" pitchFamily="34" charset="0"/>
                <a:cs typeface="Arial" pitchFamily="34" charset="0"/>
              </a:rPr>
              <a:t>1</a:t>
            </a:r>
            <a:r>
              <a:rPr lang="en-US" dirty="0">
                <a:latin typeface="Arial" pitchFamily="34" charset="0"/>
                <a:cs typeface="Arial" pitchFamily="34" charset="0"/>
              </a:rPr>
              <a:t>  </a:t>
            </a:r>
            <a:r>
              <a:rPr lang="en-US" dirty="0" smtClean="0">
                <a:latin typeface="Arial" pitchFamily="34" charset="0"/>
                <a:cs typeface="Arial" pitchFamily="34" charset="0"/>
              </a:rPr>
              <a:t>  + </a:t>
            </a:r>
            <a:r>
              <a:rPr lang="en-US" b="1" dirty="0" smtClean="0">
                <a:solidFill>
                  <a:srgbClr val="008000"/>
                </a:solidFill>
                <a:latin typeface="Arial" pitchFamily="34" charset="0"/>
                <a:cs typeface="Arial" pitchFamily="34" charset="0"/>
              </a:rPr>
              <a:t>n</a:t>
            </a:r>
            <a:r>
              <a:rPr lang="vi-VN" b="1" baseline="-25000" dirty="0" smtClean="0">
                <a:solidFill>
                  <a:srgbClr val="008000"/>
                </a:solidFill>
                <a:latin typeface="Arial" pitchFamily="34" charset="0"/>
                <a:cs typeface="Arial" pitchFamily="34" charset="0"/>
              </a:rPr>
              <a:t>1</a:t>
            </a:r>
            <a:r>
              <a:rPr lang="en-US" dirty="0" smtClean="0">
                <a:latin typeface="Arial" pitchFamily="34" charset="0"/>
                <a:cs typeface="Arial" pitchFamily="34" charset="0"/>
              </a:rPr>
              <a:t>e </a:t>
            </a:r>
            <a:r>
              <a:rPr lang="en-US" dirty="0">
                <a:latin typeface="Arial" pitchFamily="34" charset="0"/>
                <a:cs typeface="Arial" pitchFamily="34" charset="0"/>
              </a:rPr>
              <a:t>⇄ </a:t>
            </a:r>
            <a:r>
              <a:rPr lang="en-US" dirty="0">
                <a:solidFill>
                  <a:srgbClr val="0000FF"/>
                </a:solidFill>
                <a:latin typeface="Arial" pitchFamily="34" charset="0"/>
                <a:cs typeface="Arial" pitchFamily="34" charset="0"/>
              </a:rPr>
              <a:t>KH</a:t>
            </a:r>
            <a:r>
              <a:rPr lang="en-US" baseline="-25000" dirty="0">
                <a:solidFill>
                  <a:srgbClr val="0000FF"/>
                </a:solidFill>
                <a:latin typeface="Arial" pitchFamily="34" charset="0"/>
                <a:cs typeface="Arial" pitchFamily="34" charset="0"/>
              </a:rPr>
              <a:t>1</a:t>
            </a:r>
            <a:endParaRPr lang="en-US" dirty="0">
              <a:solidFill>
                <a:srgbClr val="0000FF"/>
              </a:solidFill>
              <a:latin typeface="Arial" pitchFamily="34" charset="0"/>
              <a:cs typeface="Arial" pitchFamily="34" charset="0"/>
            </a:endParaRPr>
          </a:p>
          <a:p>
            <a:endParaRPr lang="en-US" dirty="0"/>
          </a:p>
        </p:txBody>
      </p:sp>
      <p:sp>
        <p:nvSpPr>
          <p:cNvPr id="23" name="TextBox 22"/>
          <p:cNvSpPr txBox="1"/>
          <p:nvPr/>
        </p:nvSpPr>
        <p:spPr>
          <a:xfrm>
            <a:off x="2820599" y="3454990"/>
            <a:ext cx="3681801" cy="400110"/>
          </a:xfrm>
          <a:prstGeom prst="rect">
            <a:avLst/>
          </a:prstGeom>
          <a:noFill/>
        </p:spPr>
        <p:txBody>
          <a:bodyPr wrap="square" rtlCol="0">
            <a:spAutoFit/>
          </a:bodyPr>
          <a:lstStyle/>
          <a:p>
            <a:r>
              <a:rPr lang="en-US" sz="2000" dirty="0">
                <a:solidFill>
                  <a:srgbClr val="0000FF"/>
                </a:solidFill>
                <a:latin typeface="Arial" pitchFamily="34" charset="0"/>
                <a:cs typeface="Arial" pitchFamily="34" charset="0"/>
              </a:rPr>
              <a:t>KH</a:t>
            </a:r>
            <a:r>
              <a:rPr lang="en-US" sz="2000" baseline="-25000" dirty="0">
                <a:solidFill>
                  <a:srgbClr val="0000FF"/>
                </a:solidFill>
                <a:latin typeface="Arial" pitchFamily="34" charset="0"/>
                <a:cs typeface="Arial" pitchFamily="34" charset="0"/>
              </a:rPr>
              <a:t>2</a:t>
            </a:r>
            <a:r>
              <a:rPr lang="en-US" sz="2000" dirty="0">
                <a:solidFill>
                  <a:srgbClr val="0000FF"/>
                </a:solidFill>
                <a:latin typeface="Arial" pitchFamily="34" charset="0"/>
                <a:cs typeface="Arial" pitchFamily="34" charset="0"/>
              </a:rPr>
              <a:t> </a:t>
            </a:r>
            <a:r>
              <a:rPr lang="en-US" sz="2000" dirty="0" smtClean="0">
                <a:solidFill>
                  <a:srgbClr val="0000FF"/>
                </a:solidFill>
                <a:latin typeface="Arial" pitchFamily="34" charset="0"/>
                <a:cs typeface="Arial" pitchFamily="34" charset="0"/>
              </a:rPr>
              <a:t>  </a:t>
            </a:r>
            <a:r>
              <a:rPr lang="vi-VN" sz="2000" dirty="0" smtClean="0">
                <a:solidFill>
                  <a:srgbClr val="0000FF"/>
                </a:solidFill>
                <a:latin typeface="Arial" pitchFamily="34" charset="0"/>
                <a:cs typeface="Arial" pitchFamily="34" charset="0"/>
              </a:rPr>
              <a:t> </a:t>
            </a:r>
            <a:r>
              <a:rPr lang="en-US" sz="2000" dirty="0" smtClean="0">
                <a:latin typeface="Arial" pitchFamily="34" charset="0"/>
                <a:cs typeface="Arial" pitchFamily="34" charset="0"/>
              </a:rPr>
              <a:t>– </a:t>
            </a:r>
            <a:r>
              <a:rPr lang="en-US" sz="2000" b="1" dirty="0" smtClean="0">
                <a:solidFill>
                  <a:srgbClr val="FF00FF"/>
                </a:solidFill>
                <a:latin typeface="Arial" pitchFamily="34" charset="0"/>
                <a:cs typeface="Arial" pitchFamily="34" charset="0"/>
              </a:rPr>
              <a:t>n</a:t>
            </a:r>
            <a:r>
              <a:rPr lang="vi-VN" sz="2000" b="1" baseline="-25000" dirty="0" smtClean="0">
                <a:solidFill>
                  <a:srgbClr val="FF00FF"/>
                </a:solidFill>
                <a:latin typeface="Arial" pitchFamily="34" charset="0"/>
                <a:cs typeface="Arial" pitchFamily="34" charset="0"/>
              </a:rPr>
              <a:t>2</a:t>
            </a:r>
            <a:r>
              <a:rPr lang="en-US" sz="2000" dirty="0" smtClean="0">
                <a:latin typeface="Arial" pitchFamily="34" charset="0"/>
                <a:cs typeface="Arial" pitchFamily="34" charset="0"/>
              </a:rPr>
              <a:t>e </a:t>
            </a:r>
            <a:r>
              <a:rPr lang="en-US" sz="2000" dirty="0">
                <a:latin typeface="Arial" pitchFamily="34" charset="0"/>
                <a:cs typeface="Arial" pitchFamily="34" charset="0"/>
              </a:rPr>
              <a:t>⇄ </a:t>
            </a:r>
            <a:r>
              <a:rPr lang="en-US" sz="2000" dirty="0">
                <a:solidFill>
                  <a:srgbClr val="FF0000"/>
                </a:solidFill>
                <a:latin typeface="Arial" pitchFamily="34" charset="0"/>
                <a:cs typeface="Arial" pitchFamily="34" charset="0"/>
              </a:rPr>
              <a:t>OXH</a:t>
            </a:r>
            <a:r>
              <a:rPr lang="en-US" sz="2000" baseline="-25000" dirty="0">
                <a:solidFill>
                  <a:srgbClr val="FF0000"/>
                </a:solidFill>
                <a:latin typeface="Arial" pitchFamily="34" charset="0"/>
                <a:cs typeface="Arial" pitchFamily="34" charset="0"/>
              </a:rPr>
              <a:t>2</a:t>
            </a:r>
            <a:r>
              <a:rPr lang="en-US" sz="2000" dirty="0">
                <a:latin typeface="Arial" pitchFamily="34" charset="0"/>
                <a:cs typeface="Arial" pitchFamily="34" charset="0"/>
              </a:rPr>
              <a:t> </a:t>
            </a:r>
          </a:p>
        </p:txBody>
      </p:sp>
      <p:sp>
        <p:nvSpPr>
          <p:cNvPr id="24" name="Curved Right Arrow 23"/>
          <p:cNvSpPr/>
          <p:nvPr/>
        </p:nvSpPr>
        <p:spPr>
          <a:xfrm rot="5400000">
            <a:off x="5368265" y="264050"/>
            <a:ext cx="307889" cy="2931341"/>
          </a:xfrm>
          <a:prstGeom prst="curved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p:cNvSpPr txBox="1"/>
          <p:nvPr/>
        </p:nvSpPr>
        <p:spPr>
          <a:xfrm>
            <a:off x="6987880" y="1468110"/>
            <a:ext cx="508000" cy="523220"/>
          </a:xfrm>
          <a:prstGeom prst="rect">
            <a:avLst/>
          </a:prstGeom>
          <a:noFill/>
        </p:spPr>
        <p:txBody>
          <a:bodyPr wrap="square" rtlCol="0">
            <a:spAutoFit/>
          </a:bodyPr>
          <a:lstStyle/>
          <a:p>
            <a:r>
              <a:rPr lang="en-US" sz="2800" b="1" dirty="0" smtClean="0">
                <a:solidFill>
                  <a:srgbClr val="008000"/>
                </a:solidFill>
                <a:latin typeface="Arial" pitchFamily="34" charset="0"/>
                <a:cs typeface="Arial" pitchFamily="34" charset="0"/>
              </a:rPr>
              <a:t>i</a:t>
            </a:r>
            <a:endParaRPr lang="en-US" sz="2800" b="1" dirty="0">
              <a:solidFill>
                <a:srgbClr val="00800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5" name="TextBox 4"/>
              <p:cNvSpPr txBox="1"/>
              <p:nvPr/>
            </p:nvSpPr>
            <p:spPr>
              <a:xfrm>
                <a:off x="3157798" y="4984283"/>
                <a:ext cx="6787819" cy="710066"/>
              </a:xfrm>
              <a:prstGeom prst="rect">
                <a:avLst/>
              </a:prstGeom>
              <a:noFill/>
            </p:spPr>
            <p:txBody>
              <a:bodyPr wrap="square" rtlCol="0">
                <a:spAutoFit/>
              </a:bodyPr>
              <a:lstStyle/>
              <a:p>
                <a:r>
                  <a:rPr lang="en-US" sz="2800" dirty="0" smtClean="0">
                    <a:solidFill>
                      <a:srgbClr val="008000"/>
                    </a:solidFill>
                    <a:latin typeface="Arial" pitchFamily="34" charset="0"/>
                    <a:cs typeface="Arial" pitchFamily="34" charset="0"/>
                  </a:rPr>
                  <a:t>E    = φ</a:t>
                </a:r>
                <a:r>
                  <a:rPr lang="en-US" sz="2800" baseline="-25000" dirty="0" smtClean="0">
                    <a:solidFill>
                      <a:srgbClr val="008000"/>
                    </a:solidFill>
                    <a:latin typeface="Arial" pitchFamily="34" charset="0"/>
                    <a:cs typeface="Arial" pitchFamily="34" charset="0"/>
                  </a:rPr>
                  <a:t>+ </a:t>
                </a:r>
                <a:r>
                  <a:rPr lang="en-US" sz="2800" dirty="0" smtClean="0">
                    <a:solidFill>
                      <a:srgbClr val="008000"/>
                    </a:solidFill>
                    <a:latin typeface="Arial" pitchFamily="34" charset="0"/>
                    <a:cs typeface="Arial" pitchFamily="34" charset="0"/>
                  </a:rPr>
                  <a:t> </a:t>
                </a:r>
                <a:r>
                  <a:rPr lang="en-US" sz="2800" dirty="0">
                    <a:solidFill>
                      <a:srgbClr val="008000"/>
                    </a:solidFill>
                    <a:latin typeface="Arial" pitchFamily="34" charset="0"/>
                    <a:cs typeface="Arial" pitchFamily="34" charset="0"/>
                  </a:rPr>
                  <a:t>- </a:t>
                </a:r>
                <a:r>
                  <a:rPr lang="en-US" sz="2800" dirty="0" smtClean="0">
                    <a:solidFill>
                      <a:srgbClr val="008000"/>
                    </a:solidFill>
                    <a:latin typeface="Arial" pitchFamily="34" charset="0"/>
                    <a:cs typeface="Arial" pitchFamily="34" charset="0"/>
                  </a:rPr>
                  <a:t>φ</a:t>
                </a:r>
                <a:r>
                  <a:rPr lang="en-US" sz="2800" baseline="-25000" dirty="0" smtClean="0">
                    <a:solidFill>
                      <a:srgbClr val="008000"/>
                    </a:solidFill>
                    <a:latin typeface="Arial" pitchFamily="34" charset="0"/>
                    <a:cs typeface="Arial" pitchFamily="34" charset="0"/>
                  </a:rPr>
                  <a:t>-</a:t>
                </a:r>
                <a:r>
                  <a:rPr lang="en-US" sz="2800" dirty="0" smtClean="0">
                    <a:solidFill>
                      <a:srgbClr val="008000"/>
                    </a:solidFill>
                    <a:latin typeface="Arial" pitchFamily="34" charset="0"/>
                    <a:cs typeface="Arial" pitchFamily="34" charset="0"/>
                  </a:rPr>
                  <a:t> = φ</a:t>
                </a:r>
                <a:r>
                  <a:rPr lang="en-US" sz="2800" baseline="-25000" dirty="0" smtClean="0">
                    <a:solidFill>
                      <a:srgbClr val="008000"/>
                    </a:solidFill>
                    <a:latin typeface="Arial" pitchFamily="34" charset="0"/>
                    <a:cs typeface="Arial" pitchFamily="34" charset="0"/>
                  </a:rPr>
                  <a:t>1 </a:t>
                </a:r>
                <a:r>
                  <a:rPr lang="en-US" sz="2800" dirty="0" smtClean="0">
                    <a:solidFill>
                      <a:srgbClr val="008000"/>
                    </a:solidFill>
                    <a:latin typeface="Arial" pitchFamily="34" charset="0"/>
                    <a:cs typeface="Arial" pitchFamily="34" charset="0"/>
                  </a:rPr>
                  <a:t>  - φ</a:t>
                </a:r>
                <a:r>
                  <a:rPr lang="en-US" sz="2800" baseline="-25000" dirty="0" smtClean="0">
                    <a:solidFill>
                      <a:srgbClr val="008000"/>
                    </a:solidFill>
                    <a:latin typeface="Arial" pitchFamily="34" charset="0"/>
                    <a:cs typeface="Arial" pitchFamily="34" charset="0"/>
                  </a:rPr>
                  <a:t>2</a:t>
                </a:r>
                <a:r>
                  <a:rPr lang="vi-VN" sz="2800" dirty="0" smtClean="0">
                    <a:solidFill>
                      <a:srgbClr val="008000"/>
                    </a:solidFill>
                    <a:latin typeface="Arial" pitchFamily="34" charset="0"/>
                    <a:cs typeface="Arial" pitchFamily="34" charset="0"/>
                  </a:rPr>
                  <a:t>  = E</a:t>
                </a:r>
                <a:r>
                  <a:rPr lang="vi-VN" sz="2800" baseline="30000" dirty="0" smtClean="0">
                    <a:solidFill>
                      <a:srgbClr val="008000"/>
                    </a:solidFill>
                    <a:latin typeface="Arial" pitchFamily="34" charset="0"/>
                    <a:cs typeface="Arial" pitchFamily="34" charset="0"/>
                  </a:rPr>
                  <a:t>o</a:t>
                </a:r>
                <a:r>
                  <a:rPr lang="vi-VN" sz="2800" dirty="0" smtClean="0">
                    <a:solidFill>
                      <a:srgbClr val="008000"/>
                    </a:solidFill>
                    <a:latin typeface="Arial" pitchFamily="34" charset="0"/>
                    <a:cs typeface="Arial" pitchFamily="34" charset="0"/>
                  </a:rPr>
                  <a:t> - </a:t>
                </a:r>
                <a14:m>
                  <m:oMath xmlns:m="http://schemas.openxmlformats.org/officeDocument/2006/math">
                    <m:f>
                      <m:fPr>
                        <m:ctrlPr>
                          <a:rPr lang="vi-VN" sz="2800" i="1" smtClean="0">
                            <a:solidFill>
                              <a:srgbClr val="008000"/>
                            </a:solidFill>
                            <a:latin typeface="Cambria Math"/>
                            <a:cs typeface="Arial" pitchFamily="34" charset="0"/>
                          </a:rPr>
                        </m:ctrlPr>
                      </m:fPr>
                      <m:num>
                        <m:r>
                          <a:rPr lang="vi-VN" sz="2800" b="0" i="1" smtClean="0">
                            <a:solidFill>
                              <a:srgbClr val="008000"/>
                            </a:solidFill>
                            <a:latin typeface="Cambria Math"/>
                            <a:cs typeface="Arial" pitchFamily="34" charset="0"/>
                          </a:rPr>
                          <m:t>0,059</m:t>
                        </m:r>
                      </m:num>
                      <m:den>
                        <m:r>
                          <a:rPr lang="vi-VN" sz="2800" b="1" i="0" smtClean="0">
                            <a:solidFill>
                              <a:srgbClr val="C00000"/>
                            </a:solidFill>
                            <a:latin typeface="Cambria Math"/>
                            <a:cs typeface="Arial" pitchFamily="34" charset="0"/>
                          </a:rPr>
                          <m:t>𝐧</m:t>
                        </m:r>
                      </m:den>
                    </m:f>
                  </m:oMath>
                </a14:m>
                <a:r>
                  <a:rPr lang="vi-VN" sz="2800" dirty="0" smtClean="0">
                    <a:solidFill>
                      <a:srgbClr val="008000"/>
                    </a:solidFill>
                    <a:latin typeface="Arial" pitchFamily="34" charset="0"/>
                    <a:cs typeface="Arial" pitchFamily="34" charset="0"/>
                  </a:rPr>
                  <a:t>lgQ</a:t>
                </a:r>
                <a:r>
                  <a:rPr lang="en-US" sz="2800" dirty="0" smtClean="0">
                    <a:solidFill>
                      <a:srgbClr val="008000"/>
                    </a:solidFill>
                    <a:latin typeface="Arial" pitchFamily="34" charset="0"/>
                    <a:cs typeface="Arial" pitchFamily="34" charset="0"/>
                  </a:rPr>
                  <a:t> </a:t>
                </a:r>
                <a:endParaRPr lang="en-US" sz="2800" dirty="0">
                  <a:solidFill>
                    <a:srgbClr val="008000"/>
                  </a:solidFill>
                  <a:latin typeface="Arial" pitchFamily="34" charset="0"/>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157798" y="4984283"/>
                <a:ext cx="6787819" cy="710066"/>
              </a:xfrm>
              <a:prstGeom prst="rect">
                <a:avLst/>
              </a:prstGeom>
              <a:blipFill rotWithShape="1">
                <a:blip r:embed="rId4"/>
                <a:stretch>
                  <a:fillRect l="-1797" b="-9483"/>
                </a:stretch>
              </a:blipFill>
            </p:spPr>
            <p:txBody>
              <a:bodyPr/>
              <a:lstStyle/>
              <a:p>
                <a:r>
                  <a:rPr lang="en-US">
                    <a:noFill/>
                  </a:rPr>
                  <a:t> </a:t>
                </a:r>
              </a:p>
            </p:txBody>
          </p:sp>
        </mc:Fallback>
      </mc:AlternateContent>
      <p:sp>
        <p:nvSpPr>
          <p:cNvPr id="10" name="TextBox 9"/>
          <p:cNvSpPr txBox="1"/>
          <p:nvPr/>
        </p:nvSpPr>
        <p:spPr>
          <a:xfrm>
            <a:off x="254363" y="5122630"/>
            <a:ext cx="3838277" cy="461665"/>
          </a:xfrm>
          <a:prstGeom prst="rect">
            <a:avLst/>
          </a:prstGeom>
          <a:noFill/>
        </p:spPr>
        <p:txBody>
          <a:bodyPr wrap="square" rtlCol="0">
            <a:spAutoFit/>
          </a:bodyPr>
          <a:lstStyle/>
          <a:p>
            <a:r>
              <a:rPr lang="en-US" sz="2400" b="1" dirty="0" err="1" smtClean="0">
                <a:solidFill>
                  <a:srgbClr val="008000"/>
                </a:solidFill>
                <a:latin typeface="Arial" pitchFamily="34" charset="0"/>
                <a:cs typeface="Arial" pitchFamily="34" charset="0"/>
              </a:rPr>
              <a:t>Khi</a:t>
            </a:r>
            <a:r>
              <a:rPr lang="en-US" sz="2400" b="1" dirty="0" smtClean="0">
                <a:solidFill>
                  <a:srgbClr val="008000"/>
                </a:solidFill>
                <a:latin typeface="Arial" pitchFamily="34" charset="0"/>
                <a:cs typeface="Arial" pitchFamily="34" charset="0"/>
              </a:rPr>
              <a:t> pin </a:t>
            </a:r>
            <a:r>
              <a:rPr lang="en-US" sz="2400" b="1" dirty="0" err="1" smtClean="0">
                <a:solidFill>
                  <a:srgbClr val="008000"/>
                </a:solidFill>
                <a:latin typeface="Arial" pitchFamily="34" charset="0"/>
                <a:cs typeface="Arial" pitchFamily="34" charset="0"/>
              </a:rPr>
              <a:t>hoạt</a:t>
            </a:r>
            <a:r>
              <a:rPr lang="en-US" sz="2400" b="1" dirty="0" smtClean="0">
                <a:solidFill>
                  <a:srgbClr val="008000"/>
                </a:solidFill>
                <a:latin typeface="Arial" pitchFamily="34" charset="0"/>
                <a:cs typeface="Arial" pitchFamily="34" charset="0"/>
              </a:rPr>
              <a:t> </a:t>
            </a:r>
            <a:r>
              <a:rPr lang="en-US" sz="2400" b="1" dirty="0" err="1" smtClean="0">
                <a:solidFill>
                  <a:srgbClr val="008000"/>
                </a:solidFill>
                <a:latin typeface="Arial" pitchFamily="34" charset="0"/>
                <a:cs typeface="Arial" pitchFamily="34" charset="0"/>
              </a:rPr>
              <a:t>động</a:t>
            </a:r>
            <a:r>
              <a:rPr lang="en-US" sz="2400" b="1" dirty="0" smtClean="0">
                <a:solidFill>
                  <a:srgbClr val="008000"/>
                </a:solidFill>
                <a:latin typeface="Arial" pitchFamily="34" charset="0"/>
                <a:cs typeface="Arial" pitchFamily="34" charset="0"/>
              </a:rPr>
              <a:t>:</a:t>
            </a:r>
            <a:endParaRPr lang="en-US" sz="2400" b="1" dirty="0">
              <a:solidFill>
                <a:srgbClr val="008000"/>
              </a:solidFill>
              <a:latin typeface="Arial" pitchFamily="34" charset="0"/>
              <a:cs typeface="Arial" pitchFamily="34" charset="0"/>
            </a:endParaRPr>
          </a:p>
        </p:txBody>
      </p:sp>
      <p:sp>
        <p:nvSpPr>
          <p:cNvPr id="21" name="TextBox 20"/>
          <p:cNvSpPr txBox="1"/>
          <p:nvPr/>
        </p:nvSpPr>
        <p:spPr>
          <a:xfrm>
            <a:off x="10170922" y="3395940"/>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35" name="TextBox 34"/>
          <p:cNvSpPr txBox="1"/>
          <p:nvPr/>
        </p:nvSpPr>
        <p:spPr>
          <a:xfrm>
            <a:off x="6740315" y="5051343"/>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36" name="TextBox 35"/>
          <p:cNvSpPr txBox="1"/>
          <p:nvPr/>
        </p:nvSpPr>
        <p:spPr>
          <a:xfrm>
            <a:off x="5127594" y="3398471"/>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37" name="TextBox 36"/>
          <p:cNvSpPr txBox="1"/>
          <p:nvPr/>
        </p:nvSpPr>
        <p:spPr>
          <a:xfrm>
            <a:off x="1807360" y="2765458"/>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38" name="TextBox 37"/>
          <p:cNvSpPr txBox="1"/>
          <p:nvPr/>
        </p:nvSpPr>
        <p:spPr>
          <a:xfrm>
            <a:off x="3494503" y="5029207"/>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39" name="TextBox 38"/>
          <p:cNvSpPr txBox="1"/>
          <p:nvPr/>
        </p:nvSpPr>
        <p:spPr>
          <a:xfrm>
            <a:off x="5905718" y="5062450"/>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0" name="TextBox 39"/>
          <p:cNvSpPr txBox="1"/>
          <p:nvPr/>
        </p:nvSpPr>
        <p:spPr>
          <a:xfrm>
            <a:off x="6848058" y="2765457"/>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1" name="TextBox 40"/>
          <p:cNvSpPr txBox="1"/>
          <p:nvPr/>
        </p:nvSpPr>
        <p:spPr>
          <a:xfrm>
            <a:off x="9903122" y="2610226"/>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2" name="TextBox 41"/>
          <p:cNvSpPr txBox="1"/>
          <p:nvPr/>
        </p:nvSpPr>
        <p:spPr>
          <a:xfrm>
            <a:off x="3274277" y="3351641"/>
            <a:ext cx="366143" cy="830997"/>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r>
              <a:rPr lang="vi-VN" sz="2400" b="1" dirty="0" smtClean="0">
                <a:solidFill>
                  <a:srgbClr val="FF0000"/>
                </a:solidFill>
                <a:latin typeface="Arial" pitchFamily="34" charset="0"/>
                <a:cs typeface="Arial" pitchFamily="34" charset="0"/>
                <a:sym typeface="Symbol"/>
              </a:rPr>
              <a:t> </a:t>
            </a:r>
            <a:endParaRPr lang="en-US" sz="2400" b="1" dirty="0">
              <a:solidFill>
                <a:srgbClr val="FF0000"/>
              </a:solidFill>
              <a:latin typeface="Arial" pitchFamily="34" charset="0"/>
              <a:cs typeface="Arial" pitchFamily="34" charset="0"/>
            </a:endParaRPr>
          </a:p>
        </p:txBody>
      </p:sp>
      <p:sp>
        <p:nvSpPr>
          <p:cNvPr id="43" name="TextBox 42"/>
          <p:cNvSpPr txBox="1"/>
          <p:nvPr/>
        </p:nvSpPr>
        <p:spPr>
          <a:xfrm>
            <a:off x="8769551" y="3364721"/>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4" name="TextBox 43"/>
          <p:cNvSpPr txBox="1"/>
          <p:nvPr/>
        </p:nvSpPr>
        <p:spPr>
          <a:xfrm>
            <a:off x="9903122" y="2974062"/>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5" name="TextBox 44"/>
          <p:cNvSpPr txBox="1"/>
          <p:nvPr/>
        </p:nvSpPr>
        <p:spPr>
          <a:xfrm>
            <a:off x="4829471" y="3022242"/>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6" name="TextBox 45"/>
          <p:cNvSpPr txBox="1"/>
          <p:nvPr/>
        </p:nvSpPr>
        <p:spPr>
          <a:xfrm>
            <a:off x="4829472" y="2633230"/>
            <a:ext cx="366143" cy="461665"/>
          </a:xfrm>
          <a:prstGeom prst="rect">
            <a:avLst/>
          </a:prstGeom>
          <a:noFill/>
        </p:spPr>
        <p:txBody>
          <a:bodyPr wrap="square" rtlCol="0">
            <a:spAutoFit/>
          </a:bodyPr>
          <a:lstStyle/>
          <a:p>
            <a:r>
              <a:rPr lang="en-US" sz="2400" b="1" dirty="0" smtClean="0">
                <a:solidFill>
                  <a:srgbClr val="FF0000"/>
                </a:solidFill>
                <a:latin typeface="Arial" pitchFamily="34" charset="0"/>
                <a:cs typeface="Arial" pitchFamily="34" charset="0"/>
                <a:sym typeface="Symbol"/>
              </a:rPr>
              <a:t></a:t>
            </a:r>
            <a:endParaRPr lang="en-US" sz="2400" b="1" dirty="0">
              <a:solidFill>
                <a:srgbClr val="FF0000"/>
              </a:solidFill>
              <a:latin typeface="Arial" pitchFamily="34" charset="0"/>
              <a:cs typeface="Arial" pitchFamily="34" charset="0"/>
            </a:endParaRPr>
          </a:p>
        </p:txBody>
      </p:sp>
      <p:sp>
        <p:nvSpPr>
          <p:cNvPr id="47" name="TextBox 46"/>
          <p:cNvSpPr txBox="1"/>
          <p:nvPr/>
        </p:nvSpPr>
        <p:spPr>
          <a:xfrm>
            <a:off x="254365" y="4091882"/>
            <a:ext cx="11733106" cy="1107996"/>
          </a:xfrm>
          <a:prstGeom prst="rect">
            <a:avLst/>
          </a:prstGeom>
          <a:noFill/>
        </p:spPr>
        <p:txBody>
          <a:bodyPr wrap="square" rtlCol="0">
            <a:spAutoFit/>
          </a:bodyPr>
          <a:lstStyle/>
          <a:p>
            <a:r>
              <a:rPr lang="vi-VN" sz="2400" dirty="0" smtClean="0"/>
              <a:t>PHẢN ỨNG OXHK:    a</a:t>
            </a:r>
            <a:r>
              <a:rPr lang="en-US" sz="2400" dirty="0" smtClean="0">
                <a:solidFill>
                  <a:srgbClr val="FF0000"/>
                </a:solidFill>
                <a:latin typeface="Arial" pitchFamily="34" charset="0"/>
                <a:cs typeface="Arial" pitchFamily="34" charset="0"/>
              </a:rPr>
              <a:t>OXH</a:t>
            </a:r>
            <a:r>
              <a:rPr lang="en-US" sz="2400" baseline="-25000" dirty="0" smtClean="0">
                <a:solidFill>
                  <a:srgbClr val="FF0000"/>
                </a:solidFill>
                <a:latin typeface="Arial" pitchFamily="34" charset="0"/>
                <a:cs typeface="Arial" pitchFamily="34" charset="0"/>
              </a:rPr>
              <a:t>1</a:t>
            </a:r>
            <a:r>
              <a:rPr lang="en-US" sz="2400" dirty="0" smtClean="0">
                <a:latin typeface="Arial" pitchFamily="34" charset="0"/>
                <a:cs typeface="Arial" pitchFamily="34" charset="0"/>
              </a:rPr>
              <a:t> </a:t>
            </a:r>
            <a:r>
              <a:rPr lang="vi-VN" sz="2400" dirty="0" smtClean="0">
                <a:latin typeface="Arial" pitchFamily="34" charset="0"/>
                <a:cs typeface="Arial" pitchFamily="34" charset="0"/>
              </a:rPr>
              <a:t> + b</a:t>
            </a:r>
            <a:r>
              <a:rPr lang="en-US" sz="2400" dirty="0" smtClean="0">
                <a:solidFill>
                  <a:srgbClr val="0000FF"/>
                </a:solidFill>
                <a:latin typeface="Arial" pitchFamily="34" charset="0"/>
                <a:cs typeface="Arial" pitchFamily="34" charset="0"/>
              </a:rPr>
              <a:t>KH</a:t>
            </a:r>
            <a:r>
              <a:rPr lang="en-US" sz="2400" baseline="-25000" dirty="0" smtClean="0">
                <a:solidFill>
                  <a:srgbClr val="0000FF"/>
                </a:solidFill>
                <a:latin typeface="Arial" pitchFamily="34" charset="0"/>
                <a:cs typeface="Arial" pitchFamily="34" charset="0"/>
              </a:rPr>
              <a:t>2</a:t>
            </a:r>
            <a:r>
              <a:rPr lang="en-US" sz="2400" dirty="0" smtClean="0">
                <a:solidFill>
                  <a:srgbClr val="0000FF"/>
                </a:solidFill>
                <a:latin typeface="Arial" pitchFamily="34" charset="0"/>
                <a:cs typeface="Arial" pitchFamily="34" charset="0"/>
              </a:rPr>
              <a:t>   </a:t>
            </a:r>
            <a:r>
              <a:rPr lang="vi-VN" sz="2400" dirty="0" smtClean="0">
                <a:solidFill>
                  <a:srgbClr val="0000FF"/>
                </a:solidFill>
                <a:latin typeface="Arial" pitchFamily="34" charset="0"/>
                <a:cs typeface="Arial" pitchFamily="34" charset="0"/>
              </a:rPr>
              <a:t> </a:t>
            </a:r>
            <a:r>
              <a:rPr lang="en-US" sz="2400" dirty="0" smtClean="0">
                <a:latin typeface="Arial" pitchFamily="34" charset="0"/>
                <a:cs typeface="Arial" pitchFamily="34" charset="0"/>
              </a:rPr>
              <a:t>⇄ </a:t>
            </a:r>
            <a:r>
              <a:rPr lang="vi-VN" sz="2400" dirty="0" smtClean="0">
                <a:latin typeface="Arial" pitchFamily="34" charset="0"/>
                <a:cs typeface="Arial" pitchFamily="34" charset="0"/>
              </a:rPr>
              <a:t>  c</a:t>
            </a:r>
            <a:r>
              <a:rPr lang="en-US" sz="2400" dirty="0" smtClean="0">
                <a:solidFill>
                  <a:srgbClr val="FF0000"/>
                </a:solidFill>
                <a:latin typeface="Arial" pitchFamily="34" charset="0"/>
                <a:cs typeface="Arial" pitchFamily="34" charset="0"/>
              </a:rPr>
              <a:t>OXH</a:t>
            </a:r>
            <a:r>
              <a:rPr lang="en-US" sz="2400" baseline="-25000" dirty="0" smtClean="0">
                <a:solidFill>
                  <a:srgbClr val="FF0000"/>
                </a:solidFill>
                <a:latin typeface="Arial" pitchFamily="34" charset="0"/>
                <a:cs typeface="Arial" pitchFamily="34" charset="0"/>
              </a:rPr>
              <a:t>2</a:t>
            </a:r>
            <a:r>
              <a:rPr lang="vi-VN" sz="2400" baseline="-25000" dirty="0" smtClean="0">
                <a:solidFill>
                  <a:srgbClr val="FF0000"/>
                </a:solidFill>
                <a:latin typeface="Arial" pitchFamily="34" charset="0"/>
                <a:cs typeface="Arial" pitchFamily="34" charset="0"/>
              </a:rPr>
              <a:t> </a:t>
            </a:r>
            <a:r>
              <a:rPr lang="vi-VN" sz="2400" dirty="0" smtClean="0">
                <a:solidFill>
                  <a:srgbClr val="FF0000"/>
                </a:solidFill>
                <a:latin typeface="Arial" pitchFamily="34" charset="0"/>
                <a:cs typeface="Arial" pitchFamily="34" charset="0"/>
              </a:rPr>
              <a:t>+  </a:t>
            </a:r>
            <a:r>
              <a:rPr lang="vi-VN" sz="2400" dirty="0" smtClean="0">
                <a:latin typeface="Arial" pitchFamily="34" charset="0"/>
                <a:cs typeface="Arial" pitchFamily="34" charset="0"/>
              </a:rPr>
              <a:t>d</a:t>
            </a:r>
            <a:r>
              <a:rPr lang="en-US" sz="2400" dirty="0" smtClean="0">
                <a:solidFill>
                  <a:srgbClr val="0000FF"/>
                </a:solidFill>
                <a:latin typeface="Arial" pitchFamily="34" charset="0"/>
                <a:cs typeface="Arial" pitchFamily="34" charset="0"/>
              </a:rPr>
              <a:t>KH</a:t>
            </a:r>
            <a:r>
              <a:rPr lang="en-US" sz="2400" baseline="-25000" dirty="0" smtClean="0">
                <a:solidFill>
                  <a:srgbClr val="0000FF"/>
                </a:solidFill>
                <a:latin typeface="Arial" pitchFamily="34" charset="0"/>
                <a:cs typeface="Arial" pitchFamily="34" charset="0"/>
              </a:rPr>
              <a:t>1</a:t>
            </a:r>
            <a:r>
              <a:rPr lang="vi-VN" sz="2400" dirty="0" smtClean="0">
                <a:solidFill>
                  <a:srgbClr val="0000FF"/>
                </a:solidFill>
                <a:latin typeface="Arial" pitchFamily="34" charset="0"/>
                <a:cs typeface="Arial" pitchFamily="34" charset="0"/>
              </a:rPr>
              <a:t> ; </a:t>
            </a:r>
            <a:endParaRPr lang="en-US" sz="2400" b="1" dirty="0">
              <a:solidFill>
                <a:srgbClr val="FF00FF"/>
              </a:solidFill>
              <a:latin typeface="Arial" pitchFamily="34" charset="0"/>
              <a:cs typeface="Arial" pitchFamily="34" charset="0"/>
            </a:endParaRPr>
          </a:p>
          <a:p>
            <a:r>
              <a:rPr lang="en-US" sz="2400" b="1" dirty="0" smtClean="0">
                <a:solidFill>
                  <a:srgbClr val="FF00FF"/>
                </a:solidFill>
                <a:latin typeface="Arial" pitchFamily="34" charset="0"/>
                <a:cs typeface="Arial" pitchFamily="34" charset="0"/>
              </a:rPr>
              <a:t> </a:t>
            </a:r>
            <a:endParaRPr lang="en-US" sz="2400" b="1" dirty="0">
              <a:solidFill>
                <a:srgbClr val="FF00FF"/>
              </a:solidFill>
              <a:latin typeface="Arial" pitchFamily="34" charset="0"/>
              <a:cs typeface="Arial" pitchFamily="34" charset="0"/>
            </a:endParaRPr>
          </a:p>
          <a:p>
            <a:r>
              <a:rPr lang="vi-VN" dirty="0" smtClean="0"/>
              <a:t> </a:t>
            </a:r>
            <a:endParaRPr lang="en-US" dirty="0"/>
          </a:p>
        </p:txBody>
      </p:sp>
      <p:sp>
        <p:nvSpPr>
          <p:cNvPr id="48" name="Curved Down Arrow 47"/>
          <p:cNvSpPr/>
          <p:nvPr/>
        </p:nvSpPr>
        <p:spPr>
          <a:xfrm>
            <a:off x="3833508" y="3826386"/>
            <a:ext cx="4119142" cy="34999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vi-VN" sz="1100">
                <a:effectLst/>
                <a:ea typeface="Calibri"/>
                <a:cs typeface="Times New Roman"/>
              </a:rPr>
              <a:t>C</a:t>
            </a:r>
            <a:endParaRPr lang="en-US" sz="1100">
              <a:effectLst/>
              <a:ea typeface="Calibri"/>
              <a:cs typeface="Times New Roman"/>
            </a:endParaRPr>
          </a:p>
        </p:txBody>
      </p:sp>
      <p:sp>
        <p:nvSpPr>
          <p:cNvPr id="49" name="TextBox 48"/>
          <p:cNvSpPr txBox="1"/>
          <p:nvPr/>
        </p:nvSpPr>
        <p:spPr>
          <a:xfrm>
            <a:off x="4953218" y="3770548"/>
            <a:ext cx="1905000" cy="461665"/>
          </a:xfrm>
          <a:prstGeom prst="rect">
            <a:avLst/>
          </a:prstGeom>
          <a:noFill/>
        </p:spPr>
        <p:txBody>
          <a:bodyPr wrap="square" rtlCol="0">
            <a:spAutoFit/>
          </a:bodyPr>
          <a:lstStyle/>
          <a:p>
            <a:r>
              <a:rPr lang="en-US" sz="2400" dirty="0" smtClean="0">
                <a:solidFill>
                  <a:srgbClr val="C00000"/>
                </a:solidFill>
                <a:latin typeface="Arial" pitchFamily="34" charset="0"/>
                <a:cs typeface="Arial" pitchFamily="34" charset="0"/>
              </a:rPr>
              <a:t>+</a:t>
            </a:r>
            <a:r>
              <a:rPr lang="vi-VN" sz="2400" dirty="0" smtClean="0">
                <a:solidFill>
                  <a:srgbClr val="C00000"/>
                </a:solidFill>
                <a:latin typeface="Arial" pitchFamily="34" charset="0"/>
                <a:cs typeface="Arial" pitchFamily="34" charset="0"/>
              </a:rPr>
              <a:t>ne</a:t>
            </a:r>
            <a:r>
              <a:rPr lang="en-US" sz="2400" dirty="0" smtClean="0">
                <a:solidFill>
                  <a:srgbClr val="C00000"/>
                </a:solidFill>
                <a:latin typeface="Arial" pitchFamily="34" charset="0"/>
                <a:cs typeface="Arial" pitchFamily="34" charset="0"/>
              </a:rPr>
              <a:t> </a:t>
            </a:r>
            <a:r>
              <a:rPr lang="en-US" sz="2400" dirty="0" smtClean="0">
                <a:solidFill>
                  <a:srgbClr val="C00000"/>
                </a:solidFill>
                <a:latin typeface="Arial" pitchFamily="34" charset="0"/>
                <a:cs typeface="Arial" pitchFamily="34" charset="0"/>
                <a:sym typeface="Symbol"/>
              </a:rPr>
              <a:t>(+)</a:t>
            </a:r>
            <a:endParaRPr lang="en-US" sz="2400" dirty="0">
              <a:solidFill>
                <a:srgbClr val="C00000"/>
              </a:solidFill>
              <a:latin typeface="Arial" pitchFamily="34" charset="0"/>
              <a:cs typeface="Arial" pitchFamily="34" charset="0"/>
            </a:endParaRPr>
          </a:p>
        </p:txBody>
      </p:sp>
      <p:sp>
        <p:nvSpPr>
          <p:cNvPr id="50" name="Curved Up Arrow 49"/>
          <p:cNvSpPr/>
          <p:nvPr/>
        </p:nvSpPr>
        <p:spPr>
          <a:xfrm>
            <a:off x="5019673" y="4436424"/>
            <a:ext cx="2058998" cy="41891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TextBox 50"/>
          <p:cNvSpPr txBox="1"/>
          <p:nvPr/>
        </p:nvSpPr>
        <p:spPr>
          <a:xfrm>
            <a:off x="5377918" y="4449747"/>
            <a:ext cx="1512408" cy="830997"/>
          </a:xfrm>
          <a:prstGeom prst="rect">
            <a:avLst/>
          </a:prstGeom>
          <a:noFill/>
        </p:spPr>
        <p:txBody>
          <a:bodyPr wrap="square" rtlCol="0">
            <a:spAutoFit/>
          </a:bodyPr>
          <a:lstStyle/>
          <a:p>
            <a:r>
              <a:rPr lang="en-US" sz="2400" dirty="0" smtClean="0">
                <a:solidFill>
                  <a:srgbClr val="C00000"/>
                </a:solidFill>
                <a:latin typeface="Arial" pitchFamily="34" charset="0"/>
                <a:cs typeface="Arial" pitchFamily="34" charset="0"/>
              </a:rPr>
              <a:t>-</a:t>
            </a:r>
            <a:r>
              <a:rPr lang="vi-VN" sz="2400" dirty="0">
                <a:solidFill>
                  <a:srgbClr val="C00000"/>
                </a:solidFill>
                <a:latin typeface="Arial" pitchFamily="34" charset="0"/>
                <a:cs typeface="Arial" pitchFamily="34" charset="0"/>
              </a:rPr>
              <a:t>n</a:t>
            </a:r>
            <a:r>
              <a:rPr lang="en-US" sz="2400" dirty="0" smtClean="0">
                <a:solidFill>
                  <a:srgbClr val="C00000"/>
                </a:solidFill>
                <a:latin typeface="Arial" pitchFamily="34" charset="0"/>
                <a:cs typeface="Arial" pitchFamily="34" charset="0"/>
              </a:rPr>
              <a:t>e </a:t>
            </a:r>
            <a:r>
              <a:rPr lang="en-US" sz="2400" b="1" dirty="0">
                <a:solidFill>
                  <a:srgbClr val="C00000"/>
                </a:solidFill>
                <a:latin typeface="Arial" pitchFamily="34" charset="0"/>
                <a:cs typeface="Arial" pitchFamily="34" charset="0"/>
                <a:sym typeface="Symbol"/>
              </a:rPr>
              <a:t></a:t>
            </a:r>
            <a:r>
              <a:rPr lang="en-US" sz="2400" b="1" dirty="0" smtClean="0">
                <a:solidFill>
                  <a:srgbClr val="C00000"/>
                </a:solidFill>
                <a:latin typeface="Arial" pitchFamily="34" charset="0"/>
                <a:cs typeface="Arial" pitchFamily="34" charset="0"/>
                <a:sym typeface="Symbol"/>
              </a:rPr>
              <a:t>(-)</a:t>
            </a:r>
            <a:endParaRPr lang="en-US" sz="2400" b="1" dirty="0">
              <a:solidFill>
                <a:srgbClr val="C00000"/>
              </a:solidFill>
              <a:latin typeface="Arial" pitchFamily="34" charset="0"/>
              <a:cs typeface="Arial" pitchFamily="34" charset="0"/>
            </a:endParaRPr>
          </a:p>
          <a:p>
            <a:r>
              <a:rPr lang="en-US" sz="2400" dirty="0" smtClean="0">
                <a:latin typeface="Arial" pitchFamily="34" charset="0"/>
                <a:cs typeface="Arial" pitchFamily="34" charset="0"/>
              </a:rPr>
              <a:t> </a:t>
            </a:r>
            <a:endParaRPr lang="en-US" sz="24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52" name="TextBox 51"/>
              <p:cNvSpPr txBox="1"/>
              <p:nvPr/>
            </p:nvSpPr>
            <p:spPr>
              <a:xfrm>
                <a:off x="199200" y="5677854"/>
                <a:ext cx="11843435" cy="797206"/>
              </a:xfrm>
              <a:prstGeom prst="rect">
                <a:avLst/>
              </a:prstGeom>
              <a:noFill/>
            </p:spPr>
            <p:txBody>
              <a:bodyPr wrap="square" rtlCol="0">
                <a:spAutoFit/>
              </a:bodyPr>
              <a:lstStyle/>
              <a:p>
                <a:r>
                  <a:rPr lang="vi-VN" sz="2800" dirty="0" smtClean="0">
                    <a:solidFill>
                      <a:srgbClr val="CC00FF"/>
                    </a:solidFill>
                  </a:rPr>
                  <a:t>Khi pư đạt cân bằng: E = 0 </a:t>
                </a:r>
                <a:r>
                  <a:rPr lang="vi-VN" sz="2800" dirty="0" smtClean="0">
                    <a:solidFill>
                      <a:srgbClr val="CC00FF"/>
                    </a:solidFill>
                    <a:sym typeface="Symbol"/>
                  </a:rPr>
                  <a:t> Hằng số cân bằng ở 25</a:t>
                </a:r>
                <a:r>
                  <a:rPr lang="vi-VN" sz="2800" baseline="30000" dirty="0" smtClean="0">
                    <a:solidFill>
                      <a:srgbClr val="CC00FF"/>
                    </a:solidFill>
                    <a:sym typeface="Symbol"/>
                  </a:rPr>
                  <a:t>0</a:t>
                </a:r>
                <a:r>
                  <a:rPr lang="vi-VN" sz="2800" dirty="0" smtClean="0">
                    <a:solidFill>
                      <a:srgbClr val="CC00FF"/>
                    </a:solidFill>
                    <a:sym typeface="Symbol"/>
                  </a:rPr>
                  <a:t>C: </a:t>
                </a:r>
                <a:r>
                  <a:rPr lang="en-US" sz="2800" dirty="0">
                    <a:solidFill>
                      <a:srgbClr val="CC00FF"/>
                    </a:solidFill>
                    <a:latin typeface="Arial" pitchFamily="34" charset="0"/>
                    <a:cs typeface="Arial" pitchFamily="34" charset="0"/>
                  </a:rPr>
                  <a:t>lgK = </a:t>
                </a:r>
                <a14:m>
                  <m:oMath xmlns:m="http://schemas.openxmlformats.org/officeDocument/2006/math">
                    <m:f>
                      <m:fPr>
                        <m:ctrlPr>
                          <a:rPr lang="en-US" sz="2800" i="1">
                            <a:solidFill>
                              <a:srgbClr val="CC00FF"/>
                            </a:solidFill>
                            <a:latin typeface="Cambria Math"/>
                          </a:rPr>
                        </m:ctrlPr>
                      </m:fPr>
                      <m:num>
                        <m:sSup>
                          <m:sSupPr>
                            <m:ctrlPr>
                              <a:rPr lang="en-US" sz="2800" i="1">
                                <a:solidFill>
                                  <a:srgbClr val="CC00FF"/>
                                </a:solidFill>
                                <a:latin typeface="Cambria Math"/>
                              </a:rPr>
                            </m:ctrlPr>
                          </m:sSupPr>
                          <m:e>
                            <m:r>
                              <a:rPr lang="en-US" sz="2800" i="1">
                                <a:solidFill>
                                  <a:srgbClr val="CC00FF"/>
                                </a:solidFill>
                                <a:latin typeface="Cambria Math"/>
                              </a:rPr>
                              <m:t>𝑛𝐸</m:t>
                            </m:r>
                          </m:e>
                          <m:sup>
                            <m:r>
                              <a:rPr lang="en-US" sz="2800" i="1">
                                <a:solidFill>
                                  <a:srgbClr val="CC00FF"/>
                                </a:solidFill>
                                <a:latin typeface="Cambria Math"/>
                              </a:rPr>
                              <m:t>0</m:t>
                            </m:r>
                          </m:sup>
                        </m:sSup>
                      </m:num>
                      <m:den>
                        <m:r>
                          <a:rPr lang="en-US" sz="2800" i="1">
                            <a:solidFill>
                              <a:srgbClr val="CC00FF"/>
                            </a:solidFill>
                            <a:latin typeface="Cambria Math"/>
                          </a:rPr>
                          <m:t>0,059</m:t>
                        </m:r>
                      </m:den>
                    </m:f>
                  </m:oMath>
                </a14:m>
                <a:r>
                  <a:rPr lang="vi-VN" sz="2800" dirty="0" smtClean="0">
                    <a:solidFill>
                      <a:srgbClr val="CC00FF"/>
                    </a:solidFill>
                    <a:sym typeface="Symbol"/>
                  </a:rPr>
                  <a:t> </a:t>
                </a:r>
                <a:endParaRPr lang="en-US" sz="2800" dirty="0">
                  <a:solidFill>
                    <a:srgbClr val="CC00FF"/>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199200" y="5677854"/>
                <a:ext cx="11843435" cy="797206"/>
              </a:xfrm>
              <a:prstGeom prst="rect">
                <a:avLst/>
              </a:prstGeom>
              <a:blipFill rotWithShape="1">
                <a:blip r:embed="rId5"/>
                <a:stretch>
                  <a:fillRect l="-1081" b="-3053"/>
                </a:stretch>
              </a:blipFill>
            </p:spPr>
            <p:txBody>
              <a:bodyPr/>
              <a:lstStyle/>
              <a:p>
                <a:r>
                  <a:rPr lang="en-US">
                    <a:noFill/>
                  </a:rPr>
                  <a:t> </a:t>
                </a:r>
              </a:p>
            </p:txBody>
          </p:sp>
        </mc:Fallback>
      </mc:AlternateContent>
      <p:sp>
        <p:nvSpPr>
          <p:cNvPr id="53" name="TextBox 52"/>
          <p:cNvSpPr txBox="1"/>
          <p:nvPr/>
        </p:nvSpPr>
        <p:spPr>
          <a:xfrm>
            <a:off x="8518151" y="4160135"/>
            <a:ext cx="3502227" cy="461665"/>
          </a:xfrm>
          <a:prstGeom prst="rect">
            <a:avLst/>
          </a:prstGeom>
          <a:noFill/>
        </p:spPr>
        <p:txBody>
          <a:bodyPr wrap="square" rtlCol="0">
            <a:spAutoFit/>
          </a:bodyPr>
          <a:lstStyle/>
          <a:p>
            <a:r>
              <a:rPr lang="en-US" sz="2400" b="1" dirty="0">
                <a:solidFill>
                  <a:srgbClr val="FF00FF"/>
                </a:solidFill>
                <a:latin typeface="Arial" pitchFamily="34" charset="0"/>
                <a:cs typeface="Arial" pitchFamily="34" charset="0"/>
              </a:rPr>
              <a:t>E</a:t>
            </a:r>
            <a:r>
              <a:rPr lang="vi-VN" sz="2400" b="1" baseline="30000" dirty="0">
                <a:solidFill>
                  <a:srgbClr val="FF00FF"/>
                </a:solidFill>
                <a:latin typeface="Arial" pitchFamily="34" charset="0"/>
                <a:cs typeface="Arial" pitchFamily="34" charset="0"/>
              </a:rPr>
              <a:t>0</a:t>
            </a:r>
            <a:r>
              <a:rPr lang="en-US" sz="2400" b="1" dirty="0">
                <a:solidFill>
                  <a:srgbClr val="FF00FF"/>
                </a:solidFill>
                <a:latin typeface="Arial" pitchFamily="34" charset="0"/>
                <a:cs typeface="Arial" pitchFamily="34" charset="0"/>
              </a:rPr>
              <a:t> = φ</a:t>
            </a:r>
            <a:r>
              <a:rPr lang="vi-VN" sz="2400" b="1" baseline="30000" dirty="0">
                <a:solidFill>
                  <a:srgbClr val="FF00FF"/>
                </a:solidFill>
                <a:latin typeface="Arial" pitchFamily="34" charset="0"/>
                <a:cs typeface="Arial" pitchFamily="34" charset="0"/>
              </a:rPr>
              <a:t>0</a:t>
            </a:r>
            <a:r>
              <a:rPr lang="en-US" sz="2400" b="1" baseline="-25000" dirty="0">
                <a:solidFill>
                  <a:srgbClr val="FF00FF"/>
                </a:solidFill>
                <a:latin typeface="Arial" pitchFamily="34" charset="0"/>
                <a:cs typeface="Arial" pitchFamily="34" charset="0"/>
              </a:rPr>
              <a:t>+</a:t>
            </a:r>
            <a:r>
              <a:rPr lang="en-US" sz="2400" b="1" dirty="0">
                <a:solidFill>
                  <a:srgbClr val="FF00FF"/>
                </a:solidFill>
                <a:latin typeface="Arial" pitchFamily="34" charset="0"/>
                <a:cs typeface="Arial" pitchFamily="34" charset="0"/>
              </a:rPr>
              <a:t>- φ</a:t>
            </a:r>
            <a:r>
              <a:rPr lang="vi-VN" sz="2400" b="1" baseline="30000" dirty="0">
                <a:solidFill>
                  <a:srgbClr val="FF00FF"/>
                </a:solidFill>
                <a:latin typeface="Arial" pitchFamily="34" charset="0"/>
                <a:cs typeface="Arial" pitchFamily="34" charset="0"/>
              </a:rPr>
              <a:t>0</a:t>
            </a:r>
            <a:r>
              <a:rPr lang="en-US" sz="2400" b="1" baseline="-25000" dirty="0">
                <a:solidFill>
                  <a:srgbClr val="FF00FF"/>
                </a:solidFill>
                <a:latin typeface="Arial" pitchFamily="34" charset="0"/>
                <a:cs typeface="Arial" pitchFamily="34" charset="0"/>
              </a:rPr>
              <a:t>-</a:t>
            </a:r>
            <a:r>
              <a:rPr lang="vi-VN" sz="2400" b="1" baseline="-25000" dirty="0">
                <a:solidFill>
                  <a:srgbClr val="FF00FF"/>
                </a:solidFill>
                <a:latin typeface="Arial" pitchFamily="34" charset="0"/>
                <a:cs typeface="Arial" pitchFamily="34" charset="0"/>
              </a:rPr>
              <a:t> </a:t>
            </a:r>
            <a:r>
              <a:rPr lang="en-US" sz="2400" b="1" dirty="0">
                <a:solidFill>
                  <a:srgbClr val="FF00FF"/>
                </a:solidFill>
                <a:latin typeface="Arial" pitchFamily="34" charset="0"/>
                <a:cs typeface="Arial" pitchFamily="34" charset="0"/>
              </a:rPr>
              <a:t>= φ</a:t>
            </a:r>
            <a:r>
              <a:rPr lang="vi-VN" sz="2400" b="1" baseline="30000" dirty="0">
                <a:solidFill>
                  <a:srgbClr val="FF00FF"/>
                </a:solidFill>
                <a:latin typeface="Arial" pitchFamily="34" charset="0"/>
                <a:cs typeface="Arial" pitchFamily="34" charset="0"/>
              </a:rPr>
              <a:t>0</a:t>
            </a:r>
            <a:r>
              <a:rPr lang="en-US" sz="2400" b="1" baseline="-25000" dirty="0">
                <a:solidFill>
                  <a:srgbClr val="FF00FF"/>
                </a:solidFill>
                <a:latin typeface="Arial" pitchFamily="34" charset="0"/>
                <a:cs typeface="Arial" pitchFamily="34" charset="0"/>
              </a:rPr>
              <a:t>1 </a:t>
            </a:r>
            <a:r>
              <a:rPr lang="en-US" sz="2400" b="1" dirty="0">
                <a:solidFill>
                  <a:srgbClr val="FF00FF"/>
                </a:solidFill>
                <a:latin typeface="Arial" pitchFamily="34" charset="0"/>
                <a:cs typeface="Arial" pitchFamily="34" charset="0"/>
              </a:rPr>
              <a:t> - φ</a:t>
            </a:r>
            <a:r>
              <a:rPr lang="vi-VN" sz="2400" b="1" baseline="30000" dirty="0">
                <a:solidFill>
                  <a:srgbClr val="FF00FF"/>
                </a:solidFill>
                <a:latin typeface="Arial" pitchFamily="34" charset="0"/>
                <a:cs typeface="Arial" pitchFamily="34" charset="0"/>
              </a:rPr>
              <a:t>0</a:t>
            </a:r>
            <a:r>
              <a:rPr lang="en-US" sz="2400" b="1" baseline="-25000" dirty="0">
                <a:solidFill>
                  <a:srgbClr val="FF00FF"/>
                </a:solidFill>
                <a:latin typeface="Arial" pitchFamily="34" charset="0"/>
                <a:cs typeface="Arial" pitchFamily="34" charset="0"/>
              </a:rPr>
              <a:t>2</a:t>
            </a:r>
            <a:endParaRPr lang="en-US" sz="2400" dirty="0"/>
          </a:p>
        </p:txBody>
      </p:sp>
      <mc:AlternateContent xmlns:mc="http://schemas.openxmlformats.org/markup-compatibility/2006" xmlns:a14="http://schemas.microsoft.com/office/drawing/2010/main">
        <mc:Choice Requires="a14">
          <p:sp>
            <p:nvSpPr>
              <p:cNvPr id="54" name="TextBox 53"/>
              <p:cNvSpPr txBox="1"/>
              <p:nvPr/>
            </p:nvSpPr>
            <p:spPr>
              <a:xfrm>
                <a:off x="9172573" y="4946969"/>
                <a:ext cx="2847805" cy="735073"/>
              </a:xfrm>
              <a:prstGeom prst="rect">
                <a:avLst/>
              </a:prstGeom>
              <a:noFill/>
            </p:spPr>
            <p:txBody>
              <a:bodyPr wrap="square" rtlCol="0">
                <a:spAutoFit/>
              </a:bodyPr>
              <a:lstStyle/>
              <a:p>
                <a:r>
                  <a:rPr lang="vi-VN" sz="2400" dirty="0" smtClean="0"/>
                  <a:t>; Q =( </a:t>
                </a:r>
                <a14:m>
                  <m:oMath xmlns:m="http://schemas.openxmlformats.org/officeDocument/2006/math">
                    <m:f>
                      <m:fPr>
                        <m:ctrlPr>
                          <a:rPr lang="vi-VN" sz="2400" i="1" smtClean="0">
                            <a:latin typeface="Cambria Math"/>
                          </a:rPr>
                        </m:ctrlPr>
                      </m:fPr>
                      <m:num>
                        <m:sSub>
                          <m:sSubPr>
                            <m:ctrlPr>
                              <a:rPr lang="vi-VN" sz="2400" i="1" smtClean="0">
                                <a:solidFill>
                                  <a:srgbClr val="FF0000"/>
                                </a:solidFill>
                                <a:latin typeface="Cambria Math"/>
                              </a:rPr>
                            </m:ctrlPr>
                          </m:sSubPr>
                          <m:e>
                            <m:r>
                              <a:rPr lang="vi-VN" sz="2400" b="0" i="1" smtClean="0">
                                <a:solidFill>
                                  <a:srgbClr val="FF0000"/>
                                </a:solidFill>
                                <a:latin typeface="Cambria Math"/>
                              </a:rPr>
                              <m:t>[</m:t>
                            </m:r>
                            <m:r>
                              <a:rPr lang="vi-VN" sz="2400" b="0" i="1" smtClean="0">
                                <a:solidFill>
                                  <a:srgbClr val="FF0000"/>
                                </a:solidFill>
                                <a:latin typeface="Cambria Math"/>
                              </a:rPr>
                              <m:t>𝑂𝑋𝐻</m:t>
                            </m:r>
                          </m:e>
                          <m:sub>
                            <m:r>
                              <a:rPr lang="vi-VN" sz="2400" b="0" i="1" smtClean="0">
                                <a:solidFill>
                                  <a:srgbClr val="FF0000"/>
                                </a:solidFill>
                                <a:latin typeface="Cambria Math"/>
                              </a:rPr>
                              <m:t>2</m:t>
                            </m:r>
                          </m:sub>
                        </m:sSub>
                        <m:sSup>
                          <m:sSupPr>
                            <m:ctrlPr>
                              <a:rPr lang="vi-VN" sz="2400" i="1" smtClean="0">
                                <a:latin typeface="Cambria Math"/>
                              </a:rPr>
                            </m:ctrlPr>
                          </m:sSupPr>
                          <m:e>
                            <m:r>
                              <a:rPr lang="vi-VN" sz="2400" b="0" i="1" smtClean="0">
                                <a:latin typeface="Cambria Math"/>
                              </a:rPr>
                              <m:t>]</m:t>
                            </m:r>
                          </m:e>
                          <m:sup>
                            <m:r>
                              <a:rPr lang="vi-VN" sz="2400" b="0" i="1" smtClean="0">
                                <a:latin typeface="Cambria Math"/>
                              </a:rPr>
                              <m:t>𝑐</m:t>
                            </m:r>
                          </m:sup>
                        </m:sSup>
                        <m:sSub>
                          <m:sSubPr>
                            <m:ctrlPr>
                              <a:rPr lang="vi-VN" sz="2400" i="1" smtClean="0">
                                <a:solidFill>
                                  <a:srgbClr val="0000FF"/>
                                </a:solidFill>
                                <a:latin typeface="Cambria Math"/>
                              </a:rPr>
                            </m:ctrlPr>
                          </m:sSubPr>
                          <m:e>
                            <m:r>
                              <a:rPr lang="vi-VN" sz="2400" b="0" i="1" smtClean="0">
                                <a:solidFill>
                                  <a:srgbClr val="0000FF"/>
                                </a:solidFill>
                                <a:latin typeface="Cambria Math"/>
                              </a:rPr>
                              <m:t>[</m:t>
                            </m:r>
                            <m:r>
                              <a:rPr lang="vi-VN" sz="2400" b="0" i="1" smtClean="0">
                                <a:solidFill>
                                  <a:srgbClr val="0000FF"/>
                                </a:solidFill>
                                <a:latin typeface="Cambria Math"/>
                              </a:rPr>
                              <m:t>𝐾𝐻</m:t>
                            </m:r>
                          </m:e>
                          <m:sub>
                            <m:r>
                              <a:rPr lang="vi-VN" sz="2400" b="0" i="1" smtClean="0">
                                <a:solidFill>
                                  <a:srgbClr val="0000FF"/>
                                </a:solidFill>
                                <a:latin typeface="Cambria Math"/>
                              </a:rPr>
                              <m:t>1</m:t>
                            </m:r>
                          </m:sub>
                        </m:sSub>
                        <m:sSup>
                          <m:sSupPr>
                            <m:ctrlPr>
                              <a:rPr lang="vi-VN" sz="2400" i="1" smtClean="0">
                                <a:latin typeface="Cambria Math"/>
                              </a:rPr>
                            </m:ctrlPr>
                          </m:sSupPr>
                          <m:e>
                            <m:r>
                              <a:rPr lang="vi-VN" sz="2400" b="0" i="1" smtClean="0">
                                <a:latin typeface="Cambria Math"/>
                              </a:rPr>
                              <m:t>]</m:t>
                            </m:r>
                          </m:e>
                          <m:sup>
                            <m:r>
                              <a:rPr lang="vi-VN" sz="2400" b="0" i="1" smtClean="0">
                                <a:latin typeface="Cambria Math"/>
                              </a:rPr>
                              <m:t>𝑑</m:t>
                            </m:r>
                          </m:sup>
                        </m:sSup>
                      </m:num>
                      <m:den>
                        <m:sSub>
                          <m:sSubPr>
                            <m:ctrlPr>
                              <a:rPr lang="vi-VN" sz="2400" i="1" smtClean="0">
                                <a:latin typeface="Cambria Math"/>
                              </a:rPr>
                            </m:ctrlPr>
                          </m:sSubPr>
                          <m:e>
                            <m:r>
                              <a:rPr lang="vi-VN" sz="2400" b="0" i="1" smtClean="0">
                                <a:latin typeface="Cambria Math"/>
                              </a:rPr>
                              <m:t>[</m:t>
                            </m:r>
                            <m:r>
                              <a:rPr lang="vi-VN" sz="2400" b="0" i="1" smtClean="0">
                                <a:solidFill>
                                  <a:srgbClr val="FF0000"/>
                                </a:solidFill>
                                <a:latin typeface="Cambria Math"/>
                              </a:rPr>
                              <m:t>𝑂𝑋𝐻</m:t>
                            </m:r>
                          </m:e>
                          <m:sub>
                            <m:r>
                              <a:rPr lang="vi-VN" sz="2400" b="0" i="1" smtClean="0">
                                <a:solidFill>
                                  <a:srgbClr val="FF0000"/>
                                </a:solidFill>
                                <a:latin typeface="Cambria Math"/>
                              </a:rPr>
                              <m:t>1</m:t>
                            </m:r>
                          </m:sub>
                        </m:sSub>
                        <m:sSup>
                          <m:sSupPr>
                            <m:ctrlPr>
                              <a:rPr lang="vi-VN" sz="2400" i="1" smtClean="0">
                                <a:latin typeface="Cambria Math"/>
                              </a:rPr>
                            </m:ctrlPr>
                          </m:sSupPr>
                          <m:e>
                            <m:r>
                              <a:rPr lang="vi-VN" sz="2400" b="0" i="1" smtClean="0">
                                <a:latin typeface="Cambria Math"/>
                              </a:rPr>
                              <m:t>]</m:t>
                            </m:r>
                          </m:e>
                          <m:sup>
                            <m:r>
                              <a:rPr lang="vi-VN" sz="2400" b="0" i="1" smtClean="0">
                                <a:latin typeface="Cambria Math"/>
                              </a:rPr>
                              <m:t>𝑎</m:t>
                            </m:r>
                          </m:sup>
                        </m:sSup>
                        <m:sSub>
                          <m:sSubPr>
                            <m:ctrlPr>
                              <a:rPr lang="vi-VN" sz="2400" i="1" smtClean="0">
                                <a:latin typeface="Cambria Math"/>
                              </a:rPr>
                            </m:ctrlPr>
                          </m:sSubPr>
                          <m:e>
                            <m:r>
                              <a:rPr lang="vi-VN" sz="2400" b="0" i="1" smtClean="0">
                                <a:latin typeface="Cambria Math"/>
                              </a:rPr>
                              <m:t>[</m:t>
                            </m:r>
                            <m:r>
                              <a:rPr lang="vi-VN" sz="2400" b="0" i="1" smtClean="0">
                                <a:solidFill>
                                  <a:srgbClr val="0000FF"/>
                                </a:solidFill>
                                <a:latin typeface="Cambria Math"/>
                              </a:rPr>
                              <m:t>𝐾𝐻</m:t>
                            </m:r>
                          </m:e>
                          <m:sub>
                            <m:r>
                              <a:rPr lang="vi-VN" sz="2400" b="0" i="1" smtClean="0">
                                <a:solidFill>
                                  <a:srgbClr val="0000FF"/>
                                </a:solidFill>
                                <a:latin typeface="Cambria Math"/>
                              </a:rPr>
                              <m:t>2</m:t>
                            </m:r>
                          </m:sub>
                        </m:sSub>
                        <m:sSup>
                          <m:sSupPr>
                            <m:ctrlPr>
                              <a:rPr lang="vi-VN" sz="2400" i="1" smtClean="0">
                                <a:latin typeface="Cambria Math"/>
                              </a:rPr>
                            </m:ctrlPr>
                          </m:sSupPr>
                          <m:e>
                            <m:r>
                              <a:rPr lang="vi-VN" sz="2400" b="0" i="1" smtClean="0">
                                <a:latin typeface="Cambria Math"/>
                              </a:rPr>
                              <m:t>]</m:t>
                            </m:r>
                          </m:e>
                          <m:sup>
                            <m:r>
                              <a:rPr lang="vi-VN" sz="2400" b="0" i="1" smtClean="0">
                                <a:latin typeface="Cambria Math"/>
                              </a:rPr>
                              <m:t>𝑏</m:t>
                            </m:r>
                          </m:sup>
                        </m:sSup>
                      </m:den>
                    </m:f>
                  </m:oMath>
                </a14:m>
                <a:r>
                  <a:rPr lang="vi-VN" sz="2400" dirty="0" smtClean="0"/>
                  <a:t>)</a:t>
                </a:r>
                <a:r>
                  <a:rPr lang="vi-VN" sz="2400" baseline="-25000" dirty="0" smtClean="0">
                    <a:sym typeface="Symbol"/>
                  </a:rPr>
                  <a:t></a:t>
                </a:r>
                <a:endParaRPr lang="en-US" sz="2400" dirty="0"/>
              </a:p>
            </p:txBody>
          </p:sp>
        </mc:Choice>
        <mc:Fallback xmlns="">
          <p:sp>
            <p:nvSpPr>
              <p:cNvPr id="54" name="TextBox 53"/>
              <p:cNvSpPr txBox="1">
                <a:spLocks noRot="1" noChangeAspect="1" noMove="1" noResize="1" noEditPoints="1" noAdjustHandles="1" noChangeArrowheads="1" noChangeShapeType="1" noTextEdit="1"/>
              </p:cNvSpPr>
              <p:nvPr/>
            </p:nvSpPr>
            <p:spPr>
              <a:xfrm>
                <a:off x="9172573" y="4946969"/>
                <a:ext cx="2847805" cy="735073"/>
              </a:xfrm>
              <a:prstGeom prst="rect">
                <a:avLst/>
              </a:prstGeom>
              <a:blipFill rotWithShape="1">
                <a:blip r:embed="rId6"/>
                <a:stretch>
                  <a:fillRect l="-3426" b="-833"/>
                </a:stretch>
              </a:blipFill>
            </p:spPr>
            <p:txBody>
              <a:bodyPr/>
              <a:lstStyle/>
              <a:p>
                <a:r>
                  <a:rPr lang="en-US">
                    <a:noFill/>
                  </a:rPr>
                  <a:t> </a:t>
                </a:r>
              </a:p>
            </p:txBody>
          </p:sp>
        </mc:Fallback>
      </mc:AlternateContent>
    </p:spTree>
    <p:extLst>
      <p:ext uri="{BB962C8B-B14F-4D97-AF65-F5344CB8AC3E}">
        <p14:creationId xmlns:p14="http://schemas.microsoft.com/office/powerpoint/2010/main" val="243570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9"/>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P spid="7" grpId="0"/>
      <p:bldP spid="8" grpId="0"/>
      <p:bldP spid="9" grpId="0"/>
      <p:bldP spid="11" grpId="0"/>
      <p:bldP spid="12" grpId="0"/>
      <p:bldP spid="13" grpId="0"/>
      <p:bldP spid="14" grpId="0"/>
      <p:bldP spid="15" grpId="0"/>
      <p:bldP spid="16" grpId="0"/>
      <p:bldP spid="17" grpId="0"/>
      <p:bldP spid="18" grpId="0"/>
      <p:bldP spid="19" grpId="0"/>
      <p:bldP spid="20" grpId="0"/>
      <p:bldP spid="22" grpId="0"/>
      <p:bldP spid="23" grpId="0"/>
      <p:bldP spid="24" grpId="0" animBg="1"/>
      <p:bldP spid="25" grpId="0"/>
      <p:bldP spid="5" grpId="0"/>
      <p:bldP spid="10" grpId="0"/>
      <p:bldP spid="21"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animBg="1"/>
      <p:bldP spid="49" grpId="0"/>
      <p:bldP spid="50" grpId="0" animBg="1"/>
      <p:bldP spid="51" grpId="0"/>
      <p:bldP spid="52" grpId="0"/>
      <p:bldP spid="53" grpId="0"/>
      <p:bldP spid="5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10295</TotalTime>
  <Words>3826</Words>
  <Application>Microsoft Office PowerPoint</Application>
  <PresentationFormat>Custom</PresentationFormat>
  <Paragraphs>281</Paragraphs>
  <Slides>27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29" baseType="lpstr">
      <vt:lpstr>Office Theme</vt:lpstr>
      <vt:lpstr>Equation</vt:lpstr>
      <vt:lpstr>PowerPoint Presentation</vt:lpstr>
      <vt:lpstr>PowerPoint Presentation</vt:lpstr>
      <vt:lpstr>Câu 2. Chọn phương án đúng. 1.H, U, S, G là  hàm trạng thái có thuộc tính dung độ. 2.Thế khử là hàm trạng thái có thuộc tính cường độ. 3.Nhiệt độ,áp suất, khối lượng riêng, nồng độ: thông số cường độ. 4.Khối lượng, thể tích, số mol là thông số dung độ.  5.Công và nhiệt là hàm quá trình. 6. Nhiệt dung đẳng áp và nhiệt dung đẳng tích là hàm trạng thái. </vt:lpstr>
      <vt:lpstr>PowerPoint Presentation</vt:lpstr>
      <vt:lpstr>PowerPoint Presentation</vt:lpstr>
      <vt:lpstr>PowerPoint Presentation</vt:lpstr>
      <vt:lpstr>PowerPoint Presentation</vt:lpstr>
      <vt:lpstr>PowerPoint Presentation</vt:lpstr>
      <vt:lpstr>PowerPoint Presentation</vt:lpstr>
      <vt:lpstr>ĐÁP ÁN: TẤT CẢ</vt:lpstr>
      <vt:lpstr>Câu 8 . Trường hợp nào pư có khả năng tự phát theo nhiệt động học: 1. H &lt; 0 , S &gt; 0 2. H &lt; 0 , S &lt; 0 3. H &gt; 0 , S &gt; 0 4. H &gt; 0 , S &lt; 0 5. G &lt; 0 6. G0 &lt; 0 7. Công dãn nở A &gt; 0 8. Công có ích A’&gt; 0 9. Hằng số cân bằng K &gt; 1 10. G &gt; 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Câu 20. Cân bằng và xác định vai trò chất pư trong phản ứng:              2NaCrO2  +  aBr2  +  bNaOH ⇌  cNa2CrO4  + dNaBr  +  eH2O  </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 8 64Bit VS7</dc:creator>
  <cp:lastModifiedBy>USER</cp:lastModifiedBy>
  <cp:revision>354</cp:revision>
  <dcterms:created xsi:type="dcterms:W3CDTF">2019-04-07T23:41:58Z</dcterms:created>
  <dcterms:modified xsi:type="dcterms:W3CDTF">2021-01-06T09:07:02Z</dcterms:modified>
</cp:coreProperties>
</file>