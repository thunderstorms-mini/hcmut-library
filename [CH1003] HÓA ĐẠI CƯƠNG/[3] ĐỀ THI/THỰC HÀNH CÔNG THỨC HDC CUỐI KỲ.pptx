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282" r:id="rId3"/>
    <p:sldId id="263" r:id="rId4"/>
    <p:sldId id="273" r:id="rId5"/>
    <p:sldId id="283" r:id="rId6"/>
    <p:sldId id="284" r:id="rId7"/>
    <p:sldId id="285" r:id="rId8"/>
    <p:sldId id="289" r:id="rId9"/>
    <p:sldId id="286" r:id="rId10"/>
    <p:sldId id="287" r:id="rId11"/>
    <p:sldId id="298" r:id="rId12"/>
    <p:sldId id="291" r:id="rId13"/>
    <p:sldId id="290" r:id="rId14"/>
    <p:sldId id="294" r:id="rId15"/>
    <p:sldId id="292" r:id="rId16"/>
    <p:sldId id="295" r:id="rId17"/>
    <p:sldId id="296" r:id="rId18"/>
    <p:sldId id="297" r:id="rId19"/>
    <p:sldId id="299" r:id="rId20"/>
    <p:sldId id="300" r:id="rId21"/>
    <p:sldId id="301" r:id="rId22"/>
    <p:sldId id="302" r:id="rId23"/>
    <p:sldId id="303" r:id="rId24"/>
    <p:sldId id="304" r:id="rId25"/>
    <p:sldId id="308" r:id="rId26"/>
    <p:sldId id="305" r:id="rId27"/>
    <p:sldId id="307" r:id="rId28"/>
    <p:sldId id="310" r:id="rId29"/>
    <p:sldId id="311" r:id="rId30"/>
    <p:sldId id="309" r:id="rId31"/>
    <p:sldId id="334" r:id="rId32"/>
    <p:sldId id="335" r:id="rId33"/>
    <p:sldId id="336" r:id="rId34"/>
    <p:sldId id="320" r:id="rId35"/>
    <p:sldId id="321" r:id="rId36"/>
    <p:sldId id="315" r:id="rId37"/>
    <p:sldId id="316" r:id="rId38"/>
    <p:sldId id="278" r:id="rId39"/>
    <p:sldId id="317" r:id="rId40"/>
    <p:sldId id="319" r:id="rId41"/>
    <p:sldId id="331" r:id="rId42"/>
    <p:sldId id="322" r:id="rId43"/>
    <p:sldId id="318" r:id="rId44"/>
    <p:sldId id="325" r:id="rId45"/>
    <p:sldId id="341" r:id="rId46"/>
    <p:sldId id="326" r:id="rId47"/>
    <p:sldId id="327" r:id="rId48"/>
    <p:sldId id="328" r:id="rId49"/>
    <p:sldId id="337" r:id="rId50"/>
    <p:sldId id="338" r:id="rId51"/>
    <p:sldId id="339" r:id="rId52"/>
    <p:sldId id="340" r:id="rId53"/>
    <p:sldId id="329" r:id="rId54"/>
    <p:sldId id="258" r:id="rId55"/>
    <p:sldId id="259" r:id="rId56"/>
    <p:sldId id="260" r:id="rId57"/>
    <p:sldId id="261" r:id="rId58"/>
    <p:sldId id="330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154" autoAdjust="0"/>
  </p:normalViewPr>
  <p:slideViewPr>
    <p:cSldViewPr>
      <p:cViewPr>
        <p:scale>
          <a:sx n="100" d="100"/>
          <a:sy n="100" d="100"/>
        </p:scale>
        <p:origin x="-1944" y="-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C32E1-05BB-48EF-A78D-D1D36C252125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12A7B-B078-44C6-8FE7-A4165CB88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0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D3FFCBF-3DDB-43B5-BEC4-2D0CC31EE3C5}" type="slidenum">
              <a:rPr lang="en-US" sz="1200">
                <a:latin typeface="Times New Roman" pitchFamily="18" charset="0"/>
              </a:rPr>
              <a:pPr eaLnBrk="1" hangingPunct="1"/>
              <a:t>14</a:t>
            </a:fld>
            <a:endParaRPr lang="en-US" sz="120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B12A7B-B078-44C6-8FE7-A4165CB8818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14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B12A7B-B078-44C6-8FE7-A4165CB8818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318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BE70-182D-4BF7-A094-01769E132D0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D152-1845-4916-B0E7-2B11509D2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46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BE70-182D-4BF7-A094-01769E132D0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D152-1845-4916-B0E7-2B11509D2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75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BE70-182D-4BF7-A094-01769E132D0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D152-1845-4916-B0E7-2B11509D2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2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BE70-182D-4BF7-A094-01769E132D0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D152-1845-4916-B0E7-2B11509D2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19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BE70-182D-4BF7-A094-01769E132D0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D152-1845-4916-B0E7-2B11509D2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10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BE70-182D-4BF7-A094-01769E132D0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D152-1845-4916-B0E7-2B11509D2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2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BE70-182D-4BF7-A094-01769E132D0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D152-1845-4916-B0E7-2B11509D2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36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BE70-182D-4BF7-A094-01769E132D0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D152-1845-4916-B0E7-2B11509D2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57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BE70-182D-4BF7-A094-01769E132D0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D152-1845-4916-B0E7-2B11509D2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85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BE70-182D-4BF7-A094-01769E132D0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D152-1845-4916-B0E7-2B11509D2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021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BE70-182D-4BF7-A094-01769E132D0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FD152-1845-4916-B0E7-2B11509D2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85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752600"/>
            <a:ext cx="41529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752600"/>
            <a:ext cx="41529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0346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FBE70-182D-4BF7-A094-01769E132D0A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FD152-1845-4916-B0E7-2B11509D2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4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5.png"/><Relationship Id="rId4" Type="http://schemas.openxmlformats.org/officeDocument/2006/relationships/image" Target="../media/image1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9.png"/><Relationship Id="rId4" Type="http://schemas.openxmlformats.org/officeDocument/2006/relationships/image" Target="../media/image2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4.png"/><Relationship Id="rId4" Type="http://schemas.openxmlformats.org/officeDocument/2006/relationships/image" Target="../media/image1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4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.wmf"/><Relationship Id="rId4" Type="http://schemas.openxmlformats.org/officeDocument/2006/relationships/image" Target="../media/image1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7" Type="http://schemas.openxmlformats.org/officeDocument/2006/relationships/image" Target="../media/image44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4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320.png"/><Relationship Id="rId4" Type="http://schemas.openxmlformats.org/officeDocument/2006/relationships/image" Target="../media/image51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</p:spPr>
        <p:txBody>
          <a:bodyPr/>
          <a:lstStyle/>
          <a:p>
            <a:r>
              <a:rPr lang="en-US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THỰC HÀNH CÔNG THỨC HÓA ĐẠI CƯƠNG</a:t>
            </a:r>
            <a:endParaRPr lang="en-US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40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0897"/>
            <a:ext cx="8915400" cy="1295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NGUYÊN LÝ 1 CỦA NHIỆT ĐỘNG HỌC:</a:t>
            </a:r>
          </a:p>
          <a:p>
            <a:pPr marL="0" indent="0"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Q =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U + A’ (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công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có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ích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) + A (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công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dãn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nở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);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A’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 0</a:t>
            </a:r>
          </a:p>
          <a:p>
            <a:pPr marL="0" indent="0"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A’ -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Công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hệ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sinh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trong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quá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trình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trừ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công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dãn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nở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" y="1676400"/>
            <a:ext cx="8763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QUÁ TRÌNH ĐẲNG NHIỆT ĐẲNG TÍCH: Q</a:t>
            </a:r>
            <a:r>
              <a:rPr lang="en-US" sz="28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U</a:t>
            </a:r>
            <a:r>
              <a:rPr lang="en-US" sz="2800" baseline="-250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v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+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A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’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</a:p>
          <a:p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Nếu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A’= 0  </a:t>
            </a:r>
            <a:r>
              <a:rPr lang="en-US" sz="2800" dirty="0">
                <a:solidFill>
                  <a:srgbClr val="00B050"/>
                </a:solidFill>
              </a:rPr>
              <a:t>Q</a:t>
            </a:r>
            <a:r>
              <a:rPr lang="en-US" sz="2800" baseline="-25000" dirty="0">
                <a:solidFill>
                  <a:srgbClr val="00B050"/>
                </a:solidFill>
              </a:rPr>
              <a:t>V</a:t>
            </a:r>
            <a:r>
              <a:rPr lang="en-US" sz="2800" dirty="0">
                <a:solidFill>
                  <a:srgbClr val="00B050"/>
                </a:solidFill>
              </a:rPr>
              <a:t> = </a:t>
            </a:r>
            <a:r>
              <a:rPr lang="en-US" sz="2800" dirty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U 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: </a:t>
            </a:r>
            <a:r>
              <a:rPr lang="en-US" sz="28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thu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nhiệt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>
                <a:solidFill>
                  <a:srgbClr val="00B050"/>
                </a:solidFill>
              </a:rPr>
              <a:t>Q</a:t>
            </a:r>
            <a:r>
              <a:rPr lang="en-US" sz="2800" baseline="-25000" dirty="0">
                <a:solidFill>
                  <a:srgbClr val="00B050"/>
                </a:solidFill>
              </a:rPr>
              <a:t>V</a:t>
            </a:r>
            <a:r>
              <a:rPr lang="en-US" sz="2800" dirty="0">
                <a:solidFill>
                  <a:srgbClr val="00B050"/>
                </a:solidFill>
              </a:rPr>
              <a:t> = </a:t>
            </a:r>
            <a:r>
              <a:rPr lang="en-US" sz="2800" dirty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U 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&gt; 0</a:t>
            </a:r>
          </a:p>
          <a:p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                                   </a:t>
            </a:r>
            <a:r>
              <a:rPr lang="en-US" sz="28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tỏa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nhiệt</a:t>
            </a:r>
            <a:r>
              <a:rPr lang="en-US" sz="2800" dirty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>
                <a:solidFill>
                  <a:srgbClr val="00B050"/>
                </a:solidFill>
              </a:rPr>
              <a:t>Q</a:t>
            </a:r>
            <a:r>
              <a:rPr lang="en-US" sz="2800" baseline="-25000" dirty="0">
                <a:solidFill>
                  <a:srgbClr val="00B050"/>
                </a:solidFill>
              </a:rPr>
              <a:t>V</a:t>
            </a:r>
            <a:r>
              <a:rPr lang="en-US" sz="2800" dirty="0">
                <a:solidFill>
                  <a:srgbClr val="00B050"/>
                </a:solidFill>
              </a:rPr>
              <a:t> = </a:t>
            </a:r>
            <a:r>
              <a:rPr lang="en-US" sz="2800" dirty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U 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&lt; </a:t>
            </a:r>
            <a:r>
              <a:rPr lang="en-US" sz="2800" dirty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3200400"/>
            <a:ext cx="8763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QUÁ TRÌNH ĐẲNG NHIỆT ĐẲNG ÁP: Q</a:t>
            </a:r>
            <a:r>
              <a:rPr lang="en-US" sz="28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H +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A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’  </a:t>
            </a:r>
          </a:p>
          <a:p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Nếu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A’= 0  </a:t>
            </a:r>
            <a:r>
              <a:rPr lang="en-US" sz="2800" dirty="0" smtClean="0">
                <a:solidFill>
                  <a:srgbClr val="00B050"/>
                </a:solidFill>
              </a:rPr>
              <a:t>Q</a:t>
            </a:r>
            <a:r>
              <a:rPr lang="en-US" sz="2800" baseline="-25000" dirty="0" smtClean="0">
                <a:solidFill>
                  <a:srgbClr val="00B050"/>
                </a:solidFill>
              </a:rPr>
              <a:t>P</a:t>
            </a:r>
            <a:r>
              <a:rPr lang="en-US" sz="2800" dirty="0" smtClean="0">
                <a:solidFill>
                  <a:srgbClr val="00B050"/>
                </a:solidFill>
              </a:rPr>
              <a:t> </a:t>
            </a:r>
            <a:r>
              <a:rPr lang="en-US" sz="2800" dirty="0">
                <a:solidFill>
                  <a:srgbClr val="00B050"/>
                </a:solidFill>
              </a:rPr>
              <a:t>= 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H : </a:t>
            </a:r>
            <a:r>
              <a:rPr lang="en-US" sz="28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thu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nhiệt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solidFill>
                  <a:srgbClr val="00B050"/>
                </a:solidFill>
              </a:rPr>
              <a:t>Q</a:t>
            </a:r>
            <a:r>
              <a:rPr lang="en-US" sz="2800" baseline="-25000" dirty="0" smtClean="0">
                <a:solidFill>
                  <a:srgbClr val="00B050"/>
                </a:solidFill>
              </a:rPr>
              <a:t>P</a:t>
            </a:r>
            <a:r>
              <a:rPr lang="en-US" sz="2800" dirty="0" smtClean="0">
                <a:solidFill>
                  <a:srgbClr val="00B050"/>
                </a:solidFill>
              </a:rPr>
              <a:t> </a:t>
            </a:r>
            <a:r>
              <a:rPr lang="en-US" sz="2800" dirty="0">
                <a:solidFill>
                  <a:srgbClr val="00B050"/>
                </a:solidFill>
              </a:rPr>
              <a:t>= 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H &gt; 0</a:t>
            </a:r>
          </a:p>
          <a:p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                                   </a:t>
            </a:r>
            <a:r>
              <a:rPr lang="en-US" sz="28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tỏa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nhiệt</a:t>
            </a:r>
            <a:r>
              <a:rPr lang="en-US" sz="2800" dirty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solidFill>
                  <a:srgbClr val="00B050"/>
                </a:solidFill>
              </a:rPr>
              <a:t>Q</a:t>
            </a:r>
            <a:r>
              <a:rPr lang="en-US" sz="2800" baseline="-25000" dirty="0">
                <a:solidFill>
                  <a:srgbClr val="00B050"/>
                </a:solidFill>
              </a:rPr>
              <a:t>P</a:t>
            </a:r>
            <a:r>
              <a:rPr lang="en-US" sz="2800" dirty="0" smtClean="0">
                <a:solidFill>
                  <a:srgbClr val="00B050"/>
                </a:solidFill>
              </a:rPr>
              <a:t> </a:t>
            </a:r>
            <a:r>
              <a:rPr lang="en-US" sz="2800" dirty="0">
                <a:solidFill>
                  <a:srgbClr val="00B050"/>
                </a:solidFill>
              </a:rPr>
              <a:t>= </a:t>
            </a:r>
            <a:r>
              <a:rPr lang="en-US" sz="28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H &lt; 0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Khí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xem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là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lý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tưởng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: H = U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+ 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n.R.T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; A =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n.R.T</a:t>
            </a:r>
            <a:endParaRPr lang="en-US" sz="2800" dirty="0" smtClean="0">
              <a:solidFill>
                <a:srgbClr val="0000FF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         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= 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tt</a:t>
            </a:r>
            <a:r>
              <a:rPr lang="en-US" sz="28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n-US" sz="2800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sản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phẩm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-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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tt</a:t>
            </a:r>
            <a:r>
              <a:rPr lang="en-US" sz="28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n-US" sz="2800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chất</a:t>
            </a:r>
            <a:r>
              <a:rPr lang="en-US" sz="28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đầu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         </a:t>
            </a: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= </a:t>
            </a:r>
            <a:r>
              <a:rPr lang="en-US" sz="28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đc</a:t>
            </a:r>
            <a:r>
              <a:rPr lang="en-US" sz="2800" baseline="-25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n-US" sz="2800" baseline="-250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chất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đầu</a:t>
            </a: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- </a:t>
            </a:r>
            <a:r>
              <a:rPr lang="en-US" sz="28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đc</a:t>
            </a:r>
            <a:r>
              <a:rPr lang="en-US" sz="2800" baseline="-25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n-US" sz="2800" baseline="-250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sản</a:t>
            </a: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phẩm</a:t>
            </a: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               (</a:t>
            </a:r>
            <a:r>
              <a:rPr lang="en-US" sz="20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Nhiệt</a:t>
            </a: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0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đốt</a:t>
            </a: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0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cháy</a:t>
            </a: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0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của</a:t>
            </a: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CO</a:t>
            </a:r>
            <a:r>
              <a:rPr lang="en-US" sz="2000" baseline="-25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(k), H</a:t>
            </a:r>
            <a:r>
              <a:rPr lang="en-US" sz="2000" baseline="-25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O(</a:t>
            </a:r>
            <a:r>
              <a:rPr lang="en-US" sz="20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lỏng</a:t>
            </a: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), O</a:t>
            </a:r>
            <a:r>
              <a:rPr lang="en-US" sz="2000" baseline="-25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(k) </a:t>
            </a:r>
            <a:r>
              <a:rPr lang="en-US" sz="20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bằng</a:t>
            </a: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0)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endParaRPr lang="en-US" sz="2800" dirty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endParaRPr lang="en-US" sz="28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04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9067800" cy="259079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1.Tính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tạo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thành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tiêu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chuẩn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CH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OH(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lỏng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 ở 25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C,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biết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đốt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cháy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tiêu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chuẩn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ở 25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CH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OH(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lỏng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), C(gr)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H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(k)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có giá trị lần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lượt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- 725,71; –393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,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51; –285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,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83 [kJ/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mol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]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ĐS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  -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39,46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kJ/mol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9140" y="2438400"/>
            <a:ext cx="838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Phản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tạo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thành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CH</a:t>
            </a:r>
            <a:r>
              <a:rPr lang="en-US" sz="28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OH(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lỏng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): 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C(gr)  +  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(k) +  1/2O</a:t>
            </a:r>
            <a:r>
              <a:rPr lang="en-US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(k)  =  CH</a:t>
            </a:r>
            <a:r>
              <a:rPr lang="en-US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OH(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lỏng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5405" y="5105400"/>
                <a:ext cx="9067800" cy="11240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  <m:r>
                          <a:rPr lang="en-US" sz="28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𝒕𝒕</m:t>
                        </m:r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𝑪</m:t>
                        </m:r>
                        <m:sSub>
                          <m:sSubPr>
                            <m:ctrlPr>
                              <a:rPr lang="en-US" sz="28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8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𝑶𝑯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= (-393,51 +</a:t>
                </a:r>
                <a:r>
                  <a:rPr lang="en-US" sz="28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.(-285,83)) –(</a:t>
                </a:r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–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725,71)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  <m:r>
                          <a:rPr lang="en-US" sz="28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𝒕𝒕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𝑪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𝑶𝑯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=   – 239,46 [kJ/</a:t>
                </a:r>
                <a:r>
                  <a:rPr lang="en-US" sz="28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mol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]</a:t>
                </a:r>
                <a:endParaRPr lang="en-US" sz="28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05" y="5105400"/>
                <a:ext cx="9067800" cy="1124026"/>
              </a:xfrm>
              <a:prstGeom prst="rect">
                <a:avLst/>
              </a:prstGeom>
              <a:blipFill rotWithShape="1">
                <a:blip r:embed="rId2"/>
                <a:stretch>
                  <a:fillRect t="-3261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8755" y="3733800"/>
            <a:ext cx="91152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Từ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giá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trị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 err="1" smtClean="0"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 err="1" smtClean="0">
                <a:latin typeface="Arial" pitchFamily="34" charset="0"/>
                <a:cs typeface="Arial" pitchFamily="34" charset="0"/>
              </a:rPr>
              <a:t>đốt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 err="1" smtClean="0">
                <a:latin typeface="Arial" pitchFamily="34" charset="0"/>
                <a:cs typeface="Arial" pitchFamily="34" charset="0"/>
              </a:rPr>
              <a:t>cháy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chất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ta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được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hiệu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pư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=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đc</a:t>
            </a:r>
            <a:r>
              <a:rPr lang="en-US" sz="2800" baseline="-250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n-US" sz="2800" baseline="-250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chất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đầu</a:t>
            </a: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-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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đc</a:t>
            </a:r>
            <a:r>
              <a:rPr lang="en-US" sz="2800" baseline="-250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n-US" sz="2800" baseline="-250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sản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phẩm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00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991600" cy="32766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2.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tạo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thành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tiêu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chuẩn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ở 25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C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4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H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O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4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tinh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thể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biết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đốt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cháy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tiêu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chuẩn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kJ/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mol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) ở 25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C(gr), H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(k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),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4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H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O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4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tinh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thể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lần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lượt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–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393.51; 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–285.83;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–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1487.00 [kJ/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mol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].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ĐS: - 944.53 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kJ/</a:t>
            </a:r>
            <a:r>
              <a:rPr lang="en-US" sz="28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mol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5275" y="3200400"/>
            <a:ext cx="838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Phản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tạo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thành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C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lỏng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): 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4C(gr)  +  3H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(k) +  2O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(k)  = C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lỏng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5275" y="4575331"/>
            <a:ext cx="868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          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= 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đc</a:t>
            </a:r>
            <a:r>
              <a:rPr lang="en-US" sz="2800" baseline="-250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n-US" sz="2800" baseline="-250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chất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đầu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- 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đc</a:t>
            </a:r>
            <a:r>
              <a:rPr lang="en-US" sz="2800" baseline="-250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n-US" sz="2800" baseline="-250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sản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phẩm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 </a:t>
            </a: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Nhiệt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đốt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cháy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của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CO</a:t>
            </a:r>
            <a:r>
              <a:rPr lang="en-US" sz="2400" baseline="-250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(k), H</a:t>
            </a:r>
            <a:r>
              <a:rPr lang="en-US" sz="2400" baseline="-250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O(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lỏng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), O</a:t>
            </a:r>
            <a:r>
              <a:rPr lang="en-US" sz="2400" baseline="-250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(k)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bằng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0)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9673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405" y="0"/>
            <a:ext cx="9144000" cy="35813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3.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đốt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cháy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tiêu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chuẩn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CH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COOH (</a:t>
            </a:r>
            <a:r>
              <a:rPr lang="pt-BR" sz="2800" dirty="0"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ở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25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cho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biết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tạo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thành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tiêu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chuẩn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ở 25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CH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COOH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pt-BR" sz="2800" dirty="0"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), CO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(k)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H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O(</a:t>
            </a:r>
            <a:r>
              <a:rPr lang="pt-BR" sz="2800" dirty="0"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giá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trị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lần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lượt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- 484,5; - 393,51; - 285,83 [kJ/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mol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].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ĐS: -874,18 kJ/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mol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" y="2743199"/>
            <a:ext cx="861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Phản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đốt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cháy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CH</a:t>
            </a:r>
            <a:r>
              <a:rPr lang="en-US" sz="24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COOH (</a:t>
            </a:r>
            <a:r>
              <a:rPr lang="pt-B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):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 CH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COOH 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pt-BR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  + 2O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=     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CO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(k)  +     </a:t>
            </a:r>
            <a:r>
              <a:rPr 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O(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lỏng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24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810000"/>
            <a:ext cx="90447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Từ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giá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trị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u="sng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tạo</a:t>
            </a:r>
            <a:r>
              <a:rPr lang="en-US" sz="2800" u="sng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thành</a:t>
            </a:r>
            <a:r>
              <a:rPr lang="en-US" sz="2800" u="sng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chất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ta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được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hiệu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pư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: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8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=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tt</a:t>
            </a:r>
            <a:r>
              <a:rPr lang="en-US" sz="28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n-US" sz="2800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sản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phẩm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- 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tt</a:t>
            </a:r>
            <a:r>
              <a:rPr lang="en-US" sz="28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n-US" sz="2800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chất</a:t>
            </a:r>
            <a:r>
              <a:rPr lang="en-US" sz="28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đầu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5405" y="5105400"/>
                <a:ext cx="9067800" cy="1136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  <m:r>
                          <a:rPr lang="en-US" sz="28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, đ</m:t>
                        </m:r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𝒄</m:t>
                        </m:r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𝑪</m:t>
                        </m:r>
                        <m:sSub>
                          <m:sSubPr>
                            <m:ctrlPr>
                              <a:rPr lang="en-US" sz="28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8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𝑪𝑶𝑶𝑯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= </a:t>
                </a:r>
                <a:r>
                  <a:rPr lang="en-US" sz="28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(-393,51) +</a:t>
                </a:r>
                <a:r>
                  <a:rPr lang="en-US" sz="28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.(-285,83) – (– 484,5)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  <m:r>
                          <a:rPr lang="en-US" sz="28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đ</m:t>
                        </m:r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𝒄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𝑪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𝑪𝑶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𝑶𝑯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=   – 874,18 [kJ/</a:t>
                </a:r>
                <a:r>
                  <a:rPr lang="en-US" sz="28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mol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]</a:t>
                </a:r>
                <a:endParaRPr lang="en-US" sz="28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05" y="5105400"/>
                <a:ext cx="9067800" cy="1136850"/>
              </a:xfrm>
              <a:prstGeom prst="rect">
                <a:avLst/>
              </a:prstGeom>
              <a:blipFill rotWithShape="1">
                <a:blip r:embed="rId2"/>
                <a:stretch>
                  <a:fillRect t="-3226" r="-134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576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76200" y="304801"/>
                <a:ext cx="9220200" cy="1524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4.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Tính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</m:sub>
                      <m:sup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của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pư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: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PbO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(r) + S(r)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O</a:t>
                </a:r>
                <a:r>
                  <a:rPr lang="en-US" sz="2800" baseline="-25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(k) = PbSO</a:t>
                </a:r>
                <a:r>
                  <a:rPr lang="en-US" sz="2800" baseline="-25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4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(r)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   Cho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biết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2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</m:sub>
                      <m:sup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)</a:t>
                </a:r>
                <a:r>
                  <a:rPr lang="en-US" sz="2800" baseline="-250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pư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= - 686,2 kJ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. 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ĐS: - 689,9 kJ </a:t>
                </a:r>
                <a:endParaRPr lang="en-US" sz="2800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76200" y="304801"/>
                <a:ext cx="9220200" cy="1524000"/>
              </a:xfrm>
              <a:blipFill rotWithShape="1">
                <a:blip r:embed="rId2"/>
                <a:stretch>
                  <a:fillRect l="-1322" r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143000" y="2277374"/>
            <a:ext cx="6629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H = U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+ 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n.R.T</a:t>
            </a:r>
            <a:endParaRPr lang="en-US" sz="2800" dirty="0" smtClean="0">
              <a:solidFill>
                <a:srgbClr val="0000FF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n = - 1,5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mol</a:t>
            </a:r>
            <a:endParaRPr lang="en-US" sz="2800" dirty="0" smtClean="0">
              <a:solidFill>
                <a:srgbClr val="0000FF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R = 8,314.10</a:t>
            </a:r>
            <a:r>
              <a:rPr lang="en-US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-3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kJ/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mol.K</a:t>
            </a:r>
            <a:endParaRPr lang="en-US" sz="2800" dirty="0" smtClean="0">
              <a:solidFill>
                <a:srgbClr val="0000FF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 = 298 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9985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1"/>
            <a:ext cx="8991600" cy="30480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s-ES" sz="2800" dirty="0" smtClean="0">
                <a:latin typeface="Arial" pitchFamily="34" charset="0"/>
                <a:cs typeface="Arial" pitchFamily="34" charset="0"/>
              </a:rPr>
              <a:t>5.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T</a:t>
            </a:r>
            <a:r>
              <a:rPr lang="es-ES" sz="2800" dirty="0" err="1" smtClean="0">
                <a:latin typeface="Arial" pitchFamily="34" charset="0"/>
                <a:cs typeface="Arial" pitchFamily="34" charset="0"/>
              </a:rPr>
              <a:t>ính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hiệu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ứng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nhiệt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</a:t>
            </a:r>
            <a:r>
              <a:rPr lang="es-ES" sz="2800" baseline="-25000" dirty="0"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)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 smtClean="0">
                <a:latin typeface="Arial" pitchFamily="34" charset="0"/>
                <a:cs typeface="Arial" pitchFamily="34" charset="0"/>
              </a:rPr>
              <a:t>pư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:  A + 2C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 2B + D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thông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qua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hiệu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ứng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nhiệt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phản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ứng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điều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kiện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như trên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: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BR" sz="2800" dirty="0">
                <a:latin typeface="Arial" pitchFamily="34" charset="0"/>
                <a:cs typeface="Arial" pitchFamily="34" charset="0"/>
              </a:rPr>
              <a:t>A 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pt-B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D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;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</a:t>
            </a:r>
            <a:r>
              <a:rPr lang="pt-BR" sz="2800" baseline="-25000" dirty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pt-BR" sz="2800" baseline="-25000" dirty="0">
                <a:latin typeface="Arial" pitchFamily="34" charset="0"/>
                <a:cs typeface="Arial" pitchFamily="34" charset="0"/>
              </a:rPr>
              <a:t>		</a:t>
            </a:r>
            <a:r>
              <a:rPr lang="pt-BR" sz="2800" dirty="0">
                <a:latin typeface="Arial" pitchFamily="34" charset="0"/>
                <a:cs typeface="Arial" pitchFamily="34" charset="0"/>
              </a:rPr>
              <a:t>B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pt-B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;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</a:t>
            </a:r>
            <a:r>
              <a:rPr lang="pt-BR" sz="2800" baseline="-25000" dirty="0"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pt-BR" sz="2800" baseline="-25000" dirty="0">
                <a:latin typeface="Arial" pitchFamily="34" charset="0"/>
                <a:cs typeface="Arial" pitchFamily="34" charset="0"/>
              </a:rPr>
              <a:t>		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52600" y="3490823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ĐS: </a:t>
            </a:r>
            <a:r>
              <a:rPr lang="es-ES" sz="2800" b="1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s-E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= 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</a:t>
            </a:r>
            <a:r>
              <a:rPr lang="pt-BR" sz="2800" b="1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 </a:t>
            </a:r>
            <a:r>
              <a:rPr lang="pt-BR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- 2.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</a:t>
            </a:r>
            <a:r>
              <a:rPr lang="pt-BR" sz="2800" b="1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es-E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3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81001"/>
            <a:ext cx="8763000" cy="27432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6.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Xét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dấu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hòa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tan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H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 smtClean="0">
                <a:latin typeface="Arial" pitchFamily="34" charset="0"/>
                <a:cs typeface="Arial" pitchFamily="34" charset="0"/>
                <a:sym typeface="Symbol"/>
              </a:rPr>
              <a:t>htan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, S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>
                <a:latin typeface="Arial" pitchFamily="34" charset="0"/>
                <a:cs typeface="Arial" pitchFamily="34" charset="0"/>
                <a:sym typeface="Symbol"/>
              </a:rPr>
              <a:t>htan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khí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H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S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trong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nước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 ở 10</a:t>
            </a:r>
            <a:r>
              <a:rPr lang="vi-VN" sz="2800" baseline="30000" dirty="0" smtClean="0"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C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. Cho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biết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quá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trình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có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2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giai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đoạn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          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S(k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hí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) = 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S(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lỏng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) ; 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nt</a:t>
            </a:r>
            <a:r>
              <a:rPr lang="vi-VN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ụ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                 </a:t>
            </a:r>
            <a:endParaRPr lang="en-US" sz="2800" dirty="0" smtClean="0">
              <a:solidFill>
                <a:srgbClr val="0000FF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S(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lỏng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)  +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aq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 = H</a:t>
            </a:r>
            <a:r>
              <a:rPr lang="en-US" sz="28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S(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aq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) </a:t>
            </a:r>
            <a:r>
              <a:rPr lang="vi-VN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  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;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vi-VN" sz="28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sol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6083" y="3367824"/>
            <a:ext cx="83820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S(</a:t>
            </a:r>
            <a:r>
              <a:rPr lang="vi-VN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khí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)  </a:t>
            </a:r>
            <a:r>
              <a:rPr lang="en-US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+ </a:t>
            </a:r>
            <a:r>
              <a:rPr lang="en-US" sz="28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aq</a:t>
            </a:r>
            <a:r>
              <a:rPr lang="en-US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 = H</a:t>
            </a:r>
            <a:r>
              <a:rPr lang="en-US" sz="2800" baseline="-250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S(</a:t>
            </a:r>
            <a:r>
              <a:rPr lang="en-US" sz="28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aq</a:t>
            </a:r>
            <a:r>
              <a:rPr lang="en-US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) </a:t>
            </a:r>
            <a:r>
              <a:rPr lang="vi-VN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 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; </a:t>
            </a:r>
            <a:r>
              <a:rPr lang="en-US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vi-VN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htan</a:t>
            </a:r>
            <a:r>
              <a:rPr lang="vi-VN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= </a:t>
            </a:r>
            <a:r>
              <a:rPr lang="en-US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nt</a:t>
            </a:r>
            <a:r>
              <a:rPr lang="vi-VN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ụ</a:t>
            </a:r>
            <a:r>
              <a:rPr lang="vi-VN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+ </a:t>
            </a:r>
            <a:r>
              <a:rPr lang="en-US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H</a:t>
            </a:r>
            <a:r>
              <a:rPr lang="vi-VN" sz="2800" baseline="-250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sol</a:t>
            </a:r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2057400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endParaRPr lang="en-US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685800" y="3124200"/>
            <a:ext cx="7848600" cy="7620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72200" y="1752600"/>
            <a:ext cx="952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 0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1833" y="3367825"/>
            <a:ext cx="952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 0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79389" y="2514600"/>
            <a:ext cx="952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 0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88038" y="1746849"/>
            <a:ext cx="1663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n-US" sz="2800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nt</a:t>
            </a:r>
            <a:r>
              <a:rPr lang="vi-VN" sz="28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ụ</a:t>
            </a:r>
            <a:endParaRPr lang="en-US" sz="2800" b="1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88038" y="2506591"/>
            <a:ext cx="1663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n-US" sz="2800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sol</a:t>
            </a:r>
            <a:endParaRPr lang="en-US" sz="2800" b="1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29200" y="3911863"/>
            <a:ext cx="3619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S</a:t>
            </a:r>
            <a:r>
              <a:rPr lang="vi-VN" sz="28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htan</a:t>
            </a:r>
            <a:r>
              <a:rPr lang="vi-VN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n-US" sz="2800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nt</a:t>
            </a:r>
            <a:r>
              <a:rPr lang="vi-VN" sz="28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ụ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+ 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S</a:t>
            </a:r>
            <a:r>
              <a:rPr lang="vi-VN" sz="28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sol</a:t>
            </a:r>
            <a:endParaRPr lang="en-US" sz="2800" dirty="0">
              <a:solidFill>
                <a:srgbClr val="CC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07879" y="3903768"/>
            <a:ext cx="952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 0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36584" y="2519029"/>
            <a:ext cx="952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 0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58150" y="1738812"/>
            <a:ext cx="952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 0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05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0" grpId="0"/>
      <p:bldP spid="11" grpId="0"/>
      <p:bldP spid="2" grpId="0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634" y="990600"/>
            <a:ext cx="8229600" cy="761999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b="1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n-US" b="1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</a:t>
            </a:r>
            <a:r>
              <a:rPr lang="en-US" b="1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n-US" b="1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sản</a:t>
            </a:r>
            <a:r>
              <a:rPr lang="en-US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b="1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phẩm</a:t>
            </a:r>
            <a:r>
              <a:rPr lang="en-US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- </a:t>
            </a:r>
            <a:r>
              <a:rPr lang="en-US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</a:t>
            </a:r>
            <a:r>
              <a:rPr lang="en-US" b="1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n-US" b="1" baseline="-250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chất</a:t>
            </a:r>
            <a:r>
              <a:rPr lang="en-US" b="1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b="1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đầu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667000" y="1524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ENTROPI</a:t>
            </a:r>
            <a:endParaRPr 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3820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n = 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số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mol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khí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sản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phẩm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-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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số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mol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khí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chất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đầu</a:t>
            </a:r>
            <a:endParaRPr lang="en-US" sz="2800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n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&gt; 0 :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n-US" sz="2800" baseline="-25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&gt; 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n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&lt;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 : 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n-US" sz="2800" baseline="-25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&lt;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endParaRPr lang="en-US" sz="2800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n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 : 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n-US" sz="2800" baseline="-25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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endParaRPr lang="en-US" sz="2800" dirty="0">
              <a:solidFill>
                <a:srgbClr val="0000FF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8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506" y="152401"/>
                <a:ext cx="9144000" cy="22860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6.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Tính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biến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thiên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</m:sub>
                      <m:sup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của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pư</a:t>
                </a:r>
                <a:r>
                  <a:rPr lang="en-US" sz="280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tạo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thành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NH</a:t>
                </a:r>
                <a:r>
                  <a:rPr lang="en-US" sz="2800" baseline="-25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(k). Cho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biết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entropi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tiêu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chuẩn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ở 25</a:t>
                </a:r>
                <a:r>
                  <a:rPr lang="en-US" sz="2800" baseline="30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C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của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NH</a:t>
                </a:r>
                <a:r>
                  <a:rPr lang="en-US" sz="2800" baseline="-25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(k), N</a:t>
                </a:r>
                <a:r>
                  <a:rPr lang="en-US" sz="2800" baseline="-25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(k), H</a:t>
                </a:r>
                <a:r>
                  <a:rPr lang="en-US" sz="2800" baseline="-25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(k)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có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giá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trị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lần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lượt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là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: 192,5 ; 191,5 ; 130,6 [J/</a:t>
                </a:r>
                <a:r>
                  <a:rPr lang="en-US" sz="2800" dirty="0" err="1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mol.K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]</a:t>
                </a:r>
                <a:endParaRPr lang="en-US" sz="28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06" y="152401"/>
                <a:ext cx="9144000" cy="2286000"/>
              </a:xfrm>
              <a:blipFill rotWithShape="1">
                <a:blip r:embed="rId2"/>
                <a:stretch>
                  <a:fillRect l="-1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6200" y="2970947"/>
                <a:ext cx="9067800" cy="1994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Phản </a:t>
                </a:r>
                <a:r>
                  <a:rPr lang="en-US" sz="28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ứng</a:t>
                </a:r>
                <a:r>
                  <a:rPr lang="en-US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tạo</a:t>
                </a:r>
                <a:r>
                  <a:rPr lang="en-US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thành</a:t>
                </a:r>
                <a:r>
                  <a:rPr lang="en-US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NH</a:t>
                </a:r>
                <a:r>
                  <a:rPr lang="en-US" sz="2800" baseline="-250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r>
                  <a:rPr lang="en-US" sz="28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(</a:t>
                </a:r>
                <a:r>
                  <a:rPr lang="en-US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k):</a:t>
                </a:r>
                <a:r>
                  <a:rPr lang="en-US" sz="2800" dirty="0">
                    <a:solidFill>
                      <a:srgbClr val="008000"/>
                    </a:solidFill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  <m:t> 2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N</a:t>
                </a:r>
                <a:r>
                  <a:rPr lang="en-US" sz="2800" baseline="-250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(k)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  <m:t>3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  <m:t>2</m:t>
                        </m:r>
                      </m:den>
                    </m:f>
                    <m:r>
                      <a:rPr lang="en-US" sz="2800" i="1">
                        <a:solidFill>
                          <a:srgbClr val="008000"/>
                        </a:solidFill>
                        <a:latin typeface="Cambria Math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H</a:t>
                </a:r>
                <a:r>
                  <a:rPr lang="en-US" sz="2800" baseline="-250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(k)  = NH</a:t>
                </a:r>
                <a:r>
                  <a:rPr lang="en-US" sz="2800" baseline="-250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r>
                  <a:rPr lang="en-US" sz="28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(k)</a:t>
                </a:r>
                <a:endParaRPr lang="en-US" sz="2800" dirty="0" smtClean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sz="2800" dirty="0" smtClean="0">
                    <a:cs typeface="Arial" pitchFamily="34" charset="0"/>
                  </a:rPr>
                  <a:t>                                                 </a:t>
                </a:r>
                <a:endParaRPr lang="en-US" sz="2800" dirty="0" smtClean="0">
                  <a:latin typeface="Arial" pitchFamily="34" charset="0"/>
                  <a:cs typeface="Arial" pitchFamily="34" charset="0"/>
                </a:endParaRPr>
              </a:p>
              <a:p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</a:t>
                </a:r>
              </a:p>
              <a:p>
                <a:r>
                  <a:rPr lang="en-US" sz="28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  </a:t>
                </a:r>
                <a:endParaRPr lang="en-US" sz="28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2970947"/>
                <a:ext cx="9067800" cy="1994264"/>
              </a:xfrm>
              <a:prstGeom prst="rect">
                <a:avLst/>
              </a:prstGeom>
              <a:blipFill rotWithShape="1">
                <a:blip r:embed="rId3"/>
                <a:stretch>
                  <a:fillRect l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0" y="4965211"/>
                <a:ext cx="9144000" cy="701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0" i="1">
                            <a:latin typeface="Cambria Math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baseline="-250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= 192,5 –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  <m:t> 2</m:t>
                        </m:r>
                      </m:den>
                    </m:f>
                  </m:oMath>
                </a14:m>
                <a:r>
                  <a:rPr lang="en-US" sz="2800" dirty="0">
                    <a:latin typeface="Arial" pitchFamily="34" charset="0"/>
                    <a:cs typeface="Arial" pitchFamily="34" charset="0"/>
                  </a:rPr>
                  <a:t>.(191,5)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  <m:t>3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>
                    <a:latin typeface="Arial" pitchFamily="34" charset="0"/>
                    <a:cs typeface="Arial" pitchFamily="34" charset="0"/>
                  </a:rPr>
                  <a:t>.(130,6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)) = - 99,5 [J/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mol.K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]</a:t>
                </a:r>
                <a:endParaRPr lang="en-US" sz="28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65211"/>
                <a:ext cx="9144000" cy="701602"/>
              </a:xfrm>
              <a:prstGeom prst="rect">
                <a:avLst/>
              </a:prstGeom>
              <a:blipFill rotWithShape="1">
                <a:blip r:embed="rId4"/>
                <a:stretch>
                  <a:fillRect r="-1000" b="-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1000" y="3810000"/>
                <a:ext cx="8610600" cy="978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n 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= (</a:t>
                </a:r>
                <a:r>
                  <a:rPr lang="en-US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1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–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  <m:t> 2</m:t>
                        </m:r>
                      </m:den>
                    </m:f>
                    <m:r>
                      <a:rPr lang="en-US" sz="2800" i="1">
                        <a:solidFill>
                          <a:srgbClr val="008000"/>
                        </a:solidFill>
                        <a:latin typeface="Cambria Math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  <m:t>3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  <m:t>2</m:t>
                        </m:r>
                      </m:den>
                    </m:f>
                    <m:r>
                      <a:rPr lang="en-US" sz="2800" i="1">
                        <a:solidFill>
                          <a:srgbClr val="008000"/>
                        </a:solidFill>
                        <a:latin typeface="Cambria Math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)  = - 1 (</a:t>
                </a:r>
                <a:r>
                  <a:rPr lang="en-US" sz="28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mol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)  &lt; </a:t>
                </a:r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0 : </a:t>
                </a:r>
                <a:r>
                  <a:rPr lang="en-US" sz="2800" dirty="0" err="1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S</a:t>
                </a:r>
                <a:r>
                  <a:rPr lang="en-US" sz="2800" baseline="-25000" dirty="0" err="1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pư</a:t>
                </a:r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&lt; 0</a:t>
                </a:r>
                <a:endParaRPr lang="en-US" sz="2800" dirty="0">
                  <a:solidFill>
                    <a:srgbClr val="0000FF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810000"/>
                <a:ext cx="8610600" cy="978601"/>
              </a:xfrm>
              <a:prstGeom prst="rect">
                <a:avLst/>
              </a:prstGeom>
              <a:blipFill rotWithShape="1">
                <a:blip r:embed="rId5"/>
                <a:stretch>
                  <a:fillRect l="-1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09600" y="2285999"/>
            <a:ext cx="4953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ĐS: 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- 99,5 [J/</a:t>
            </a:r>
            <a:r>
              <a:rPr lang="en-US" sz="2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mol.K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36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1"/>
            <a:ext cx="8991600" cy="18288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Tính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∆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298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[J/K] của phản ứng : 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                 </a:t>
            </a:r>
            <a:r>
              <a:rPr lang="vi-VN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2CH</a:t>
            </a:r>
            <a:r>
              <a:rPr lang="vi-VN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vi-VN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OH(l</a:t>
            </a:r>
            <a:r>
              <a:rPr lang="vi-VN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vi-VN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+ 3O</a:t>
            </a:r>
            <a:r>
              <a:rPr lang="vi-VN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(k</a:t>
            </a:r>
            <a:r>
              <a:rPr lang="vi-VN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vi-VN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=  </a:t>
            </a:r>
            <a:r>
              <a:rPr lang="vi-VN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2CO</a:t>
            </a:r>
            <a:r>
              <a:rPr lang="vi-VN" sz="2800" baseline="-250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(k)  </a:t>
            </a:r>
            <a:r>
              <a:rPr lang="vi-VN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+ 4H</a:t>
            </a:r>
            <a:r>
              <a:rPr lang="vi-VN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O(k</a:t>
            </a:r>
            <a:r>
              <a:rPr lang="vi-VN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vi-VN" sz="2800" dirty="0" smtClean="0">
                <a:latin typeface="Arial" pitchFamily="34" charset="0"/>
                <a:cs typeface="Arial" pitchFamily="34" charset="0"/>
              </a:rPr>
              <a:t>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o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298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[J/molK] 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126,8        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205,0       213,6        188,6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lvl="0" indent="0">
              <a:buNone/>
            </a:pPr>
            <a:r>
              <a:rPr lang="vi-VN" sz="2800" dirty="0">
                <a:latin typeface="Arial" pitchFamily="34" charset="0"/>
                <a:cs typeface="Arial" pitchFamily="34" charset="0"/>
              </a:rPr>
              <a:t>   </a:t>
            </a:r>
            <a:endParaRPr 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066800" y="2895600"/>
            <a:ext cx="7391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∆</a:t>
            </a:r>
            <a:r>
              <a:rPr lang="en-US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 = 3 </a:t>
            </a:r>
            <a:r>
              <a:rPr lang="en-US" sz="32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mol</a:t>
            </a:r>
            <a:r>
              <a:rPr lang="en-US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&gt; </a:t>
            </a:r>
            <a:r>
              <a:rPr lang="en-US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0 </a:t>
            </a:r>
            <a:r>
              <a:rPr lang="en-US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∆</a:t>
            </a:r>
            <a:r>
              <a:rPr lang="vi-VN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&gt; 0</a:t>
            </a:r>
          </a:p>
          <a:p>
            <a:pPr lvl="0">
              <a:lnSpc>
                <a:spcPct val="150000"/>
              </a:lnSpc>
            </a:pPr>
            <a:r>
              <a:rPr lang="en-US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ĐS: ∆</a:t>
            </a:r>
            <a:r>
              <a:rPr lang="vi-V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32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en-US" sz="32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298</a:t>
            </a: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vi-VN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313</a:t>
            </a:r>
            <a:r>
              <a:rPr lang="en-US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[J/K]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80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04800"/>
            <a:ext cx="8991600" cy="30480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s-ES" sz="2800" dirty="0" smtClean="0">
                <a:latin typeface="Arial" pitchFamily="34" charset="0"/>
                <a:cs typeface="Arial" pitchFamily="34" charset="0"/>
              </a:rPr>
              <a:t>5.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T</a:t>
            </a:r>
            <a:r>
              <a:rPr lang="es-ES" sz="2800" dirty="0" err="1" smtClean="0">
                <a:latin typeface="Arial" pitchFamily="34" charset="0"/>
                <a:cs typeface="Arial" pitchFamily="34" charset="0"/>
              </a:rPr>
              <a:t>ính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biến thiên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s-ES" sz="2800" baseline="-25000" dirty="0" smtClean="0"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 smtClean="0">
                <a:latin typeface="Arial" pitchFamily="34" charset="0"/>
                <a:cs typeface="Arial" pitchFamily="34" charset="0"/>
              </a:rPr>
              <a:t>pư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: 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A + C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 B +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D</a:t>
            </a:r>
            <a:endParaRPr lang="vi-VN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thông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qua </a:t>
            </a:r>
            <a:r>
              <a:rPr lang="es-ES" sz="2800" dirty="0" err="1" smtClean="0">
                <a:latin typeface="Arial" pitchFamily="34" charset="0"/>
                <a:cs typeface="Arial" pitchFamily="34" charset="0"/>
              </a:rPr>
              <a:t>các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phản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ứng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điều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kiện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như trên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  D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pt-B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A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;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pt-BR" sz="28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pt-BR" sz="2800" baseline="-25000" dirty="0">
                <a:latin typeface="Arial" pitchFamily="34" charset="0"/>
                <a:cs typeface="Arial" pitchFamily="34" charset="0"/>
              </a:rPr>
              <a:t>		</a:t>
            </a:r>
            <a:r>
              <a:rPr lang="pt-BR" sz="2800" dirty="0">
                <a:latin typeface="Arial" pitchFamily="34" charset="0"/>
                <a:cs typeface="Arial" pitchFamily="34" charset="0"/>
              </a:rPr>
              <a:t>B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pt-B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800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;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pt-BR" sz="2800" baseline="-25000" dirty="0" smtClean="0"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pt-BR" sz="2800" baseline="-25000" dirty="0">
                <a:latin typeface="Arial" pitchFamily="34" charset="0"/>
                <a:cs typeface="Arial" pitchFamily="34" charset="0"/>
              </a:rPr>
              <a:t>		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52600" y="3229213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ĐS: </a:t>
            </a:r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s-ES" sz="2800" b="1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s-E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= </a:t>
            </a:r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- 2.</a:t>
            </a:r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pt-BR" sz="2800" b="1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 </a:t>
            </a:r>
            <a:r>
              <a:rPr lang="pt-BR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- </a:t>
            </a:r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pt-BR" sz="2800" b="1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es-E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2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81001"/>
            <a:ext cx="8763000" cy="27432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6.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Xét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dấu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aseline="-25000" dirty="0" err="1" smtClean="0">
                <a:latin typeface="Arial" pitchFamily="34" charset="0"/>
                <a:cs typeface="Arial" pitchFamily="34" charset="0"/>
                <a:sym typeface="Symbol"/>
              </a:rPr>
              <a:t>htan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của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khí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H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S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trong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nước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 ở 10</a:t>
            </a:r>
            <a:r>
              <a:rPr lang="vi-VN" sz="2800" baseline="30000" dirty="0" smtClean="0"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C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. Cho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biết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quá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trình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có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2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giai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đoạn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          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S(k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hí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) = 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S(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lỏng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) ; </a:t>
            </a:r>
            <a:r>
              <a:rPr lang="vi-VN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n-US" sz="2800" baseline="-250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nt</a:t>
            </a:r>
            <a:r>
              <a:rPr lang="vi-VN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ụ</a:t>
            </a:r>
            <a:endParaRPr lang="en-US" sz="2800" dirty="0" smtClean="0">
              <a:solidFill>
                <a:srgbClr val="0000FF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S(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lỏng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)  +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aq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 = H</a:t>
            </a:r>
            <a:r>
              <a:rPr lang="en-US" sz="28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S(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aq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) </a:t>
            </a:r>
            <a:r>
              <a:rPr lang="vi-VN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  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; 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vi-VN" sz="28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sol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6083" y="3367824"/>
            <a:ext cx="83820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S(</a:t>
            </a:r>
            <a:r>
              <a:rPr lang="vi-VN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khí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)  </a:t>
            </a:r>
            <a:r>
              <a:rPr lang="en-US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+ </a:t>
            </a:r>
            <a:r>
              <a:rPr lang="en-US" sz="28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aq</a:t>
            </a:r>
            <a:r>
              <a:rPr lang="en-US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 = H</a:t>
            </a:r>
            <a:r>
              <a:rPr lang="en-US" sz="2800" baseline="-250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S(</a:t>
            </a:r>
            <a:r>
              <a:rPr lang="en-US" sz="28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aq</a:t>
            </a:r>
            <a:r>
              <a:rPr lang="en-US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) </a:t>
            </a:r>
            <a:r>
              <a:rPr lang="vi-VN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 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; </a:t>
            </a:r>
            <a:r>
              <a:rPr lang="vi-VN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vi-VN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htan</a:t>
            </a:r>
            <a:r>
              <a:rPr lang="vi-VN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= 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vi-VN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n-US" sz="2800" baseline="-250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nt</a:t>
            </a:r>
            <a:r>
              <a:rPr lang="vi-VN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ụ</a:t>
            </a:r>
            <a:r>
              <a:rPr lang="vi-VN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+ 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vi-VN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vi-VN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sol</a:t>
            </a:r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2057400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endParaRPr lang="en-US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685800" y="3124200"/>
            <a:ext cx="7848600" cy="7620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24600" y="1752600"/>
            <a:ext cx="952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 0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1833" y="3367825"/>
            <a:ext cx="952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 0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24600" y="2514600"/>
            <a:ext cx="952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 0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45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40872" y="76200"/>
            <a:ext cx="6116637" cy="719138"/>
          </a:xfrm>
          <a:noFill/>
        </p:spPr>
        <p:txBody>
          <a:bodyPr/>
          <a:lstStyle/>
          <a:p>
            <a:pPr eaLnBrk="1" hangingPunct="1"/>
            <a:r>
              <a:rPr lang="en-US" sz="3200" b="1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CÔNG THỨC TÍNH </a:t>
            </a:r>
            <a:r>
              <a:rPr lang="en-US" sz="3200" b="1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G</a:t>
            </a:r>
            <a:r>
              <a:rPr lang="en-US" sz="3200" b="1" baseline="300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sz="3200" b="1" baseline="-25000" dirty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T</a:t>
            </a:r>
            <a:r>
              <a:rPr lang="en-US" sz="3200" b="1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3445" y="762000"/>
            <a:ext cx="8964612" cy="54721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 smtClean="0"/>
              <a:t>  </a:t>
            </a:r>
            <a:r>
              <a:rPr lang="en-US" dirty="0" err="1" smtClean="0">
                <a:latin typeface="Arial" charset="0"/>
                <a:cs typeface="Arial" charset="0"/>
              </a:rPr>
              <a:t>Phản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latin typeface="Arial" charset="0"/>
                <a:cs typeface="Arial" charset="0"/>
              </a:rPr>
              <a:t>ứng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latin typeface="Arial" charset="0"/>
                <a:cs typeface="Arial" charset="0"/>
              </a:rPr>
              <a:t>hoá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latin typeface="Arial" charset="0"/>
                <a:cs typeface="Arial" charset="0"/>
              </a:rPr>
              <a:t>học</a:t>
            </a:r>
            <a:r>
              <a:rPr lang="en-US" dirty="0" smtClean="0">
                <a:latin typeface="Arial" charset="0"/>
                <a:cs typeface="Arial" charset="0"/>
              </a:rPr>
              <a:t> :  </a:t>
            </a:r>
            <a:r>
              <a:rPr lang="en-US" dirty="0" err="1" smtClean="0">
                <a:latin typeface="Arial" charset="0"/>
                <a:cs typeface="Arial" charset="0"/>
              </a:rPr>
              <a:t>aA</a:t>
            </a:r>
            <a:r>
              <a:rPr lang="en-US" dirty="0" smtClean="0">
                <a:latin typeface="Arial" charset="0"/>
                <a:cs typeface="Arial" charset="0"/>
              </a:rPr>
              <a:t> + </a:t>
            </a:r>
            <a:r>
              <a:rPr lang="en-US" dirty="0" err="1" smtClean="0">
                <a:latin typeface="Arial" charset="0"/>
                <a:cs typeface="Arial" charset="0"/>
              </a:rPr>
              <a:t>bB</a:t>
            </a:r>
            <a:r>
              <a:rPr lang="en-US" dirty="0" smtClean="0">
                <a:latin typeface="Arial" charset="0"/>
                <a:cs typeface="Arial" charset="0"/>
              </a:rPr>
              <a:t> = </a:t>
            </a:r>
            <a:r>
              <a:rPr lang="en-US" dirty="0" err="1" smtClean="0">
                <a:latin typeface="Arial" charset="0"/>
                <a:cs typeface="Arial" charset="0"/>
              </a:rPr>
              <a:t>cC</a:t>
            </a:r>
            <a:r>
              <a:rPr lang="en-US" dirty="0" smtClean="0">
                <a:latin typeface="Arial" charset="0"/>
                <a:cs typeface="Arial" charset="0"/>
              </a:rPr>
              <a:t> +  </a:t>
            </a:r>
            <a:r>
              <a:rPr lang="en-US" dirty="0" err="1" smtClean="0">
                <a:latin typeface="Arial" charset="0"/>
                <a:cs typeface="Arial" charset="0"/>
              </a:rPr>
              <a:t>dD</a:t>
            </a:r>
            <a:endParaRPr lang="en-US" dirty="0" smtClean="0">
              <a:latin typeface="Arial" charset="0"/>
              <a:cs typeface="Arial" charset="0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G</a:t>
            </a:r>
            <a:r>
              <a:rPr lang="en-US" sz="2800" baseline="300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sz="2800" baseline="-250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298</a:t>
            </a:r>
            <a:r>
              <a:rPr lang="en-US" sz="28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 =  (G</a:t>
            </a:r>
            <a:r>
              <a:rPr lang="en-US" sz="2800" baseline="300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sz="2800" baseline="-250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298</a:t>
            </a:r>
            <a:r>
              <a:rPr lang="en-US" sz="28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)</a:t>
            </a:r>
            <a:r>
              <a:rPr lang="en-US" sz="2800" baseline="-25000" dirty="0" err="1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tt</a:t>
            </a:r>
            <a:r>
              <a:rPr lang="en-US" sz="2800" baseline="-250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sản</a:t>
            </a:r>
            <a:r>
              <a:rPr lang="en-US" sz="28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phẩm</a:t>
            </a:r>
            <a:r>
              <a:rPr lang="en-US" sz="28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 -  (G</a:t>
            </a:r>
            <a:r>
              <a:rPr lang="en-US" sz="2800" baseline="300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sz="2800" baseline="-250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298</a:t>
            </a:r>
            <a:r>
              <a:rPr lang="en-US" sz="28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)</a:t>
            </a:r>
            <a:r>
              <a:rPr lang="en-US" sz="2800" baseline="-25000" dirty="0" err="1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tt</a:t>
            </a:r>
            <a:r>
              <a:rPr lang="en-US" sz="2800" baseline="-250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chất</a:t>
            </a:r>
            <a:r>
              <a:rPr lang="en-US" sz="28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đầu</a:t>
            </a:r>
            <a:endParaRPr lang="en-US" sz="2800" dirty="0">
              <a:solidFill>
                <a:srgbClr val="0000FF"/>
              </a:solidFill>
              <a:latin typeface="Arial" charset="0"/>
              <a:cs typeface="Arial" charset="0"/>
              <a:sym typeface="Symbol" pitchFamily="18" charset="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G</a:t>
            </a:r>
            <a:r>
              <a:rPr lang="en-US" sz="2800" baseline="30000" dirty="0" smtClean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sz="2800" baseline="-25000" dirty="0" smtClean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T </a:t>
            </a:r>
            <a:r>
              <a:rPr lang="en-US" sz="2800" dirty="0" smtClean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= H</a:t>
            </a:r>
            <a:r>
              <a:rPr lang="en-US" sz="2800" baseline="30000" dirty="0" smtClean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sz="2800" dirty="0" smtClean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 (</a:t>
            </a:r>
            <a:r>
              <a:rPr lang="en-US" sz="2800" dirty="0" err="1" smtClean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pư</a:t>
            </a:r>
            <a:r>
              <a:rPr lang="en-US" sz="2800" dirty="0" smtClean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) –T. S</a:t>
            </a:r>
            <a:r>
              <a:rPr lang="en-US" sz="2800" baseline="30000" dirty="0" smtClean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sz="2800" dirty="0" smtClean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 (</a:t>
            </a:r>
            <a:r>
              <a:rPr lang="en-US" sz="2800" dirty="0" err="1" smtClean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pư</a:t>
            </a:r>
            <a:r>
              <a:rPr lang="en-US" sz="2800" dirty="0" smtClean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) </a:t>
            </a:r>
            <a:endParaRPr lang="en-US" sz="2800" dirty="0" smtClean="0">
              <a:latin typeface="Arial" charset="0"/>
              <a:cs typeface="Arial" charset="0"/>
              <a:sym typeface="Symbol" pitchFamily="18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Arial" charset="0"/>
                <a:cs typeface="Arial" charset="0"/>
                <a:sym typeface="Symbol" pitchFamily="18" charset="2"/>
              </a:rPr>
              <a:t>(</a:t>
            </a:r>
            <a:r>
              <a:rPr lang="en-US" sz="2800" dirty="0" err="1" smtClean="0">
                <a:latin typeface="Arial" charset="0"/>
                <a:cs typeface="Arial" charset="0"/>
                <a:sym typeface="Symbol" pitchFamily="18" charset="2"/>
              </a:rPr>
              <a:t>xem</a:t>
            </a:r>
            <a:r>
              <a:rPr lang="en-US" sz="2800" dirty="0" smtClean="0"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sz="2800" dirty="0">
                <a:latin typeface="Arial" charset="0"/>
                <a:cs typeface="Arial" charset="0"/>
                <a:sym typeface="Symbol" pitchFamily="18" charset="2"/>
              </a:rPr>
              <a:t>H</a:t>
            </a:r>
            <a:r>
              <a:rPr lang="en-US" sz="2800" baseline="30000" dirty="0"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sz="2800" dirty="0"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  <a:sym typeface="Symbol" pitchFamily="18" charset="2"/>
              </a:rPr>
              <a:t>và</a:t>
            </a:r>
            <a:r>
              <a:rPr lang="en-US" sz="2800" dirty="0" smtClean="0"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sz="2800" dirty="0">
                <a:latin typeface="Arial" charset="0"/>
                <a:cs typeface="Arial" charset="0"/>
                <a:sym typeface="Symbol" pitchFamily="18" charset="2"/>
              </a:rPr>
              <a:t>S</a:t>
            </a:r>
            <a:r>
              <a:rPr lang="en-US" sz="2800" baseline="30000" dirty="0"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sz="2800" dirty="0"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  <a:sym typeface="Symbol" pitchFamily="18" charset="2"/>
              </a:rPr>
              <a:t>không</a:t>
            </a:r>
            <a:r>
              <a:rPr lang="en-US" sz="2800" dirty="0" smtClean="0"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  <a:sym typeface="Symbol" pitchFamily="18" charset="2"/>
              </a:rPr>
              <a:t>phụ</a:t>
            </a:r>
            <a:r>
              <a:rPr lang="en-US" sz="2800" dirty="0" smtClean="0"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  <a:sym typeface="Symbol" pitchFamily="18" charset="2"/>
              </a:rPr>
              <a:t>thuộc</a:t>
            </a:r>
            <a:r>
              <a:rPr lang="en-US" sz="2800" dirty="0" smtClean="0"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  <a:sym typeface="Symbol" pitchFamily="18" charset="2"/>
              </a:rPr>
              <a:t>nhiệt</a:t>
            </a:r>
            <a:r>
              <a:rPr lang="en-US" sz="2800" dirty="0" smtClean="0"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  <a:sym typeface="Symbol" pitchFamily="18" charset="2"/>
              </a:rPr>
              <a:t>độ</a:t>
            </a:r>
            <a:r>
              <a:rPr lang="en-US" sz="2800" dirty="0" smtClean="0">
                <a:latin typeface="Arial" charset="0"/>
                <a:cs typeface="Arial" charset="0"/>
                <a:sym typeface="Symbol" pitchFamily="18" charset="2"/>
              </a:rPr>
              <a:t>)</a:t>
            </a:r>
            <a:endParaRPr lang="en-US" sz="2800" dirty="0">
              <a:latin typeface="Arial" charset="0"/>
              <a:cs typeface="Arial" charset="0"/>
              <a:sym typeface="Symbol" pitchFamily="18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G</a:t>
            </a:r>
            <a:r>
              <a:rPr lang="en-US" sz="2800" baseline="30000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sz="2800" baseline="-25000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T</a:t>
            </a:r>
            <a:r>
              <a:rPr lang="en-US" sz="2800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 = - </a:t>
            </a:r>
            <a:r>
              <a:rPr lang="en-US" sz="2800" dirty="0" err="1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R.T.lnQ</a:t>
            </a:r>
            <a:r>
              <a:rPr lang="en-US" sz="2800" baseline="-25000" dirty="0" err="1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cb</a:t>
            </a:r>
            <a:r>
              <a:rPr lang="en-US" sz="2800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 = -</a:t>
            </a:r>
            <a:r>
              <a:rPr lang="en-US" sz="2800" dirty="0" err="1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R.T.lnK</a:t>
            </a:r>
            <a:endParaRPr lang="en-US" sz="2800" baseline="-25000" dirty="0">
              <a:solidFill>
                <a:srgbClr val="008000"/>
              </a:solidFill>
              <a:latin typeface="Arial" charset="0"/>
              <a:cs typeface="Arial" charset="0"/>
              <a:sym typeface="Symbol" pitchFamily="18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G</a:t>
            </a:r>
            <a:r>
              <a:rPr lang="en-US" sz="2800" baseline="300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sz="2800" baseline="-250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298 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= -</a:t>
            </a:r>
            <a:r>
              <a:rPr lang="en-US" sz="2800" dirty="0" err="1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A’</a:t>
            </a:r>
            <a:r>
              <a:rPr lang="en-US" sz="2800" baseline="-25000" dirty="0" err="1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max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 = -n.F.E</a:t>
            </a:r>
            <a:r>
              <a:rPr lang="en-US" sz="2800" baseline="300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 = -</a:t>
            </a:r>
            <a:r>
              <a:rPr lang="en-US" sz="2800" dirty="0" err="1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n.F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.(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</a:t>
            </a:r>
            <a:r>
              <a:rPr lang="en-US" sz="2800" baseline="300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0</a:t>
            </a:r>
            <a:r>
              <a:rPr lang="en-US" sz="2800" baseline="-250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+</a:t>
            </a:r>
            <a:r>
              <a:rPr lang="en-US" sz="2800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- </a:t>
            </a:r>
            <a:r>
              <a:rPr lang="en-US" sz="2800" baseline="300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0</a:t>
            </a:r>
            <a:r>
              <a:rPr lang="en-US" sz="2800" baseline="-250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-</a:t>
            </a:r>
            <a:r>
              <a:rPr lang="en-US" sz="2800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)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 ;  (ở 25</a:t>
            </a:r>
            <a:r>
              <a:rPr lang="en-US" sz="2800" baseline="300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C)</a:t>
            </a:r>
            <a:endParaRPr lang="en-US" sz="2800" dirty="0">
              <a:solidFill>
                <a:srgbClr val="FF0000"/>
              </a:solidFill>
              <a:latin typeface="Arial" charset="0"/>
              <a:cs typeface="Arial" charset="0"/>
              <a:sym typeface="Symbol" pitchFamily="18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charset="0"/>
                <a:cs typeface="Arial" charset="0"/>
                <a:sym typeface="Symbol" pitchFamily="18" charset="2"/>
              </a:rPr>
              <a:t>G = G</a:t>
            </a:r>
            <a:r>
              <a:rPr lang="en-US" baseline="-25000" dirty="0" smtClean="0">
                <a:solidFill>
                  <a:schemeClr val="accent6">
                    <a:lumMod val="50000"/>
                  </a:schemeClr>
                </a:solidFill>
                <a:latin typeface="Arial" charset="0"/>
                <a:cs typeface="Arial" charset="0"/>
                <a:sym typeface="Symbol" pitchFamily="18" charset="2"/>
              </a:rPr>
              <a:t>1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charset="0"/>
                <a:cs typeface="Arial" charset="0"/>
                <a:sym typeface="Symbol" pitchFamily="18" charset="2"/>
              </a:rPr>
              <a:t> + G</a:t>
            </a:r>
            <a:r>
              <a:rPr lang="en-US" baseline="-25000" dirty="0" smtClean="0">
                <a:solidFill>
                  <a:schemeClr val="accent6">
                    <a:lumMod val="50000"/>
                  </a:schemeClr>
                </a:solidFill>
                <a:latin typeface="Arial" charset="0"/>
                <a:cs typeface="Arial" charset="0"/>
                <a:sym typeface="Symbol" pitchFamily="18" charset="2"/>
              </a:rPr>
              <a:t>2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Arial" charset="0"/>
                <a:cs typeface="Arial" charset="0"/>
                <a:sym typeface="Symbol" pitchFamily="18" charset="2"/>
              </a:rPr>
              <a:t> </a:t>
            </a:r>
            <a:endParaRPr lang="en-US" sz="2800" dirty="0" smtClean="0">
              <a:solidFill>
                <a:schemeClr val="accent6">
                  <a:lumMod val="50000"/>
                </a:schemeClr>
              </a:solidFill>
              <a:latin typeface="Arial" charset="0"/>
              <a:cs typeface="Arial" charset="0"/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sz="2800" b="1" dirty="0" smtClean="0">
              <a:solidFill>
                <a:srgbClr val="FF0000"/>
              </a:solidFill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dirty="0" smtClean="0">
              <a:sym typeface="Symbol" pitchFamily="18" charset="2"/>
            </a:endParaRPr>
          </a:p>
          <a:p>
            <a:pPr eaLnBrk="1" hangingPunct="1"/>
            <a:endParaRPr lang="en-US" sz="2400" baseline="-25000" dirty="0" smtClean="0">
              <a:sym typeface="Symbol" pitchFamily="18" charset="2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5111750" y="4797425"/>
            <a:ext cx="40322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dirty="0"/>
          </a:p>
          <a:p>
            <a:pPr eaLnBrk="1" hangingPunct="1">
              <a:spcBef>
                <a:spcPct val="50000"/>
              </a:spcBef>
              <a:buFontTx/>
              <a:buAutoNum type="arabicPlain"/>
            </a:pPr>
            <a:r>
              <a:rPr lang="en-US" dirty="0"/>
              <a:t>                          2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                 3 </a:t>
            </a:r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>
            <a:off x="5651500" y="5573712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>
            <a:off x="5435600" y="5661025"/>
            <a:ext cx="1081088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 flipV="1">
            <a:off x="6877050" y="5661025"/>
            <a:ext cx="935038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6192837" y="5029200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ym typeface="Symbol" pitchFamily="18" charset="2"/>
              </a:rPr>
              <a:t>G</a:t>
            </a:r>
          </a:p>
        </p:txBody>
      </p: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5219700" y="5876925"/>
            <a:ext cx="865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ym typeface="Symbol" pitchFamily="18" charset="2"/>
              </a:rPr>
              <a:t>G</a:t>
            </a:r>
            <a:r>
              <a:rPr lang="en-US" baseline="-25000">
                <a:sym typeface="Symbol" pitchFamily="18" charset="2"/>
              </a:rPr>
              <a:t>1</a:t>
            </a:r>
            <a:endParaRPr lang="en-US">
              <a:sym typeface="Symbol" pitchFamily="18" charset="2"/>
            </a:endParaRPr>
          </a:p>
        </p:txBody>
      </p:sp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7235825" y="5949950"/>
            <a:ext cx="1008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ym typeface="Symbol" pitchFamily="18" charset="2"/>
              </a:rPr>
              <a:t>G</a:t>
            </a:r>
            <a:r>
              <a:rPr lang="en-US" baseline="-25000">
                <a:sym typeface="Symbol" pitchFamily="18" charset="2"/>
              </a:rPr>
              <a:t>2</a:t>
            </a:r>
            <a:endParaRPr lang="en-US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2691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  <p:bldP spid="27652" grpId="0"/>
      <p:bldP spid="27653" grpId="0" animBg="1"/>
      <p:bldP spid="27654" grpId="0" animBg="1"/>
      <p:bldP spid="27655" grpId="0" animBg="1"/>
      <p:bldP spid="27656" grpId="0"/>
      <p:bldP spid="27657" grpId="0"/>
      <p:bldP spid="276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EBD67453-EF75-4CD1-9AF2-2147DDA5F429}"/>
                  </a:ext>
                </a:extLst>
              </p:cNvPr>
              <p:cNvSpPr txBox="1"/>
              <p:nvPr/>
            </p:nvSpPr>
            <p:spPr>
              <a:xfrm>
                <a:off x="0" y="351082"/>
                <a:ext cx="2376264" cy="651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8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rgbClr val="008000"/>
                    </a:solidFill>
                  </a:rPr>
                  <a:t> =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BD67453-EF75-4CD1-9AF2-2147DDA5F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1082"/>
                <a:ext cx="2376264" cy="651269"/>
              </a:xfrm>
              <a:prstGeom prst="rect">
                <a:avLst/>
              </a:prstGeom>
              <a:blipFill rotWithShape="1">
                <a:blip r:embed="rId2"/>
                <a:stretch>
                  <a:fillRect t="-8491" b="-24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1EC95BFE-C273-4631-8AC2-000898E9826C}"/>
                  </a:ext>
                </a:extLst>
              </p:cNvPr>
              <p:cNvSpPr txBox="1"/>
              <p:nvPr/>
            </p:nvSpPr>
            <p:spPr>
              <a:xfrm>
                <a:off x="1905000" y="348250"/>
                <a:ext cx="4157017" cy="597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8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</m:t>
                        </m:r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en-US" sz="320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𝑡𝑡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rgbClr val="008000"/>
                    </a:solidFill>
                  </a:rPr>
                  <a:t>)</a:t>
                </a:r>
                <a:r>
                  <a:rPr lang="en-US" sz="3200" baseline="-25000" dirty="0" err="1">
                    <a:solidFill>
                      <a:srgbClr val="008000"/>
                    </a:solidFill>
                  </a:rPr>
                  <a:t>sản</a:t>
                </a:r>
                <a:r>
                  <a:rPr lang="en-US" sz="3200" baseline="-25000" dirty="0">
                    <a:solidFill>
                      <a:srgbClr val="008000"/>
                    </a:solidFill>
                  </a:rPr>
                  <a:t> </a:t>
                </a:r>
                <a:r>
                  <a:rPr lang="en-US" sz="3200" baseline="-25000" dirty="0" err="1">
                    <a:solidFill>
                      <a:srgbClr val="008000"/>
                    </a:solidFill>
                  </a:rPr>
                  <a:t>phẩm</a:t>
                </a:r>
                <a:endParaRPr lang="en-US" sz="3200" baseline="-25000" dirty="0">
                  <a:solidFill>
                    <a:srgbClr val="008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EC95BFE-C273-4631-8AC2-000898E98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8250"/>
                <a:ext cx="4157017" cy="597921"/>
              </a:xfrm>
              <a:prstGeom prst="rect">
                <a:avLst/>
              </a:prstGeom>
              <a:blipFill rotWithShape="1">
                <a:blip r:embed="rId3"/>
                <a:stretch>
                  <a:fillRect t="-10204" b="-33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7E0B2FE0-E058-43B4-8FD8-F8E7AD4222D0}"/>
                  </a:ext>
                </a:extLst>
              </p:cNvPr>
              <p:cNvSpPr txBox="1"/>
              <p:nvPr/>
            </p:nvSpPr>
            <p:spPr>
              <a:xfrm>
                <a:off x="4985805" y="406117"/>
                <a:ext cx="4157017" cy="597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8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</m:t>
                        </m:r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en-US" sz="320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𝑡𝑡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rgbClr val="008000"/>
                    </a:solidFill>
                  </a:rPr>
                  <a:t>)</a:t>
                </a:r>
                <a:r>
                  <a:rPr lang="en-US" sz="3200" baseline="-25000" dirty="0" err="1">
                    <a:solidFill>
                      <a:srgbClr val="008000"/>
                    </a:solidFill>
                  </a:rPr>
                  <a:t>chất</a:t>
                </a:r>
                <a:r>
                  <a:rPr lang="en-US" sz="3200" dirty="0">
                    <a:solidFill>
                      <a:srgbClr val="008000"/>
                    </a:solidFill>
                  </a:rPr>
                  <a:t> </a:t>
                </a:r>
                <a:r>
                  <a:rPr lang="en-US" sz="3200" baseline="-25000" dirty="0" err="1">
                    <a:solidFill>
                      <a:srgbClr val="008000"/>
                    </a:solidFill>
                  </a:rPr>
                  <a:t>đầu</a:t>
                </a:r>
                <a:endParaRPr lang="en-US" sz="3200" baseline="-25000" dirty="0">
                  <a:solidFill>
                    <a:srgbClr val="008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E0B2FE0-E058-43B4-8FD8-F8E7AD422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805" y="406117"/>
                <a:ext cx="4157017" cy="597921"/>
              </a:xfrm>
              <a:prstGeom prst="rect">
                <a:avLst/>
              </a:prstGeom>
              <a:blipFill rotWithShape="1">
                <a:blip r:embed="rId4"/>
                <a:stretch>
                  <a:fillRect t="-10204" b="-33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311" y="1143000"/>
                <a:ext cx="9125568" cy="3383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vi-VN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Tính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i="0">
                            <a:solidFill>
                              <a:schemeClr val="tx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chemeClr val="tx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sz="2800" i="0">
                            <a:solidFill>
                              <a:schemeClr val="tx1"/>
                            </a:solidFill>
                            <a:latin typeface="Cambria Math"/>
                          </a:rPr>
                          <m:t>298 </m:t>
                        </m:r>
                      </m:sub>
                      <m:sup>
                        <m:r>
                          <a:rPr lang="en-US" sz="2800" i="0">
                            <a:solidFill>
                              <a:schemeClr val="tx1"/>
                            </a:solidFill>
                            <a:latin typeface="Cambria Math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vi-VN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của pư: Fe(OH)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r>
                  <a:rPr lang="vi-VN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(r) </a:t>
                </a:r>
                <a:r>
                  <a:rPr lang="en-US" sz="2800" b="1" dirty="0"/>
                  <a:t>⇌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 </a:t>
                </a:r>
                <a:r>
                  <a:rPr lang="vi-VN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Fe</a:t>
                </a:r>
                <a:r>
                  <a:rPr lang="en-US" sz="2800" baseline="3000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r>
                  <a:rPr lang="vi-VN" sz="2800" baseline="30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+</a:t>
                </a:r>
                <a:r>
                  <a:rPr lang="vi-VN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(dd) + 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r>
                  <a:rPr lang="vi-VN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OH</a:t>
                </a:r>
                <a:r>
                  <a:rPr lang="vi-VN" sz="2800" baseline="30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-</a:t>
                </a:r>
                <a:r>
                  <a:rPr lang="vi-VN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(dd) . Cho biết thế đẳng áp tạo thành tiêu chuẩn ở 25</a:t>
                </a:r>
                <a:r>
                  <a:rPr lang="vi-VN" sz="2800" baseline="30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vi-VN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C của Fe(OH)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r>
                  <a:rPr lang="vi-VN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(r), Fe</a:t>
                </a:r>
                <a:r>
                  <a:rPr lang="en-US" sz="2800" baseline="3000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r>
                  <a:rPr lang="vi-VN" sz="2800" baseline="30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+</a:t>
                </a:r>
                <a:r>
                  <a:rPr lang="vi-VN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(</a:t>
                </a:r>
                <a:r>
                  <a:rPr lang="vi-VN" sz="280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dd</a:t>
                </a:r>
                <a:r>
                  <a:rPr lang="vi-VN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), OH</a:t>
                </a:r>
                <a:r>
                  <a:rPr lang="vi-VN" sz="2800" baseline="30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-</a:t>
                </a:r>
                <a:r>
                  <a:rPr lang="vi-VN" sz="280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(dd) </a:t>
                </a:r>
                <a:r>
                  <a:rPr lang="vi-VN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có giá trị lần lượt là: </a:t>
                </a:r>
                <a:r>
                  <a:rPr lang="en-US" sz="28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 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- 696,5; </a:t>
                </a:r>
                <a:r>
                  <a:rPr lang="vi-VN" sz="2800" dirty="0" smtClean="0">
                    <a:latin typeface="Arial" pitchFamily="34" charset="0"/>
                    <a:cs typeface="Arial" pitchFamily="34" charset="0"/>
                  </a:rPr>
                  <a:t> -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vi-VN" sz="2800" dirty="0" smtClean="0">
                    <a:latin typeface="Arial" pitchFamily="34" charset="0"/>
                    <a:cs typeface="Arial" pitchFamily="34" charset="0"/>
                  </a:rPr>
                  <a:t>4,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7</a:t>
                </a:r>
                <a:r>
                  <a:rPr lang="vi-VN" sz="2800" dirty="0" smtClean="0">
                    <a:latin typeface="Arial" pitchFamily="34" charset="0"/>
                    <a:cs typeface="Arial" pitchFamily="34" charset="0"/>
                  </a:rPr>
                  <a:t>; -157,3 [kJ/mol]. 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vi-VN" sz="28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ĐS: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𝟐𝟗𝟖</m:t>
                        </m:r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sub>
                      <m:sup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/>
                          </a:rPr>
                          <m:t>𝟎</m:t>
                        </m:r>
                      </m:sup>
                    </m:sSubSup>
                    <m:r>
                      <a:rPr lang="en-US" sz="28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= 219,9 kJ</a:t>
                </a:r>
                <a:endParaRPr lang="vi-VN" sz="2800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vi-VN" sz="2800" dirty="0" smtClean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11" y="1143000"/>
                <a:ext cx="9125568" cy="3383555"/>
              </a:xfrm>
              <a:prstGeom prst="rect">
                <a:avLst/>
              </a:prstGeom>
              <a:blipFill rotWithShape="1">
                <a:blip r:embed="rId5"/>
                <a:stretch>
                  <a:fillRect l="-1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52400" y="3962400"/>
                <a:ext cx="9125568" cy="2418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b="1">
                            <a:solidFill>
                              <a:srgbClr val="0000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1">
                            <a:solidFill>
                              <a:srgbClr val="0000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3200" b="1">
                            <a:solidFill>
                              <a:srgbClr val="0000FF"/>
                            </a:solidFill>
                            <a:latin typeface="Cambria Math"/>
                          </a:rPr>
                          <m:t>𝟐𝟗𝟖</m:t>
                        </m:r>
                        <m:r>
                          <a:rPr lang="en-US" sz="3200" b="1">
                            <a:solidFill>
                              <a:srgbClr val="0000FF"/>
                            </a:solidFill>
                            <a:latin typeface="Cambria Math"/>
                          </a:rPr>
                          <m:t> </m:t>
                        </m:r>
                      </m:sub>
                      <m:sup>
                        <m:r>
                          <a:rPr lang="en-US" sz="3200" b="1">
                            <a:solidFill>
                              <a:srgbClr val="0000FF"/>
                            </a:solidFill>
                            <a:latin typeface="Cambria Math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32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= - 4,7 – </a:t>
                </a:r>
                <a:r>
                  <a:rPr lang="en-US" sz="32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r>
                  <a:rPr lang="en-US" sz="32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.157,3 + 696.5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b="1">
                            <a:solidFill>
                              <a:srgbClr val="CC00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1">
                            <a:solidFill>
                              <a:srgbClr val="CC00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3200" b="1">
                            <a:solidFill>
                              <a:srgbClr val="CC00FF"/>
                            </a:solidFill>
                            <a:latin typeface="Cambria Math"/>
                          </a:rPr>
                          <m:t>𝟐𝟗𝟖</m:t>
                        </m:r>
                        <m:r>
                          <a:rPr lang="en-US" sz="3200" b="1">
                            <a:solidFill>
                              <a:srgbClr val="CC00FF"/>
                            </a:solidFill>
                            <a:latin typeface="Cambria Math"/>
                          </a:rPr>
                          <m:t> </m:t>
                        </m:r>
                      </m:sub>
                      <m:sup>
                        <m:r>
                          <a:rPr lang="en-US" sz="3200" b="1">
                            <a:solidFill>
                              <a:srgbClr val="CC00FF"/>
                            </a:solidFill>
                            <a:latin typeface="Cambria Math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32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= 219,9 [kJ] &gt; + 40 kJ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200" dirty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</a:t>
                </a:r>
                <a:r>
                  <a:rPr lang="en-US" sz="32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pư</a:t>
                </a:r>
                <a:r>
                  <a:rPr lang="en-US" sz="28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tự</a:t>
                </a:r>
                <a:r>
                  <a:rPr lang="en-US" sz="28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phát</a:t>
                </a:r>
                <a:r>
                  <a:rPr lang="en-US" sz="28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hoàn</a:t>
                </a:r>
                <a:r>
                  <a:rPr lang="en-US" sz="28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toàn</a:t>
                </a:r>
                <a:r>
                  <a:rPr lang="en-US" sz="28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theo</a:t>
                </a:r>
                <a:r>
                  <a:rPr lang="en-US" sz="28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chiều</a:t>
                </a:r>
                <a:r>
                  <a:rPr lang="en-US" sz="28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nghịch</a:t>
                </a:r>
                <a:r>
                  <a:rPr lang="en-US" sz="28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ở 25</a:t>
                </a:r>
                <a:r>
                  <a:rPr lang="en-US" sz="2800" baseline="300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en-US" sz="28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C.</a:t>
                </a:r>
                <a:endParaRPr lang="en-US" sz="2800" dirty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962400"/>
                <a:ext cx="9125568" cy="2418354"/>
              </a:xfrm>
              <a:prstGeom prst="rect">
                <a:avLst/>
              </a:prstGeom>
              <a:blipFill rotWithShape="1">
                <a:blip r:embed="rId6"/>
                <a:stretch>
                  <a:fillRect l="-1670" b="-3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4882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1"/>
            <a:ext cx="8229600" cy="6858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G</a:t>
            </a:r>
            <a:r>
              <a:rPr lang="en-US" baseline="30000" dirty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baseline="-25000" dirty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T </a:t>
            </a:r>
            <a:r>
              <a:rPr lang="en-US" dirty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= H</a:t>
            </a:r>
            <a:r>
              <a:rPr lang="en-US" baseline="30000" dirty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dirty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 (</a:t>
            </a:r>
            <a:r>
              <a:rPr lang="en-US" dirty="0" err="1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pư</a:t>
            </a:r>
            <a:r>
              <a:rPr lang="en-US" dirty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) –T. S</a:t>
            </a:r>
            <a:r>
              <a:rPr lang="en-US" baseline="30000" dirty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dirty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 (</a:t>
            </a:r>
            <a:r>
              <a:rPr lang="en-US" dirty="0" err="1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pư</a:t>
            </a:r>
            <a:r>
              <a:rPr lang="en-US" dirty="0">
                <a:solidFill>
                  <a:srgbClr val="CC00FF"/>
                </a:solidFill>
                <a:latin typeface="Arial" charset="0"/>
                <a:cs typeface="Arial" charset="0"/>
                <a:sym typeface="Symbol" pitchFamily="18" charset="2"/>
              </a:rPr>
              <a:t>)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6200" y="1143000"/>
            <a:ext cx="9067800" cy="3276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dirty="0" err="1" smtClean="0">
                <a:solidFill>
                  <a:srgbClr val="0000FF"/>
                </a:solidFill>
              </a:rPr>
              <a:t>Tính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</a:t>
            </a:r>
            <a:r>
              <a:rPr lang="en-US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G</a:t>
            </a:r>
            <a:r>
              <a:rPr lang="en-US" baseline="300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baseline="-25000" dirty="0" smtClean="0">
                <a:solidFill>
                  <a:srgbClr val="0000FF"/>
                </a:solidFill>
                <a:latin typeface="Arial" charset="0"/>
                <a:cs typeface="Arial" charset="0"/>
                <a:sym typeface="Symbol" pitchFamily="18" charset="2"/>
              </a:rPr>
              <a:t>298,pư</a:t>
            </a:r>
            <a:r>
              <a:rPr lang="vi-VN" dirty="0" smtClean="0">
                <a:solidFill>
                  <a:srgbClr val="0000FF"/>
                </a:solidFill>
              </a:rPr>
              <a:t>:</a:t>
            </a:r>
            <a:r>
              <a:rPr lang="pt-BR" dirty="0" smtClean="0">
                <a:solidFill>
                  <a:srgbClr val="0000FF"/>
                </a:solidFill>
              </a:rPr>
              <a:t>2NaHCO</a:t>
            </a:r>
            <a:r>
              <a:rPr lang="pt-BR" baseline="-25000" dirty="0" smtClean="0">
                <a:solidFill>
                  <a:srgbClr val="0000FF"/>
                </a:solidFill>
              </a:rPr>
              <a:t>3(r)</a:t>
            </a:r>
            <a:r>
              <a:rPr lang="en-US" b="1" dirty="0" smtClean="0">
                <a:solidFill>
                  <a:srgbClr val="C00000"/>
                </a:solidFill>
              </a:rPr>
              <a:t>⇌</a:t>
            </a:r>
            <a:r>
              <a:rPr lang="pt-BR" dirty="0" smtClean="0">
                <a:solidFill>
                  <a:srgbClr val="0000FF"/>
                </a:solidFill>
              </a:rPr>
              <a:t> Na</a:t>
            </a:r>
            <a:r>
              <a:rPr lang="pt-BR" baseline="-25000" dirty="0" smtClean="0">
                <a:solidFill>
                  <a:srgbClr val="0000FF"/>
                </a:solidFill>
              </a:rPr>
              <a:t>2</a:t>
            </a:r>
            <a:r>
              <a:rPr lang="pt-BR" dirty="0" smtClean="0">
                <a:solidFill>
                  <a:srgbClr val="0000FF"/>
                </a:solidFill>
              </a:rPr>
              <a:t>CO</a:t>
            </a:r>
            <a:r>
              <a:rPr lang="pt-BR" baseline="-25000" dirty="0" smtClean="0">
                <a:solidFill>
                  <a:srgbClr val="0000FF"/>
                </a:solidFill>
              </a:rPr>
              <a:t>3(r)</a:t>
            </a:r>
            <a:r>
              <a:rPr lang="pt-BR" dirty="0" smtClean="0">
                <a:solidFill>
                  <a:srgbClr val="0000FF"/>
                </a:solidFill>
              </a:rPr>
              <a:t> + CO</a:t>
            </a:r>
            <a:r>
              <a:rPr lang="pt-BR" baseline="-25000" dirty="0" smtClean="0">
                <a:solidFill>
                  <a:srgbClr val="0000FF"/>
                </a:solidFill>
              </a:rPr>
              <a:t>2(k)</a:t>
            </a:r>
            <a:r>
              <a:rPr lang="pt-BR" dirty="0" smtClean="0">
                <a:solidFill>
                  <a:srgbClr val="0000FF"/>
                </a:solidFill>
              </a:rPr>
              <a:t> + H</a:t>
            </a:r>
            <a:r>
              <a:rPr lang="pt-BR" baseline="-25000" dirty="0" smtClean="0">
                <a:solidFill>
                  <a:srgbClr val="0000FF"/>
                </a:solidFill>
              </a:rPr>
              <a:t>2</a:t>
            </a:r>
            <a:r>
              <a:rPr lang="pt-BR" dirty="0" smtClean="0">
                <a:solidFill>
                  <a:srgbClr val="0000FF"/>
                </a:solidFill>
              </a:rPr>
              <a:t>O</a:t>
            </a:r>
            <a:r>
              <a:rPr lang="pt-BR" baseline="-25000" dirty="0" smtClean="0">
                <a:solidFill>
                  <a:srgbClr val="0000FF"/>
                </a:solidFill>
              </a:rPr>
              <a:t>(k</a:t>
            </a:r>
            <a:r>
              <a:rPr lang="pt-BR" baseline="-25000" dirty="0" smtClean="0"/>
              <a:t>)</a:t>
            </a:r>
            <a:endParaRPr lang="en-US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</a:t>
            </a:r>
            <a:r>
              <a:rPr lang="en-US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H</a:t>
            </a:r>
            <a:r>
              <a:rPr lang="en-US" baseline="30000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baseline="-25000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298,tt</a:t>
            </a:r>
            <a:r>
              <a:rPr lang="en-US" baseline="30000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pt-BR" dirty="0" smtClean="0">
                <a:solidFill>
                  <a:srgbClr val="008000"/>
                </a:solidFill>
              </a:rPr>
              <a:t>(kJ/mol) –948</a:t>
            </a:r>
            <a:r>
              <a:rPr lang="pt-BR" dirty="0">
                <a:solidFill>
                  <a:srgbClr val="008000"/>
                </a:solidFill>
              </a:rPr>
              <a:t> </a:t>
            </a:r>
            <a:r>
              <a:rPr lang="pt-BR" dirty="0" smtClean="0">
                <a:solidFill>
                  <a:srgbClr val="008000"/>
                </a:solidFill>
              </a:rPr>
              <a:t>      –1131	       –393,5	   –241,8  </a:t>
            </a:r>
            <a:endParaRPr lang="en-US" dirty="0" smtClean="0">
              <a:solidFill>
                <a:srgbClr val="008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>
                <a:latin typeface="Arial" charset="0"/>
                <a:cs typeface="Arial" charset="0"/>
                <a:sym typeface="Symbol" pitchFamily="18" charset="2"/>
              </a:rPr>
              <a:t>S</a:t>
            </a:r>
            <a:r>
              <a:rPr lang="en-US" baseline="30000" dirty="0" smtClean="0"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baseline="-25000" dirty="0" smtClean="0">
                <a:latin typeface="Arial" charset="0"/>
                <a:cs typeface="Arial" charset="0"/>
                <a:sym typeface="Symbol" pitchFamily="18" charset="2"/>
              </a:rPr>
              <a:t>298</a:t>
            </a:r>
            <a:r>
              <a:rPr lang="pt-BR" dirty="0" smtClean="0"/>
              <a:t>(J/molK)         102,1	  136	         213,7	    188,7</a:t>
            </a:r>
            <a:endParaRPr lang="en-US" dirty="0" smtClean="0"/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6700" y="3727101"/>
            <a:ext cx="8686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 ĐS: 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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G</a:t>
            </a:r>
            <a:r>
              <a:rPr lang="en-US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0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298,pư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= 30 kJ &gt; 0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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pư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diễn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ra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theo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chiều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nghịch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tại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đk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chuẩn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25</a:t>
            </a:r>
            <a:r>
              <a:rPr lang="en-US" sz="2800" baseline="300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0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C.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4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G</a:t>
            </a:r>
            <a:r>
              <a:rPr lang="en-US" baseline="30000" dirty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baseline="-25000" dirty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T</a:t>
            </a:r>
            <a:r>
              <a:rPr lang="en-US" dirty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 = - </a:t>
            </a:r>
            <a:r>
              <a:rPr lang="en-US" dirty="0" err="1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R.T.ln</a:t>
            </a:r>
            <a:r>
              <a:rPr lang="en-US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Q</a:t>
            </a:r>
            <a:r>
              <a:rPr lang="en-US" baseline="-25000" dirty="0" err="1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p</a:t>
            </a:r>
            <a:r>
              <a:rPr lang="en-US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)</a:t>
            </a:r>
            <a:r>
              <a:rPr lang="en-US" baseline="-25000" dirty="0" err="1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cb</a:t>
            </a:r>
            <a:r>
              <a:rPr lang="en-US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dirty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= -</a:t>
            </a:r>
            <a:r>
              <a:rPr lang="en-US" dirty="0" err="1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R.T.lnK</a:t>
            </a:r>
            <a:r>
              <a:rPr lang="en-US" baseline="-25000" dirty="0" err="1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p</a:t>
            </a:r>
            <a:r>
              <a:rPr lang="en-US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    (</a:t>
            </a:r>
            <a:r>
              <a:rPr lang="en-US" dirty="0" err="1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hệ</a:t>
            </a:r>
            <a:r>
              <a:rPr lang="en-US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dirty="0" err="1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khí</a:t>
            </a:r>
            <a:r>
              <a:rPr lang="en-US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 pitchFamily="18" charset="2"/>
              </a:rPr>
              <a:t>)</a:t>
            </a:r>
            <a:endParaRPr lang="en-US" baseline="-25000" dirty="0">
              <a:solidFill>
                <a:srgbClr val="008000"/>
              </a:solidFill>
              <a:latin typeface="Arial" charset="0"/>
              <a:cs typeface="Arial" charset="0"/>
              <a:sym typeface="Symbol" pitchFamily="18" charset="2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1566" y="838200"/>
            <a:ext cx="8991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 pitchFamily="18" charset="2"/>
              </a:rPr>
              <a:t>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G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0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773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 pitchFamily="18" charset="2"/>
              </a:rPr>
              <a:t>của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 pitchFamily="18" charset="2"/>
              </a:rPr>
              <a:t>pư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: N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(k) + 3H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(k)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⇌ 2NH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(k). Cho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biết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ở 500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hằng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cân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bằng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K</a:t>
            </a:r>
            <a:r>
              <a:rPr lang="en-US" sz="2800" baseline="-25000" dirty="0" err="1" smtClean="0">
                <a:latin typeface="Arial" pitchFamily="34" charset="0"/>
                <a:cs typeface="Arial" pitchFamily="34" charset="0"/>
              </a:rPr>
              <a:t>p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= 1,44.10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-5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76400" y="2666999"/>
            <a:ext cx="563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ĐS: </a:t>
            </a: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G</a:t>
            </a:r>
            <a:r>
              <a:rPr lang="en-US" sz="32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0</a:t>
            </a:r>
            <a:r>
              <a:rPr lang="en-US" sz="32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773</a:t>
            </a: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= </a:t>
            </a:r>
            <a:r>
              <a:rPr lang="en-US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+ 71,65 kJ </a:t>
            </a:r>
            <a:endParaRPr lang="en-US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19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</a:t>
            </a:r>
            <a:r>
              <a:rPr lang="en-US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G</a:t>
            </a:r>
            <a:r>
              <a:rPr lang="en-US" baseline="300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baseline="-250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298 </a:t>
            </a:r>
            <a:r>
              <a:rPr lang="en-US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= -n.F.E</a:t>
            </a:r>
            <a:r>
              <a:rPr lang="en-US" baseline="30000" dirty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 = -</a:t>
            </a:r>
            <a:r>
              <a:rPr lang="en-US" dirty="0" err="1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n.F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.(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</a:t>
            </a:r>
            <a:r>
              <a:rPr lang="en-US" baseline="30000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0</a:t>
            </a:r>
            <a:r>
              <a:rPr lang="en-US" baseline="-25000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+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 - </a:t>
            </a:r>
            <a:r>
              <a:rPr lang="en-US" baseline="30000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0</a:t>
            </a:r>
            <a:r>
              <a:rPr lang="en-US" baseline="-25000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-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)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2400" y="850131"/>
            <a:ext cx="83820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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G</a:t>
            </a:r>
            <a:r>
              <a:rPr lang="en-US" sz="2800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0</a:t>
            </a:r>
            <a:r>
              <a:rPr lang="en-US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298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của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pư</a:t>
            </a:r>
            <a:r>
              <a:rPr lang="en-US" sz="28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sau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cho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biết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thế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khử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chuẩn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của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Fe</a:t>
            </a:r>
            <a:r>
              <a:rPr lang="en-US" sz="2800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2+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/Fe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có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giá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trị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là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- 0,44 V; F = 96 500 C/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mol</a:t>
            </a:r>
            <a:endParaRPr lang="en-US" sz="2800" dirty="0" smtClean="0">
              <a:solidFill>
                <a:srgbClr val="008000"/>
              </a:solidFill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endParaRPr lang="en-US" sz="2800" dirty="0" smtClean="0">
              <a:solidFill>
                <a:srgbClr val="FF0000"/>
              </a:solidFill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(r)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+ 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2H</a:t>
            </a:r>
            <a:r>
              <a:rPr lang="vi-VN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(dd) </a:t>
            </a:r>
            <a:r>
              <a:rPr lang="en-US" altLang="en-US" sz="2800" dirty="0" smtClean="0">
                <a:latin typeface="Arial" pitchFamily="34" charset="0"/>
                <a:cs typeface="Arial" pitchFamily="34" charset="0"/>
              </a:rPr>
              <a:t>⇌ 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vi-VN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(k)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+  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(dd) 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73170" y="5105400"/>
            <a:ext cx="8610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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G</a:t>
            </a:r>
            <a:r>
              <a:rPr lang="en-US" sz="2800" baseline="300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0</a:t>
            </a:r>
            <a:r>
              <a:rPr lang="en-US" sz="2800" baseline="-250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298 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=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-</a:t>
            </a:r>
            <a:r>
              <a:rPr lang="en-US" sz="2800" dirty="0" err="1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n.F</a:t>
            </a:r>
            <a:r>
              <a:rPr lang="en-US" sz="2800" dirty="0">
                <a:solidFill>
                  <a:srgbClr val="FF0000"/>
                </a:solidFill>
                <a:latin typeface="Arial" charset="0"/>
                <a:cs typeface="Arial" charset="0"/>
                <a:sym typeface="Symbol" pitchFamily="18" charset="2"/>
              </a:rPr>
              <a:t>.(</a:t>
            </a:r>
            <a:r>
              <a:rPr lang="en-US" sz="2800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</a:t>
            </a:r>
            <a:r>
              <a:rPr lang="en-US" sz="2800" baseline="30000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0</a:t>
            </a:r>
            <a:r>
              <a:rPr lang="en-US" sz="2800" baseline="-25000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+</a:t>
            </a:r>
            <a:r>
              <a:rPr lang="en-US" sz="2800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 - </a:t>
            </a:r>
            <a:r>
              <a:rPr lang="en-US" sz="2800" baseline="30000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0</a:t>
            </a:r>
            <a:r>
              <a:rPr lang="en-US" sz="2800" baseline="-25000" dirty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-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cs typeface="Arial" charset="0"/>
                <a:sym typeface="Symbol"/>
              </a:rPr>
              <a:t>) = - 84,92 kJ &lt; - 40 kJ 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0070C0"/>
                </a:solidFill>
                <a:latin typeface="Arial" charset="0"/>
                <a:cs typeface="Arial" charset="0"/>
                <a:sym typeface="Symbol"/>
              </a:rPr>
              <a:t> </a:t>
            </a:r>
            <a:r>
              <a:rPr lang="en-US" sz="2800" dirty="0" err="1" smtClean="0">
                <a:solidFill>
                  <a:srgbClr val="0070C0"/>
                </a:solidFill>
                <a:latin typeface="Arial" charset="0"/>
                <a:cs typeface="Arial" charset="0"/>
                <a:sym typeface="Symbol"/>
              </a:rPr>
              <a:t>Phản</a:t>
            </a:r>
            <a:r>
              <a:rPr lang="en-US" sz="2800" dirty="0" smtClean="0">
                <a:solidFill>
                  <a:srgbClr val="0070C0"/>
                </a:solidFill>
                <a:latin typeface="Arial" charset="0"/>
                <a:cs typeface="Arial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Arial" charset="0"/>
                <a:cs typeface="Arial" charset="0"/>
                <a:sym typeface="Symbol"/>
              </a:rPr>
              <a:t>ứng</a:t>
            </a:r>
            <a:r>
              <a:rPr lang="en-US" sz="2800" dirty="0" smtClean="0">
                <a:solidFill>
                  <a:srgbClr val="0070C0"/>
                </a:solidFill>
                <a:latin typeface="Arial" charset="0"/>
                <a:cs typeface="Arial" charset="0"/>
                <a:sym typeface="Symbol"/>
              </a:rPr>
              <a:t>  </a:t>
            </a:r>
            <a:r>
              <a:rPr lang="en-US" sz="2800" dirty="0" err="1" smtClean="0">
                <a:solidFill>
                  <a:srgbClr val="0070C0"/>
                </a:solidFill>
                <a:latin typeface="Arial" charset="0"/>
                <a:cs typeface="Arial" charset="0"/>
                <a:sym typeface="Symbol"/>
              </a:rPr>
              <a:t>tự</a:t>
            </a:r>
            <a:r>
              <a:rPr lang="en-US" sz="2800" dirty="0" smtClean="0">
                <a:solidFill>
                  <a:srgbClr val="0070C0"/>
                </a:solidFill>
                <a:latin typeface="Arial" charset="0"/>
                <a:cs typeface="Arial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Arial" charset="0"/>
                <a:cs typeface="Arial" charset="0"/>
                <a:sym typeface="Symbol"/>
              </a:rPr>
              <a:t>phát</a:t>
            </a:r>
            <a:r>
              <a:rPr lang="en-US" sz="2800" dirty="0" smtClean="0">
                <a:solidFill>
                  <a:srgbClr val="0070C0"/>
                </a:solidFill>
                <a:latin typeface="Arial" charset="0"/>
                <a:cs typeface="Arial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Arial" charset="0"/>
                <a:cs typeface="Arial" charset="0"/>
                <a:sym typeface="Symbol"/>
              </a:rPr>
              <a:t>hoàn</a:t>
            </a:r>
            <a:r>
              <a:rPr lang="en-US" sz="2800" dirty="0" smtClean="0">
                <a:solidFill>
                  <a:srgbClr val="0070C0"/>
                </a:solidFill>
                <a:latin typeface="Arial" charset="0"/>
                <a:cs typeface="Arial" charset="0"/>
                <a:sym typeface="Symbol"/>
              </a:rPr>
              <a:t> </a:t>
            </a:r>
            <a:r>
              <a:rPr lang="en-US" sz="2800" dirty="0" err="1" smtClean="0">
                <a:solidFill>
                  <a:srgbClr val="0070C0"/>
                </a:solidFill>
                <a:latin typeface="Arial" charset="0"/>
                <a:cs typeface="Arial" charset="0"/>
                <a:sym typeface="Symbol"/>
              </a:rPr>
              <a:t>toàn</a:t>
            </a:r>
            <a:r>
              <a:rPr lang="en-US" sz="2800" dirty="0" smtClean="0">
                <a:solidFill>
                  <a:srgbClr val="0070C0"/>
                </a:solidFill>
                <a:latin typeface="Arial" charset="0"/>
                <a:cs typeface="Arial" charset="0"/>
                <a:sym typeface="Symbol"/>
              </a:rPr>
              <a:t> ở 298 K. </a:t>
            </a:r>
            <a:r>
              <a:rPr lang="en-US" sz="2800" dirty="0" smtClean="0">
                <a:solidFill>
                  <a:srgbClr val="0070C0"/>
                </a:solidFill>
                <a:latin typeface="Arial" charset="0"/>
                <a:cs typeface="Arial" charset="0"/>
                <a:sym typeface="Symbol" pitchFamily="18" charset="2"/>
              </a:rPr>
              <a:t> </a:t>
            </a:r>
            <a:endParaRPr lang="en-US" sz="2800" dirty="0">
              <a:solidFill>
                <a:srgbClr val="0070C0"/>
              </a:solidFill>
              <a:latin typeface="Arial" charset="0"/>
              <a:cs typeface="Arial" charset="0"/>
              <a:sym typeface="Symbol" pitchFamily="18" charset="2"/>
            </a:endParaRP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7" name="Curved Down Arrow 6"/>
          <p:cNvSpPr/>
          <p:nvPr/>
        </p:nvSpPr>
        <p:spPr>
          <a:xfrm>
            <a:off x="1626079" y="1789356"/>
            <a:ext cx="2095500" cy="34999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100">
                <a:effectLst/>
                <a:ea typeface="Calibri"/>
                <a:cs typeface="Times New Roman"/>
              </a:rPr>
              <a:t>C</a:t>
            </a:r>
            <a:endParaRPr lang="en-US" sz="1100">
              <a:effectLst/>
              <a:ea typeface="Calibri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68979" y="1789356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+2</a:t>
            </a:r>
            <a:r>
              <a:rPr lang="vi-VN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(+)</a:t>
            </a:r>
            <a:endParaRPr lang="en-US" sz="24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urved Up Arrow 8"/>
          <p:cNvSpPr/>
          <p:nvPr/>
        </p:nvSpPr>
        <p:spPr>
          <a:xfrm>
            <a:off x="578329" y="2551047"/>
            <a:ext cx="4191000" cy="41891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57645" y="2527513"/>
            <a:ext cx="1512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en-US" sz="24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en-US" sz="2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(-)</a:t>
            </a:r>
            <a:endParaRPr lang="en-US" sz="24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4800" y="3096900"/>
            <a:ext cx="807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Pư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OXHK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mol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trao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đổi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 = 2 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mol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400" y="3620120"/>
            <a:ext cx="88722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Symbol"/>
              <a:buChar char="®"/>
            </a:pPr>
            <a:r>
              <a:rPr lang="en-US" sz="2800" dirty="0" smtClean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</a:t>
            </a:r>
            <a:r>
              <a:rPr lang="en-US" sz="2800" baseline="30000" dirty="0" smtClean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0</a:t>
            </a:r>
            <a:r>
              <a:rPr lang="en-US" sz="2800" baseline="-25000" dirty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-</a:t>
            </a:r>
            <a:r>
              <a:rPr lang="en-US" sz="2800" baseline="-25000" dirty="0" smtClean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(Fe</a:t>
            </a:r>
            <a:r>
              <a:rPr lang="en-US" sz="2800" baseline="30000" dirty="0" smtClean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2+</a:t>
            </a:r>
            <a:r>
              <a:rPr lang="en-US" sz="2800" dirty="0" smtClean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/Fe) = - 0,44 V ; </a:t>
            </a:r>
            <a:r>
              <a:rPr lang="en-US" sz="2800" baseline="-25000" dirty="0" smtClean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</a:t>
            </a:r>
            <a:r>
              <a:rPr lang="en-US" sz="2800" baseline="30000" dirty="0" smtClean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0</a:t>
            </a:r>
            <a:r>
              <a:rPr lang="en-US" sz="2800" baseline="-25000" dirty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+</a:t>
            </a:r>
            <a:r>
              <a:rPr lang="en-US" sz="2800" dirty="0" smtClean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 ( H</a:t>
            </a:r>
            <a:r>
              <a:rPr lang="en-US" sz="2800" baseline="30000" dirty="0" smtClean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+</a:t>
            </a:r>
            <a:r>
              <a:rPr lang="en-US" sz="2800" dirty="0" smtClean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/H</a:t>
            </a:r>
            <a:r>
              <a:rPr lang="en-US" sz="2800" baseline="-25000" dirty="0" smtClean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2</a:t>
            </a:r>
            <a:r>
              <a:rPr lang="en-US" sz="2800" dirty="0" smtClean="0">
                <a:solidFill>
                  <a:srgbClr val="C00000"/>
                </a:solidFill>
                <a:latin typeface="Arial" charset="0"/>
                <a:cs typeface="Arial" charset="0"/>
                <a:sym typeface="Symbol"/>
              </a:rPr>
              <a:t>) = 0 V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8000"/>
                </a:solidFill>
                <a:latin typeface="Arial" charset="0"/>
                <a:cs typeface="Arial" charset="0"/>
                <a:sym typeface="Symbol"/>
              </a:rPr>
              <a:t> </a:t>
            </a:r>
            <a:r>
              <a:rPr lang="en-US" sz="2800" dirty="0" smtClean="0">
                <a:solidFill>
                  <a:srgbClr val="008000"/>
                </a:solidFill>
                <a:latin typeface="Arial" charset="0"/>
                <a:cs typeface="Arial" charset="0"/>
                <a:sym typeface="Symbol"/>
              </a:rPr>
              <a:t>   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F = 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96 500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C/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mol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= 96 500 J/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v.mol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= 96,5 kJ/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V.mol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1837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  <p:bldP spid="10" grpId="0"/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211" y="152400"/>
            <a:ext cx="8991600" cy="2133600"/>
          </a:xfrm>
        </p:spPr>
        <p:txBody>
          <a:bodyPr/>
          <a:lstStyle/>
          <a:p>
            <a:pPr marL="0" indent="0">
              <a:buNone/>
            </a:pPr>
            <a:r>
              <a:rPr lang="vi-VN" dirty="0">
                <a:solidFill>
                  <a:srgbClr val="008000"/>
                </a:solidFill>
              </a:rPr>
              <a:t>Tính</a:t>
            </a:r>
            <a:r>
              <a:rPr lang="vi-VN" b="1" dirty="0">
                <a:solidFill>
                  <a:srgbClr val="008000"/>
                </a:solidFill>
              </a:rPr>
              <a:t> </a:t>
            </a:r>
            <a:r>
              <a:rPr lang="vi-VN" dirty="0">
                <a:solidFill>
                  <a:srgbClr val="008000"/>
                </a:solidFill>
              </a:rPr>
              <a:t>∆G</a:t>
            </a:r>
            <a:r>
              <a:rPr lang="vi-VN" baseline="-25000" dirty="0">
                <a:solidFill>
                  <a:srgbClr val="008000"/>
                </a:solidFill>
              </a:rPr>
              <a:t>1</a:t>
            </a:r>
            <a:r>
              <a:rPr lang="vi-VN" dirty="0">
                <a:solidFill>
                  <a:srgbClr val="008000"/>
                </a:solidFill>
              </a:rPr>
              <a:t> của </a:t>
            </a:r>
            <a:r>
              <a:rPr lang="vi-VN" dirty="0" smtClean="0">
                <a:solidFill>
                  <a:srgbClr val="008000"/>
                </a:solidFill>
              </a:rPr>
              <a:t>p</a:t>
            </a:r>
            <a:r>
              <a:rPr lang="en-US" dirty="0">
                <a:solidFill>
                  <a:srgbClr val="008000"/>
                </a:solidFill>
              </a:rPr>
              <a:t>ư</a:t>
            </a:r>
            <a:r>
              <a:rPr lang="vi-VN" dirty="0" smtClean="0">
                <a:solidFill>
                  <a:srgbClr val="008000"/>
                </a:solidFill>
              </a:rPr>
              <a:t>: </a:t>
            </a:r>
            <a:r>
              <a:rPr lang="vi-VN" dirty="0">
                <a:solidFill>
                  <a:srgbClr val="008000"/>
                </a:solidFill>
              </a:rPr>
              <a:t>CO  + H</a:t>
            </a:r>
            <a:r>
              <a:rPr lang="vi-VN" baseline="-25000" dirty="0">
                <a:solidFill>
                  <a:srgbClr val="008000"/>
                </a:solidFill>
              </a:rPr>
              <a:t>2</a:t>
            </a:r>
            <a:r>
              <a:rPr lang="vi-VN" dirty="0">
                <a:solidFill>
                  <a:srgbClr val="008000"/>
                </a:solidFill>
              </a:rPr>
              <a:t>O = CO</a:t>
            </a:r>
            <a:r>
              <a:rPr lang="vi-VN" baseline="-25000" dirty="0">
                <a:solidFill>
                  <a:srgbClr val="008000"/>
                </a:solidFill>
              </a:rPr>
              <a:t>2</a:t>
            </a:r>
            <a:r>
              <a:rPr lang="vi-VN" dirty="0">
                <a:solidFill>
                  <a:srgbClr val="008000"/>
                </a:solidFill>
              </a:rPr>
              <a:t>  + H</a:t>
            </a:r>
            <a:r>
              <a:rPr lang="vi-VN" baseline="-25000" dirty="0">
                <a:solidFill>
                  <a:srgbClr val="008000"/>
                </a:solidFill>
              </a:rPr>
              <a:t>2</a:t>
            </a:r>
            <a:r>
              <a:rPr lang="vi-VN" dirty="0">
                <a:solidFill>
                  <a:srgbClr val="008000"/>
                </a:solidFill>
              </a:rPr>
              <a:t> </a:t>
            </a:r>
            <a:endParaRPr lang="en-US" dirty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vi-VN" dirty="0">
                <a:solidFill>
                  <a:srgbClr val="CC00FF"/>
                </a:solidFill>
              </a:rPr>
              <a:t>Cho biết: </a:t>
            </a:r>
            <a:r>
              <a:rPr lang="vi-VN" dirty="0" smtClean="0">
                <a:solidFill>
                  <a:srgbClr val="CC00FF"/>
                </a:solidFill>
              </a:rPr>
              <a:t>2CO  +  </a:t>
            </a:r>
            <a:r>
              <a:rPr lang="vi-VN" dirty="0">
                <a:solidFill>
                  <a:srgbClr val="CC00FF"/>
                </a:solidFill>
              </a:rPr>
              <a:t>O</a:t>
            </a:r>
            <a:r>
              <a:rPr lang="vi-VN" baseline="-25000" dirty="0">
                <a:solidFill>
                  <a:srgbClr val="CC00FF"/>
                </a:solidFill>
              </a:rPr>
              <a:t>2</a:t>
            </a:r>
            <a:r>
              <a:rPr lang="vi-VN" dirty="0">
                <a:solidFill>
                  <a:srgbClr val="CC00FF"/>
                </a:solidFill>
              </a:rPr>
              <a:t> </a:t>
            </a:r>
            <a:r>
              <a:rPr lang="vi-VN" dirty="0" smtClean="0">
                <a:solidFill>
                  <a:srgbClr val="CC00FF"/>
                </a:solidFill>
              </a:rPr>
              <a:t> =  </a:t>
            </a:r>
            <a:r>
              <a:rPr lang="vi-VN" dirty="0">
                <a:solidFill>
                  <a:srgbClr val="CC00FF"/>
                </a:solidFill>
              </a:rPr>
              <a:t>2CO</a:t>
            </a:r>
            <a:r>
              <a:rPr lang="vi-VN" baseline="-25000" dirty="0">
                <a:solidFill>
                  <a:srgbClr val="CC00FF"/>
                </a:solidFill>
              </a:rPr>
              <a:t>2</a:t>
            </a:r>
            <a:r>
              <a:rPr lang="vi-VN" dirty="0">
                <a:solidFill>
                  <a:srgbClr val="CC00FF"/>
                </a:solidFill>
              </a:rPr>
              <a:t> </a:t>
            </a:r>
            <a:r>
              <a:rPr lang="vi-VN" dirty="0" smtClean="0">
                <a:solidFill>
                  <a:srgbClr val="CC00FF"/>
                </a:solidFill>
              </a:rPr>
              <a:t>; </a:t>
            </a:r>
            <a:r>
              <a:rPr lang="vi-VN" dirty="0">
                <a:solidFill>
                  <a:srgbClr val="CC00FF"/>
                </a:solidFill>
              </a:rPr>
              <a:t>∆G</a:t>
            </a:r>
            <a:r>
              <a:rPr lang="vi-VN" baseline="-25000" dirty="0">
                <a:solidFill>
                  <a:srgbClr val="CC00FF"/>
                </a:solidFill>
              </a:rPr>
              <a:t>2</a:t>
            </a:r>
            <a:r>
              <a:rPr lang="vi-VN" dirty="0">
                <a:solidFill>
                  <a:srgbClr val="CC00FF"/>
                </a:solidFill>
              </a:rPr>
              <a:t> = </a:t>
            </a:r>
            <a:r>
              <a:rPr lang="vi-VN" dirty="0" smtClean="0">
                <a:solidFill>
                  <a:srgbClr val="CC00FF"/>
                </a:solidFill>
              </a:rPr>
              <a:t>-</a:t>
            </a:r>
            <a:r>
              <a:rPr lang="en-US" dirty="0" smtClean="0">
                <a:solidFill>
                  <a:srgbClr val="CC00FF"/>
                </a:solidFill>
              </a:rPr>
              <a:t> </a:t>
            </a:r>
            <a:r>
              <a:rPr lang="vi-VN" dirty="0" smtClean="0">
                <a:solidFill>
                  <a:srgbClr val="CC00FF"/>
                </a:solidFill>
              </a:rPr>
              <a:t>514,6kJ</a:t>
            </a:r>
            <a:endParaRPr lang="en-US" dirty="0">
              <a:solidFill>
                <a:srgbClr val="CC00FF"/>
              </a:solidFill>
            </a:endParaRPr>
          </a:p>
          <a:p>
            <a:pPr marL="0" indent="0">
              <a:buNone/>
            </a:pPr>
            <a:r>
              <a:rPr lang="vi-VN" dirty="0"/>
              <a:t>                </a:t>
            </a:r>
            <a:r>
              <a:rPr lang="vi-VN" dirty="0" smtClean="0">
                <a:solidFill>
                  <a:srgbClr val="0000FF"/>
                </a:solidFill>
              </a:rPr>
              <a:t>2H</a:t>
            </a:r>
            <a:r>
              <a:rPr lang="vi-VN" baseline="-25000" dirty="0" smtClean="0">
                <a:solidFill>
                  <a:srgbClr val="0000FF"/>
                </a:solidFill>
              </a:rPr>
              <a:t>2</a:t>
            </a:r>
            <a:r>
              <a:rPr lang="vi-VN" dirty="0" smtClean="0">
                <a:solidFill>
                  <a:srgbClr val="0000FF"/>
                </a:solidFill>
              </a:rPr>
              <a:t>  +  O</a:t>
            </a:r>
            <a:r>
              <a:rPr lang="vi-VN" baseline="-25000" dirty="0" smtClean="0">
                <a:solidFill>
                  <a:srgbClr val="0000FF"/>
                </a:solidFill>
              </a:rPr>
              <a:t>2</a:t>
            </a:r>
            <a:r>
              <a:rPr lang="vi-VN" dirty="0" smtClean="0">
                <a:solidFill>
                  <a:srgbClr val="0000FF"/>
                </a:solidFill>
              </a:rPr>
              <a:t>  =  </a:t>
            </a:r>
            <a:r>
              <a:rPr lang="vi-VN" dirty="0">
                <a:solidFill>
                  <a:srgbClr val="0000FF"/>
                </a:solidFill>
              </a:rPr>
              <a:t>2H</a:t>
            </a:r>
            <a:r>
              <a:rPr lang="vi-VN" baseline="-25000" dirty="0">
                <a:solidFill>
                  <a:srgbClr val="0000FF"/>
                </a:solidFill>
              </a:rPr>
              <a:t>2</a:t>
            </a:r>
            <a:r>
              <a:rPr lang="vi-VN" dirty="0">
                <a:solidFill>
                  <a:srgbClr val="0000FF"/>
                </a:solidFill>
              </a:rPr>
              <a:t>O  ; ∆G</a:t>
            </a:r>
            <a:r>
              <a:rPr lang="en-US" baseline="-25000" dirty="0">
                <a:solidFill>
                  <a:srgbClr val="0000FF"/>
                </a:solidFill>
              </a:rPr>
              <a:t>3</a:t>
            </a:r>
            <a:r>
              <a:rPr lang="vi-VN" dirty="0">
                <a:solidFill>
                  <a:srgbClr val="0000FF"/>
                </a:solidFill>
              </a:rPr>
              <a:t> = </a:t>
            </a:r>
            <a:r>
              <a:rPr lang="vi-VN" dirty="0" smtClean="0">
                <a:solidFill>
                  <a:srgbClr val="0000FF"/>
                </a:solidFill>
              </a:rPr>
              <a:t>-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vi-VN" dirty="0" smtClean="0">
                <a:solidFill>
                  <a:srgbClr val="0000FF"/>
                </a:solidFill>
              </a:rPr>
              <a:t>457,2 </a:t>
            </a:r>
            <a:r>
              <a:rPr lang="vi-VN" dirty="0">
                <a:solidFill>
                  <a:srgbClr val="0000FF"/>
                </a:solidFill>
              </a:rPr>
              <a:t>kJ</a:t>
            </a:r>
            <a:endParaRPr lang="en-US" dirty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878283"/>
            <a:ext cx="3429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ĐS: 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∆G</a:t>
            </a:r>
            <a:r>
              <a:rPr lang="vi-VN" sz="28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28,7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kJ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1962" y="4213020"/>
                <a:ext cx="4800600" cy="70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800" dirty="0" smtClean="0">
                    <a:solidFill>
                      <a:srgbClr val="CC00FF"/>
                    </a:solidFill>
                  </a:rPr>
                  <a:t>CO  </a:t>
                </a:r>
                <a:r>
                  <a:rPr lang="vi-VN" sz="2800" dirty="0">
                    <a:solidFill>
                      <a:srgbClr val="CC00FF"/>
                    </a:solidFill>
                  </a:rPr>
                  <a:t>+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vi-VN" sz="2800" dirty="0" smtClean="0">
                    <a:solidFill>
                      <a:srgbClr val="CC00FF"/>
                    </a:solidFill>
                  </a:rPr>
                  <a:t>O</a:t>
                </a:r>
                <a:r>
                  <a:rPr lang="vi-VN" sz="2800" baseline="-25000" dirty="0" smtClean="0">
                    <a:solidFill>
                      <a:srgbClr val="CC00FF"/>
                    </a:solidFill>
                  </a:rPr>
                  <a:t>2</a:t>
                </a:r>
                <a:r>
                  <a:rPr lang="vi-VN" sz="2800" dirty="0" smtClean="0">
                    <a:solidFill>
                      <a:srgbClr val="CC00FF"/>
                    </a:solidFill>
                  </a:rPr>
                  <a:t>  </a:t>
                </a:r>
                <a:r>
                  <a:rPr lang="vi-VN" sz="2800" dirty="0">
                    <a:solidFill>
                      <a:srgbClr val="CC00FF"/>
                    </a:solidFill>
                  </a:rPr>
                  <a:t>=  </a:t>
                </a:r>
                <a:r>
                  <a:rPr lang="vi-VN" sz="2800" dirty="0" smtClean="0">
                    <a:solidFill>
                      <a:srgbClr val="CC00FF"/>
                    </a:solidFill>
                  </a:rPr>
                  <a:t>CO</a:t>
                </a:r>
                <a:r>
                  <a:rPr lang="vi-VN" sz="2800" baseline="-25000" dirty="0" smtClean="0">
                    <a:solidFill>
                      <a:srgbClr val="CC00FF"/>
                    </a:solidFill>
                  </a:rPr>
                  <a:t>2</a:t>
                </a:r>
                <a:r>
                  <a:rPr lang="vi-VN" sz="2800" dirty="0" smtClean="0">
                    <a:solidFill>
                      <a:srgbClr val="CC00FF"/>
                    </a:solidFill>
                  </a:rPr>
                  <a:t> ;</a:t>
                </a:r>
                <a:r>
                  <a:rPr lang="en-US" sz="2800" dirty="0" smtClean="0">
                    <a:solidFill>
                      <a:srgbClr val="CC00FF"/>
                    </a:solidFill>
                  </a:rPr>
                  <a:t>    </a:t>
                </a:r>
                <a:r>
                  <a:rPr lang="vi-VN" sz="2800" dirty="0" smtClean="0">
                    <a:solidFill>
                      <a:srgbClr val="CC00FF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CC00FF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CC00FF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800" i="1">
                        <a:solidFill>
                          <a:srgbClr val="CC00FF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>
                    <a:solidFill>
                      <a:srgbClr val="CC00FF"/>
                    </a:solidFill>
                  </a:rPr>
                  <a:t>. </a:t>
                </a:r>
                <a:r>
                  <a:rPr lang="vi-VN" sz="2800" dirty="0" smtClean="0">
                    <a:solidFill>
                      <a:srgbClr val="CC00FF"/>
                    </a:solidFill>
                  </a:rPr>
                  <a:t>∆G</a:t>
                </a:r>
                <a:r>
                  <a:rPr lang="vi-VN" sz="2800" baseline="-25000" dirty="0" smtClean="0">
                    <a:solidFill>
                      <a:srgbClr val="CC00FF"/>
                    </a:solidFill>
                  </a:rPr>
                  <a:t>2</a:t>
                </a:r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62" y="4213020"/>
                <a:ext cx="4800600" cy="700705"/>
              </a:xfrm>
              <a:prstGeom prst="rect">
                <a:avLst/>
              </a:prstGeom>
              <a:blipFill rotWithShape="1">
                <a:blip r:embed="rId2"/>
                <a:stretch>
                  <a:fillRect l="-2538" r="-1142" b="-1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57200" y="266700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2H</a:t>
            </a:r>
            <a:r>
              <a:rPr lang="vi-VN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2H</a:t>
            </a:r>
            <a:r>
              <a:rPr lang="vi-VN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+  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vi-VN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;  - 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∆G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09600" y="3352800"/>
                <a:ext cx="4724400" cy="70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H</a:t>
                </a:r>
                <a:r>
                  <a:rPr lang="vi-VN" sz="2800" baseline="-250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vi-VN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O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= </a:t>
                </a:r>
                <a:r>
                  <a:rPr lang="vi-VN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H</a:t>
                </a:r>
                <a:r>
                  <a:rPr lang="vi-VN" sz="2800" baseline="-250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vi-VN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 </a:t>
                </a:r>
                <a:r>
                  <a:rPr lang="vi-VN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800" i="1">
                        <a:solidFill>
                          <a:srgbClr val="0000FF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vi-VN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O</a:t>
                </a:r>
                <a:r>
                  <a:rPr lang="vi-VN" sz="2800" baseline="-250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;   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800" i="1">
                        <a:solidFill>
                          <a:srgbClr val="CC00FF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.</a:t>
                </a:r>
                <a:r>
                  <a:rPr lang="vi-VN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∆</a:t>
                </a:r>
                <a:r>
                  <a:rPr lang="vi-VN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G</a:t>
                </a:r>
                <a:r>
                  <a:rPr lang="en-US" sz="2800" baseline="-250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 </a:t>
                </a:r>
                <a:endParaRPr lang="en-US" sz="28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352800"/>
                <a:ext cx="4724400" cy="700705"/>
              </a:xfrm>
              <a:prstGeom prst="rect">
                <a:avLst/>
              </a:prstGeom>
              <a:blipFill rotWithShape="1">
                <a:blip r:embed="rId3"/>
                <a:stretch>
                  <a:fillRect l="-2581" b="-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495800" y="5719310"/>
            <a:ext cx="3429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∆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</a:t>
            </a:r>
            <a:r>
              <a:rPr lang="vi-VN" sz="28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28,7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kJ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2400" y="3810000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+</a:t>
            </a:r>
            <a:endParaRPr lang="en-US" sz="32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609600" y="5029200"/>
            <a:ext cx="472296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1962" y="4987830"/>
                <a:ext cx="8915400" cy="1131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8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CO  + H</a:t>
                </a:r>
                <a:r>
                  <a:rPr lang="vi-VN" sz="2800" baseline="-250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vi-VN" sz="28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O = CO</a:t>
                </a:r>
                <a:r>
                  <a:rPr lang="vi-VN" sz="2800" baseline="-250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vi-VN" sz="28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 + </a:t>
                </a:r>
                <a:r>
                  <a:rPr lang="vi-VN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H</a:t>
                </a:r>
                <a:r>
                  <a:rPr lang="vi-VN" sz="2800" baseline="-250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baseline="-250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; </a:t>
                </a:r>
                <a:r>
                  <a:rPr lang="vi-VN" sz="28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∆</a:t>
                </a:r>
                <a:r>
                  <a:rPr lang="vi-VN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G</a:t>
                </a:r>
                <a:r>
                  <a:rPr lang="vi-VN" sz="2800" baseline="-250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1</a:t>
                </a:r>
                <a:r>
                  <a:rPr lang="en-US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= </a:t>
                </a:r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800" i="1">
                        <a:solidFill>
                          <a:srgbClr val="CC00FF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.</a:t>
                </a:r>
                <a:r>
                  <a:rPr lang="vi-VN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∆G</a:t>
                </a:r>
                <a:r>
                  <a:rPr lang="en-US" sz="2800" baseline="-250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CC00FF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CC00FF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800" i="1">
                        <a:solidFill>
                          <a:srgbClr val="CC00FF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CC00FF"/>
                    </a:solidFill>
                  </a:rPr>
                  <a:t>. </a:t>
                </a:r>
                <a:r>
                  <a:rPr lang="vi-VN" sz="2800" dirty="0">
                    <a:solidFill>
                      <a:srgbClr val="CC00FF"/>
                    </a:solidFill>
                  </a:rPr>
                  <a:t>∆G</a:t>
                </a:r>
                <a:r>
                  <a:rPr lang="vi-VN" sz="2800" baseline="-25000" dirty="0">
                    <a:solidFill>
                      <a:srgbClr val="CC00FF"/>
                    </a:solidFill>
                  </a:rPr>
                  <a:t>2</a:t>
                </a:r>
                <a:endParaRPr lang="en-US" sz="2800" dirty="0"/>
              </a:p>
              <a:p>
                <a:r>
                  <a:rPr lang="en-US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 </a:t>
                </a:r>
                <a:endParaRPr lang="en-US" sz="28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62" y="4987830"/>
                <a:ext cx="8915400" cy="1131592"/>
              </a:xfrm>
              <a:prstGeom prst="rect">
                <a:avLst/>
              </a:prstGeom>
              <a:blipFill rotWithShape="1">
                <a:blip r:embed="rId4"/>
                <a:stretch>
                  <a:fillRect l="-1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57200" y="2678502"/>
            <a:ext cx="4419600" cy="5486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10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3" grpId="0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229600" cy="76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CÔNG THỨC TÍNH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Symbol"/>
              </a:rPr>
              <a:t>G</a:t>
            </a:r>
            <a:r>
              <a:rPr lang="en-US" sz="3600" b="1" baseline="-25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Symbol"/>
              </a:rPr>
              <a:t>T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7676" y="990599"/>
            <a:ext cx="42672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G</a:t>
            </a:r>
            <a:r>
              <a:rPr lang="en-US" sz="3200" b="1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= </a:t>
            </a:r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G</a:t>
            </a:r>
            <a:r>
              <a:rPr lang="en-US" sz="3200" b="1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+ </a:t>
            </a:r>
            <a:r>
              <a:rPr lang="en-US" sz="32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RTlnQ</a:t>
            </a:r>
            <a:endParaRPr lang="en-US" sz="32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7676" y="1854679"/>
                <a:ext cx="3124200" cy="1078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G</a:t>
                </a:r>
                <a:r>
                  <a:rPr lang="en-US" sz="3200" b="1" baseline="-250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T</a:t>
                </a:r>
                <a:r>
                  <a:rPr lang="en-US" sz="3200" b="1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= </a:t>
                </a:r>
                <a:r>
                  <a:rPr lang="en-US" sz="3200" b="1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RTln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</m:ctrlPr>
                      </m:fPr>
                      <m:num>
                        <m:r>
                          <a:rPr lang="en-US" sz="3200" b="1" i="1" smtClean="0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𝑸</m:t>
                        </m:r>
                      </m:num>
                      <m:den>
                        <m:r>
                          <a:rPr lang="en-US" sz="3200" b="1" i="1" smtClean="0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𝑲</m:t>
                        </m:r>
                      </m:den>
                    </m:f>
                  </m:oMath>
                </a14:m>
                <a:endParaRPr lang="en-US" sz="32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76" y="1854679"/>
                <a:ext cx="3124200" cy="1078309"/>
              </a:xfrm>
              <a:prstGeom prst="rect">
                <a:avLst/>
              </a:prstGeom>
              <a:blipFill rotWithShape="1">
                <a:blip r:embed="rId2"/>
                <a:stretch>
                  <a:fillRect l="-4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815" y="2667000"/>
                <a:ext cx="9128185" cy="370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3200" dirty="0" smtClean="0">
                    <a:latin typeface="Arial" pitchFamily="34" charset="0"/>
                    <a:cs typeface="Arial" pitchFamily="34" charset="0"/>
                    <a:sym typeface="Symbol"/>
                  </a:rPr>
                  <a:t>Phản </a:t>
                </a:r>
                <a:r>
                  <a:rPr lang="en-US" sz="32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ứng</a:t>
                </a:r>
                <a:r>
                  <a:rPr lang="en-US" sz="3200" dirty="0" smtClean="0">
                    <a:latin typeface="Arial" pitchFamily="34" charset="0"/>
                    <a:cs typeface="Arial" pitchFamily="34" charset="0"/>
                    <a:sym typeface="Symbol"/>
                  </a:rPr>
                  <a:t> OXHK, 25</a:t>
                </a:r>
                <a:r>
                  <a:rPr lang="en-US" sz="3200" baseline="30000" dirty="0" smtClean="0">
                    <a:latin typeface="Arial" pitchFamily="34" charset="0"/>
                    <a:cs typeface="Arial" pitchFamily="34" charset="0"/>
                    <a:sym typeface="Symbol"/>
                  </a:rPr>
                  <a:t>0</a:t>
                </a:r>
                <a:r>
                  <a:rPr lang="en-US" sz="3200" dirty="0" smtClean="0">
                    <a:latin typeface="Arial" pitchFamily="34" charset="0"/>
                    <a:cs typeface="Arial" pitchFamily="34" charset="0"/>
                    <a:sym typeface="Symbol"/>
                  </a:rPr>
                  <a:t>C: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200" b="1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G</a:t>
                </a:r>
                <a:r>
                  <a:rPr lang="en-US" sz="3200" b="1" baseline="-250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298</a:t>
                </a:r>
                <a:r>
                  <a:rPr lang="en-US" sz="3200" b="1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= - </a:t>
                </a:r>
                <a:r>
                  <a:rPr lang="en-US" sz="3200" b="1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nF</a:t>
                </a:r>
                <a:r>
                  <a:rPr lang="en-US" sz="3200" b="1" dirty="0" err="1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E</a:t>
                </a:r>
                <a:r>
                  <a:rPr lang="en-US" sz="3200" b="1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= - </a:t>
                </a:r>
                <a:r>
                  <a:rPr lang="en-US" sz="3200" b="1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nF</a:t>
                </a:r>
                <a:r>
                  <a:rPr lang="en-US" sz="3200" b="1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 pitchFamily="18" charset="2"/>
                  </a:rPr>
                  <a:t>(</a:t>
                </a:r>
                <a:r>
                  <a:rPr lang="en-US" sz="3200" b="1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</a:t>
                </a:r>
                <a:r>
                  <a:rPr lang="en-US" sz="3200" b="1" baseline="-25000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+</a:t>
                </a:r>
                <a:r>
                  <a:rPr lang="en-US" sz="3200" b="1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 </a:t>
                </a:r>
                <a:r>
                  <a:rPr lang="en-US" sz="3200" b="1" dirty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- </a:t>
                </a:r>
                <a:r>
                  <a:rPr lang="en-US" sz="3200" b="1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</a:t>
                </a:r>
                <a:r>
                  <a:rPr lang="en-US" sz="3200" b="1" baseline="-25000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-</a:t>
                </a:r>
                <a:r>
                  <a:rPr lang="en-US" sz="3200" b="1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) </a:t>
                </a:r>
                <a:r>
                  <a:rPr lang="en-US" sz="3200" b="1" dirty="0" smtClean="0">
                    <a:solidFill>
                      <a:srgbClr val="CC00FF"/>
                    </a:solidFill>
                    <a:latin typeface="Arial" charset="0"/>
                    <a:cs typeface="Arial" charset="0"/>
                    <a:sym typeface="Symbol"/>
                  </a:rPr>
                  <a:t>= nF</a:t>
                </a:r>
                <a:r>
                  <a:rPr lang="en-US" sz="3200" b="1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(E</a:t>
                </a:r>
                <a:r>
                  <a:rPr lang="en-US" sz="3200" b="1" baseline="30000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0</a:t>
                </a:r>
                <a:r>
                  <a:rPr lang="en-US" sz="3200" b="1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/>
                            <a:cs typeface="Arial" charset="0"/>
                            <a:sym typeface="Symbol"/>
                          </a:rPr>
                        </m:ctrlPr>
                      </m:fPr>
                      <m:num>
                        <m:r>
                          <a:rPr lang="en-US" sz="3200" b="1" i="1">
                            <a:solidFill>
                              <a:srgbClr val="FF0000"/>
                            </a:solidFill>
                            <a:latin typeface="Cambria Math"/>
                            <a:cs typeface="Arial" charset="0"/>
                            <a:sym typeface="Symbol"/>
                          </a:rPr>
                          <m:t>𝟎</m:t>
                        </m:r>
                        <m:r>
                          <a:rPr lang="en-US" sz="3200" b="1" i="1">
                            <a:solidFill>
                              <a:srgbClr val="FF0000"/>
                            </a:solidFill>
                            <a:latin typeface="Cambria Math"/>
                            <a:cs typeface="Arial" charset="0"/>
                            <a:sym typeface="Symbol"/>
                          </a:rPr>
                          <m:t>,</m:t>
                        </m:r>
                        <m:r>
                          <a:rPr lang="en-US" sz="3200" b="1" i="1">
                            <a:solidFill>
                              <a:srgbClr val="FF0000"/>
                            </a:solidFill>
                            <a:latin typeface="Cambria Math"/>
                            <a:cs typeface="Arial" charset="0"/>
                            <a:sym typeface="Symbol"/>
                          </a:rPr>
                          <m:t>𝟎𝟓𝟗</m:t>
                        </m:r>
                      </m:num>
                      <m:den>
                        <m:r>
                          <a:rPr lang="en-US" sz="3200" b="1" i="1">
                            <a:solidFill>
                              <a:srgbClr val="FF0000"/>
                            </a:solidFill>
                            <a:latin typeface="Cambria Math"/>
                            <a:cs typeface="Arial" charset="0"/>
                            <a:sym typeface="Symbol"/>
                          </a:rPr>
                          <m:t>𝒏</m:t>
                        </m:r>
                      </m:den>
                    </m:f>
                  </m:oMath>
                </a14:m>
                <a:r>
                  <a:rPr lang="en-US" sz="3200" b="1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lgQ)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200" dirty="0" smtClean="0">
                    <a:solidFill>
                      <a:schemeClr val="accent6">
                        <a:lumMod val="50000"/>
                      </a:schemeClr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E </a:t>
                </a:r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= </a:t>
                </a:r>
                <a:r>
                  <a:rPr lang="en-US" sz="3200" dirty="0" smtClean="0">
                    <a:solidFill>
                      <a:schemeClr val="accent6">
                        <a:lumMod val="50000"/>
                      </a:schemeClr>
                    </a:solidFill>
                    <a:latin typeface="Arial" charset="0"/>
                    <a:cs typeface="Arial" charset="0"/>
                    <a:sym typeface="Symbol" pitchFamily="18" charset="2"/>
                  </a:rPr>
                  <a:t>(</a:t>
                </a:r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  <a:latin typeface="Arial" charset="0"/>
                    <a:cs typeface="Arial" charset="0"/>
                    <a:sym typeface="Symbol"/>
                  </a:rPr>
                  <a:t></a:t>
                </a:r>
                <a:r>
                  <a:rPr lang="en-US" sz="3200" baseline="-25000" dirty="0">
                    <a:solidFill>
                      <a:schemeClr val="accent6">
                        <a:lumMod val="50000"/>
                      </a:schemeClr>
                    </a:solidFill>
                    <a:latin typeface="Arial" charset="0"/>
                    <a:cs typeface="Arial" charset="0"/>
                    <a:sym typeface="Symbol"/>
                  </a:rPr>
                  <a:t>+</a:t>
                </a:r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  <a:latin typeface="Arial" charset="0"/>
                    <a:cs typeface="Arial" charset="0"/>
                    <a:sym typeface="Symbol"/>
                  </a:rPr>
                  <a:t> - </a:t>
                </a:r>
                <a:r>
                  <a:rPr lang="en-US" sz="3200" baseline="-25000" dirty="0">
                    <a:solidFill>
                      <a:schemeClr val="accent6">
                        <a:lumMod val="50000"/>
                      </a:schemeClr>
                    </a:solidFill>
                    <a:latin typeface="Arial" charset="0"/>
                    <a:cs typeface="Arial" charset="0"/>
                    <a:sym typeface="Symbol"/>
                  </a:rPr>
                  <a:t>-</a:t>
                </a:r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  <a:latin typeface="Arial" charset="0"/>
                    <a:cs typeface="Arial" charset="0"/>
                    <a:sym typeface="Symbol"/>
                  </a:rPr>
                  <a:t>) = </a:t>
                </a:r>
                <a:r>
                  <a:rPr lang="en-US" sz="3200" dirty="0" smtClean="0">
                    <a:solidFill>
                      <a:srgbClr val="008000"/>
                    </a:solidFill>
                    <a:latin typeface="Arial" charset="0"/>
                    <a:cs typeface="Arial" charset="0"/>
                    <a:sym typeface="Symbol"/>
                  </a:rPr>
                  <a:t>E</a:t>
                </a:r>
                <a:r>
                  <a:rPr lang="en-US" sz="3200" baseline="30000" dirty="0" smtClean="0">
                    <a:solidFill>
                      <a:srgbClr val="008000"/>
                    </a:solidFill>
                    <a:latin typeface="Arial" charset="0"/>
                    <a:cs typeface="Arial" charset="0"/>
                    <a:sym typeface="Symbol"/>
                  </a:rPr>
                  <a:t>0</a:t>
                </a:r>
                <a:r>
                  <a:rPr lang="en-US" sz="3200" dirty="0" smtClean="0">
                    <a:solidFill>
                      <a:schemeClr val="accent6">
                        <a:lumMod val="50000"/>
                      </a:schemeClr>
                    </a:solidFill>
                    <a:latin typeface="Arial" charset="0"/>
                    <a:cs typeface="Arial" charset="0"/>
                    <a:sym typeface="Symbol"/>
                  </a:rPr>
                  <a:t> </a:t>
                </a:r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  <a:latin typeface="Arial" charset="0"/>
                    <a:cs typeface="Arial" charset="0"/>
                    <a:sym typeface="Symbol"/>
                  </a:rPr>
                  <a:t>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  <a:cs typeface="Arial" charset="0"/>
                            <a:sym typeface="Symbol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  <a:cs typeface="Arial" charset="0"/>
                            <a:sym typeface="Symbol"/>
                          </a:rPr>
                          <m:t>0,059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  <a:cs typeface="Arial" charset="0"/>
                            <a:sym typeface="Symbol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3200" dirty="0" smtClean="0">
                    <a:solidFill>
                      <a:schemeClr val="accent6">
                        <a:lumMod val="50000"/>
                      </a:schemeClr>
                    </a:solidFill>
                    <a:latin typeface="Arial" charset="0"/>
                    <a:cs typeface="Arial" charset="0"/>
                    <a:sym typeface="Symbol"/>
                  </a:rPr>
                  <a:t>lgQ = </a:t>
                </a:r>
                <a:r>
                  <a:rPr lang="en-US" sz="3200" dirty="0">
                    <a:solidFill>
                      <a:srgbClr val="008000"/>
                    </a:solidFill>
                    <a:latin typeface="Arial" charset="0"/>
                    <a:cs typeface="Arial" charset="0"/>
                    <a:sym typeface="Symbol" pitchFamily="18" charset="2"/>
                  </a:rPr>
                  <a:t>(</a:t>
                </a:r>
                <a:r>
                  <a:rPr lang="en-US" sz="3200" dirty="0" smtClean="0">
                    <a:solidFill>
                      <a:srgbClr val="008000"/>
                    </a:solidFill>
                    <a:latin typeface="Arial" charset="0"/>
                    <a:cs typeface="Arial" charset="0"/>
                    <a:sym typeface="Symbol"/>
                  </a:rPr>
                  <a:t></a:t>
                </a:r>
                <a:r>
                  <a:rPr lang="en-US" sz="3200" baseline="30000" dirty="0" smtClean="0">
                    <a:solidFill>
                      <a:srgbClr val="008000"/>
                    </a:solidFill>
                    <a:latin typeface="Arial" charset="0"/>
                    <a:cs typeface="Arial" charset="0"/>
                    <a:sym typeface="Symbol"/>
                  </a:rPr>
                  <a:t>0</a:t>
                </a:r>
                <a:r>
                  <a:rPr lang="en-US" sz="3200" baseline="-25000" dirty="0" smtClean="0">
                    <a:solidFill>
                      <a:srgbClr val="008000"/>
                    </a:solidFill>
                    <a:latin typeface="Arial" charset="0"/>
                    <a:cs typeface="Arial" charset="0"/>
                    <a:sym typeface="Symbol"/>
                  </a:rPr>
                  <a:t>+</a:t>
                </a:r>
                <a:r>
                  <a:rPr lang="en-US" sz="3200" dirty="0" smtClean="0">
                    <a:solidFill>
                      <a:srgbClr val="008000"/>
                    </a:solidFill>
                    <a:latin typeface="Arial" charset="0"/>
                    <a:cs typeface="Arial" charset="0"/>
                    <a:sym typeface="Symbol"/>
                  </a:rPr>
                  <a:t> </a:t>
                </a:r>
                <a:r>
                  <a:rPr lang="en-US" sz="3200" dirty="0">
                    <a:solidFill>
                      <a:srgbClr val="008000"/>
                    </a:solidFill>
                    <a:latin typeface="Arial" charset="0"/>
                    <a:cs typeface="Arial" charset="0"/>
                    <a:sym typeface="Symbol"/>
                  </a:rPr>
                  <a:t>- </a:t>
                </a:r>
                <a:r>
                  <a:rPr lang="en-US" sz="3200" dirty="0" smtClean="0">
                    <a:solidFill>
                      <a:srgbClr val="008000"/>
                    </a:solidFill>
                    <a:latin typeface="Arial" charset="0"/>
                    <a:cs typeface="Arial" charset="0"/>
                    <a:sym typeface="Symbol"/>
                  </a:rPr>
                  <a:t></a:t>
                </a:r>
                <a:r>
                  <a:rPr lang="en-US" sz="3200" baseline="30000" dirty="0" smtClean="0">
                    <a:solidFill>
                      <a:srgbClr val="008000"/>
                    </a:solidFill>
                    <a:latin typeface="Arial" charset="0"/>
                    <a:cs typeface="Arial" charset="0"/>
                    <a:sym typeface="Symbol"/>
                  </a:rPr>
                  <a:t>0</a:t>
                </a:r>
                <a:r>
                  <a:rPr lang="en-US" sz="3200" baseline="-25000" dirty="0" smtClean="0">
                    <a:solidFill>
                      <a:srgbClr val="008000"/>
                    </a:solidFill>
                    <a:latin typeface="Arial" charset="0"/>
                    <a:cs typeface="Arial" charset="0"/>
                    <a:sym typeface="Symbol"/>
                  </a:rPr>
                  <a:t>-</a:t>
                </a:r>
                <a:r>
                  <a:rPr lang="en-US" sz="3200" dirty="0">
                    <a:solidFill>
                      <a:srgbClr val="008000"/>
                    </a:solidFill>
                    <a:latin typeface="Arial" charset="0"/>
                    <a:cs typeface="Arial" charset="0"/>
                    <a:sym typeface="Symbol"/>
                  </a:rPr>
                  <a:t>) </a:t>
                </a:r>
                <a:r>
                  <a:rPr lang="en-US" sz="3200" dirty="0" smtClean="0">
                    <a:solidFill>
                      <a:schemeClr val="accent6">
                        <a:lumMod val="50000"/>
                      </a:schemeClr>
                    </a:solidFill>
                    <a:latin typeface="Arial" charset="0"/>
                    <a:cs typeface="Arial" charset="0"/>
                    <a:sym typeface="Symbol"/>
                  </a:rPr>
                  <a:t>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  <a:cs typeface="Arial" charset="0"/>
                            <a:sym typeface="Symbol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  <a:cs typeface="Arial" charset="0"/>
                            <a:sym typeface="Symbol"/>
                          </a:rPr>
                          <m:t>0,059</m:t>
                        </m:r>
                      </m:num>
                      <m:den>
                        <m:r>
                          <a:rPr lang="en-US" sz="32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  <a:cs typeface="Arial" charset="0"/>
                            <a:sym typeface="Symbol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3200" dirty="0" smtClean="0">
                    <a:solidFill>
                      <a:schemeClr val="accent6">
                        <a:lumMod val="50000"/>
                      </a:schemeClr>
                    </a:solidFill>
                    <a:latin typeface="Arial" charset="0"/>
                    <a:cs typeface="Arial" charset="0"/>
                    <a:sym typeface="Symbol"/>
                  </a:rPr>
                  <a:t>lgQ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200" dirty="0" smtClean="0">
                    <a:solidFill>
                      <a:schemeClr val="accent6">
                        <a:lumMod val="50000"/>
                      </a:schemeClr>
                    </a:solidFill>
                    <a:latin typeface="Arial" charset="0"/>
                    <a:cs typeface="Arial" charset="0"/>
                    <a:sym typeface="Symbol"/>
                  </a:rPr>
                  <a:t>                                                                 (ở 25</a:t>
                </a:r>
                <a:r>
                  <a:rPr lang="en-US" sz="3200" baseline="30000" dirty="0" smtClean="0">
                    <a:solidFill>
                      <a:schemeClr val="accent6">
                        <a:lumMod val="50000"/>
                      </a:schemeClr>
                    </a:solidFill>
                    <a:latin typeface="Arial" charset="0"/>
                    <a:cs typeface="Arial" charset="0"/>
                    <a:sym typeface="Symbol"/>
                  </a:rPr>
                  <a:t>0</a:t>
                </a:r>
                <a:r>
                  <a:rPr lang="en-US" sz="3200" dirty="0" smtClean="0">
                    <a:solidFill>
                      <a:schemeClr val="accent6">
                        <a:lumMod val="50000"/>
                      </a:schemeClr>
                    </a:solidFill>
                    <a:latin typeface="Arial" charset="0"/>
                    <a:cs typeface="Arial" charset="0"/>
                    <a:sym typeface="Symbol"/>
                  </a:rPr>
                  <a:t>C) </a:t>
                </a:r>
                <a:endParaRPr lang="en-US" sz="32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5" y="2667000"/>
                <a:ext cx="9128185" cy="3706720"/>
              </a:xfrm>
              <a:prstGeom prst="rect">
                <a:avLst/>
              </a:prstGeom>
              <a:blipFill rotWithShape="1">
                <a:blip r:embed="rId3"/>
                <a:stretch>
                  <a:fillRect l="-1737" r="-2138" b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76200" y="5644551"/>
            <a:ext cx="701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mol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trao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đổi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pư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OXHK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89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4672" y="37981"/>
            <a:ext cx="4495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G</a:t>
            </a:r>
            <a:r>
              <a:rPr lang="en-US" sz="2800" b="1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= </a:t>
            </a:r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G</a:t>
            </a:r>
            <a:r>
              <a:rPr lang="en-US" sz="2800" b="1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800" b="1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+ </a:t>
            </a: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RTlnQ</a:t>
            </a:r>
            <a:endParaRPr lang="en-US" sz="2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609600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Tính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G</a:t>
            </a:r>
            <a:r>
              <a:rPr lang="en-US" sz="24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700 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và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xác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định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chiều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ở 427</a:t>
            </a:r>
            <a:r>
              <a:rPr lang="en-US" sz="2400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C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NH</a:t>
            </a:r>
            <a:r>
              <a:rPr lang="en-US" sz="24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4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Cl(r) 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⇌ NH</a:t>
            </a:r>
            <a:r>
              <a:rPr lang="en-US" altLang="en-US" sz="24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(k)  + 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HCl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(k)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cho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biết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pư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G</a:t>
            </a:r>
            <a:r>
              <a:rPr lang="en-US" sz="2400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700  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= -12,8 kJ,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Á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suất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riêng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phần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P(NH</a:t>
            </a:r>
            <a:r>
              <a:rPr lang="en-US" altLang="en-US" sz="24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) = 0,1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atm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; P(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HCl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)= 0,01 atm.</a:t>
            </a: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Á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suất</a:t>
            </a:r>
            <a:r>
              <a:rPr lang="en-US" alt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riêng</a:t>
            </a:r>
            <a:r>
              <a:rPr lang="en-US" alt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phần</a:t>
            </a:r>
            <a:r>
              <a:rPr lang="en-US" alt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alt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P(NH</a:t>
            </a:r>
            <a:r>
              <a:rPr lang="en-US" altLang="en-US" sz="2400" baseline="-250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) = 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P(</a:t>
            </a:r>
            <a:r>
              <a:rPr lang="en-US" altLang="en-US" sz="24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HCl</a:t>
            </a:r>
            <a:r>
              <a:rPr lang="en-US" alt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)= 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10 </a:t>
            </a:r>
            <a:r>
              <a:rPr lang="en-US" alt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atm. </a:t>
            </a:r>
            <a:endParaRPr lang="en-US" sz="24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4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3642" y="4070410"/>
            <a:ext cx="9039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1. G</a:t>
            </a:r>
            <a:r>
              <a:rPr lang="en-US" sz="24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700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= -12,8 + 8,314.10</a:t>
            </a:r>
            <a:r>
              <a:rPr lang="en-US" sz="24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-3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.700.ln(0,1.0,01) = - 53 kJ &lt; 0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     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tự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phát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theo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chiều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thuận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6119" y="305642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- 40kJ&lt; 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G</a:t>
            </a:r>
            <a:r>
              <a:rPr lang="en-US" sz="24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700 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-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12,8kJ &lt; +40kJ: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thuận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nghịch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trong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thực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tế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6119" y="5257800"/>
            <a:ext cx="9039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. G</a:t>
            </a:r>
            <a:r>
              <a:rPr lang="en-US" sz="24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700</a:t>
            </a:r>
            <a:r>
              <a:rPr 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= -12,8 + 8,314.10</a:t>
            </a:r>
            <a:r>
              <a:rPr lang="en-US" sz="2400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-3</a:t>
            </a:r>
            <a:r>
              <a:rPr 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.700.ln(10.10) = + 14 kJ &gt; 0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      </a:t>
            </a:r>
            <a:r>
              <a:rPr lang="en-US" sz="24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tự</a:t>
            </a:r>
            <a:r>
              <a:rPr 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phát</a:t>
            </a:r>
            <a:r>
              <a:rPr 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theo</a:t>
            </a:r>
            <a:r>
              <a:rPr 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chiều</a:t>
            </a:r>
            <a:r>
              <a:rPr 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nghịch</a:t>
            </a:r>
            <a:r>
              <a:rPr 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endParaRPr lang="en-US" sz="2400" dirty="0">
              <a:solidFill>
                <a:srgbClr val="CC00FF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95191" y="3620199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(P(NH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).P(</a:t>
            </a:r>
            <a:r>
              <a:rPr lang="en-US" sz="24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HCl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))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</a:t>
            </a:r>
            <a:endParaRPr lang="en-U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59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381000" y="228600"/>
                <a:ext cx="8229600" cy="1392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3200" b="1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G</a:t>
                </a:r>
                <a:r>
                  <a:rPr lang="en-US" sz="3200" b="1" baseline="-250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T</a:t>
                </a:r>
                <a:r>
                  <a:rPr lang="en-US" sz="3200" b="1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= </a:t>
                </a:r>
                <a:r>
                  <a:rPr lang="en-US" sz="3200" b="1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RTln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</m:ctrlPr>
                      </m:fPr>
                      <m:num>
                        <m:r>
                          <a:rPr lang="en-US" sz="3200" b="1" i="1" smtClean="0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𝑸</m:t>
                        </m:r>
                      </m:num>
                      <m:den>
                        <m:r>
                          <a:rPr lang="en-US" sz="3200" b="1" i="1" smtClean="0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𝑲</m:t>
                        </m:r>
                      </m:den>
                    </m:f>
                  </m:oMath>
                </a14:m>
                <a:endParaRPr lang="en-US" sz="32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228600"/>
                <a:ext cx="8229600" cy="1392241"/>
              </a:xfrm>
              <a:prstGeom prst="rect">
                <a:avLst/>
              </a:prstGeom>
              <a:blipFill rotWithShape="1">
                <a:blip r:embed="rId2"/>
                <a:stretch>
                  <a:fillRect l="-1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6200" y="1063925"/>
            <a:ext cx="9067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Phản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PCl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(k) 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⇌ PCl</a:t>
            </a:r>
            <a:r>
              <a:rPr lang="en-US" alt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(k) + Cl</a:t>
            </a:r>
            <a:r>
              <a:rPr lang="en-US" alt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(k) </a:t>
            </a:r>
            <a:r>
              <a:rPr lang="en-US" alt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hằng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cân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bằng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ở 525K   </a:t>
            </a:r>
            <a:r>
              <a:rPr lang="en-US" altLang="en-US" sz="24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altLang="en-US" sz="2400" baseline="-25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alt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= 1,85 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alt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Hãy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tính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G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525,pư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xác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định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chiều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pư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khi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áp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suất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riêng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phần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PCl</a:t>
            </a:r>
            <a:r>
              <a:rPr lang="en-US" sz="24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,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PCl</a:t>
            </a:r>
            <a:r>
              <a:rPr lang="en-US" alt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Cl</a:t>
            </a:r>
            <a:r>
              <a:rPr lang="en-US" alt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en-US" sz="24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giá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trị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lần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lượt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: 1; 0,1; 0,1 (</a:t>
            </a:r>
            <a:r>
              <a:rPr lang="en-US" alt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atm</a:t>
            </a:r>
            <a:r>
              <a:rPr lang="en-US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).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4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1000" y="3048000"/>
                <a:ext cx="7467600" cy="940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Tỉ </a:t>
                </a:r>
                <a:r>
                  <a:rPr lang="en-US" sz="2400" dirty="0" err="1" smtClean="0">
                    <a:latin typeface="Arial" pitchFamily="34" charset="0"/>
                    <a:cs typeface="Arial" pitchFamily="34" charset="0"/>
                  </a:rPr>
                  <a:t>số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latin typeface="Arial" pitchFamily="34" charset="0"/>
                    <a:cs typeface="Arial" pitchFamily="34" charset="0"/>
                  </a:rPr>
                  <a:t>pư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: </a:t>
                </a:r>
                <a:r>
                  <a:rPr lang="en-US" sz="2400" dirty="0" err="1" smtClean="0">
                    <a:latin typeface="Arial" pitchFamily="34" charset="0"/>
                    <a:cs typeface="Arial" pitchFamily="34" charset="0"/>
                  </a:rPr>
                  <a:t>Q</a:t>
                </a:r>
                <a:r>
                  <a:rPr lang="en-US" sz="2400" baseline="-25000" dirty="0" err="1" smtClean="0">
                    <a:latin typeface="Arial" pitchFamily="34" charset="0"/>
                    <a:cs typeface="Arial" pitchFamily="34" charset="0"/>
                  </a:rPr>
                  <a:t>p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𝑃𝐶𝑙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/>
                              </a:rPr>
                              <m:t>.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𝐶𝑙</m:t>
                                </m:r>
                              </m:e>
                              <m:sub>
                                <m:eqArr>
                                  <m:eqArr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/>
                                </m:eqAr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𝑃𝐶𝑙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5</m:t>
                                </m:r>
                              </m:sub>
                            </m:sSub>
                          </m:sub>
                        </m:sSub>
                      </m:den>
                    </m:f>
                  </m:oMath>
                </a14:m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)</a:t>
                </a:r>
                <a:r>
                  <a:rPr lang="en-US" sz="2400" baseline="-25000" dirty="0" smtClean="0">
                    <a:latin typeface="Arial" pitchFamily="34" charset="0"/>
                    <a:cs typeface="Arial" pitchFamily="34" charset="0"/>
                    <a:sym typeface="Symbol"/>
                  </a:rPr>
                  <a:t>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  <a:sym typeface="Symbol"/>
                          </a:rPr>
                          <m:t>0,1.0,1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  <a:sym typeface="Symbol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  = 0,01 &lt; </a:t>
                </a:r>
                <a:r>
                  <a:rPr lang="en-US" sz="2400" dirty="0" err="1" smtClean="0">
                    <a:latin typeface="Arial" pitchFamily="34" charset="0"/>
                    <a:cs typeface="Arial" pitchFamily="34" charset="0"/>
                  </a:rPr>
                  <a:t>K</a:t>
                </a:r>
                <a:r>
                  <a:rPr lang="en-US" sz="2400" baseline="-25000" dirty="0" err="1" smtClean="0">
                    <a:latin typeface="Arial" pitchFamily="34" charset="0"/>
                    <a:cs typeface="Arial" pitchFamily="34" charset="0"/>
                  </a:rPr>
                  <a:t>p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 = 1,85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048000"/>
                <a:ext cx="7467600" cy="940707"/>
              </a:xfrm>
              <a:prstGeom prst="rect">
                <a:avLst/>
              </a:prstGeom>
              <a:blipFill rotWithShape="1">
                <a:blip r:embed="rId3"/>
                <a:stretch>
                  <a:fillRect l="-1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4800" y="4267200"/>
                <a:ext cx="8254042" cy="1461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G</a:t>
                </a:r>
                <a:r>
                  <a:rPr lang="en-US" sz="2400" baseline="-25000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T</a:t>
                </a:r>
                <a:r>
                  <a:rPr lang="en-US" sz="2400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=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RTln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CC00FF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C00FF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C00FF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C00FF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C00FF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C00FF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C00FF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= 8,314.10</a:t>
                </a:r>
                <a:r>
                  <a:rPr lang="en-US" sz="2400" baseline="300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-3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.525.ln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  <m:t>0,01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  <m:t>1,85</m:t>
                        </m:r>
                      </m:den>
                    </m:f>
                  </m:oMath>
                </a14:m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= - 22,79 kJ &lt; 0</a:t>
                </a:r>
              </a:p>
              <a:p>
                <a:r>
                  <a:rPr lang="en-US" sz="2400" b="1" dirty="0" err="1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Q</a:t>
                </a:r>
                <a:r>
                  <a:rPr lang="en-US" sz="2400" b="1" baseline="-25000" dirty="0" err="1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p</a:t>
                </a:r>
                <a:r>
                  <a:rPr lang="en-US" sz="2400" b="1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&lt; K</a:t>
                </a:r>
                <a:r>
                  <a:rPr lang="en-US" sz="2400" b="1" baseline="-250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P</a:t>
                </a:r>
                <a:r>
                  <a:rPr lang="en-US" sz="2400" b="1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 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G</a:t>
                </a:r>
                <a:r>
                  <a:rPr lang="en-US" sz="2400" b="1" baseline="-25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525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&lt; 0 :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pư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tự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phát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theo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chiều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thuận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. 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</a:p>
              <a:p>
                <a:endParaRPr lang="en-US" sz="2400" dirty="0">
                  <a:solidFill>
                    <a:srgbClr val="CC00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267200"/>
                <a:ext cx="8254042" cy="1461426"/>
              </a:xfrm>
              <a:prstGeom prst="rect">
                <a:avLst/>
              </a:prstGeom>
              <a:blipFill rotWithShape="1">
                <a:blip r:embed="rId4"/>
                <a:stretch>
                  <a:fillRect l="-1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87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0"/>
                <a:ext cx="9067800" cy="6858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P</a:t>
                </a:r>
                <a:r>
                  <a:rPr lang="vi-VN" sz="2400" dirty="0">
                    <a:latin typeface="Arial" pitchFamily="34" charset="0"/>
                    <a:cs typeface="Arial" pitchFamily="34" charset="0"/>
                    <a:sym typeface="Symbol"/>
                  </a:rPr>
                  <a:t>ư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  <a:sym typeface="Symbol"/>
                  </a:rPr>
                  <a:t>OXHK, 25</a:t>
                </a:r>
                <a:r>
                  <a:rPr lang="en-US" sz="2400" baseline="30000" dirty="0">
                    <a:latin typeface="Arial" pitchFamily="34" charset="0"/>
                    <a:cs typeface="Arial" pitchFamily="34" charset="0"/>
                    <a:sym typeface="Symbol"/>
                  </a:rPr>
                  <a:t>0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  <a:sym typeface="Symbol"/>
                  </a:rPr>
                  <a:t>C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:</a:t>
                </a:r>
                <a:r>
                  <a:rPr lang="en-US" sz="2400" b="1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</a:t>
                </a:r>
                <a:r>
                  <a:rPr lang="en-US" sz="2400" b="1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G</a:t>
                </a:r>
                <a:r>
                  <a:rPr lang="en-US" sz="2400" b="1" baseline="-25000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298</a:t>
                </a:r>
                <a:r>
                  <a:rPr lang="en-US" sz="2400" b="1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= - </a:t>
                </a:r>
                <a:r>
                  <a:rPr lang="en-US" sz="2400" b="1" dirty="0" err="1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nF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E</a:t>
                </a:r>
                <a:r>
                  <a:rPr lang="en-US" sz="2400" b="1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= - </a:t>
                </a:r>
                <a:r>
                  <a:rPr lang="en-US" sz="2400" b="1" dirty="0" err="1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nF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 pitchFamily="18" charset="2"/>
                  </a:rPr>
                  <a:t>(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</a:t>
                </a:r>
                <a:r>
                  <a:rPr lang="en-US" sz="2400" b="1" baseline="-25000" dirty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+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 - </a:t>
                </a:r>
                <a:r>
                  <a:rPr lang="en-US" sz="2400" b="1" baseline="-25000" dirty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-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) </a:t>
                </a:r>
                <a:r>
                  <a:rPr lang="en-US" sz="2400" b="1" dirty="0">
                    <a:solidFill>
                      <a:srgbClr val="CC00FF"/>
                    </a:solidFill>
                    <a:latin typeface="Arial" charset="0"/>
                    <a:cs typeface="Arial" charset="0"/>
                    <a:sym typeface="Symbol"/>
                  </a:rPr>
                  <a:t>= </a:t>
                </a:r>
                <a:r>
                  <a:rPr lang="en-US" sz="2400" b="1" dirty="0" err="1">
                    <a:solidFill>
                      <a:srgbClr val="CC00FF"/>
                    </a:solidFill>
                    <a:latin typeface="Arial" charset="0"/>
                    <a:cs typeface="Arial" charset="0"/>
                    <a:sym typeface="Symbol"/>
                  </a:rPr>
                  <a:t>nF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(E</a:t>
                </a:r>
                <a:r>
                  <a:rPr lang="en-US" sz="2400" b="1" baseline="30000" dirty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0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 </a:t>
                </a:r>
                <a:r>
                  <a:rPr lang="en-US" sz="2400" b="1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–</a:t>
                </a:r>
                <a:r>
                  <a:rPr lang="vi-VN" sz="2400" b="1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400" i="1" smtClean="0">
                            <a:solidFill>
                              <a:srgbClr val="FF000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</m:ctrlPr>
                      </m:fPr>
                      <m:num>
                        <m:r>
                          <a:rPr lang="vi-VN" sz="2400" i="1">
                            <a:solidFill>
                              <a:srgbClr val="FF000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0,059</m:t>
                        </m:r>
                      </m:num>
                      <m:den>
                        <m:r>
                          <a:rPr lang="vi-VN" sz="2400" b="1" i="1" smtClean="0">
                            <a:solidFill>
                              <a:srgbClr val="FF000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𝒏</m:t>
                        </m:r>
                      </m:den>
                    </m:f>
                  </m:oMath>
                </a14:m>
                <a:r>
                  <a:rPr lang="en-US" sz="2400" b="1" dirty="0" err="1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lnQ</a:t>
                </a:r>
                <a:r>
                  <a:rPr lang="en-US" sz="2400" b="1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)</a:t>
                </a:r>
                <a:endParaRPr lang="en-US" sz="2400" b="1" dirty="0">
                  <a:solidFill>
                    <a:srgbClr val="FF0000"/>
                  </a:solidFill>
                  <a:latin typeface="Arial" charset="0"/>
                  <a:cs typeface="Arial" charset="0"/>
                  <a:sym typeface="Symbol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0"/>
                <a:ext cx="9067800" cy="685800"/>
              </a:xfrm>
              <a:blipFill rotWithShape="1">
                <a:blip r:embed="rId2"/>
                <a:stretch>
                  <a:fillRect l="-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8754" y="591740"/>
            <a:ext cx="919144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  </a:t>
            </a:r>
            <a:r>
              <a:rPr lang="vi-VN" sz="2400" dirty="0" smtClean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vi-VN" sz="2400" dirty="0" smtClean="0">
                <a:solidFill>
                  <a:srgbClr val="FF0000"/>
                </a:solidFill>
              </a:rPr>
              <a:t>Fe</a:t>
            </a:r>
            <a:r>
              <a:rPr lang="vi-VN" sz="2400" baseline="30000" dirty="0" smtClean="0">
                <a:solidFill>
                  <a:srgbClr val="FF0000"/>
                </a:solidFill>
              </a:rPr>
              <a:t>3+</a:t>
            </a:r>
            <a:r>
              <a:rPr lang="vi-VN" sz="2400" dirty="0" smtClean="0"/>
              <a:t>(dd)   </a:t>
            </a:r>
            <a:r>
              <a:rPr lang="vi-VN" sz="2400" dirty="0"/>
              <a:t> </a:t>
            </a:r>
            <a:r>
              <a:rPr lang="vi-VN" sz="2400" dirty="0" smtClean="0"/>
              <a:t>+  </a:t>
            </a:r>
            <a:r>
              <a:rPr lang="vi-VN" sz="2400" dirty="0" smtClean="0">
                <a:solidFill>
                  <a:srgbClr val="0000FF"/>
                </a:solidFill>
              </a:rPr>
              <a:t>Cu(r)</a:t>
            </a:r>
            <a:r>
              <a:rPr lang="vi-VN" sz="2400" dirty="0" smtClean="0"/>
              <a:t>   </a:t>
            </a:r>
            <a:r>
              <a:rPr lang="en-US" altLang="en-US" sz="2400" dirty="0" smtClean="0">
                <a:latin typeface="Arial" pitchFamily="34" charset="0"/>
                <a:cs typeface="Arial" pitchFamily="34" charset="0"/>
              </a:rPr>
              <a:t>⇌</a:t>
            </a:r>
            <a:r>
              <a:rPr lang="vi-VN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  2</a:t>
            </a:r>
            <a:r>
              <a:rPr lang="vi-VN" alt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altLang="en-US" sz="24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altLang="en-US" sz="2400" dirty="0" smtClean="0">
                <a:latin typeface="Arial" pitchFamily="34" charset="0"/>
                <a:cs typeface="Arial" pitchFamily="34" charset="0"/>
              </a:rPr>
              <a:t>(dd)  +  </a:t>
            </a:r>
            <a:r>
              <a:rPr lang="vi-VN" alt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Cu</a:t>
            </a:r>
            <a:r>
              <a:rPr lang="vi-VN" altLang="en-US" sz="24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  </a:t>
            </a:r>
            <a:r>
              <a:rPr lang="vi-VN" altLang="en-US" sz="2400" dirty="0" smtClean="0">
                <a:latin typeface="Arial" pitchFamily="34" charset="0"/>
                <a:cs typeface="Arial" pitchFamily="34" charset="0"/>
              </a:rPr>
              <a:t>(dd);</a:t>
            </a:r>
            <a:r>
              <a:rPr lang="en-US" alt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alt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altLang="en-US" sz="2400" dirty="0" smtClean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vi-VN" altLang="en-US" sz="2400" dirty="0" smtClean="0">
                <a:latin typeface="Arial" pitchFamily="34" charset="0"/>
                <a:cs typeface="Arial" pitchFamily="34" charset="0"/>
              </a:rPr>
              <a:t> = </a:t>
            </a:r>
            <a:r>
              <a:rPr lang="vi-VN" altLang="en-US" sz="2400" dirty="0" smtClean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en-US" sz="2400" dirty="0" smtClean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altLang="en-US" sz="2400" dirty="0" smtClean="0">
                <a:latin typeface="Arial" pitchFamily="34" charset="0"/>
                <a:cs typeface="Arial" pitchFamily="34" charset="0"/>
              </a:rPr>
              <a:t>mol</a:t>
            </a:r>
          </a:p>
          <a:p>
            <a:pPr>
              <a:lnSpc>
                <a:spcPct val="150000"/>
              </a:lnSpc>
            </a:pPr>
            <a:r>
              <a:rPr lang="vi-VN" sz="2400" dirty="0"/>
              <a:t>Tính 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G</a:t>
            </a:r>
            <a:r>
              <a:rPr lang="en-US" sz="2400" baseline="-25000" dirty="0">
                <a:latin typeface="Arial" pitchFamily="34" charset="0"/>
                <a:cs typeface="Arial" pitchFamily="34" charset="0"/>
                <a:sym typeface="Symbol"/>
              </a:rPr>
              <a:t>298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2400" dirty="0">
                <a:latin typeface="Arial" pitchFamily="34" charset="0"/>
                <a:cs typeface="Arial" pitchFamily="34" charset="0"/>
                <a:sym typeface="Symbol"/>
              </a:rPr>
              <a:t>của pư </a:t>
            </a:r>
            <a:r>
              <a:rPr lang="vi-VN" sz="24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2400" dirty="0">
                <a:latin typeface="Arial" pitchFamily="34" charset="0"/>
                <a:cs typeface="Arial" pitchFamily="34" charset="0"/>
                <a:sym typeface="Symbol"/>
              </a:rPr>
              <a:t>cho biết [</a:t>
            </a:r>
            <a:r>
              <a:rPr lang="vi-VN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Fe</a:t>
            </a:r>
            <a:r>
              <a:rPr lang="vi-VN" sz="24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3+</a:t>
            </a:r>
            <a:r>
              <a:rPr lang="vi-VN" sz="2400" dirty="0">
                <a:latin typeface="Arial" pitchFamily="34" charset="0"/>
                <a:cs typeface="Arial" pitchFamily="34" charset="0"/>
                <a:sym typeface="Symbol"/>
              </a:rPr>
              <a:t>] = </a:t>
            </a:r>
            <a:r>
              <a:rPr lang="vi-VN" sz="2400" dirty="0" smtClean="0">
                <a:latin typeface="Arial" pitchFamily="34" charset="0"/>
                <a:cs typeface="Arial" pitchFamily="34" charset="0"/>
                <a:sym typeface="Symbol"/>
              </a:rPr>
              <a:t>0,01M; [</a:t>
            </a:r>
            <a:r>
              <a:rPr lang="vi-VN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Fe</a:t>
            </a:r>
            <a:r>
              <a:rPr lang="vi-VN" sz="24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vi-VN" sz="24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+</a:t>
            </a:r>
            <a:r>
              <a:rPr lang="vi-VN" sz="2400" dirty="0">
                <a:latin typeface="Arial" pitchFamily="34" charset="0"/>
                <a:cs typeface="Arial" pitchFamily="34" charset="0"/>
                <a:sym typeface="Symbol"/>
              </a:rPr>
              <a:t>] = [</a:t>
            </a:r>
            <a:r>
              <a:rPr lang="vi-VN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Cu</a:t>
            </a:r>
            <a:r>
              <a:rPr lang="vi-VN" sz="24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2+</a:t>
            </a:r>
            <a:r>
              <a:rPr lang="vi-VN" sz="2400" dirty="0">
                <a:latin typeface="Arial" pitchFamily="34" charset="0"/>
                <a:cs typeface="Arial" pitchFamily="34" charset="0"/>
                <a:sym typeface="Symbol"/>
              </a:rPr>
              <a:t>] = </a:t>
            </a:r>
            <a:r>
              <a:rPr lang="vi-VN" sz="2400" dirty="0" smtClean="0">
                <a:latin typeface="Arial" pitchFamily="34" charset="0"/>
                <a:cs typeface="Arial" pitchFamily="34" charset="0"/>
                <a:sym typeface="Symbol"/>
              </a:rPr>
              <a:t>0,1M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charset="0"/>
                <a:cs typeface="Arial" charset="0"/>
                <a:sym typeface="Symbol"/>
              </a:rPr>
              <a:t></a:t>
            </a:r>
            <a:r>
              <a:rPr lang="vi-VN" sz="2400" b="1" baseline="30000" dirty="0" smtClean="0">
                <a:latin typeface="Arial" charset="0"/>
                <a:cs typeface="Arial" charset="0"/>
                <a:sym typeface="Symbol"/>
              </a:rPr>
              <a:t>0</a:t>
            </a:r>
            <a:r>
              <a:rPr lang="vi-VN" sz="2400" dirty="0" smtClean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vi-VN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Fe</a:t>
            </a:r>
            <a:r>
              <a:rPr lang="vi-VN" sz="24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vi-VN" sz="24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+</a:t>
            </a:r>
            <a:r>
              <a:rPr lang="vi-VN" sz="2400" dirty="0"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vi-VN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Fe</a:t>
            </a:r>
            <a:r>
              <a:rPr lang="vi-VN" sz="24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vi-VN" sz="24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+</a:t>
            </a:r>
            <a:r>
              <a:rPr lang="vi-VN" sz="2400" dirty="0" smtClean="0">
                <a:latin typeface="Arial" pitchFamily="34" charset="0"/>
                <a:cs typeface="Arial" pitchFamily="34" charset="0"/>
                <a:sym typeface="Symbol"/>
              </a:rPr>
              <a:t>)= 0,77 V ;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b="1" dirty="0"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vi-VN" sz="2400" dirty="0" smtClean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vi-VN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Cu</a:t>
            </a:r>
            <a:r>
              <a:rPr lang="vi-VN" sz="24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vi-VN" sz="24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+</a:t>
            </a:r>
            <a:r>
              <a:rPr lang="vi-VN" sz="2400" dirty="0"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vi-VN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Cu</a:t>
            </a:r>
            <a:r>
              <a:rPr lang="vi-VN" sz="2400" dirty="0" smtClean="0">
                <a:latin typeface="Arial" pitchFamily="34" charset="0"/>
                <a:cs typeface="Arial" pitchFamily="34" charset="0"/>
                <a:sym typeface="Symbol"/>
              </a:rPr>
              <a:t>)= 0,34 V </a:t>
            </a:r>
            <a:r>
              <a:rPr lang="vi-VN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24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vi-VN" sz="2400" dirty="0"/>
          </a:p>
          <a:p>
            <a:r>
              <a:rPr lang="vi-VN" alt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400" baseline="30000" dirty="0" smtClean="0"/>
              <a:t> 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52399" y="2474961"/>
            <a:ext cx="6524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Cách 1</a:t>
            </a:r>
            <a:r>
              <a:rPr lang="vi-VN" sz="2000" dirty="0" smtClean="0">
                <a:latin typeface="Arial" pitchFamily="34" charset="0"/>
                <a:cs typeface="Arial" pitchFamily="34" charset="0"/>
              </a:rPr>
              <a:t>: E = </a:t>
            </a:r>
            <a:r>
              <a:rPr lang="en-US" sz="2000" dirty="0">
                <a:latin typeface="Arial" charset="0"/>
                <a:cs typeface="Arial" charset="0"/>
                <a:sym typeface="Symbol"/>
              </a:rPr>
              <a:t></a:t>
            </a:r>
            <a:r>
              <a:rPr lang="en-US" sz="2000" baseline="-25000" dirty="0">
                <a:latin typeface="Arial" charset="0"/>
                <a:cs typeface="Arial" charset="0"/>
                <a:sym typeface="Symbol"/>
              </a:rPr>
              <a:t>+</a:t>
            </a:r>
            <a:r>
              <a:rPr lang="en-US" sz="2000" dirty="0">
                <a:latin typeface="Arial" charset="0"/>
                <a:cs typeface="Arial" charset="0"/>
                <a:sym typeface="Symbol"/>
              </a:rPr>
              <a:t> - </a:t>
            </a:r>
            <a:r>
              <a:rPr lang="en-US" sz="2000" baseline="-25000" dirty="0" smtClean="0">
                <a:latin typeface="Arial" charset="0"/>
                <a:cs typeface="Arial" charset="0"/>
                <a:sym typeface="Symbol"/>
              </a:rPr>
              <a:t>-</a:t>
            </a:r>
            <a:r>
              <a:rPr lang="en-US" sz="2000" dirty="0" smtClean="0">
                <a:latin typeface="Arial" charset="0"/>
                <a:cs typeface="Arial" charset="0"/>
                <a:sym typeface="Symbol"/>
              </a:rPr>
              <a:t> </a:t>
            </a:r>
            <a:r>
              <a:rPr lang="vi-VN" sz="2000" dirty="0" smtClean="0">
                <a:latin typeface="Arial" charset="0"/>
                <a:cs typeface="Arial" charset="0"/>
                <a:sym typeface="Symbol"/>
              </a:rPr>
              <a:t>= </a:t>
            </a:r>
            <a:r>
              <a:rPr lang="en-US" sz="2000" dirty="0" smtClean="0">
                <a:latin typeface="Arial" charset="0"/>
                <a:cs typeface="Arial" charset="0"/>
                <a:sym typeface="Symbol"/>
              </a:rPr>
              <a:t></a:t>
            </a:r>
            <a:r>
              <a:rPr lang="vi-VN" sz="2000" dirty="0" smtClean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vi-VN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Fe</a:t>
            </a:r>
            <a:r>
              <a:rPr lang="vi-VN" sz="20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3+</a:t>
            </a:r>
            <a:r>
              <a:rPr lang="vi-VN" sz="2000" dirty="0" smtClean="0"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vi-VN" sz="2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Fe</a:t>
            </a:r>
            <a:r>
              <a:rPr lang="vi-VN" sz="20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2+</a:t>
            </a:r>
            <a:r>
              <a:rPr lang="vi-VN" sz="2000" dirty="0" smtClean="0">
                <a:latin typeface="Arial" pitchFamily="34" charset="0"/>
                <a:cs typeface="Arial" pitchFamily="34" charset="0"/>
                <a:sym typeface="Symbol"/>
              </a:rPr>
              <a:t>) </a:t>
            </a:r>
            <a:r>
              <a:rPr lang="en-US" sz="2000" dirty="0" smtClean="0">
                <a:latin typeface="Arial" pitchFamily="34" charset="0"/>
                <a:cs typeface="Arial" pitchFamily="34" charset="0"/>
                <a:sym typeface="Symbol"/>
              </a:rPr>
              <a:t>- </a:t>
            </a:r>
            <a:r>
              <a:rPr lang="vi-VN" sz="2000" dirty="0" smtClean="0">
                <a:latin typeface="Arial" pitchFamily="34" charset="0"/>
                <a:cs typeface="Arial" pitchFamily="34" charset="0"/>
                <a:sym typeface="Symbol"/>
              </a:rPr>
              <a:t>( </a:t>
            </a:r>
            <a:r>
              <a:rPr lang="vi-VN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Cu</a:t>
            </a:r>
            <a:r>
              <a:rPr lang="vi-VN" sz="20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2+</a:t>
            </a:r>
            <a:r>
              <a:rPr lang="vi-VN" sz="2000" dirty="0" smtClean="0"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vi-VN" sz="2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Cu</a:t>
            </a:r>
            <a:r>
              <a:rPr lang="vi-VN" sz="2000" dirty="0" smtClean="0">
                <a:latin typeface="Arial" pitchFamily="34" charset="0"/>
                <a:cs typeface="Arial" pitchFamily="34" charset="0"/>
                <a:sym typeface="Symbol"/>
              </a:rPr>
              <a:t>) </a:t>
            </a:r>
            <a:r>
              <a:rPr lang="vi-VN" sz="2000" baseline="-250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20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42358" y="2976044"/>
                <a:ext cx="8305800" cy="506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Fe</a:t>
                </a:r>
                <a:r>
                  <a:rPr lang="vi-VN" baseline="300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3+</a:t>
                </a:r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(dd) + </a:t>
                </a:r>
                <a:r>
                  <a:rPr lang="vi-VN" b="1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1</a:t>
                </a:r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e </a:t>
                </a:r>
                <a:r>
                  <a:rPr lang="en-US" altLang="en-US" dirty="0">
                    <a:latin typeface="Arial" pitchFamily="34" charset="0"/>
                    <a:cs typeface="Arial" pitchFamily="34" charset="0"/>
                  </a:rPr>
                  <a:t>⇌</a:t>
                </a:r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  </a:t>
                </a:r>
                <a:r>
                  <a:rPr lang="vi-VN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Fe</a:t>
                </a:r>
                <a:r>
                  <a:rPr lang="vi-VN" baseline="300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2+</a:t>
                </a:r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(dd) ; </a:t>
                </a:r>
                <a:r>
                  <a:rPr lang="en-US" b="1" dirty="0" smtClean="0">
                    <a:latin typeface="Arial" charset="0"/>
                    <a:cs typeface="Arial" charset="0"/>
                    <a:sym typeface="Symbol"/>
                  </a:rPr>
                  <a:t></a:t>
                </a:r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(</a:t>
                </a:r>
                <a:r>
                  <a:rPr lang="vi-VN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Fe</a:t>
                </a:r>
                <a:r>
                  <a:rPr lang="vi-VN" baseline="30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3+</a:t>
                </a:r>
                <a:r>
                  <a:rPr lang="vi-VN" dirty="0">
                    <a:latin typeface="Arial" pitchFamily="34" charset="0"/>
                    <a:cs typeface="Arial" pitchFamily="34" charset="0"/>
                    <a:sym typeface="Symbol"/>
                  </a:rPr>
                  <a:t>/</a:t>
                </a:r>
                <a:r>
                  <a:rPr lang="vi-VN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Fe</a:t>
                </a:r>
                <a:r>
                  <a:rPr lang="vi-VN" baseline="300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2</a:t>
                </a:r>
                <a:r>
                  <a:rPr lang="vi-VN" baseline="300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+</a:t>
                </a:r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) = 0,77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i="1" smtClean="0">
                            <a:latin typeface="Cambria Math"/>
                            <a:cs typeface="Arial" pitchFamily="34" charset="0"/>
                            <a:sym typeface="Symbol"/>
                          </a:rPr>
                        </m:ctrlPr>
                      </m:fPr>
                      <m:num>
                        <m:r>
                          <a:rPr lang="vi-VN" b="0" i="1" smtClean="0">
                            <a:latin typeface="Cambria Math"/>
                            <a:cs typeface="Arial" pitchFamily="34" charset="0"/>
                            <a:sym typeface="Symbol"/>
                          </a:rPr>
                          <m:t>0,059</m:t>
                        </m:r>
                      </m:num>
                      <m:den>
                        <m:r>
                          <a:rPr lang="vi-VN" b="1" i="0" smtClean="0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𝟏</m:t>
                        </m:r>
                      </m:den>
                    </m:f>
                  </m:oMath>
                </a14:m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lg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i="1" dirty="0" smtClean="0">
                            <a:latin typeface="Cambria Math"/>
                            <a:cs typeface="Arial" pitchFamily="34" charset="0"/>
                            <a:sym typeface="Symbol"/>
                          </a:rPr>
                        </m:ctrlPr>
                      </m:fPr>
                      <m:num>
                        <m:r>
                          <a:rPr lang="vi-VN" b="0" i="1" dirty="0" smtClean="0">
                            <a:latin typeface="Cambria Math"/>
                            <a:cs typeface="Arial" pitchFamily="34" charset="0"/>
                            <a:sym typeface="Symbol"/>
                          </a:rPr>
                          <m:t>0,01</m:t>
                        </m:r>
                      </m:num>
                      <m:den>
                        <m:r>
                          <a:rPr lang="vi-VN" b="0" i="1" dirty="0" smtClean="0">
                            <a:latin typeface="Cambria Math"/>
                            <a:cs typeface="Arial" pitchFamily="34" charset="0"/>
                            <a:sym typeface="Symbol"/>
                          </a:rPr>
                          <m:t>0,1</m:t>
                        </m:r>
                      </m:den>
                    </m:f>
                  </m:oMath>
                </a14:m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 = 0,71 V 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358" y="2976044"/>
                <a:ext cx="8305800" cy="506742"/>
              </a:xfrm>
              <a:prstGeom prst="rect">
                <a:avLst/>
              </a:prstGeom>
              <a:blipFill rotWithShape="1">
                <a:blip r:embed="rId3"/>
                <a:stretch>
                  <a:fillRect l="-661"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42358" y="3482786"/>
                <a:ext cx="8305800" cy="506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Cu</a:t>
                </a:r>
                <a:r>
                  <a:rPr lang="vi-VN" baseline="300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2+</a:t>
                </a:r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(dd) + </a:t>
                </a:r>
                <a:r>
                  <a:rPr lang="vi-VN" b="1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2</a:t>
                </a:r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e </a:t>
                </a:r>
                <a:r>
                  <a:rPr lang="en-US" altLang="en-US" dirty="0">
                    <a:latin typeface="Arial" pitchFamily="34" charset="0"/>
                    <a:cs typeface="Arial" pitchFamily="34" charset="0"/>
                  </a:rPr>
                  <a:t>⇌</a:t>
                </a:r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  </a:t>
                </a:r>
                <a:r>
                  <a:rPr lang="vi-VN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Cu</a:t>
                </a:r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(r) ; </a:t>
                </a:r>
                <a:r>
                  <a:rPr lang="en-US" b="1" dirty="0" smtClean="0">
                    <a:latin typeface="Arial" charset="0"/>
                    <a:cs typeface="Arial" charset="0"/>
                    <a:sym typeface="Symbol"/>
                  </a:rPr>
                  <a:t></a:t>
                </a:r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(</a:t>
                </a:r>
                <a:r>
                  <a:rPr lang="vi-VN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Cu</a:t>
                </a:r>
                <a:r>
                  <a:rPr lang="vi-VN" baseline="300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2+</a:t>
                </a:r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/</a:t>
                </a:r>
                <a:r>
                  <a:rPr lang="vi-VN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Cu</a:t>
                </a:r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) = 0,34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i="1" smtClean="0">
                            <a:latin typeface="Cambria Math"/>
                            <a:cs typeface="Arial" pitchFamily="34" charset="0"/>
                            <a:sym typeface="Symbol"/>
                          </a:rPr>
                        </m:ctrlPr>
                      </m:fPr>
                      <m:num>
                        <m:r>
                          <a:rPr lang="vi-VN" b="0" i="1" smtClean="0">
                            <a:latin typeface="Cambria Math"/>
                            <a:cs typeface="Arial" pitchFamily="34" charset="0"/>
                            <a:sym typeface="Symbol"/>
                          </a:rPr>
                          <m:t>0,059</m:t>
                        </m:r>
                      </m:num>
                      <m:den>
                        <m:r>
                          <a:rPr lang="vi-VN" b="1" i="0" smtClean="0">
                            <a:solidFill>
                              <a:srgbClr val="CC00FF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𝟐</m:t>
                        </m:r>
                      </m:den>
                    </m:f>
                  </m:oMath>
                </a14:m>
                <a:r>
                  <a:rPr lang="vi-VN" dirty="0" smtClean="0">
                    <a:latin typeface="Arial" pitchFamily="34" charset="0"/>
                    <a:cs typeface="Arial" pitchFamily="34" charset="0"/>
                    <a:sym typeface="Symbol"/>
                  </a:rPr>
                  <a:t>lg0,1 = 0,31 V 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358" y="3482786"/>
                <a:ext cx="8305800" cy="506742"/>
              </a:xfrm>
              <a:prstGeom prst="rect">
                <a:avLst/>
              </a:prstGeom>
              <a:blipFill rotWithShape="1">
                <a:blip r:embed="rId4"/>
                <a:stretch>
                  <a:fillRect l="-661"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562600" y="2474961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 smtClean="0"/>
              <a:t>= 0,71 – 0,31 = 0,40</a:t>
            </a:r>
            <a:r>
              <a:rPr lang="en-US" dirty="0" smtClean="0"/>
              <a:t> </a:t>
            </a:r>
            <a:r>
              <a:rPr lang="vi-VN" dirty="0" smtClean="0"/>
              <a:t>V &gt; 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43054" y="4095438"/>
                <a:ext cx="8962846" cy="1414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000" dirty="0" smtClean="0">
                    <a:solidFill>
                      <a:srgbClr val="C00000"/>
                    </a:solidFill>
                  </a:rPr>
                  <a:t>Cách 2</a:t>
                </a:r>
                <a:r>
                  <a:rPr lang="vi-VN" sz="2000" dirty="0" smtClean="0">
                    <a:solidFill>
                      <a:schemeClr val="tx1"/>
                    </a:solidFill>
                  </a:rPr>
                  <a:t>: E =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E</a:t>
                </a:r>
                <a:r>
                  <a:rPr lang="en-US" sz="2000" baseline="30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0</a:t>
                </a:r>
                <a:r>
                  <a:rPr lang="en-US" sz="2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 –</a:t>
                </a:r>
                <a:r>
                  <a:rPr lang="vi-VN" sz="2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000" i="1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</m:ctrlPr>
                      </m:fPr>
                      <m:num>
                        <m:r>
                          <a:rPr lang="vi-VN" sz="2000" b="0" i="1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0,059</m:t>
                        </m:r>
                      </m:num>
                      <m:den>
                        <m:r>
                          <a:rPr lang="vi-VN" sz="2000" b="1" i="0" smtClean="0">
                            <a:solidFill>
                              <a:srgbClr val="00B0F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𝐧</m:t>
                        </m:r>
                      </m:den>
                    </m:f>
                  </m:oMath>
                </a14:m>
                <a:r>
                  <a:rPr lang="en-US" sz="2000" dirty="0" err="1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lnQ</a:t>
                </a:r>
                <a:r>
                  <a:rPr lang="vi-VN" sz="2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 = </a:t>
                </a:r>
                <a:r>
                  <a:rPr lang="vi-VN" sz="2000" dirty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(</a:t>
                </a:r>
                <a:r>
                  <a:rPr lang="en-US" sz="2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</a:t>
                </a:r>
                <a:r>
                  <a:rPr lang="vi-VN" sz="2000" baseline="30000" dirty="0" smtClean="0">
                    <a:solidFill>
                      <a:srgbClr val="FF0000"/>
                    </a:solidFill>
                    <a:latin typeface="Arial" charset="0"/>
                    <a:cs typeface="Arial" charset="0"/>
                    <a:sym typeface="Symbol"/>
                  </a:rPr>
                  <a:t>0</a:t>
                </a:r>
                <a:r>
                  <a:rPr lang="vi-VN" sz="20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(Fe</a:t>
                </a:r>
                <a:r>
                  <a:rPr lang="vi-VN" sz="2000" baseline="300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3</a:t>
                </a:r>
                <a:r>
                  <a:rPr lang="vi-VN" sz="2000" baseline="30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+</a:t>
                </a:r>
                <a:r>
                  <a:rPr lang="vi-VN" sz="200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/</a:t>
                </a:r>
                <a:r>
                  <a:rPr lang="vi-VN" sz="20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Fe</a:t>
                </a:r>
                <a:r>
                  <a:rPr lang="vi-VN" sz="2000" baseline="300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2+</a:t>
                </a:r>
                <a:r>
                  <a:rPr lang="vi-VN" sz="200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) </a:t>
                </a:r>
                <a:r>
                  <a:rPr lang="en-US" sz="200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-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</a:t>
                </a:r>
                <a:r>
                  <a:rPr lang="vi-VN" sz="2000" baseline="300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0</a:t>
                </a:r>
                <a:r>
                  <a:rPr lang="vi-VN" sz="20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(Cu</a:t>
                </a:r>
                <a:r>
                  <a:rPr lang="vi-VN" sz="2000" baseline="300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2</a:t>
                </a:r>
                <a:r>
                  <a:rPr lang="vi-VN" sz="2000" baseline="30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+</a:t>
                </a:r>
                <a:r>
                  <a:rPr lang="vi-VN" sz="200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/</a:t>
                </a:r>
                <a:r>
                  <a:rPr lang="vi-VN" sz="20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Cu</a:t>
                </a:r>
                <a:r>
                  <a:rPr lang="vi-VN" sz="2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))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000" i="1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</m:ctrlPr>
                      </m:fPr>
                      <m:num>
                        <m:r>
                          <a:rPr lang="vi-VN" sz="2000" b="0" i="1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0,059</m:t>
                        </m:r>
                      </m:num>
                      <m:den>
                        <m:r>
                          <a:rPr lang="vi-VN" sz="2000" b="1" i="1" smtClean="0">
                            <a:solidFill>
                              <a:srgbClr val="00B0F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𝟐</m:t>
                        </m:r>
                      </m:den>
                    </m:f>
                    <m:r>
                      <a:rPr lang="vi-VN" sz="2000" b="0" i="1">
                        <a:solidFill>
                          <a:schemeClr val="tx1"/>
                        </a:solidFill>
                        <a:latin typeface="Cambria Math"/>
                        <a:cs typeface="Arial" pitchFamily="34" charset="0"/>
                        <a:sym typeface="Symbol"/>
                      </a:rPr>
                      <m:t> </m:t>
                    </m:r>
                  </m:oMath>
                </a14:m>
                <a:r>
                  <a:rPr lang="vi-VN" sz="2000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lg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000" i="1" smtClean="0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vi-VN" sz="200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vi-VN" sz="20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[</m:t>
                            </m:r>
                            <m:r>
                              <a:rPr lang="vi-VN" sz="20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𝐹𝑒</m:t>
                            </m:r>
                          </m:e>
                          <m:sup>
                            <m:r>
                              <a:rPr lang="vi-VN" sz="20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2+</m:t>
                            </m:r>
                          </m:sup>
                        </m:sSup>
                        <m:sSup>
                          <m:sSupPr>
                            <m:ctrlPr>
                              <a:rPr lang="vi-VN" sz="200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vi-VN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]</m:t>
                            </m:r>
                          </m:e>
                          <m:sup>
                            <m:r>
                              <a:rPr lang="vi-VN" sz="2000" b="1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𝟐</m:t>
                            </m:r>
                          </m:sup>
                        </m:sSup>
                        <m:sSup>
                          <m:sSupPr>
                            <m:ctrlPr>
                              <a:rPr lang="vi-VN" sz="200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vi-VN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[</m:t>
                            </m:r>
                            <m:r>
                              <a:rPr lang="vi-VN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𝐶𝑢</m:t>
                            </m:r>
                          </m:e>
                          <m:sup>
                            <m:r>
                              <a:rPr lang="vi-VN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2+</m:t>
                            </m:r>
                          </m:sup>
                        </m:sSup>
                        <m:r>
                          <a:rPr lang="vi-VN" sz="2000" b="0" i="1" smtClean="0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vi-VN" sz="200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vi-VN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[</m:t>
                            </m:r>
                            <m:r>
                              <a:rPr lang="vi-VN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𝐹𝑒</m:t>
                            </m:r>
                          </m:e>
                          <m:sup>
                            <m:r>
                              <a:rPr lang="vi-VN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3+</m:t>
                            </m:r>
                          </m:sup>
                        </m:sSup>
                        <m:sSup>
                          <m:sSupPr>
                            <m:ctrlPr>
                              <a:rPr lang="vi-VN" sz="200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vi-VN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]</m:t>
                            </m:r>
                          </m:e>
                          <m:sup>
                            <m:r>
                              <a:rPr lang="vi-VN" sz="2000" b="1" i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sz="2000" dirty="0" smtClean="0">
                  <a:solidFill>
                    <a:schemeClr val="tx1"/>
                  </a:solidFill>
                  <a:latin typeface="Arial" charset="0"/>
                  <a:cs typeface="Arial" charset="0"/>
                  <a:sym typeface="Symbol"/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             E </a:t>
                </a:r>
                <a:r>
                  <a:rPr lang="vi-VN" sz="2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=(0,77</a:t>
                </a:r>
                <a:r>
                  <a:rPr lang="en-US" sz="2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 </a:t>
                </a:r>
                <a:r>
                  <a:rPr lang="vi-VN" sz="2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-</a:t>
                </a:r>
                <a:r>
                  <a:rPr lang="en-US" sz="2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 </a:t>
                </a:r>
                <a:r>
                  <a:rPr lang="vi-VN" sz="2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0,34)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000" i="1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</m:ctrlPr>
                      </m:fPr>
                      <m:num>
                        <m:r>
                          <a:rPr lang="vi-VN" sz="2000" b="0" i="1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0,059</m:t>
                        </m:r>
                      </m:num>
                      <m:den>
                        <m:r>
                          <a:rPr lang="vi-VN" sz="2000" b="1" i="0" smtClean="0">
                            <a:solidFill>
                              <a:srgbClr val="00B0F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𝟐</m:t>
                        </m:r>
                      </m:den>
                    </m:f>
                  </m:oMath>
                </a14:m>
                <a:r>
                  <a:rPr lang="vi-VN" sz="2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 lg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000" i="1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vi-VN" sz="200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vi-VN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0,1</m:t>
                            </m:r>
                          </m:e>
                          <m:sup>
                            <m:r>
                              <a:rPr lang="vi-VN" sz="2000" b="0" i="1">
                                <a:solidFill>
                                  <a:schemeClr val="tx1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 i="1" smtClean="0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.0,1</m:t>
                        </m:r>
                      </m:num>
                      <m:den>
                        <m:sSup>
                          <m:sSupPr>
                            <m:ctrlPr>
                              <a:rPr lang="vi-VN" sz="2000" i="1">
                                <a:solidFill>
                                  <a:schemeClr val="tx1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vi-VN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0,01</m:t>
                            </m:r>
                          </m:e>
                          <m:sup>
                            <m:r>
                              <a:rPr lang="vi-VN" sz="2000" b="0" i="1">
                                <a:solidFill>
                                  <a:schemeClr val="tx1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vi-VN" sz="2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 = 0,40 V</a:t>
                </a:r>
                <a:r>
                  <a:rPr lang="en-US" sz="2000" dirty="0" smtClean="0">
                    <a:solidFill>
                      <a:schemeClr val="tx1"/>
                    </a:solidFill>
                    <a:latin typeface="Arial" charset="0"/>
                    <a:cs typeface="Arial" charset="0"/>
                    <a:sym typeface="Symbol"/>
                  </a:rPr>
                  <a:t> &gt; 0 </a:t>
                </a:r>
                <a:endParaRPr lang="en-US" sz="2000" dirty="0">
                  <a:solidFill>
                    <a:schemeClr val="tx1"/>
                  </a:solidFill>
                  <a:latin typeface="Arial" charset="0"/>
                  <a:cs typeface="Arial" charset="0"/>
                  <a:sym typeface="Symbol"/>
                </a:endParaRPr>
              </a:p>
              <a:p>
                <a:r>
                  <a:rPr lang="vi-VN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54" y="4095438"/>
                <a:ext cx="8962846" cy="1414746"/>
              </a:xfrm>
              <a:prstGeom prst="rect">
                <a:avLst/>
              </a:prstGeom>
              <a:blipFill rotWithShape="1">
                <a:blip r:embed="rId5"/>
                <a:stretch>
                  <a:fillRect l="-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75402" y="5253486"/>
            <a:ext cx="90447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298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= - </a:t>
            </a:r>
            <a:r>
              <a:rPr lang="en-US" sz="24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nFE</a:t>
            </a:r>
            <a:r>
              <a:rPr lang="vi-VN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= -2.96,5.0,40 = -77,2 kJ &lt; 0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 E &gt; 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 </a:t>
            </a:r>
            <a:r>
              <a:rPr lang="en-US" sz="24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thì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G &lt; 0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 </a:t>
            </a:r>
            <a:r>
              <a:rPr lang="vi-VN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Phản ứng tự phát theo chiều thuận.</a:t>
            </a:r>
            <a:endParaRPr 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78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295" y="152400"/>
            <a:ext cx="8610600" cy="838199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HẰNG SỐ CÂN BẰNG K</a:t>
            </a:r>
            <a:r>
              <a:rPr lang="en-US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</a:t>
            </a:r>
            <a:r>
              <a:rPr lang="en-US" b="1" baseline="-25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,</a:t>
            </a:r>
            <a:r>
              <a:rPr lang="en-US" b="1" baseline="-25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K</a:t>
            </a:r>
            <a:r>
              <a:rPr lang="en-US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5404" y="877921"/>
            <a:ext cx="647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G</a:t>
            </a:r>
            <a:r>
              <a:rPr lang="en-US" sz="3200" b="1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3200" b="1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3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= - </a:t>
            </a:r>
            <a:r>
              <a:rPr lang="en-US" sz="3200" b="1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RTln</a:t>
            </a:r>
            <a:r>
              <a:rPr lang="en-US" sz="3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(Q   )</a:t>
            </a:r>
            <a:r>
              <a:rPr lang="en-US" sz="3200" b="1" baseline="-250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cb</a:t>
            </a:r>
            <a:r>
              <a:rPr lang="en-US" sz="3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= - </a:t>
            </a:r>
            <a:r>
              <a:rPr lang="en-US" sz="3200" b="1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RTlnK</a:t>
            </a:r>
            <a:endParaRPr lang="en-US" sz="32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0166" y="1714381"/>
            <a:ext cx="8839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Phản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đồng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thể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pha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khí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G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-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RTlnK</a:t>
            </a:r>
            <a:r>
              <a:rPr lang="en-US" sz="2800" baseline="-25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P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2721" y="2514600"/>
            <a:ext cx="899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Phản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đồng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thể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pha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lỏng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G</a:t>
            </a:r>
            <a:r>
              <a:rPr lang="en-US" sz="2800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8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= -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RTlnK</a:t>
            </a:r>
            <a:r>
              <a:rPr lang="en-US" sz="2800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C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8625" y="4267200"/>
            <a:ext cx="85983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K</a:t>
            </a:r>
            <a:r>
              <a:rPr lang="en-US" sz="3200" b="1" baseline="-25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</a:t>
            </a:r>
            <a:r>
              <a:rPr 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= K</a:t>
            </a:r>
            <a:r>
              <a:rPr lang="en-US" sz="3200" b="1" baseline="-25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</a:t>
            </a:r>
            <a:r>
              <a:rPr 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(RT)</a:t>
            </a:r>
            <a:r>
              <a:rPr lang="en-US" sz="3200" b="1" baseline="30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Symbol"/>
              </a:rPr>
              <a:t>n</a:t>
            </a:r>
            <a:r>
              <a:rPr 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Symbol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R = 0,082 [</a:t>
            </a: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atm.lit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/</a:t>
            </a: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mol.K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]  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n = 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số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mol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khí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sản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phẩm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- 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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mol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khí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sản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phẩm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 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56472" y="1115332"/>
            <a:ext cx="314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</a:t>
            </a:r>
            <a:endParaRPr lang="en-US" sz="16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76026" y="1080326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</a:t>
            </a:r>
            <a:endParaRPr lang="en-US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67974" y="1130720"/>
            <a:ext cx="304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</a:t>
            </a:r>
            <a:endParaRPr lang="en-US" sz="1400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52226" y="1139507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</a:t>
            </a:r>
            <a:endParaRPr lang="en-US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202" y="3226279"/>
            <a:ext cx="84528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G</a:t>
            </a:r>
            <a:r>
              <a:rPr lang="en-US" sz="2800" baseline="30000" dirty="0"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800" baseline="-25000" dirty="0"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[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KJ]    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   R = 8,314.10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  <a:sym typeface="Symbol"/>
              </a:rPr>
              <a:t>-3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[kJ/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mol.K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]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G</a:t>
            </a:r>
            <a:r>
              <a:rPr lang="en-US" sz="2800" baseline="30000" dirty="0"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800" baseline="-25000" dirty="0"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[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Kcal] 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   R = 1,987.10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  <a:sym typeface="Symbol"/>
              </a:rPr>
              <a:t>-3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[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kcal/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mol.K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]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7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2" grpId="0"/>
      <p:bldP spid="14" grpId="0"/>
      <p:bldP spid="13" grpId="0" animBg="1"/>
      <p:bldP spid="15" grpId="0" animBg="1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167" y="228600"/>
            <a:ext cx="8229600" cy="762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HẰNG SỐ CÂN BẰNG THEO NHIỆT ĐỘ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9">
            <a:extLst>
              <a:ext uri="{FF2B5EF4-FFF2-40B4-BE49-F238E27FC236}">
                <a16:creationId xmlns="" xmlns:a16="http://schemas.microsoft.com/office/drawing/2014/main" id="{B7504A60-1C6D-48D9-AD99-5F46D1C76EFE}"/>
              </a:ext>
            </a:extLst>
          </p:cNvPr>
          <p:cNvGrpSpPr>
            <a:grpSpLocks/>
          </p:cNvGrpSpPr>
          <p:nvPr/>
        </p:nvGrpSpPr>
        <p:grpSpPr bwMode="auto">
          <a:xfrm>
            <a:off x="1196445" y="1224400"/>
            <a:ext cx="4191000" cy="1295400"/>
            <a:chOff x="1183" y="2468"/>
            <a:chExt cx="1934" cy="592"/>
          </a:xfrm>
          <a:noFill/>
        </p:grpSpPr>
        <p:sp>
          <p:nvSpPr>
            <p:cNvPr id="5" name="Line 10">
              <a:extLst>
                <a:ext uri="{FF2B5EF4-FFF2-40B4-BE49-F238E27FC236}">
                  <a16:creationId xmlns="" xmlns:a16="http://schemas.microsoft.com/office/drawing/2014/main" id="{2E003868-1D96-497F-B1E1-B1911B8B0A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5" y="2762"/>
              <a:ext cx="279" cy="1"/>
            </a:xfrm>
            <a:prstGeom prst="line">
              <a:avLst/>
            </a:prstGeom>
            <a:grp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Line 11">
              <a:extLst>
                <a:ext uri="{FF2B5EF4-FFF2-40B4-BE49-F238E27FC236}">
                  <a16:creationId xmlns="" xmlns:a16="http://schemas.microsoft.com/office/drawing/2014/main" id="{FA2FDD2E-4C90-4213-ADAB-D461C1B65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8" y="2762"/>
              <a:ext cx="416" cy="1"/>
            </a:xfrm>
            <a:prstGeom prst="line">
              <a:avLst/>
            </a:prstGeom>
            <a:grp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Line 12">
              <a:extLst>
                <a:ext uri="{FF2B5EF4-FFF2-40B4-BE49-F238E27FC236}">
                  <a16:creationId xmlns="" xmlns:a16="http://schemas.microsoft.com/office/drawing/2014/main" id="{D8AE1E5B-175D-4BF7-A523-A2BD7233A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2762"/>
              <a:ext cx="184" cy="1"/>
            </a:xfrm>
            <a:prstGeom prst="line">
              <a:avLst/>
            </a:prstGeom>
            <a:grp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Line 13">
              <a:extLst>
                <a:ext uri="{FF2B5EF4-FFF2-40B4-BE49-F238E27FC236}">
                  <a16:creationId xmlns="" xmlns:a16="http://schemas.microsoft.com/office/drawing/2014/main" id="{811A0549-BE70-4B9F-8630-4D7512B41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8" y="2762"/>
              <a:ext cx="207" cy="1"/>
            </a:xfrm>
            <a:prstGeom prst="line">
              <a:avLst/>
            </a:prstGeom>
            <a:grp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14">
              <a:extLst>
                <a:ext uri="{FF2B5EF4-FFF2-40B4-BE49-F238E27FC236}">
                  <a16:creationId xmlns="" xmlns:a16="http://schemas.microsoft.com/office/drawing/2014/main" id="{CA26B7EB-2019-4252-A1AC-422D59426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" y="2689"/>
              <a:ext cx="77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÷</a:t>
              </a:r>
              <a:endParaRPr lang="en-US" altLang="en-US" sz="1800"/>
            </a:p>
          </p:txBody>
        </p:sp>
        <p:sp>
          <p:nvSpPr>
            <p:cNvPr id="10" name="Rectangle 15">
              <a:extLst>
                <a:ext uri="{FF2B5EF4-FFF2-40B4-BE49-F238E27FC236}">
                  <a16:creationId xmlns="" xmlns:a16="http://schemas.microsoft.com/office/drawing/2014/main" id="{E124FCB8-EE66-44D0-A4BD-0BC366903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" y="2598"/>
              <a:ext cx="77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dirty="0">
                  <a:solidFill>
                    <a:srgbClr val="000000"/>
                  </a:solidFill>
                  <a:latin typeface="Symbol" panose="05050102010706020507" pitchFamily="18" charset="2"/>
                </a:rPr>
                <a:t>÷</a:t>
              </a:r>
              <a:endParaRPr lang="en-US" altLang="en-US" sz="1800" dirty="0"/>
            </a:p>
          </p:txBody>
        </p:sp>
        <p:sp>
          <p:nvSpPr>
            <p:cNvPr id="11" name="Rectangle 16">
              <a:extLst>
                <a:ext uri="{FF2B5EF4-FFF2-40B4-BE49-F238E27FC236}">
                  <a16:creationId xmlns="" xmlns:a16="http://schemas.microsoft.com/office/drawing/2014/main" id="{67951C9D-252B-42B7-A2E4-FF5A4844D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" y="2819"/>
              <a:ext cx="77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dirty="0">
                  <a:solidFill>
                    <a:srgbClr val="000000"/>
                  </a:solidFill>
                  <a:latin typeface="Symbol" panose="05050102010706020507" pitchFamily="18" charset="2"/>
                </a:rPr>
                <a:t>ø</a:t>
              </a:r>
              <a:endParaRPr lang="en-US" altLang="en-US" sz="1800" dirty="0"/>
            </a:p>
          </p:txBody>
        </p:sp>
        <p:sp>
          <p:nvSpPr>
            <p:cNvPr id="12" name="Rectangle 17">
              <a:extLst>
                <a:ext uri="{FF2B5EF4-FFF2-40B4-BE49-F238E27FC236}">
                  <a16:creationId xmlns="" xmlns:a16="http://schemas.microsoft.com/office/drawing/2014/main" id="{E452D25A-9D82-4660-B98E-EF3F31652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" y="2468"/>
              <a:ext cx="77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dirty="0">
                  <a:solidFill>
                    <a:srgbClr val="000000"/>
                  </a:solidFill>
                  <a:latin typeface="Symbol" panose="05050102010706020507" pitchFamily="18" charset="2"/>
                </a:rPr>
                <a:t>ö</a:t>
              </a:r>
              <a:endParaRPr lang="en-US" altLang="en-US" sz="1800" dirty="0"/>
            </a:p>
          </p:txBody>
        </p:sp>
        <p:sp>
          <p:nvSpPr>
            <p:cNvPr id="13" name="Rectangle 18">
              <a:extLst>
                <a:ext uri="{FF2B5EF4-FFF2-40B4-BE49-F238E27FC236}">
                  <a16:creationId xmlns="" xmlns:a16="http://schemas.microsoft.com/office/drawing/2014/main" id="{02C855CE-9BC2-4201-BF82-F43B3BA32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689"/>
              <a:ext cx="77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ç</a:t>
              </a:r>
              <a:endParaRPr lang="en-US" altLang="en-US" sz="1800"/>
            </a:p>
          </p:txBody>
        </p:sp>
        <p:sp>
          <p:nvSpPr>
            <p:cNvPr id="14" name="Rectangle 19">
              <a:extLst>
                <a:ext uri="{FF2B5EF4-FFF2-40B4-BE49-F238E27FC236}">
                  <a16:creationId xmlns="" xmlns:a16="http://schemas.microsoft.com/office/drawing/2014/main" id="{77C3ED23-8779-43BD-A6EB-4AC565914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598"/>
              <a:ext cx="77" cy="17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dirty="0">
                  <a:solidFill>
                    <a:srgbClr val="000000"/>
                  </a:solidFill>
                  <a:latin typeface="Symbol" panose="05050102010706020507" pitchFamily="18" charset="2"/>
                </a:rPr>
                <a:t>ç</a:t>
              </a:r>
              <a:endParaRPr lang="en-US" altLang="en-US" sz="1800" dirty="0"/>
            </a:p>
          </p:txBody>
        </p:sp>
        <p:sp>
          <p:nvSpPr>
            <p:cNvPr id="15" name="Rectangle 20">
              <a:extLst>
                <a:ext uri="{FF2B5EF4-FFF2-40B4-BE49-F238E27FC236}">
                  <a16:creationId xmlns="" xmlns:a16="http://schemas.microsoft.com/office/drawing/2014/main" id="{520FC663-3609-47CA-A6C3-B97526B12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819"/>
              <a:ext cx="77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è</a:t>
              </a:r>
              <a:endParaRPr lang="en-US" altLang="en-US" sz="1800"/>
            </a:p>
          </p:txBody>
        </p:sp>
        <p:sp>
          <p:nvSpPr>
            <p:cNvPr id="16" name="Rectangle 21">
              <a:extLst>
                <a:ext uri="{FF2B5EF4-FFF2-40B4-BE49-F238E27FC236}">
                  <a16:creationId xmlns="" xmlns:a16="http://schemas.microsoft.com/office/drawing/2014/main" id="{723A5C1A-4AC4-4F03-AD02-FEFDF1C72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468"/>
              <a:ext cx="77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dirty="0">
                  <a:solidFill>
                    <a:srgbClr val="000000"/>
                  </a:solidFill>
                  <a:latin typeface="Symbol" panose="05050102010706020507" pitchFamily="18" charset="2"/>
                </a:rPr>
                <a:t>æ</a:t>
              </a:r>
              <a:endParaRPr lang="en-US" altLang="en-US" sz="1800" dirty="0"/>
            </a:p>
          </p:txBody>
        </p:sp>
        <p:sp>
          <p:nvSpPr>
            <p:cNvPr id="17" name="Rectangle 22">
              <a:extLst>
                <a:ext uri="{FF2B5EF4-FFF2-40B4-BE49-F238E27FC236}">
                  <a16:creationId xmlns="" xmlns:a16="http://schemas.microsoft.com/office/drawing/2014/main" id="{245B08BD-71DD-4EC8-809B-65FFC192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" y="2609"/>
              <a:ext cx="110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18" name="Rectangle 23">
              <a:extLst>
                <a:ext uri="{FF2B5EF4-FFF2-40B4-BE49-F238E27FC236}">
                  <a16:creationId xmlns="" xmlns:a16="http://schemas.microsoft.com/office/drawing/2014/main" id="{1B7F2F84-A4F8-4A38-BED0-83A527DA2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1" y="2530"/>
              <a:ext cx="103" cy="17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dirty="0">
                  <a:solidFill>
                    <a:srgbClr val="000000"/>
                  </a:solidFill>
                  <a:latin typeface="Symbol" panose="05050102010706020507" pitchFamily="18" charset="2"/>
                </a:rPr>
                <a:t>D</a:t>
              </a:r>
              <a:endParaRPr lang="en-US" altLang="en-US" sz="1800" dirty="0"/>
            </a:p>
          </p:txBody>
        </p:sp>
        <p:sp>
          <p:nvSpPr>
            <p:cNvPr id="19" name="Rectangle 24">
              <a:extLst>
                <a:ext uri="{FF2B5EF4-FFF2-40B4-BE49-F238E27FC236}">
                  <a16:creationId xmlns="" xmlns:a16="http://schemas.microsoft.com/office/drawing/2014/main" id="{93662CAE-C1F6-4766-9EA6-58387ADCD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" y="2609"/>
              <a:ext cx="110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20" name="Rectangle 25">
              <a:extLst>
                <a:ext uri="{FF2B5EF4-FFF2-40B4-BE49-F238E27FC236}">
                  <a16:creationId xmlns="" xmlns:a16="http://schemas.microsoft.com/office/drawing/2014/main" id="{C90D4E34-D617-48E8-A013-5740A8E0C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2916"/>
              <a:ext cx="6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/>
            </a:p>
          </p:txBody>
        </p:sp>
        <p:sp>
          <p:nvSpPr>
            <p:cNvPr id="21" name="Rectangle 26">
              <a:extLst>
                <a:ext uri="{FF2B5EF4-FFF2-40B4-BE49-F238E27FC236}">
                  <a16:creationId xmlns="" xmlns:a16="http://schemas.microsoft.com/office/drawing/2014/main" id="{93D651D0-A65F-468B-91E0-0396B7DE6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4" y="2916"/>
              <a:ext cx="6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22" name="Rectangle 27">
              <a:extLst>
                <a:ext uri="{FF2B5EF4-FFF2-40B4-BE49-F238E27FC236}">
                  <a16:creationId xmlns="" xmlns:a16="http://schemas.microsoft.com/office/drawing/2014/main" id="{B833D9D7-7856-4175-81D5-5A038BF4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5" y="2542"/>
              <a:ext cx="6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5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800" dirty="0"/>
            </a:p>
          </p:txBody>
        </p:sp>
        <p:sp>
          <p:nvSpPr>
            <p:cNvPr id="23" name="Rectangle 28">
              <a:extLst>
                <a:ext uri="{FF2B5EF4-FFF2-40B4-BE49-F238E27FC236}">
                  <a16:creationId xmlns="" xmlns:a16="http://schemas.microsoft.com/office/drawing/2014/main" id="{93B8587D-6197-458D-B648-1DBCC4277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2916"/>
              <a:ext cx="6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24" name="Rectangle 29">
              <a:extLst>
                <a:ext uri="{FF2B5EF4-FFF2-40B4-BE49-F238E27FC236}">
                  <a16:creationId xmlns="" xmlns:a16="http://schemas.microsoft.com/office/drawing/2014/main" id="{290343C7-5064-4916-A392-D3F9984D6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2626"/>
              <a:ext cx="6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5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 dirty="0"/>
            </a:p>
          </p:txBody>
        </p:sp>
        <p:sp>
          <p:nvSpPr>
            <p:cNvPr id="25" name="Rectangle 30">
              <a:extLst>
                <a:ext uri="{FF2B5EF4-FFF2-40B4-BE49-F238E27FC236}">
                  <a16:creationId xmlns="" xmlns:a16="http://schemas.microsoft.com/office/drawing/2014/main" id="{DC1FD87B-7629-4122-AB02-1F8D0D0C4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1" y="2504"/>
              <a:ext cx="100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 dirty="0"/>
            </a:p>
          </p:txBody>
        </p:sp>
        <p:sp>
          <p:nvSpPr>
            <p:cNvPr id="26" name="Rectangle 31">
              <a:extLst>
                <a:ext uri="{FF2B5EF4-FFF2-40B4-BE49-F238E27FC236}">
                  <a16:creationId xmlns="" xmlns:a16="http://schemas.microsoft.com/office/drawing/2014/main" id="{1F4FACB9-1BE4-482D-A6C4-D4D978F64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" y="2504"/>
              <a:ext cx="100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27" name="Rectangle 32">
              <a:extLst>
                <a:ext uri="{FF2B5EF4-FFF2-40B4-BE49-F238E27FC236}">
                  <a16:creationId xmlns="" xmlns:a16="http://schemas.microsoft.com/office/drawing/2014/main" id="{25F2EF27-132E-499E-8EED-938A8CBF8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3" y="2632"/>
              <a:ext cx="156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>
                  <a:solidFill>
                    <a:srgbClr val="000000"/>
                  </a:solidFill>
                  <a:latin typeface="Times New Roman" panose="02020603050405020304" pitchFamily="18" charset="0"/>
                </a:rPr>
                <a:t>ln</a:t>
              </a:r>
              <a:endParaRPr lang="en-US" altLang="en-US" sz="1800"/>
            </a:p>
          </p:txBody>
        </p:sp>
        <p:sp>
          <p:nvSpPr>
            <p:cNvPr id="28" name="Rectangle 33">
              <a:extLst>
                <a:ext uri="{FF2B5EF4-FFF2-40B4-BE49-F238E27FC236}">
                  <a16:creationId xmlns="" xmlns:a16="http://schemas.microsoft.com/office/drawing/2014/main" id="{292DBDD0-7A83-471E-AB1D-471D08D4C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" y="2790"/>
              <a:ext cx="111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en-US" sz="1800" dirty="0"/>
            </a:p>
          </p:txBody>
        </p:sp>
        <p:sp>
          <p:nvSpPr>
            <p:cNvPr id="29" name="Rectangle 34">
              <a:extLst>
                <a:ext uri="{FF2B5EF4-FFF2-40B4-BE49-F238E27FC236}">
                  <a16:creationId xmlns="" xmlns:a16="http://schemas.microsoft.com/office/drawing/2014/main" id="{EDA8CC80-28B7-4F9E-A6ED-C0DB37787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7" y="2790"/>
              <a:ext cx="111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en-US" sz="1800"/>
            </a:p>
          </p:txBody>
        </p:sp>
        <p:sp>
          <p:nvSpPr>
            <p:cNvPr id="30" name="Rectangle 35">
              <a:extLst>
                <a:ext uri="{FF2B5EF4-FFF2-40B4-BE49-F238E27FC236}">
                  <a16:creationId xmlns="" xmlns:a16="http://schemas.microsoft.com/office/drawing/2014/main" id="{838534A0-BB97-4CEF-A71D-05B7432B4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7" y="2790"/>
              <a:ext cx="122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sz="1800"/>
            </a:p>
          </p:txBody>
        </p:sp>
        <p:sp>
          <p:nvSpPr>
            <p:cNvPr id="31" name="Rectangle 36">
              <a:extLst>
                <a:ext uri="{FF2B5EF4-FFF2-40B4-BE49-F238E27FC236}">
                  <a16:creationId xmlns="" xmlns:a16="http://schemas.microsoft.com/office/drawing/2014/main" id="{AF46E5A1-116B-4219-89BB-F39AAE30E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0" y="2546"/>
              <a:ext cx="144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endParaRPr lang="en-US" altLang="en-US" sz="1800" dirty="0"/>
            </a:p>
          </p:txBody>
        </p:sp>
        <p:sp>
          <p:nvSpPr>
            <p:cNvPr id="32" name="Rectangle 37">
              <a:extLst>
                <a:ext uri="{FF2B5EF4-FFF2-40B4-BE49-F238E27FC236}">
                  <a16:creationId xmlns="" xmlns:a16="http://schemas.microsoft.com/office/drawing/2014/main" id="{9A37F414-B37E-4C44-8291-1F48955F6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" y="2790"/>
              <a:ext cx="133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  <p:sp>
          <p:nvSpPr>
            <p:cNvPr id="33" name="Rectangle 38">
              <a:extLst>
                <a:ext uri="{FF2B5EF4-FFF2-40B4-BE49-F238E27FC236}">
                  <a16:creationId xmlns="" xmlns:a16="http://schemas.microsoft.com/office/drawing/2014/main" id="{535A682F-D1B6-4EB0-B3C5-1D20C3606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0" y="2555"/>
              <a:ext cx="133" cy="2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25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en-US" sz="1800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6081416-1C26-4181-BCCD-F074C14B4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648" y="2819400"/>
            <a:ext cx="743558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dirty="0" err="1" smtClean="0">
                <a:solidFill>
                  <a:srgbClr val="0000FF"/>
                </a:solidFill>
                <a:cs typeface="Arial" pitchFamily="34" charset="0"/>
              </a:rPr>
              <a:t>Phản</a:t>
            </a:r>
            <a:r>
              <a:rPr lang="en-US" altLang="en-US" dirty="0" smtClean="0">
                <a:solidFill>
                  <a:srgbClr val="0000FF"/>
                </a:solidFill>
                <a:cs typeface="Arial" pitchFamily="34" charset="0"/>
              </a:rPr>
              <a:t> </a:t>
            </a:r>
            <a:r>
              <a:rPr lang="en-US" altLang="en-US" dirty="0" err="1" smtClean="0">
                <a:solidFill>
                  <a:srgbClr val="0000FF"/>
                </a:solidFill>
                <a:cs typeface="Arial" pitchFamily="34" charset="0"/>
              </a:rPr>
              <a:t>ứng</a:t>
            </a:r>
            <a:r>
              <a:rPr lang="en-US" altLang="en-US" dirty="0" smtClean="0">
                <a:solidFill>
                  <a:srgbClr val="0000FF"/>
                </a:solidFill>
                <a:cs typeface="Arial" pitchFamily="34" charset="0"/>
              </a:rPr>
              <a:t> </a:t>
            </a:r>
            <a:r>
              <a:rPr lang="en-US" altLang="en-US" dirty="0" err="1" smtClean="0">
                <a:solidFill>
                  <a:srgbClr val="0000FF"/>
                </a:solidFill>
                <a:cs typeface="Arial" pitchFamily="34" charset="0"/>
              </a:rPr>
              <a:t>thu</a:t>
            </a:r>
            <a:r>
              <a:rPr lang="en-US" altLang="en-US" dirty="0" smtClean="0">
                <a:solidFill>
                  <a:srgbClr val="0000FF"/>
                </a:solidFill>
                <a:cs typeface="Arial" pitchFamily="34" charset="0"/>
              </a:rPr>
              <a:t> </a:t>
            </a:r>
            <a:r>
              <a:rPr lang="en-US" altLang="en-US" dirty="0" err="1" smtClean="0">
                <a:solidFill>
                  <a:srgbClr val="0000FF"/>
                </a:solidFill>
                <a:cs typeface="Arial" pitchFamily="34" charset="0"/>
              </a:rPr>
              <a:t>nhiệt</a:t>
            </a:r>
            <a:r>
              <a:rPr lang="en-US" altLang="en-US" dirty="0" smtClean="0">
                <a:solidFill>
                  <a:srgbClr val="0000FF"/>
                </a:solidFill>
                <a:cs typeface="Arial" pitchFamily="34" charset="0"/>
              </a:rPr>
              <a:t> ∆</a:t>
            </a:r>
            <a:r>
              <a:rPr lang="en-US" altLang="en-US" dirty="0">
                <a:solidFill>
                  <a:srgbClr val="0000FF"/>
                </a:solidFill>
                <a:cs typeface="Arial" pitchFamily="34" charset="0"/>
              </a:rPr>
              <a:t>H &gt; 0 : T</a:t>
            </a:r>
            <a:r>
              <a:rPr lang="en-US" altLang="en-US" dirty="0">
                <a:solidFill>
                  <a:srgbClr val="0000FF"/>
                </a:solidFill>
                <a:cs typeface="Arial" pitchFamily="34" charset="0"/>
                <a:sym typeface="Symbol" panose="05050102010706020507" pitchFamily="18" charset="2"/>
              </a:rPr>
              <a:t> </a:t>
            </a:r>
            <a:r>
              <a:rPr lang="en-US" altLang="en-US" dirty="0" err="1" smtClean="0">
                <a:solidFill>
                  <a:srgbClr val="0000FF"/>
                </a:solidFill>
                <a:cs typeface="Arial" pitchFamily="34" charset="0"/>
                <a:sym typeface="Symbol" panose="05050102010706020507" pitchFamily="18" charset="2"/>
              </a:rPr>
              <a:t>thì</a:t>
            </a:r>
            <a:r>
              <a:rPr lang="en-US" altLang="en-US" dirty="0" smtClean="0">
                <a:solidFill>
                  <a:srgbClr val="0000FF"/>
                </a:solidFill>
                <a:cs typeface="Arial" pitchFamily="34" charset="0"/>
                <a:sym typeface="Symbol" panose="05050102010706020507" pitchFamily="18" charset="2"/>
              </a:rPr>
              <a:t>  </a:t>
            </a:r>
            <a:r>
              <a:rPr lang="en-US" altLang="en-US" dirty="0">
                <a:solidFill>
                  <a:srgbClr val="0000FF"/>
                </a:solidFill>
                <a:cs typeface="Arial" pitchFamily="34" charset="0"/>
                <a:sym typeface="Symbol" panose="05050102010706020507" pitchFamily="18" charset="2"/>
              </a:rPr>
              <a:t>K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dirty="0" err="1" smtClean="0">
                <a:solidFill>
                  <a:srgbClr val="008000"/>
                </a:solidFill>
                <a:cs typeface="Arial" pitchFamily="34" charset="0"/>
              </a:rPr>
              <a:t>Phản</a:t>
            </a:r>
            <a:r>
              <a:rPr lang="en-US" altLang="en-US" dirty="0" smtClean="0">
                <a:solidFill>
                  <a:srgbClr val="008000"/>
                </a:solidFill>
                <a:cs typeface="Arial" pitchFamily="34" charset="0"/>
              </a:rPr>
              <a:t> </a:t>
            </a:r>
            <a:r>
              <a:rPr lang="en-US" altLang="en-US" dirty="0" err="1" smtClean="0">
                <a:solidFill>
                  <a:srgbClr val="008000"/>
                </a:solidFill>
                <a:cs typeface="Arial" pitchFamily="34" charset="0"/>
              </a:rPr>
              <a:t>ứng</a:t>
            </a:r>
            <a:r>
              <a:rPr lang="en-US" altLang="en-US" dirty="0" smtClean="0">
                <a:solidFill>
                  <a:srgbClr val="008000"/>
                </a:solidFill>
                <a:cs typeface="Arial" pitchFamily="34" charset="0"/>
              </a:rPr>
              <a:t> </a:t>
            </a:r>
            <a:r>
              <a:rPr lang="en-US" altLang="en-US" dirty="0" err="1" smtClean="0">
                <a:solidFill>
                  <a:srgbClr val="008000"/>
                </a:solidFill>
                <a:cs typeface="Arial" pitchFamily="34" charset="0"/>
              </a:rPr>
              <a:t>tỏa</a:t>
            </a:r>
            <a:r>
              <a:rPr lang="en-US" altLang="en-US" dirty="0" smtClean="0">
                <a:solidFill>
                  <a:srgbClr val="008000"/>
                </a:solidFill>
                <a:cs typeface="Arial" pitchFamily="34" charset="0"/>
              </a:rPr>
              <a:t> </a:t>
            </a:r>
            <a:r>
              <a:rPr lang="en-US" altLang="en-US" dirty="0" err="1" smtClean="0">
                <a:solidFill>
                  <a:srgbClr val="008000"/>
                </a:solidFill>
                <a:cs typeface="Arial" pitchFamily="34" charset="0"/>
              </a:rPr>
              <a:t>nhiệt</a:t>
            </a:r>
            <a:r>
              <a:rPr lang="en-US" altLang="en-US" dirty="0" smtClean="0">
                <a:solidFill>
                  <a:srgbClr val="008000"/>
                </a:solidFill>
                <a:cs typeface="Arial" pitchFamily="34" charset="0"/>
              </a:rPr>
              <a:t> ∆</a:t>
            </a:r>
            <a:r>
              <a:rPr lang="en-US" altLang="en-US" dirty="0">
                <a:solidFill>
                  <a:srgbClr val="008000"/>
                </a:solidFill>
                <a:cs typeface="Arial" pitchFamily="34" charset="0"/>
              </a:rPr>
              <a:t>H &lt; 0 : T</a:t>
            </a:r>
            <a:r>
              <a:rPr lang="en-US" altLang="en-US" dirty="0">
                <a:solidFill>
                  <a:srgbClr val="008000"/>
                </a:solidFill>
                <a:cs typeface="Arial" pitchFamily="34" charset="0"/>
                <a:sym typeface="Symbol" panose="05050102010706020507" pitchFamily="18" charset="2"/>
              </a:rPr>
              <a:t> </a:t>
            </a:r>
            <a:r>
              <a:rPr lang="en-US" altLang="en-US" dirty="0" err="1" smtClean="0">
                <a:solidFill>
                  <a:srgbClr val="008000"/>
                </a:solidFill>
                <a:cs typeface="Arial" pitchFamily="34" charset="0"/>
                <a:sym typeface="Symbol" panose="05050102010706020507" pitchFamily="18" charset="2"/>
              </a:rPr>
              <a:t>thì</a:t>
            </a:r>
            <a:r>
              <a:rPr lang="en-US" altLang="en-US" dirty="0" smtClean="0">
                <a:solidFill>
                  <a:srgbClr val="008000"/>
                </a:solidFill>
                <a:cs typeface="Arial" pitchFamily="34" charset="0"/>
                <a:sym typeface="Symbol" panose="05050102010706020507" pitchFamily="18" charset="2"/>
              </a:rPr>
              <a:t>  </a:t>
            </a:r>
            <a:r>
              <a:rPr lang="en-US" altLang="en-US" dirty="0">
                <a:solidFill>
                  <a:srgbClr val="008000"/>
                </a:solidFill>
                <a:cs typeface="Arial" pitchFamily="34" charset="0"/>
                <a:sym typeface="Symbol" panose="05050102010706020507" pitchFamily="18" charset="2"/>
              </a:rPr>
              <a:t>K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en-US" dirty="0">
              <a:solidFill>
                <a:srgbClr val="0080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54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8A01303-1C16-4064-BB9C-1F5BE5C30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19200"/>
            <a:ext cx="8915400" cy="54102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H</a:t>
            </a:r>
            <a:r>
              <a:rPr lang="vi-VN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ằng số cân bằng K</a:t>
            </a:r>
            <a:r>
              <a:rPr lang="vi-VN" sz="32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p</a:t>
            </a:r>
            <a:r>
              <a:rPr lang="vi-VN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= </a:t>
            </a:r>
            <a:r>
              <a:rPr lang="vi-VN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0,43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ở 473 </a:t>
            </a: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K.</a:t>
            </a:r>
            <a:endParaRPr lang="en-US" sz="3200" dirty="0" smtClean="0">
              <a:solidFill>
                <a:srgbClr val="0000FF"/>
              </a:solidFill>
              <a:latin typeface="Arial" pitchFamily="34" charset="0"/>
              <a:cs typeface="Arial" pitchFamily="34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vi-VN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Hằng </a:t>
            </a:r>
            <a:r>
              <a:rPr lang="vi-VN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số cân bằng K</a:t>
            </a:r>
            <a:r>
              <a:rPr lang="vi-VN" sz="32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</a:t>
            </a:r>
            <a:r>
              <a:rPr lang="vi-VN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= </a:t>
            </a:r>
            <a:r>
              <a:rPr lang="vi-VN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647,8</a:t>
            </a:r>
            <a:r>
              <a:rPr lang="en-US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ở 473 </a:t>
            </a:r>
            <a:r>
              <a:rPr lang="en-US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K.</a:t>
            </a:r>
            <a:endParaRPr lang="en-US" sz="3200" dirty="0" smtClean="0">
              <a:solidFill>
                <a:srgbClr val="CC00FF"/>
              </a:solidFill>
              <a:latin typeface="Arial" pitchFamily="34" charset="0"/>
              <a:cs typeface="Arial" pitchFamily="34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vi-VN" sz="32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Khi </a:t>
            </a:r>
            <a:r>
              <a:rPr lang="vi-VN" sz="32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tăng nhiệt độ thì hằng số cân bằng sẽ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giảm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vì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pư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tỏa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nhiệt</a:t>
            </a:r>
            <a:r>
              <a:rPr lang="vi-VN" sz="32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.</a:t>
            </a:r>
            <a:endParaRPr lang="en-US" sz="3200" dirty="0" smtClean="0">
              <a:solidFill>
                <a:srgbClr val="C00000"/>
              </a:solidFill>
              <a:latin typeface="Arial" pitchFamily="34" charset="0"/>
              <a:cs typeface="Arial" pitchFamily="34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vi-VN" sz="32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Khi </a:t>
            </a:r>
            <a:r>
              <a:rPr lang="vi-VN" sz="32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tăng áp suất cân bằng sẽ chuyển dịch theo chiều </a:t>
            </a:r>
            <a:r>
              <a:rPr lang="en-US" sz="32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giảm</a:t>
            </a:r>
            <a:r>
              <a:rPr lang="en-US" sz="32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số</a:t>
            </a:r>
            <a:r>
              <a:rPr lang="en-US" sz="32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mol</a:t>
            </a:r>
            <a:r>
              <a:rPr lang="en-US" sz="32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khí</a:t>
            </a:r>
            <a:r>
              <a:rPr lang="en-US" sz="32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là</a:t>
            </a:r>
            <a:r>
              <a:rPr lang="en-US" sz="32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chiều</a:t>
            </a:r>
            <a:r>
              <a:rPr lang="en-US" sz="32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32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thuận.</a:t>
            </a:r>
            <a:endParaRPr lang="en-US" sz="3200" dirty="0" smtClean="0">
              <a:solidFill>
                <a:srgbClr val="008000"/>
              </a:solidFill>
              <a:latin typeface="Arial" pitchFamily="34" charset="0"/>
              <a:cs typeface="Arial" pitchFamily="34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vi-VN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Khi tăng nhiệt độ </a:t>
            </a:r>
            <a:r>
              <a:rPr lang="vi-VN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thì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cân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bằng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sẽ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chuyển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dịch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theo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chiều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thu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nhiệt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là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chiều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nghịch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.</a:t>
            </a:r>
            <a:endParaRPr lang="en-US" sz="32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1951" y="15240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Ở 473K, 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phản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ứng</a:t>
            </a:r>
            <a:r>
              <a:rPr lang="vi-VN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N</a:t>
            </a:r>
            <a:r>
              <a:rPr lang="en-US" sz="30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(k)  +  3H</a:t>
            </a:r>
            <a:r>
              <a:rPr lang="en-US" sz="30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(k) </a:t>
            </a:r>
            <a:r>
              <a:rPr lang="en-US" sz="3000" b="1" dirty="0">
                <a:latin typeface="Arial" pitchFamily="34" charset="0"/>
                <a:cs typeface="Arial" pitchFamily="34" charset="0"/>
              </a:rPr>
              <a:t>⇌ 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NH</a:t>
            </a:r>
            <a:r>
              <a:rPr lang="en-US" sz="3000" baseline="-25000" dirty="0">
                <a:latin typeface="Arial" pitchFamily="34" charset="0"/>
                <a:cs typeface="Arial" pitchFamily="34" charset="0"/>
              </a:rPr>
              <a:t>3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(k) </a:t>
            </a:r>
            <a:r>
              <a:rPr lang="vi-VN" sz="3000" dirty="0">
                <a:latin typeface="Arial" pitchFamily="34" charset="0"/>
                <a:cs typeface="Arial" pitchFamily="34" charset="0"/>
              </a:rPr>
              <a:t>tỏa nhiệt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G</a:t>
            </a:r>
            <a:r>
              <a:rPr lang="en-US" sz="30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en-US" sz="3000" baseline="-25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473</a:t>
            </a:r>
            <a:r>
              <a:rPr lang="en-US" sz="3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= 3313 </a:t>
            </a:r>
            <a:r>
              <a:rPr lang="vi-VN" sz="3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[</a:t>
            </a:r>
            <a:r>
              <a:rPr lang="en-US" sz="3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J</a:t>
            </a:r>
            <a:r>
              <a:rPr lang="vi-VN" sz="30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]</a:t>
            </a:r>
            <a:r>
              <a:rPr lang="en-US" sz="30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. </a:t>
            </a:r>
            <a:r>
              <a:rPr lang="en-US" sz="3000" dirty="0" err="1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Tính</a:t>
            </a:r>
            <a:r>
              <a:rPr lang="en-US" sz="30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K</a:t>
            </a:r>
            <a:r>
              <a:rPr lang="en-US" sz="3000" baseline="-250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P,</a:t>
            </a:r>
            <a:r>
              <a:rPr lang="en-US" sz="30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K</a:t>
            </a:r>
            <a:r>
              <a:rPr lang="en-US" sz="3000" baseline="-250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</a:t>
            </a:r>
            <a:r>
              <a:rPr lang="en-US" sz="30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ở 473 K. </a:t>
            </a:r>
            <a:endParaRPr lang="en-US" sz="3000" dirty="0">
              <a:latin typeface="Arial" pitchFamily="34" charset="0"/>
              <a:cs typeface="Arial" pitchFamily="34" charset="0"/>
              <a:sym typeface="Symbol" panose="05050102010706020507" pitchFamily="18" charset="2"/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0295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4549289"/>
              </p:ext>
            </p:extLst>
          </p:nvPr>
        </p:nvGraphicFramePr>
        <p:xfrm>
          <a:off x="304800" y="4360653"/>
          <a:ext cx="2895600" cy="12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" name="Equation" r:id="rId3" imgW="1091726" imgH="520474" progId="Equation.3">
                  <p:embed/>
                </p:oleObj>
              </mc:Choice>
              <mc:Fallback>
                <p:oleObj name="Equation" r:id="rId3" imgW="1091726" imgH="520474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360653"/>
                        <a:ext cx="2895600" cy="12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86464" y="263443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BIẾN ĐỔI HẰNG SỐ CÂN BẰNG </a:t>
            </a:r>
            <a:endParaRPr 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267736"/>
            <a:ext cx="2933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  + B  =  C ; 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800" baseline="-250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cb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800600" y="813755"/>
                <a:ext cx="4191000" cy="757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C   =   A  +  B ;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CC00FF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/>
                              </a:rPr>
                              <m:t>𝑐𝑏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>
                  <a:solidFill>
                    <a:srgbClr val="CC00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813755"/>
                <a:ext cx="4191000" cy="757515"/>
              </a:xfrm>
              <a:prstGeom prst="rect">
                <a:avLst/>
              </a:prstGeom>
              <a:blipFill rotWithShape="1">
                <a:blip r:embed="rId5"/>
                <a:stretch>
                  <a:fillRect l="-3057" b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804968" y="1567190"/>
            <a:ext cx="388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2A  + 2B  =  2C ;  K</a:t>
            </a:r>
            <a:r>
              <a:rPr lang="en-US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cb</a:t>
            </a:r>
            <a:r>
              <a:rPr lang="en-US" sz="2800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3947" y="2131707"/>
            <a:ext cx="72339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 = B  ; K</a:t>
            </a:r>
            <a:r>
              <a:rPr lang="en-US" sz="2800" baseline="-250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sz="2800" dirty="0" smtClean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B = C  ; K</a:t>
            </a:r>
            <a:r>
              <a:rPr lang="en-US" sz="2800" baseline="-25000" dirty="0" smtClean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866900" y="3203275"/>
            <a:ext cx="2933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59147" y="2300984"/>
            <a:ext cx="30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+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63947" y="3204713"/>
            <a:ext cx="3886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 = C  ; K</a:t>
            </a:r>
            <a:r>
              <a:rPr lang="en-US" sz="28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K</a:t>
            </a:r>
            <a:r>
              <a:rPr lang="en-US" sz="28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.K</a:t>
            </a:r>
            <a:r>
              <a:rPr lang="en-US" sz="28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4" name="Rectangle 2">
            <a:extLst>
              <a:ext uri="{FF2B5EF4-FFF2-40B4-BE49-F238E27FC236}">
                <a16:creationId xmlns="" xmlns:a16="http://schemas.microsoft.com/office/drawing/2014/main" id="{E48AC9B5-4D46-45DF-97DB-FEA948344C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620637"/>
            <a:ext cx="8229600" cy="1325562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HẰNG SỐ CÂN BẰNG CỦA P</a:t>
            </a:r>
            <a:r>
              <a:rPr lang="vi-VN" alt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Ư</a:t>
            </a:r>
            <a:r>
              <a:rPr lang="en-US" alt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TRAO ĐỔI </a:t>
            </a:r>
            <a:r>
              <a:rPr lang="en-US" altLang="en-US" sz="3200" b="1" dirty="0">
                <a:solidFill>
                  <a:srgbClr val="FF0000"/>
                </a:solidFill>
              </a:rPr>
              <a:t/>
            </a:r>
            <a:br>
              <a:rPr lang="en-US" altLang="en-US" sz="3200" b="1" dirty="0">
                <a:solidFill>
                  <a:srgbClr val="FF0000"/>
                </a:solidFill>
              </a:rPr>
            </a:br>
            <a:endParaRPr lang="en-US" altLang="en-US" sz="3200" b="1" dirty="0">
              <a:solidFill>
                <a:srgbClr val="FF0000"/>
              </a:solidFill>
            </a:endParaRPr>
          </a:p>
        </p:txBody>
      </p:sp>
      <p:sp>
        <p:nvSpPr>
          <p:cNvPr id="15" name="Text Box 8">
            <a:extLst>
              <a:ext uri="{FF2B5EF4-FFF2-40B4-BE49-F238E27FC236}">
                <a16:creationId xmlns="" xmlns:a16="http://schemas.microsoft.com/office/drawing/2014/main" id="{4B7E13CD-2F01-46A4-92C9-548773D91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191000"/>
            <a:ext cx="599751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i="1" dirty="0" err="1">
                <a:solidFill>
                  <a:srgbClr val="CC00FF"/>
                </a:solidFill>
              </a:rPr>
              <a:t>Pư</a:t>
            </a:r>
            <a:r>
              <a:rPr lang="en-US" altLang="en-US" sz="2400" i="1" dirty="0">
                <a:solidFill>
                  <a:srgbClr val="CC00FF"/>
                </a:solidFill>
              </a:rPr>
              <a:t> </a:t>
            </a:r>
            <a:r>
              <a:rPr lang="en-US" altLang="en-US" sz="2400" i="1" dirty="0" err="1">
                <a:solidFill>
                  <a:srgbClr val="CC00FF"/>
                </a:solidFill>
              </a:rPr>
              <a:t>có</a:t>
            </a:r>
            <a:r>
              <a:rPr lang="en-US" altLang="en-US" sz="2400" i="1" dirty="0">
                <a:solidFill>
                  <a:srgbClr val="CC00FF"/>
                </a:solidFill>
              </a:rPr>
              <a:t> ion đ</a:t>
            </a:r>
            <a:r>
              <a:rPr lang="vi-VN" altLang="en-US" sz="2400" i="1" dirty="0">
                <a:solidFill>
                  <a:srgbClr val="CC00FF"/>
                </a:solidFill>
              </a:rPr>
              <a:t>ơ</a:t>
            </a:r>
            <a:r>
              <a:rPr lang="en-US" altLang="en-US" sz="2400" i="1" dirty="0">
                <a:solidFill>
                  <a:srgbClr val="CC00FF"/>
                </a:solidFill>
              </a:rPr>
              <a:t>n </a:t>
            </a:r>
            <a:r>
              <a:rPr lang="en-US" altLang="en-US" sz="2400" i="1" dirty="0" err="1">
                <a:solidFill>
                  <a:srgbClr val="CC00FF"/>
                </a:solidFill>
              </a:rPr>
              <a:t>giản</a:t>
            </a:r>
            <a:r>
              <a:rPr lang="en-US" altLang="en-US" sz="2400" i="1" dirty="0">
                <a:solidFill>
                  <a:srgbClr val="CC00FF"/>
                </a:solidFill>
              </a:rPr>
              <a:t>, </a:t>
            </a:r>
            <a:r>
              <a:rPr lang="en-US" altLang="en-US" sz="2400" i="1" dirty="0" err="1" smtClean="0">
                <a:solidFill>
                  <a:srgbClr val="CC00FF"/>
                </a:solidFill>
              </a:rPr>
              <a:t>axit</a:t>
            </a:r>
            <a:r>
              <a:rPr lang="en-US" altLang="en-US" sz="2400" i="1" dirty="0" smtClean="0">
                <a:solidFill>
                  <a:srgbClr val="CC00FF"/>
                </a:solidFill>
              </a:rPr>
              <a:t> </a:t>
            </a:r>
            <a:r>
              <a:rPr lang="en-US" altLang="en-US" sz="2400" i="1" dirty="0" err="1" smtClean="0">
                <a:solidFill>
                  <a:srgbClr val="CC00FF"/>
                </a:solidFill>
              </a:rPr>
              <a:t>yếu</a:t>
            </a:r>
            <a:r>
              <a:rPr lang="en-US" altLang="en-US" sz="2400" i="1" dirty="0" smtClean="0">
                <a:solidFill>
                  <a:srgbClr val="CC00FF"/>
                </a:solidFill>
              </a:rPr>
              <a:t>, base </a:t>
            </a:r>
            <a:r>
              <a:rPr lang="en-US" altLang="en-US" sz="2400" i="1" dirty="0" err="1" smtClean="0">
                <a:solidFill>
                  <a:srgbClr val="CC00FF"/>
                </a:solidFill>
              </a:rPr>
              <a:t>yếu</a:t>
            </a:r>
            <a:r>
              <a:rPr lang="en-US" altLang="en-US" sz="2400" i="1" dirty="0" smtClean="0">
                <a:solidFill>
                  <a:srgbClr val="CC00FF"/>
                </a:solidFill>
              </a:rPr>
              <a:t>, </a:t>
            </a:r>
            <a:r>
              <a:rPr lang="en-US" altLang="en-US" sz="2400" i="1" dirty="0" err="1" smtClean="0">
                <a:solidFill>
                  <a:srgbClr val="CC00FF"/>
                </a:solidFill>
              </a:rPr>
              <a:t>chất</a:t>
            </a:r>
            <a:r>
              <a:rPr lang="en-US" altLang="en-US" sz="2400" i="1" dirty="0" smtClean="0">
                <a:solidFill>
                  <a:srgbClr val="CC00FF"/>
                </a:solidFill>
              </a:rPr>
              <a:t> </a:t>
            </a:r>
            <a:r>
              <a:rPr lang="en-US" altLang="en-US" sz="2400" i="1" dirty="0" err="1" smtClean="0">
                <a:solidFill>
                  <a:srgbClr val="CC00FF"/>
                </a:solidFill>
              </a:rPr>
              <a:t>đly</a:t>
            </a:r>
            <a:r>
              <a:rPr lang="en-US" altLang="en-US" sz="2400" i="1" dirty="0" smtClean="0">
                <a:solidFill>
                  <a:srgbClr val="CC00FF"/>
                </a:solidFill>
              </a:rPr>
              <a:t> </a:t>
            </a:r>
            <a:r>
              <a:rPr lang="en-US" altLang="en-US" sz="2400" i="1" dirty="0" err="1">
                <a:solidFill>
                  <a:srgbClr val="CC00FF"/>
                </a:solidFill>
              </a:rPr>
              <a:t>khó</a:t>
            </a:r>
            <a:r>
              <a:rPr lang="en-US" altLang="en-US" sz="2400" i="1" dirty="0">
                <a:solidFill>
                  <a:srgbClr val="CC00FF"/>
                </a:solidFill>
              </a:rPr>
              <a:t> tan, H</a:t>
            </a:r>
            <a:r>
              <a:rPr lang="en-US" altLang="en-US" sz="2400" i="1" baseline="-25000" dirty="0">
                <a:solidFill>
                  <a:srgbClr val="CC00FF"/>
                </a:solidFill>
              </a:rPr>
              <a:t>2</a:t>
            </a:r>
            <a:r>
              <a:rPr lang="en-US" altLang="en-US" sz="2400" i="1" dirty="0">
                <a:solidFill>
                  <a:srgbClr val="CC00FF"/>
                </a:solidFill>
              </a:rPr>
              <a:t>O,không </a:t>
            </a:r>
            <a:r>
              <a:rPr lang="en-US" altLang="en-US" sz="2400" i="1" dirty="0" err="1">
                <a:solidFill>
                  <a:srgbClr val="CC00FF"/>
                </a:solidFill>
              </a:rPr>
              <a:t>có</a:t>
            </a:r>
            <a:r>
              <a:rPr lang="en-US" altLang="en-US" sz="2400" i="1" dirty="0">
                <a:solidFill>
                  <a:srgbClr val="CC00FF"/>
                </a:solidFill>
              </a:rPr>
              <a:t> </a:t>
            </a:r>
            <a:r>
              <a:rPr lang="en-US" altLang="en-US" sz="2400" i="1" dirty="0" err="1">
                <a:solidFill>
                  <a:srgbClr val="CC00FF"/>
                </a:solidFill>
              </a:rPr>
              <a:t>chất</a:t>
            </a:r>
            <a:r>
              <a:rPr lang="en-US" altLang="en-US" sz="2400" i="1" dirty="0">
                <a:solidFill>
                  <a:srgbClr val="CC00FF"/>
                </a:solidFill>
              </a:rPr>
              <a:t> </a:t>
            </a:r>
            <a:r>
              <a:rPr lang="en-US" altLang="en-US" sz="2400" i="1" dirty="0" err="1" smtClean="0">
                <a:solidFill>
                  <a:srgbClr val="CC00FF"/>
                </a:solidFill>
              </a:rPr>
              <a:t>khí</a:t>
            </a:r>
            <a:r>
              <a:rPr lang="en-US" altLang="en-US" sz="2400" i="1" dirty="0" smtClean="0">
                <a:solidFill>
                  <a:srgbClr val="CC00FF"/>
                </a:solidFill>
              </a:rPr>
              <a:t>.</a:t>
            </a:r>
            <a:endParaRPr lang="en-US" altLang="en-US" sz="2400" i="1" dirty="0">
              <a:solidFill>
                <a:srgbClr val="CC00FF"/>
              </a:solidFill>
            </a:endParaRPr>
          </a:p>
          <a:p>
            <a:pPr>
              <a:spcBef>
                <a:spcPct val="50000"/>
              </a:spcBef>
              <a:buNone/>
            </a:pPr>
            <a:r>
              <a:rPr lang="en-US" altLang="en-US" sz="2400" i="1" dirty="0" smtClean="0">
                <a:solidFill>
                  <a:srgbClr val="006600"/>
                </a:solidFill>
              </a:rPr>
              <a:t>K: </a:t>
            </a:r>
            <a:r>
              <a:rPr lang="en-US" altLang="en-US" sz="2400" i="1" dirty="0" err="1" smtClean="0">
                <a:solidFill>
                  <a:srgbClr val="006600"/>
                </a:solidFill>
              </a:rPr>
              <a:t>K</a:t>
            </a:r>
            <a:r>
              <a:rPr lang="en-US" altLang="en-US" sz="2400" i="1" baseline="-25000" dirty="0" err="1" smtClean="0">
                <a:solidFill>
                  <a:srgbClr val="006600"/>
                </a:solidFill>
              </a:rPr>
              <a:t>axit</a:t>
            </a:r>
            <a:r>
              <a:rPr lang="en-US" altLang="en-US" sz="2400" i="1" baseline="-25000" dirty="0" smtClean="0">
                <a:solidFill>
                  <a:srgbClr val="006600"/>
                </a:solidFill>
              </a:rPr>
              <a:t> </a:t>
            </a:r>
            <a:r>
              <a:rPr lang="en-US" altLang="en-US" sz="2400" i="1" baseline="-25000" dirty="0" err="1" smtClean="0">
                <a:solidFill>
                  <a:srgbClr val="006600"/>
                </a:solidFill>
              </a:rPr>
              <a:t>yếu</a:t>
            </a:r>
            <a:r>
              <a:rPr lang="en-US" altLang="en-US" sz="2400" i="1" baseline="-25000" dirty="0" smtClean="0">
                <a:solidFill>
                  <a:srgbClr val="006600"/>
                </a:solidFill>
              </a:rPr>
              <a:t> </a:t>
            </a:r>
            <a:r>
              <a:rPr lang="en-US" altLang="en-US" sz="2400" i="1" baseline="-25000" dirty="0">
                <a:solidFill>
                  <a:srgbClr val="006600"/>
                </a:solidFill>
              </a:rPr>
              <a:t>,</a:t>
            </a:r>
            <a:r>
              <a:rPr lang="en-US" altLang="en-US" sz="2400" i="1" dirty="0">
                <a:solidFill>
                  <a:srgbClr val="006600"/>
                </a:solidFill>
              </a:rPr>
              <a:t> </a:t>
            </a:r>
            <a:r>
              <a:rPr lang="en-US" altLang="en-US" sz="2400" i="1" dirty="0" err="1" smtClean="0">
                <a:solidFill>
                  <a:srgbClr val="006600"/>
                </a:solidFill>
              </a:rPr>
              <a:t>K</a:t>
            </a:r>
            <a:r>
              <a:rPr lang="en-US" altLang="en-US" sz="2400" i="1" baseline="-25000" dirty="0" err="1" smtClean="0">
                <a:solidFill>
                  <a:srgbClr val="006600"/>
                </a:solidFill>
              </a:rPr>
              <a:t>base</a:t>
            </a:r>
            <a:r>
              <a:rPr lang="en-US" altLang="en-US" sz="2400" i="1" baseline="-25000" dirty="0" smtClean="0">
                <a:solidFill>
                  <a:srgbClr val="006600"/>
                </a:solidFill>
              </a:rPr>
              <a:t> </a:t>
            </a:r>
            <a:r>
              <a:rPr lang="en-US" altLang="en-US" sz="2400" i="1" baseline="-25000" dirty="0" err="1" smtClean="0">
                <a:solidFill>
                  <a:srgbClr val="006600"/>
                </a:solidFill>
              </a:rPr>
              <a:t>yếu</a:t>
            </a:r>
            <a:r>
              <a:rPr lang="en-US" altLang="en-US" sz="2400" i="1" dirty="0" smtClean="0">
                <a:solidFill>
                  <a:srgbClr val="006600"/>
                </a:solidFill>
              </a:rPr>
              <a:t> </a:t>
            </a:r>
            <a:r>
              <a:rPr lang="en-US" altLang="en-US" sz="2400" i="1" dirty="0">
                <a:solidFill>
                  <a:srgbClr val="006600"/>
                </a:solidFill>
              </a:rPr>
              <a:t>, </a:t>
            </a:r>
            <a:r>
              <a:rPr lang="en-US" altLang="en-US" sz="2400" i="1" dirty="0" err="1" smtClean="0">
                <a:solidFill>
                  <a:srgbClr val="006600"/>
                </a:solidFill>
              </a:rPr>
              <a:t>T</a:t>
            </a:r>
            <a:r>
              <a:rPr lang="en-US" altLang="en-US" sz="2400" i="1" baseline="-25000" dirty="0" err="1" smtClean="0">
                <a:solidFill>
                  <a:srgbClr val="006600"/>
                </a:solidFill>
              </a:rPr>
              <a:t>AmBn</a:t>
            </a:r>
            <a:r>
              <a:rPr lang="en-US" altLang="en-US" sz="2400" i="1" dirty="0" smtClean="0">
                <a:solidFill>
                  <a:srgbClr val="006600"/>
                </a:solidFill>
              </a:rPr>
              <a:t> , </a:t>
            </a:r>
            <a:r>
              <a:rPr lang="en-US" altLang="en-US" sz="2400" i="1" dirty="0" err="1">
                <a:solidFill>
                  <a:srgbClr val="006600"/>
                </a:solidFill>
              </a:rPr>
              <a:t>K</a:t>
            </a:r>
            <a:r>
              <a:rPr lang="en-US" altLang="en-US" sz="2400" i="1" baseline="-25000" dirty="0" err="1">
                <a:solidFill>
                  <a:srgbClr val="006600"/>
                </a:solidFill>
              </a:rPr>
              <a:t>n</a:t>
            </a:r>
            <a:r>
              <a:rPr lang="en-US" altLang="en-US" sz="2400" i="1" dirty="0">
                <a:solidFill>
                  <a:srgbClr val="006600"/>
                </a:solidFill>
              </a:rPr>
              <a:t>=10</a:t>
            </a:r>
            <a:r>
              <a:rPr lang="en-US" altLang="en-US" sz="2400" i="1" baseline="30000" dirty="0">
                <a:solidFill>
                  <a:srgbClr val="006600"/>
                </a:solidFill>
              </a:rPr>
              <a:t>-14</a:t>
            </a:r>
            <a:r>
              <a:rPr lang="en-US" altLang="en-US" sz="2400" i="1" dirty="0">
                <a:solidFill>
                  <a:srgbClr val="006600"/>
                </a:solidFill>
              </a:rPr>
              <a:t> </a:t>
            </a:r>
            <a:r>
              <a:rPr lang="en-US" altLang="en-US" sz="2400" i="1" baseline="-25000" dirty="0" smtClean="0">
                <a:solidFill>
                  <a:srgbClr val="006600"/>
                </a:solidFill>
              </a:rPr>
              <a:t> </a:t>
            </a:r>
            <a:r>
              <a:rPr lang="en-US" altLang="en-US" sz="2400" i="1" dirty="0" smtClean="0">
                <a:solidFill>
                  <a:srgbClr val="006600"/>
                </a:solidFill>
              </a:rPr>
              <a:t>..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800" y="5715000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i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altLang="en-US" sz="24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b="1" i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mũ</a:t>
            </a:r>
            <a:r>
              <a:rPr lang="en-US" altLang="en-US" sz="24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i , j</a:t>
            </a:r>
            <a:r>
              <a:rPr lang="en-US" altLang="en-US" sz="24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altLang="en-US" sz="2400" i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hệ</a:t>
            </a:r>
            <a:r>
              <a:rPr lang="en-US" altLang="en-US" sz="24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i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altLang="en-US" sz="24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i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tỉ</a:t>
            </a:r>
            <a:r>
              <a:rPr lang="en-US" altLang="en-US" sz="24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i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altLang="en-US" sz="24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i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tương</a:t>
            </a:r>
            <a:r>
              <a:rPr lang="en-US" altLang="en-US" sz="24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i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altLang="en-US" sz="24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i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altLang="en-US" sz="24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i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phương</a:t>
            </a:r>
            <a:r>
              <a:rPr lang="en-US" altLang="en-US" sz="24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i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trình</a:t>
            </a:r>
            <a:r>
              <a:rPr lang="en-US" altLang="en-US" sz="24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i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pư</a:t>
            </a:r>
            <a:r>
              <a:rPr lang="en-US" altLang="en-US" sz="24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65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2" grpId="0"/>
      <p:bldP spid="13" grpId="0"/>
      <p:bldP spid="14" grpId="0"/>
      <p:bldP spid="15" grpId="0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C73E66B-8F91-48BA-8628-76FDEA3CF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4775"/>
            <a:ext cx="8915400" cy="634365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hằng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bằng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phản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ở 25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CdS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(r) 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+ 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2H</a:t>
            </a:r>
            <a:r>
              <a:rPr lang="en-US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(dd) 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+ 2Cl</a:t>
            </a:r>
            <a:r>
              <a:rPr lang="en-US" sz="28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(dd) ⇌  CdCl</a:t>
            </a:r>
            <a:r>
              <a:rPr lang="en-US" sz="28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(dd) +  H</a:t>
            </a:r>
            <a:r>
              <a:rPr lang="en-US" sz="28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S(dd)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Cho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biết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ở 25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 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28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8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CdS</a:t>
            </a:r>
            <a:r>
              <a:rPr lang="en-U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(r</a:t>
            </a:r>
            <a:r>
              <a:rPr lang="en-US" sz="28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) ⇌  Cd</a:t>
            </a:r>
            <a:r>
              <a:rPr lang="en-US" sz="2800" baseline="30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28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(dd)  +  S</a:t>
            </a:r>
            <a:r>
              <a:rPr lang="en-US" sz="2800" baseline="30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2-</a:t>
            </a:r>
            <a:r>
              <a:rPr lang="en-US" sz="28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(dd) ; K</a:t>
            </a:r>
            <a:r>
              <a:rPr lang="en-US" sz="2800" baseline="-25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=  [Cd</a:t>
            </a:r>
            <a:r>
              <a:rPr lang="en-US" sz="2800" baseline="30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28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].[S</a:t>
            </a:r>
            <a:r>
              <a:rPr lang="en-US" sz="2800" baseline="30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2-</a:t>
            </a:r>
            <a:r>
              <a:rPr lang="en-US" sz="28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]=10</a:t>
            </a:r>
            <a:r>
              <a:rPr lang="en-US" sz="2800" baseline="30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-26</a:t>
            </a:r>
            <a:endParaRPr lang="en-US" sz="2800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S(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 ⇌ 2H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(dd)  +  S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2-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(dd) 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;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= K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a1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.K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a2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= 10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-20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CdCl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 ⇌  Cd</a:t>
            </a:r>
            <a:r>
              <a:rPr lang="en-US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(dd)  + 2Cl</a:t>
            </a:r>
            <a:r>
              <a:rPr lang="en-US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(dd) ; K</a:t>
            </a:r>
            <a:r>
              <a:rPr lang="en-US" sz="28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10</a:t>
            </a:r>
            <a:r>
              <a:rPr lang="en-US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-3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0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C73E66B-8F91-48BA-8628-76FDEA3CF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4775"/>
            <a:ext cx="8915400" cy="347662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Cách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1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                                  </a:t>
            </a:r>
            <a:r>
              <a:rPr lang="en-US" sz="28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CdS</a:t>
            </a:r>
            <a:r>
              <a:rPr lang="en-U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(r</a:t>
            </a:r>
            <a:r>
              <a:rPr lang="en-US" sz="28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) ⇌  Cd</a:t>
            </a:r>
            <a:r>
              <a:rPr lang="en-US" sz="2800" baseline="30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28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(dd) </a:t>
            </a:r>
            <a:r>
              <a:rPr lang="en-U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+ S</a:t>
            </a:r>
            <a:r>
              <a:rPr lang="en-US" sz="2800" baseline="300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2-</a:t>
            </a:r>
            <a:r>
              <a:rPr lang="en-US" sz="28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); K</a:t>
            </a:r>
            <a:r>
              <a:rPr lang="en-US" sz="2800" baseline="-250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en-US" sz="2800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                             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S(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 ⇌ 2H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(dd)  +  S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2-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(dd)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;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             CdCl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 ⇌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Cd</a:t>
            </a:r>
            <a:r>
              <a:rPr lang="en-US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(dd)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+2Cl</a:t>
            </a:r>
            <a:r>
              <a:rPr lang="en-US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); K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8600" y="3085381"/>
            <a:ext cx="8839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CdS</a:t>
            </a:r>
            <a:r>
              <a:rPr lang="en-U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(r</a:t>
            </a:r>
            <a:r>
              <a:rPr lang="en-US" sz="28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2H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2Cl</a:t>
            </a:r>
            <a:r>
              <a:rPr lang="en-US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⇌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CdCl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S(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);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K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85900" y="1388852"/>
                <a:ext cx="7658100" cy="75411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2H</a:t>
                </a:r>
                <a:r>
                  <a:rPr lang="en-US" sz="2800" baseline="300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+</a:t>
                </a:r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(</a:t>
                </a:r>
                <a:r>
                  <a:rPr lang="en-US" sz="2800" dirty="0" err="1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dd</a:t>
                </a:r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)  +  S</a:t>
                </a:r>
                <a:r>
                  <a:rPr lang="en-US" sz="2800" baseline="300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2-</a:t>
                </a:r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(</a:t>
                </a:r>
                <a:r>
                  <a:rPr lang="en-US" sz="2800" dirty="0" err="1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dd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)    ⇌   </a:t>
                </a:r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H</a:t>
                </a:r>
                <a:r>
                  <a:rPr lang="en-US" sz="2800" baseline="-250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S(</a:t>
                </a:r>
                <a:r>
                  <a:rPr lang="en-US" sz="2800" dirty="0" err="1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dd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)  ;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0000FF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/>
                            <a:cs typeface="Arial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 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0" y="1388852"/>
                <a:ext cx="7658100" cy="754117"/>
              </a:xfrm>
              <a:prstGeom prst="rect">
                <a:avLst/>
              </a:prstGeom>
              <a:blipFill rotWithShape="1">
                <a:blip r:embed="rId2"/>
                <a:stretch>
                  <a:fillRect l="-1672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88852" y="2138656"/>
                <a:ext cx="7755147" cy="7561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Cd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2+</a:t>
                </a:r>
                <a:r>
                  <a:rPr lang="en-US" sz="28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(</a:t>
                </a:r>
                <a:r>
                  <a:rPr lang="en-US" sz="2800" dirty="0" err="1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dd</a:t>
                </a:r>
                <a:r>
                  <a:rPr lang="en-US" sz="28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)  + 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 2Cl</a:t>
                </a:r>
                <a:r>
                  <a:rPr lang="en-US" sz="2800" baseline="300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-</a:t>
                </a:r>
                <a:r>
                  <a:rPr lang="en-US" sz="28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(</a:t>
                </a:r>
                <a:r>
                  <a:rPr lang="en-US" sz="2800" dirty="0" err="1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dd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)  ⇌   CdCl</a:t>
                </a:r>
                <a:r>
                  <a:rPr lang="en-US" sz="2800" baseline="-250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(</a:t>
                </a:r>
                <a:r>
                  <a:rPr lang="en-US" sz="2800" dirty="0" err="1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dd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)  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  <a:cs typeface="Arial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    </a:t>
                </a:r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852" y="2138656"/>
                <a:ext cx="7755147" cy="756104"/>
              </a:xfrm>
              <a:prstGeom prst="rect">
                <a:avLst/>
              </a:prstGeom>
              <a:blipFill rotWithShape="1">
                <a:blip r:embed="rId3"/>
                <a:stretch>
                  <a:fillRect l="-1651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381000" y="2894760"/>
            <a:ext cx="8610600" cy="77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553881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Arial" pitchFamily="34" charset="0"/>
                <a:cs typeface="Arial" pitchFamily="34" charset="0"/>
              </a:rPr>
              <a:t>+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38664" y="3962400"/>
                <a:ext cx="8382000" cy="1040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 err="1" smtClean="0">
                    <a:latin typeface="Arial" pitchFamily="34" charset="0"/>
                    <a:cs typeface="Arial" pitchFamily="34" charset="0"/>
                  </a:rPr>
                  <a:t>Hằng</a:t>
                </a:r>
                <a:r>
                  <a:rPr lang="en-US" sz="40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4000" dirty="0" err="1" smtClean="0">
                    <a:latin typeface="Arial" pitchFamily="34" charset="0"/>
                    <a:cs typeface="Arial" pitchFamily="34" charset="0"/>
                  </a:rPr>
                  <a:t>số</a:t>
                </a:r>
                <a:r>
                  <a:rPr lang="en-US" sz="40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4000" dirty="0" err="1" smtClean="0">
                    <a:latin typeface="Arial" pitchFamily="34" charset="0"/>
                    <a:cs typeface="Arial" pitchFamily="34" charset="0"/>
                  </a:rPr>
                  <a:t>cân</a:t>
                </a:r>
                <a:r>
                  <a:rPr lang="en-US" sz="40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4000" dirty="0" err="1" smtClean="0">
                    <a:latin typeface="Arial" pitchFamily="34" charset="0"/>
                    <a:cs typeface="Arial" pitchFamily="34" charset="0"/>
                  </a:rPr>
                  <a:t>bằng</a:t>
                </a:r>
                <a:r>
                  <a:rPr lang="en-US" sz="4000" dirty="0" smtClean="0">
                    <a:latin typeface="Arial" pitchFamily="34" charset="0"/>
                    <a:cs typeface="Arial" pitchFamily="34" charset="0"/>
                  </a:rPr>
                  <a:t>: K = K</a:t>
                </a:r>
                <a:r>
                  <a:rPr lang="en-US" sz="4000" baseline="-25000" dirty="0" smtClean="0">
                    <a:latin typeface="Arial" pitchFamily="34" charset="0"/>
                    <a:cs typeface="Arial" pitchFamily="34" charset="0"/>
                  </a:rPr>
                  <a:t>1</a:t>
                </a:r>
                <a:r>
                  <a:rPr lang="en-US" sz="4000" dirty="0" smtClean="0">
                    <a:latin typeface="Arial" pitchFamily="34" charset="0"/>
                    <a:cs typeface="Arial" pitchFamily="34" charset="0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>
                            <a:solidFill>
                              <a:srgbClr val="0000FF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4000" i="1">
                            <a:solidFill>
                              <a:srgbClr val="0000FF"/>
                            </a:solidFill>
                            <a:latin typeface="Cambria Math"/>
                            <a:cs typeface="Arial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4000" i="1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4000" i="1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4000" dirty="0" smtClean="0">
                    <a:latin typeface="Arial" pitchFamily="34" charset="0"/>
                    <a:cs typeface="Arial" pitchFamily="34" charset="0"/>
                  </a:rPr>
                  <a:t>.</a:t>
                </a:r>
                <a:r>
                  <a:rPr lang="en-US" sz="4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>
                            <a:solidFill>
                              <a:srgbClr val="FF0000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4000" i="1">
                            <a:solidFill>
                              <a:srgbClr val="FF0000"/>
                            </a:solidFill>
                            <a:latin typeface="Cambria Math"/>
                            <a:cs typeface="Arial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4000" i="1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4000" i="1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4000" dirty="0" smtClean="0">
                    <a:latin typeface="Arial" pitchFamily="34" charset="0"/>
                    <a:cs typeface="Arial" pitchFamily="34" charset="0"/>
                  </a:rPr>
                  <a:t> </a:t>
                </a:r>
                <a:endParaRPr lang="en-US" sz="40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64" y="3962400"/>
                <a:ext cx="8382000" cy="1040798"/>
              </a:xfrm>
              <a:prstGeom prst="rect">
                <a:avLst/>
              </a:prstGeom>
              <a:blipFill rotWithShape="1">
                <a:blip r:embed="rId4"/>
                <a:stretch>
                  <a:fillRect l="-2545" b="-2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 flipV="1">
            <a:off x="1481587" y="2286000"/>
            <a:ext cx="457200" cy="304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293742" y="914400"/>
            <a:ext cx="457200" cy="304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276600" y="1535717"/>
            <a:ext cx="457200" cy="304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7086600" y="914400"/>
            <a:ext cx="457200" cy="304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4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826" y="1170194"/>
            <a:ext cx="8839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CdS</a:t>
            </a:r>
            <a:r>
              <a:rPr lang="en-U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(r</a:t>
            </a:r>
            <a:r>
              <a:rPr lang="en-US" sz="28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2H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2Cl</a:t>
            </a:r>
            <a:r>
              <a:rPr lang="en-US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⇌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CdCl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S(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);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K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40589" y="1832675"/>
            <a:ext cx="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420264" y="1798237"/>
            <a:ext cx="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7407215" y="1737235"/>
            <a:ext cx="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5340" y="2261595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800" baseline="-250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CdS</a:t>
            </a:r>
            <a:r>
              <a:rPr lang="en-U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= K</a:t>
            </a:r>
            <a:r>
              <a:rPr lang="en-US" sz="2800" baseline="-250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en-US" sz="2800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04426" y="2250347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CdCl2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= K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90426" y="2179237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a1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.K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a2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= K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2" name="Object 1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15447642"/>
              </p:ext>
            </p:extLst>
          </p:nvPr>
        </p:nvGraphicFramePr>
        <p:xfrm>
          <a:off x="470140" y="3129301"/>
          <a:ext cx="2590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" name="Equation" r:id="rId3" imgW="1091880" imgH="520560" progId="Equation.3">
                  <p:embed/>
                </p:oleObj>
              </mc:Choice>
              <mc:Fallback>
                <p:oleObj name="Equation" r:id="rId3" imgW="1091880" imgH="520560" progId="Equation.3">
                  <p:embed/>
                  <p:pic>
                    <p:nvPicPr>
                      <p:cNvPr id="0" name="Content Placeholder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140" y="3129301"/>
                        <a:ext cx="2590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65340" y="4421546"/>
                <a:ext cx="8382000" cy="956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>
                    <a:latin typeface="Arial" pitchFamily="34" charset="0"/>
                    <a:cs typeface="Arial" pitchFamily="34" charset="0"/>
                  </a:rPr>
                  <a:t>Hằng </a:t>
                </a:r>
                <a:r>
                  <a:rPr lang="en-US" sz="3200" dirty="0" err="1" smtClean="0">
                    <a:latin typeface="Arial" pitchFamily="34" charset="0"/>
                    <a:cs typeface="Arial" pitchFamily="34" charset="0"/>
                  </a:rPr>
                  <a:t>số</a:t>
                </a:r>
                <a:r>
                  <a:rPr lang="en-US" sz="32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3200" dirty="0" err="1" smtClean="0">
                    <a:latin typeface="Arial" pitchFamily="34" charset="0"/>
                    <a:cs typeface="Arial" pitchFamily="34" charset="0"/>
                  </a:rPr>
                  <a:t>cân</a:t>
                </a:r>
                <a:r>
                  <a:rPr lang="en-US" sz="32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3200" dirty="0" err="1" smtClean="0">
                    <a:latin typeface="Arial" pitchFamily="34" charset="0"/>
                    <a:cs typeface="Arial" pitchFamily="34" charset="0"/>
                  </a:rPr>
                  <a:t>bằng</a:t>
                </a:r>
                <a:r>
                  <a:rPr lang="en-US" sz="3200" dirty="0" smtClean="0">
                    <a:latin typeface="Arial" pitchFamily="34" charset="0"/>
                    <a:cs typeface="Arial" pitchFamily="34" charset="0"/>
                  </a:rPr>
                  <a:t>: K =</a:t>
                </a:r>
                <a:r>
                  <a:rPr lang="en-US" sz="32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200" dirty="0">
                            <a:latin typeface="Arial" pitchFamily="34" charset="0"/>
                            <a:cs typeface="Arial" pitchFamily="34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sz="3200" baseline="-25000" dirty="0">
                            <a:latin typeface="Arial" pitchFamily="34" charset="0"/>
                            <a:cs typeface="Arial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rgbClr val="0000FF"/>
                                    </a:solidFill>
                                    <a:latin typeface="Cambria Math"/>
                                    <a:cs typeface="Arial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rgbClr val="0000FF"/>
                                    </a:solidFill>
                                    <a:latin typeface="Cambria Math"/>
                                    <a:cs typeface="Arial" pitchFamily="34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sz="3200" i="1">
                                    <a:solidFill>
                                      <a:srgbClr val="0000FF"/>
                                    </a:solidFill>
                                    <a:latin typeface="Cambria Math"/>
                                    <a:cs typeface="Arial" pitchFamily="34" charset="0"/>
                                  </a:rPr>
                                  <m:t>2  </m:t>
                                </m:r>
                              </m:sub>
                            </m:sSub>
                            <m:r>
                              <a:rPr lang="en-US" sz="32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.</m:t>
                            </m:r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200" dirty="0" smtClean="0">
                    <a:latin typeface="Arial" pitchFamily="34" charset="0"/>
                    <a:cs typeface="Arial" pitchFamily="34" charset="0"/>
                  </a:rPr>
                  <a:t> </a:t>
                </a:r>
                <a:endParaRPr lang="en-US" sz="32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40" y="4421546"/>
                <a:ext cx="8382000" cy="956480"/>
              </a:xfrm>
              <a:prstGeom prst="rect">
                <a:avLst/>
              </a:prstGeom>
              <a:blipFill rotWithShape="1">
                <a:blip r:embed="rId5"/>
                <a:stretch>
                  <a:fillRect l="-1818" b="-1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35147" y="152400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Cách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2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9753" y="659028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CHẤT ĐẦU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91200" y="669869"/>
            <a:ext cx="2828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SẢN PHẨM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00400" y="3473570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i="1" dirty="0" err="1">
                <a:solidFill>
                  <a:srgbClr val="C00000"/>
                </a:solidFill>
              </a:rPr>
              <a:t>Số</a:t>
            </a:r>
            <a:r>
              <a:rPr lang="en-US" altLang="en-US" b="1" i="1" dirty="0">
                <a:solidFill>
                  <a:srgbClr val="C00000"/>
                </a:solidFill>
              </a:rPr>
              <a:t> </a:t>
            </a:r>
            <a:r>
              <a:rPr lang="en-US" altLang="en-US" b="1" i="1" dirty="0" err="1">
                <a:solidFill>
                  <a:srgbClr val="C00000"/>
                </a:solidFill>
              </a:rPr>
              <a:t>mũ</a:t>
            </a:r>
            <a:r>
              <a:rPr lang="en-US" altLang="en-US" b="1" i="1" dirty="0">
                <a:solidFill>
                  <a:srgbClr val="C00000"/>
                </a:solidFill>
              </a:rPr>
              <a:t> i , j</a:t>
            </a:r>
            <a:r>
              <a:rPr lang="en-US" altLang="en-US" i="1" dirty="0">
                <a:solidFill>
                  <a:srgbClr val="C00000"/>
                </a:solidFill>
              </a:rPr>
              <a:t>: </a:t>
            </a:r>
            <a:r>
              <a:rPr lang="en-US" altLang="en-US" i="1" dirty="0" err="1">
                <a:solidFill>
                  <a:srgbClr val="C00000"/>
                </a:solidFill>
              </a:rPr>
              <a:t>hệ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số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tỉ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lượng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tương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ứng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trong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phương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trình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pư</a:t>
            </a:r>
            <a:r>
              <a:rPr lang="en-US" altLang="en-US" i="1" dirty="0">
                <a:solidFill>
                  <a:srgbClr val="C00000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05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3" grpId="0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610600" cy="4525963"/>
          </a:xfrm>
        </p:spPr>
        <p:txBody>
          <a:bodyPr/>
          <a:lstStyle/>
          <a:p>
            <a:pPr marL="0" indent="0">
              <a:buNone/>
            </a:pPr>
            <a:r>
              <a:rPr lang="es-ES" sz="2400" dirty="0" err="1" smtClean="0">
                <a:latin typeface="Arial" pitchFamily="34" charset="0"/>
                <a:cs typeface="Arial" pitchFamily="34" charset="0"/>
              </a:rPr>
              <a:t>Cho</a:t>
            </a:r>
            <a:r>
              <a:rPr lang="es-E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ES" sz="2400" dirty="0" err="1">
                <a:latin typeface="Arial" pitchFamily="34" charset="0"/>
                <a:cs typeface="Arial" pitchFamily="34" charset="0"/>
              </a:rPr>
              <a:t>biết</a:t>
            </a:r>
            <a:r>
              <a:rPr lang="es-ES" sz="2400" dirty="0">
                <a:latin typeface="Arial" pitchFamily="34" charset="0"/>
                <a:cs typeface="Arial" pitchFamily="34" charset="0"/>
              </a:rPr>
              <a:t> ở 25</a:t>
            </a:r>
            <a:r>
              <a:rPr lang="es-ES" sz="24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es-ES" sz="2400" dirty="0">
                <a:latin typeface="Arial" pitchFamily="34" charset="0"/>
                <a:cs typeface="Arial" pitchFamily="34" charset="0"/>
              </a:rPr>
              <a:t>C: 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pt-B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pt-BR" sz="24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pt-B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O(ℓ) ⇄ </a:t>
            </a:r>
            <a:r>
              <a:rPr lang="es-E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s-ES" sz="24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s-E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s-E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 + OH</a:t>
            </a:r>
            <a:r>
              <a:rPr lang="es-ES" sz="24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s-E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s-E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pt-B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;          K</a:t>
            </a:r>
            <a:r>
              <a:rPr lang="pt-BR" sz="24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pt-B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10</a:t>
            </a:r>
            <a:r>
              <a:rPr lang="pt-BR" sz="24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-14</a:t>
            </a:r>
            <a:endParaRPr lang="en-US" sz="24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pt-BR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NH</a:t>
            </a:r>
            <a:r>
              <a:rPr lang="pt-BR" sz="2400" baseline="-250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OH(ℓ) ⇄ (dd) + OH</a:t>
            </a:r>
            <a:r>
              <a:rPr lang="pt-BR" sz="2400" baseline="300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pt-BR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(dd);	</a:t>
            </a:r>
            <a:r>
              <a:rPr 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4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b,NH4OH</a:t>
            </a:r>
            <a:endParaRPr lang="en-US" sz="24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HNO</a:t>
            </a:r>
            <a:r>
              <a:rPr lang="en-US" sz="24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 ⇌ H</a:t>
            </a:r>
            <a:r>
              <a:rPr lang="en-US" sz="24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 + NO</a:t>
            </a:r>
            <a:r>
              <a:rPr lang="en-US" sz="24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); 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a,HNO2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dirty="0" err="1">
                <a:latin typeface="Arial" pitchFamily="34" charset="0"/>
                <a:cs typeface="Arial" pitchFamily="34" charset="0"/>
              </a:rPr>
              <a:t>Tính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hằng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cân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bằng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K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của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phản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ứng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ở 25</a:t>
            </a:r>
            <a:r>
              <a:rPr lang="en-US" sz="24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C:</a:t>
            </a:r>
          </a:p>
          <a:p>
            <a:pPr marL="0" indent="0">
              <a:buNone/>
            </a:pPr>
            <a:r>
              <a:rPr lang="pt-BR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NH</a:t>
            </a:r>
            <a:r>
              <a:rPr lang="pt-BR" sz="24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24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pt-BR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(dd) </a:t>
            </a:r>
            <a:r>
              <a:rPr lang="pt-BR" sz="24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+ NO</a:t>
            </a:r>
            <a:r>
              <a:rPr lang="pt-BR" sz="24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pt-BR" sz="24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pt-BR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(dd) + H</a:t>
            </a:r>
            <a:r>
              <a:rPr lang="pt-BR" sz="24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pt-BR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O(ℓ) ⇄ NH</a:t>
            </a:r>
            <a:r>
              <a:rPr lang="pt-BR" sz="24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OH(dd) + HNO</a:t>
            </a:r>
            <a:r>
              <a:rPr lang="pt-BR" sz="24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pt-BR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(dd)</a:t>
            </a:r>
            <a:endParaRPr lang="en-US" sz="24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CC00FF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962400" y="2971800"/>
            <a:ext cx="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635925" y="2971800"/>
            <a:ext cx="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315200" y="2971800"/>
            <a:ext cx="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33800" y="33528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400" baseline="-250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64834" y="3352800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</a:t>
            </a:r>
            <a:endParaRPr lang="en-US" sz="24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62800" y="3332672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400" baseline="-25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endParaRPr lang="en-U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1" name="Object 10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861976320"/>
              </p:ext>
            </p:extLst>
          </p:nvPr>
        </p:nvGraphicFramePr>
        <p:xfrm>
          <a:off x="685800" y="3619575"/>
          <a:ext cx="2590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Equation" r:id="rId3" imgW="1091726" imgH="520474" progId="Equation.3">
                  <p:embed/>
                </p:oleObj>
              </mc:Choice>
              <mc:Fallback>
                <p:oleObj name="Equation" r:id="rId3" imgW="1091726" imgH="520474" progId="Equation.3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619575"/>
                        <a:ext cx="2590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3940" y="4876800"/>
                <a:ext cx="8382000" cy="853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>
                    <a:latin typeface="Arial" pitchFamily="34" charset="0"/>
                    <a:cs typeface="Arial" pitchFamily="34" charset="0"/>
                  </a:rPr>
                  <a:t>Hằng </a:t>
                </a:r>
                <a:r>
                  <a:rPr lang="en-US" sz="3200" dirty="0" err="1" smtClean="0">
                    <a:latin typeface="Arial" pitchFamily="34" charset="0"/>
                    <a:cs typeface="Arial" pitchFamily="34" charset="0"/>
                  </a:rPr>
                  <a:t>số</a:t>
                </a:r>
                <a:r>
                  <a:rPr lang="en-US" sz="32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3200" dirty="0" err="1" smtClean="0">
                    <a:latin typeface="Arial" pitchFamily="34" charset="0"/>
                    <a:cs typeface="Arial" pitchFamily="34" charset="0"/>
                  </a:rPr>
                  <a:t>cân</a:t>
                </a:r>
                <a:r>
                  <a:rPr lang="en-US" sz="32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3200" dirty="0" err="1" smtClean="0">
                    <a:latin typeface="Arial" pitchFamily="34" charset="0"/>
                    <a:cs typeface="Arial" pitchFamily="34" charset="0"/>
                  </a:rPr>
                  <a:t>bằng</a:t>
                </a:r>
                <a:r>
                  <a:rPr lang="en-US" sz="3200" dirty="0" smtClean="0">
                    <a:latin typeface="Arial" pitchFamily="34" charset="0"/>
                    <a:cs typeface="Arial" pitchFamily="34" charset="0"/>
                  </a:rPr>
                  <a:t>: K =</a:t>
                </a:r>
                <a:r>
                  <a:rPr lang="en-US" sz="32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/>
                                <a:cs typeface="Arial" pitchFamily="34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/>
                                <a:cs typeface="Arial" pitchFamily="34" charset="0"/>
                              </a:rPr>
                              <m:t>𝑛</m:t>
                            </m:r>
                            <m:r>
                              <a:rPr lang="en-US" sz="32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/>
                                <a:cs typeface="Arial" pitchFamily="34" charset="0"/>
                              </a:rPr>
                              <m:t> 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rgbClr val="0000FF"/>
                                    </a:solidFill>
                                    <a:latin typeface="Cambria Math"/>
                                    <a:cs typeface="Arial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rgbClr val="0000FF"/>
                                    </a:solidFill>
                                    <a:latin typeface="Cambria Math"/>
                                    <a:cs typeface="Arial" pitchFamily="34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solidFill>
                                      <a:srgbClr val="0000FF"/>
                                    </a:solidFill>
                                    <a:latin typeface="Cambria Math"/>
                                    <a:cs typeface="Arial" pitchFamily="34" charset="0"/>
                                  </a:rPr>
                                  <m:t>𝑏</m:t>
                                </m:r>
                                <m:r>
                                  <a:rPr lang="en-US" sz="3200" i="1">
                                    <a:solidFill>
                                      <a:srgbClr val="0000FF"/>
                                    </a:solidFill>
                                    <a:latin typeface="Cambria Math"/>
                                    <a:cs typeface="Arial" pitchFamily="34" charset="0"/>
                                  </a:rPr>
                                  <m:t>  </m:t>
                                </m:r>
                              </m:sub>
                            </m:sSub>
                            <m:r>
                              <a:rPr lang="en-US" sz="32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.</m:t>
                            </m:r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𝑎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200" dirty="0" smtClean="0">
                    <a:latin typeface="Arial" pitchFamily="34" charset="0"/>
                    <a:cs typeface="Arial" pitchFamily="34" charset="0"/>
                  </a:rPr>
                  <a:t> </a:t>
                </a:r>
                <a:endParaRPr lang="en-US" sz="32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40" y="4876800"/>
                <a:ext cx="8382000" cy="853823"/>
              </a:xfrm>
              <a:prstGeom prst="rect">
                <a:avLst/>
              </a:prstGeom>
              <a:blipFill rotWithShape="1">
                <a:blip r:embed="rId5"/>
                <a:stretch>
                  <a:fillRect l="-1891" b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319732" y="3962400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i="1" dirty="0" err="1">
                <a:solidFill>
                  <a:srgbClr val="C00000"/>
                </a:solidFill>
              </a:rPr>
              <a:t>Số</a:t>
            </a:r>
            <a:r>
              <a:rPr lang="en-US" altLang="en-US" b="1" i="1" dirty="0">
                <a:solidFill>
                  <a:srgbClr val="C00000"/>
                </a:solidFill>
              </a:rPr>
              <a:t> </a:t>
            </a:r>
            <a:r>
              <a:rPr lang="en-US" altLang="en-US" b="1" i="1" dirty="0" err="1">
                <a:solidFill>
                  <a:srgbClr val="C00000"/>
                </a:solidFill>
              </a:rPr>
              <a:t>mũ</a:t>
            </a:r>
            <a:r>
              <a:rPr lang="en-US" altLang="en-US" b="1" i="1" dirty="0">
                <a:solidFill>
                  <a:srgbClr val="C00000"/>
                </a:solidFill>
              </a:rPr>
              <a:t> i , j</a:t>
            </a:r>
            <a:r>
              <a:rPr lang="en-US" altLang="en-US" i="1" dirty="0">
                <a:solidFill>
                  <a:srgbClr val="C00000"/>
                </a:solidFill>
              </a:rPr>
              <a:t>: </a:t>
            </a:r>
            <a:r>
              <a:rPr lang="en-US" altLang="en-US" i="1" dirty="0" err="1">
                <a:solidFill>
                  <a:srgbClr val="C00000"/>
                </a:solidFill>
              </a:rPr>
              <a:t>hệ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số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tỉ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lượng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tương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ứng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trong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phương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trình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pư</a:t>
            </a:r>
            <a:r>
              <a:rPr lang="en-US" altLang="en-US" i="1" dirty="0">
                <a:solidFill>
                  <a:srgbClr val="C00000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96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9B413B0-46AB-4A4B-ADC4-43F009D5B71B}"/>
              </a:ext>
            </a:extLst>
          </p:cNvPr>
          <p:cNvSpPr txBox="1">
            <a:spLocks/>
          </p:cNvSpPr>
          <p:nvPr/>
        </p:nvSpPr>
        <p:spPr>
          <a:xfrm>
            <a:off x="457200" y="533400"/>
            <a:ext cx="8115300" cy="69171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 smtClean="0">
                <a:solidFill>
                  <a:srgbClr val="0000FF"/>
                </a:solidFill>
              </a:rPr>
              <a:t>NH</a:t>
            </a:r>
            <a:r>
              <a:rPr lang="en-US" baseline="-25000" dirty="0" smtClean="0">
                <a:solidFill>
                  <a:srgbClr val="0000FF"/>
                </a:solidFill>
              </a:rPr>
              <a:t>4</a:t>
            </a:r>
            <a:r>
              <a:rPr lang="en-US" baseline="30000" dirty="0" smtClean="0">
                <a:solidFill>
                  <a:srgbClr val="0000FF"/>
                </a:solidFill>
              </a:rPr>
              <a:t>+</a:t>
            </a:r>
            <a:r>
              <a:rPr lang="en-US" dirty="0" smtClean="0"/>
              <a:t>(</a:t>
            </a:r>
            <a:r>
              <a:rPr lang="en-US" dirty="0" err="1" smtClean="0"/>
              <a:t>dd</a:t>
            </a:r>
            <a:r>
              <a:rPr lang="en-US" dirty="0" smtClean="0"/>
              <a:t>)+ </a:t>
            </a:r>
            <a:r>
              <a:rPr lang="en-US" dirty="0" smtClean="0">
                <a:solidFill>
                  <a:srgbClr val="FF0000"/>
                </a:solidFill>
              </a:rPr>
              <a:t>S</a:t>
            </a:r>
            <a:r>
              <a:rPr lang="en-US" baseline="30000" dirty="0" smtClean="0">
                <a:solidFill>
                  <a:srgbClr val="FF0000"/>
                </a:solidFill>
              </a:rPr>
              <a:t>2-</a:t>
            </a:r>
            <a:r>
              <a:rPr lang="en-US" dirty="0" smtClean="0"/>
              <a:t>(</a:t>
            </a:r>
            <a:r>
              <a:rPr lang="en-US" dirty="0" err="1" smtClean="0"/>
              <a:t>dd</a:t>
            </a:r>
            <a:r>
              <a:rPr lang="en-US" dirty="0" smtClean="0"/>
              <a:t>)+ H</a:t>
            </a:r>
            <a:r>
              <a:rPr lang="en-US" baseline="-25000" dirty="0" smtClean="0"/>
              <a:t>2</a:t>
            </a:r>
            <a:r>
              <a:rPr lang="en-US" dirty="0" smtClean="0"/>
              <a:t>O = NH</a:t>
            </a:r>
            <a:r>
              <a:rPr lang="en-US" baseline="-25000" dirty="0" smtClean="0"/>
              <a:t>4</a:t>
            </a:r>
            <a:r>
              <a:rPr lang="en-US" dirty="0" smtClean="0"/>
              <a:t>OH(</a:t>
            </a:r>
            <a:r>
              <a:rPr lang="en-US" dirty="0" err="1" smtClean="0"/>
              <a:t>dd</a:t>
            </a:r>
            <a:r>
              <a:rPr lang="en-US" dirty="0" smtClean="0"/>
              <a:t>)+ </a:t>
            </a:r>
            <a:r>
              <a:rPr lang="en-US" dirty="0" smtClean="0">
                <a:solidFill>
                  <a:srgbClr val="FF0000"/>
                </a:solidFill>
              </a:rPr>
              <a:t>HS</a:t>
            </a:r>
            <a:r>
              <a:rPr lang="en-US" baseline="30000" dirty="0" smtClean="0">
                <a:solidFill>
                  <a:srgbClr val="FF0000"/>
                </a:solidFill>
              </a:rPr>
              <a:t>-</a:t>
            </a:r>
            <a:r>
              <a:rPr lang="en-US" dirty="0" smtClean="0"/>
              <a:t>(</a:t>
            </a:r>
            <a:r>
              <a:rPr lang="en-US" dirty="0" err="1" smtClean="0"/>
              <a:t>dd</a:t>
            </a:r>
            <a:r>
              <a:rPr lang="en-US" dirty="0" smtClean="0"/>
              <a:t>)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2B9F2676-8E70-4223-90E6-D758939F6D91}"/>
                  </a:ext>
                </a:extLst>
              </p:cNvPr>
              <p:cNvSpPr txBox="1"/>
              <p:nvPr/>
            </p:nvSpPr>
            <p:spPr>
              <a:xfrm>
                <a:off x="3487229" y="3733800"/>
                <a:ext cx="4191000" cy="1040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C00000"/>
                    </a:solidFill>
                  </a:rPr>
                  <a:t>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6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e>
                              <m:sub>
                                <m: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  <m:r>
                              <a:rPr lang="en-US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e>
                          <m:sub>
                            <m:r>
                              <a:rPr lang="en-US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𝑵𝑯</m:t>
                                </m:r>
                              </m:e>
                              <m:sub>
                                <m: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𝑶𝑯</m:t>
                            </m:r>
                          </m:sub>
                        </m:sSub>
                        <m:sSub>
                          <m:sSubPr>
                            <m:ctrlP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sz="36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sub>
                        </m:sSub>
                      </m:den>
                    </m:f>
                  </m:oMath>
                </a14:m>
                <a:endParaRPr lang="en-US" sz="36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B9F2676-8E70-4223-90E6-D758939F6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229" y="3733800"/>
                <a:ext cx="4191000" cy="1040028"/>
              </a:xfrm>
              <a:prstGeom prst="rect">
                <a:avLst/>
              </a:prstGeom>
              <a:blipFill rotWithShape="1">
                <a:blip r:embed="rId3"/>
                <a:stretch>
                  <a:fillRect l="-4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25020129"/>
              </p:ext>
            </p:extLst>
          </p:nvPr>
        </p:nvGraphicFramePr>
        <p:xfrm>
          <a:off x="457200" y="2501214"/>
          <a:ext cx="2590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Equation" r:id="rId4" imgW="1091726" imgH="520474" progId="Equation.3">
                  <p:embed/>
                </p:oleObj>
              </mc:Choice>
              <mc:Fallback>
                <p:oleObj name="Equation" r:id="rId4" imgW="1091726" imgH="520474" progId="Equation.3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501214"/>
                        <a:ext cx="2590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3962400" y="1034617"/>
            <a:ext cx="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635925" y="1034617"/>
            <a:ext cx="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7154174" y="1034617"/>
            <a:ext cx="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33800" y="1415617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400" baseline="-250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64834" y="1415617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</a:t>
            </a:r>
            <a:endParaRPr lang="en-US" sz="24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10400" y="1395488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a2</a:t>
            </a:r>
            <a:endParaRPr lang="en-U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60144" y="2688566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i="1" dirty="0" err="1">
                <a:solidFill>
                  <a:srgbClr val="C00000"/>
                </a:solidFill>
              </a:rPr>
              <a:t>Số</a:t>
            </a:r>
            <a:r>
              <a:rPr lang="en-US" altLang="en-US" b="1" i="1" dirty="0">
                <a:solidFill>
                  <a:srgbClr val="C00000"/>
                </a:solidFill>
              </a:rPr>
              <a:t> </a:t>
            </a:r>
            <a:r>
              <a:rPr lang="en-US" altLang="en-US" b="1" i="1" dirty="0" err="1">
                <a:solidFill>
                  <a:srgbClr val="C00000"/>
                </a:solidFill>
              </a:rPr>
              <a:t>mũ</a:t>
            </a:r>
            <a:r>
              <a:rPr lang="en-US" altLang="en-US" b="1" i="1" dirty="0">
                <a:solidFill>
                  <a:srgbClr val="C00000"/>
                </a:solidFill>
              </a:rPr>
              <a:t> i , j</a:t>
            </a:r>
            <a:r>
              <a:rPr lang="en-US" altLang="en-US" i="1" dirty="0">
                <a:solidFill>
                  <a:srgbClr val="C00000"/>
                </a:solidFill>
              </a:rPr>
              <a:t>: </a:t>
            </a:r>
            <a:r>
              <a:rPr lang="en-US" altLang="en-US" i="1" dirty="0" err="1">
                <a:solidFill>
                  <a:srgbClr val="C00000"/>
                </a:solidFill>
              </a:rPr>
              <a:t>hệ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số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tỉ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lượng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tương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ứng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trong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phương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trình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pư</a:t>
            </a:r>
            <a:r>
              <a:rPr lang="en-US" altLang="en-US" i="1" dirty="0">
                <a:solidFill>
                  <a:srgbClr val="C00000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32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2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591A48A-9981-4690-8AC6-EFC9EDA57F9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27162" y="304800"/>
            <a:ext cx="8915400" cy="864526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H</a:t>
            </a:r>
            <a:r>
              <a:rPr lang="vi-VN" sz="20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PO</a:t>
            </a:r>
            <a:r>
              <a:rPr lang="vi-VN" sz="2000" baseline="-25000" dirty="0">
                <a:latin typeface="Arial" pitchFamily="34" charset="0"/>
                <a:cs typeface="Arial" pitchFamily="34" charset="0"/>
              </a:rPr>
              <a:t>4</a:t>
            </a:r>
            <a:r>
              <a:rPr lang="vi-VN" sz="2000" baseline="30000" dirty="0">
                <a:latin typeface="Arial" pitchFamily="34" charset="0"/>
                <a:cs typeface="Arial" pitchFamily="34" charset="0"/>
              </a:rPr>
              <a:t>-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(dd) + </a:t>
            </a:r>
            <a:r>
              <a:rPr lang="vi-VN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Ca</a:t>
            </a:r>
            <a:r>
              <a:rPr lang="en-US" sz="2000" baseline="30000" dirty="0">
                <a:latin typeface="Arial" pitchFamily="34" charset="0"/>
                <a:cs typeface="Arial" pitchFamily="34" charset="0"/>
              </a:rPr>
              <a:t>2+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(dd) 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+ 4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CH</a:t>
            </a:r>
            <a:r>
              <a:rPr lang="vi-VN" sz="2000" baseline="-25000" dirty="0">
                <a:latin typeface="Arial" pitchFamily="34" charset="0"/>
                <a:cs typeface="Arial" pitchFamily="34" charset="0"/>
              </a:rPr>
              <a:t>3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COO</a:t>
            </a:r>
            <a:r>
              <a:rPr lang="en-US" sz="2000" baseline="30000" dirty="0">
                <a:latin typeface="Arial" pitchFamily="34" charset="0"/>
                <a:cs typeface="Arial" pitchFamily="34" charset="0"/>
              </a:rPr>
              <a:t>-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(dd) </a:t>
            </a:r>
            <a:r>
              <a:rPr lang="vi-VN" sz="2000" dirty="0" smtClean="0">
                <a:latin typeface="Arial" pitchFamily="34" charset="0"/>
                <a:cs typeface="Arial" pitchFamily="34" charset="0"/>
              </a:rPr>
              <a:t>⇄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000" dirty="0" smtClean="0">
                <a:latin typeface="Arial" pitchFamily="34" charset="0"/>
                <a:cs typeface="Arial" pitchFamily="34" charset="0"/>
              </a:rPr>
              <a:t>Ca</a:t>
            </a:r>
            <a:r>
              <a:rPr lang="vi-VN" sz="2000" baseline="-25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vi-VN" sz="2000" dirty="0" smtClean="0">
                <a:latin typeface="Arial" pitchFamily="34" charset="0"/>
                <a:cs typeface="Arial" pitchFamily="34" charset="0"/>
              </a:rPr>
              <a:t>(PO</a:t>
            </a:r>
            <a:r>
              <a:rPr lang="vi-VN" sz="2000" baseline="-25000" dirty="0" smtClean="0">
                <a:latin typeface="Arial" pitchFamily="34" charset="0"/>
                <a:cs typeface="Arial" pitchFamily="34" charset="0"/>
              </a:rPr>
              <a:t>4</a:t>
            </a:r>
            <a:r>
              <a:rPr lang="vi-VN" sz="2000" dirty="0" smtClean="0">
                <a:latin typeface="Arial" pitchFamily="34" charset="0"/>
                <a:cs typeface="Arial" pitchFamily="34" charset="0"/>
              </a:rPr>
              <a:t>)</a:t>
            </a:r>
            <a:r>
              <a:rPr lang="vi-VN" sz="20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vi-VN" sz="2000" dirty="0" smtClean="0">
                <a:latin typeface="Arial" pitchFamily="34" charset="0"/>
                <a:cs typeface="Arial" pitchFamily="34" charset="0"/>
              </a:rPr>
              <a:t>(r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) + </a:t>
            </a:r>
            <a:r>
              <a:rPr lang="vi-VN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CH</a:t>
            </a:r>
            <a:r>
              <a:rPr lang="vi-VN" sz="2000" baseline="-25000" dirty="0">
                <a:latin typeface="Arial" pitchFamily="34" charset="0"/>
                <a:cs typeface="Arial" pitchFamily="34" charset="0"/>
              </a:rPr>
              <a:t>3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COOH(dd)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/>
            </a:r>
            <a:br>
              <a:rPr lang="en-US" sz="2000" dirty="0">
                <a:latin typeface="Arial" pitchFamily="34" charset="0"/>
                <a:cs typeface="Arial" pitchFamily="34" charset="0"/>
              </a:rPr>
            </a:b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838200" y="823104"/>
            <a:ext cx="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715000" y="823104"/>
            <a:ext cx="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772400" y="823104"/>
            <a:ext cx="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204104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(K</a:t>
            </a:r>
            <a:r>
              <a:rPr lang="en-US" sz="2400" baseline="-250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a2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.K</a:t>
            </a:r>
            <a:r>
              <a:rPr lang="en-US" sz="2400" baseline="-250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a3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US" sz="2400" b="1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400" b="1" baseline="-25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62600" y="1173911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Ca3(PO4)2</a:t>
            </a:r>
            <a:endParaRPr lang="en-US" sz="24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43800" y="1203384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400" baseline="-250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US" sz="2400" b="1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1" name="Object 10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049126574"/>
              </p:ext>
            </p:extLst>
          </p:nvPr>
        </p:nvGraphicFramePr>
        <p:xfrm>
          <a:off x="457200" y="2286000"/>
          <a:ext cx="2590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" name="Equation" r:id="rId3" imgW="1091726" imgH="520474" progId="Equation.3">
                  <p:embed/>
                </p:oleObj>
              </mc:Choice>
              <mc:Fallback>
                <p:oleObj name="Equation" r:id="rId3" imgW="1091726" imgH="520474" progId="Equation.3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0"/>
                        <a:ext cx="2590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C5452C7D-9355-47A8-B21E-79F5E774CC1A}"/>
              </a:ext>
            </a:extLst>
          </p:cNvPr>
          <p:cNvPicPr/>
          <p:nvPr/>
        </p:nvPicPr>
        <p:blipFill>
          <a:blip r:embed="rId5" cstate="print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886200"/>
            <a:ext cx="5143499" cy="15763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3104072" y="2642558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i="1" dirty="0" err="1">
                <a:solidFill>
                  <a:srgbClr val="C00000"/>
                </a:solidFill>
              </a:rPr>
              <a:t>Số</a:t>
            </a:r>
            <a:r>
              <a:rPr lang="en-US" altLang="en-US" b="1" i="1" dirty="0">
                <a:solidFill>
                  <a:srgbClr val="C00000"/>
                </a:solidFill>
              </a:rPr>
              <a:t> </a:t>
            </a:r>
            <a:r>
              <a:rPr lang="en-US" altLang="en-US" b="1" i="1" dirty="0" err="1">
                <a:solidFill>
                  <a:srgbClr val="C00000"/>
                </a:solidFill>
              </a:rPr>
              <a:t>mũ</a:t>
            </a:r>
            <a:r>
              <a:rPr lang="en-US" altLang="en-US" b="1" i="1" dirty="0">
                <a:solidFill>
                  <a:srgbClr val="C00000"/>
                </a:solidFill>
              </a:rPr>
              <a:t> i , j</a:t>
            </a:r>
            <a:r>
              <a:rPr lang="en-US" altLang="en-US" i="1" dirty="0">
                <a:solidFill>
                  <a:srgbClr val="C00000"/>
                </a:solidFill>
              </a:rPr>
              <a:t>: </a:t>
            </a:r>
            <a:r>
              <a:rPr lang="en-US" altLang="en-US" i="1" dirty="0" err="1">
                <a:solidFill>
                  <a:srgbClr val="C00000"/>
                </a:solidFill>
              </a:rPr>
              <a:t>hệ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số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tỉ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lượng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tương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ứng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trong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phương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trình</a:t>
            </a:r>
            <a:r>
              <a:rPr lang="en-US" altLang="en-US" i="1" dirty="0">
                <a:solidFill>
                  <a:srgbClr val="C00000"/>
                </a:solidFill>
              </a:rPr>
              <a:t> </a:t>
            </a:r>
            <a:r>
              <a:rPr lang="en-US" altLang="en-US" i="1" dirty="0" err="1">
                <a:solidFill>
                  <a:srgbClr val="C00000"/>
                </a:solidFill>
              </a:rPr>
              <a:t>pư</a:t>
            </a:r>
            <a:r>
              <a:rPr lang="en-US" altLang="en-US" i="1" dirty="0">
                <a:solidFill>
                  <a:srgbClr val="C00000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65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"/>
            <a:ext cx="9220200" cy="121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NHIỆT ĐỘ SÔI CỦA CHẤT LỎNG NGUYÊN CHẤT THEO ÁP SUẤT NGOÀI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912189" y="1143000"/>
                <a:ext cx="4359335" cy="8624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ln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3200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vi-VN" sz="32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3200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vi-VN" sz="32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/>
                          </a:rPr>
                        </m:ctrlPr>
                      </m:fPr>
                      <m:num>
                        <m:r>
                          <a:rPr lang="vi-VN" sz="3200" i="1">
                            <a:latin typeface="Cambria Math"/>
                          </a:rPr>
                          <m:t>∆</m:t>
                        </m:r>
                        <m:r>
                          <a:rPr lang="vi-VN" sz="3200" i="1">
                            <a:latin typeface="Cambria Math"/>
                          </a:rPr>
                          <m:t>𝐻</m:t>
                        </m:r>
                        <m:r>
                          <a:rPr lang="vi-VN" sz="3200" i="1">
                            <a:latin typeface="Cambria Math"/>
                          </a:rPr>
                          <m:t>(</m:t>
                        </m:r>
                        <m:r>
                          <a:rPr lang="vi-VN" sz="3200" i="1">
                            <a:latin typeface="Cambria Math"/>
                          </a:rPr>
                          <m:t>𝑏𝑎𝑦</m:t>
                        </m:r>
                        <m:r>
                          <a:rPr lang="vi-VN" sz="3200" i="1">
                            <a:latin typeface="Cambria Math"/>
                          </a:rPr>
                          <m:t> </m:t>
                        </m:r>
                        <m:r>
                          <a:rPr lang="vi-VN" sz="3200" i="1">
                            <a:latin typeface="Cambria Math"/>
                          </a:rPr>
                          <m:t>h</m:t>
                        </m:r>
                        <m:r>
                          <a:rPr lang="vi-VN" sz="3200" i="1">
                            <a:latin typeface="Cambria Math"/>
                          </a:rPr>
                          <m:t>ơ</m:t>
                        </m:r>
                        <m:r>
                          <a:rPr lang="vi-VN" sz="3200" i="1">
                            <a:latin typeface="Cambria Math"/>
                          </a:rPr>
                          <m:t>𝑖</m:t>
                        </m:r>
                        <m:r>
                          <a:rPr lang="vi-VN" sz="3200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vi-VN" sz="3200" i="1">
                            <a:latin typeface="Cambria Math"/>
                          </a:rPr>
                          <m:t>𝑅</m:t>
                        </m:r>
                      </m:den>
                    </m:f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/>
                          </a:rPr>
                        </m:ctrlPr>
                      </m:fPr>
                      <m:num>
                        <m:r>
                          <a:rPr lang="vi-VN" sz="3200" i="1">
                            <a:latin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3200" i="1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vi-VN" sz="32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/>
                          </a:rPr>
                        </m:ctrlPr>
                      </m:fPr>
                      <m:num>
                        <m:r>
                          <a:rPr lang="vi-VN" sz="3200" i="1">
                            <a:latin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3200" i="1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vi-VN" sz="32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)</a:t>
                </a:r>
                <a:endParaRPr lang="en-US" sz="32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2189" y="1143000"/>
                <a:ext cx="4359335" cy="862416"/>
              </a:xfrm>
              <a:prstGeom prst="rect">
                <a:avLst/>
              </a:prstGeom>
              <a:blipFill rotWithShape="1">
                <a:blip r:embed="rId2"/>
                <a:stretch>
                  <a:fillRect l="-3636" r="-2517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91860" y="2100590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sôi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chất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lỏng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ở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áp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suất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ngoài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P</a:t>
            </a:r>
            <a:r>
              <a:rPr lang="en-US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1860" y="2749125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sôi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chất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lỏng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ở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áp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suất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ngoài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" y="3352800"/>
            <a:ext cx="89916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Đối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với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nước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Khi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P = 1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atm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thì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sôi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nước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100</a:t>
            </a:r>
            <a:r>
              <a:rPr lang="en-US" sz="2800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C.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Khi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 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&lt;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atm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thì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sôi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nước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nhỏ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hơn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100</a:t>
            </a:r>
            <a:r>
              <a:rPr lang="en-US" sz="28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C. 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Khi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 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1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atm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thì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sôi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nước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hơn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100</a:t>
            </a:r>
            <a:r>
              <a:rPr lang="en-US" sz="2800" baseline="300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C. 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88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1"/>
            <a:ext cx="8915400" cy="2133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sz="2800" dirty="0" smtClean="0"/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Tính nhiệt độ sôi của nước tại đỉnh núi Phanxipăng có áp suất khí quyển bằng 0,7atm. Biết rằng nhiệt bay hơi của nước là 41,8 kJ/mol 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lvl="0" indent="0"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ĐS: </a:t>
            </a:r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90,38</a:t>
            </a:r>
            <a:r>
              <a:rPr lang="vi-VN" sz="2800" b="1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vi-VN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00200" y="2362200"/>
                <a:ext cx="4359335" cy="8624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ln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3200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vi-VN" sz="32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3200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vi-VN" sz="32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/>
                          </a:rPr>
                        </m:ctrlPr>
                      </m:fPr>
                      <m:num>
                        <m:r>
                          <a:rPr lang="vi-VN" sz="3200" i="1">
                            <a:latin typeface="Cambria Math"/>
                          </a:rPr>
                          <m:t>∆</m:t>
                        </m:r>
                        <m:r>
                          <a:rPr lang="vi-VN" sz="3200" i="1">
                            <a:latin typeface="Cambria Math"/>
                          </a:rPr>
                          <m:t>𝐻</m:t>
                        </m:r>
                        <m:r>
                          <a:rPr lang="vi-VN" sz="3200" i="1">
                            <a:latin typeface="Cambria Math"/>
                          </a:rPr>
                          <m:t>(</m:t>
                        </m:r>
                        <m:r>
                          <a:rPr lang="vi-VN" sz="3200" i="1">
                            <a:latin typeface="Cambria Math"/>
                          </a:rPr>
                          <m:t>𝑏𝑎𝑦</m:t>
                        </m:r>
                        <m:r>
                          <a:rPr lang="vi-VN" sz="3200" i="1">
                            <a:latin typeface="Cambria Math"/>
                          </a:rPr>
                          <m:t> </m:t>
                        </m:r>
                        <m:r>
                          <a:rPr lang="vi-VN" sz="3200" i="1">
                            <a:latin typeface="Cambria Math"/>
                          </a:rPr>
                          <m:t>h</m:t>
                        </m:r>
                        <m:r>
                          <a:rPr lang="vi-VN" sz="3200" i="1">
                            <a:latin typeface="Cambria Math"/>
                          </a:rPr>
                          <m:t>ơ</m:t>
                        </m:r>
                        <m:r>
                          <a:rPr lang="vi-VN" sz="3200" i="1">
                            <a:latin typeface="Cambria Math"/>
                          </a:rPr>
                          <m:t>𝑖</m:t>
                        </m:r>
                        <m:r>
                          <a:rPr lang="vi-VN" sz="3200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vi-VN" sz="3200" i="1">
                            <a:latin typeface="Cambria Math"/>
                          </a:rPr>
                          <m:t>𝑅</m:t>
                        </m:r>
                      </m:den>
                    </m:f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/>
                          </a:rPr>
                        </m:ctrlPr>
                      </m:fPr>
                      <m:num>
                        <m:r>
                          <a:rPr lang="vi-VN" sz="3200" i="1">
                            <a:latin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3200" i="1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vi-VN" sz="32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/>
                          </a:rPr>
                        </m:ctrlPr>
                      </m:fPr>
                      <m:num>
                        <m:r>
                          <a:rPr lang="vi-VN" sz="3200" i="1">
                            <a:latin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3200" i="1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vi-VN" sz="32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)</a:t>
                </a:r>
                <a:endParaRPr lang="en-US" sz="32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362200"/>
                <a:ext cx="4359335" cy="862416"/>
              </a:xfrm>
              <a:prstGeom prst="rect">
                <a:avLst/>
              </a:prstGeom>
              <a:blipFill rotWithShape="1">
                <a:blip r:embed="rId2"/>
                <a:stretch>
                  <a:fillRect l="-3636" r="-2517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676400" y="3433313"/>
                <a:ext cx="3840731" cy="8624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32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ln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0,7</m:t>
                        </m:r>
                      </m:den>
                    </m:f>
                  </m:oMath>
                </a14:m>
                <a:r>
                  <a:rPr lang="vi-VN" sz="32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41800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8,314</m:t>
                        </m:r>
                      </m:den>
                    </m:f>
                  </m:oMath>
                </a14:m>
                <a:r>
                  <a:rPr lang="vi-VN" sz="32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vi-VN" sz="32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32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32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vi-VN" sz="32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32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vi-VN" sz="32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373</m:t>
                        </m:r>
                      </m:den>
                    </m:f>
                  </m:oMath>
                </a14:m>
                <a:r>
                  <a:rPr lang="vi-VN" sz="32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)</a:t>
                </a:r>
                <a:endParaRPr lang="en-US" sz="3200" dirty="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433313"/>
                <a:ext cx="3840731" cy="862416"/>
              </a:xfrm>
              <a:prstGeom prst="rect">
                <a:avLst/>
              </a:prstGeom>
              <a:blipFill rotWithShape="1">
                <a:blip r:embed="rId3"/>
                <a:stretch>
                  <a:fillRect l="-3968" r="-3016" b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544667" y="4648200"/>
            <a:ext cx="5410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363,38 K = 90,38</a:t>
            </a:r>
            <a:r>
              <a:rPr lang="en-US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47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268295"/>
                <a:ext cx="5686219" cy="578600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b="1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</a:rPr>
                  <a:t>Định</a:t>
                </a:r>
                <a:r>
                  <a:rPr lang="en-US" sz="28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b="1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</a:rPr>
                  <a:t>luật</a:t>
                </a:r>
                <a:r>
                  <a:rPr lang="en-US" sz="28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b="1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</a:rPr>
                  <a:t>của</a:t>
                </a:r>
                <a:r>
                  <a:rPr lang="en-US" sz="28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b="1" dirty="0" err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</a:rPr>
                  <a:t>Raoult</a:t>
                </a:r>
                <a:r>
                  <a:rPr lang="en-US" sz="28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P</a:t>
                </a:r>
                <a:r>
                  <a:rPr lang="en-US" sz="2800" baseline="-25000" dirty="0" err="1" smtClean="0">
                    <a:latin typeface="Arial" pitchFamily="34" charset="0"/>
                    <a:cs typeface="Arial" pitchFamily="34" charset="0"/>
                  </a:rPr>
                  <a:t>ddpt</a:t>
                </a:r>
                <a:r>
                  <a:rPr lang="vi-VN" sz="2800" baseline="-25000" dirty="0" smtClean="0">
                    <a:latin typeface="Arial" pitchFamily="34" charset="0"/>
                    <a:cs typeface="Arial" pitchFamily="34" charset="0"/>
                  </a:rPr>
                  <a:t>ử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= P</a:t>
                </a:r>
                <a:r>
                  <a:rPr lang="en-US" sz="2800" baseline="-25000" dirty="0" smtClean="0"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.N</a:t>
                </a:r>
                <a:r>
                  <a:rPr lang="en-US" sz="2800" baseline="-25000" dirty="0" smtClean="0">
                    <a:latin typeface="Arial" pitchFamily="34" charset="0"/>
                    <a:cs typeface="Arial" pitchFamily="34" charset="0"/>
                  </a:rPr>
                  <a:t>dm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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P</a:t>
                </a:r>
                <a:r>
                  <a:rPr lang="en-US" sz="2800" baseline="-250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dd</a:t>
                </a:r>
                <a:r>
                  <a:rPr lang="vi-VN" sz="2800" baseline="-25000" dirty="0" smtClean="0">
                    <a:latin typeface="Arial" pitchFamily="34" charset="0"/>
                    <a:cs typeface="Arial" pitchFamily="34" charset="0"/>
                    <a:sym typeface="Symbol"/>
                  </a:rPr>
                  <a:t>ptử</a:t>
                </a:r>
                <a:r>
                  <a:rPr lang="vi-VN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  P</a:t>
                </a:r>
                <a:r>
                  <a:rPr lang="vi-VN" sz="2800" baseline="-25000" dirty="0" smtClean="0">
                    <a:latin typeface="Arial" pitchFamily="34" charset="0"/>
                    <a:cs typeface="Arial" pitchFamily="34" charset="0"/>
                    <a:sym typeface="Symbol"/>
                  </a:rPr>
                  <a:t>0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endParaRPr lang="en-US" sz="2800" dirty="0" smtClean="0">
                  <a:latin typeface="Arial" pitchFamily="34" charset="0"/>
                  <a:cs typeface="Arial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 smtClean="0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</m:num>
                      <m:den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 dirty="0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/>
                              </a:rPr>
                              <m:t>𝑑𝑑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2800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𝐢</m:t>
                        </m:r>
                        <m:r>
                          <a:rPr lang="en-US" sz="2800" b="0" i="1" dirty="0" smtClean="0">
                            <a:latin typeface="Cambria Math"/>
                          </a:rPr>
                          <m:t>.</m:t>
                        </m:r>
                        <m:r>
                          <a:rPr lang="en-US" sz="2800" b="0" i="1" dirty="0" smtClean="0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sz="2800" b="0" i="1" dirty="0" smtClean="0">
                            <a:latin typeface="Cambria Math"/>
                          </a:rPr>
                          <m:t>𝑐𝑡𝑎𝑛</m:t>
                        </m:r>
                      </m:sub>
                    </m:sSub>
                  </m:oMath>
                </a14:m>
                <a:endParaRPr lang="en-US" sz="2800" dirty="0" smtClean="0">
                  <a:latin typeface="Arial" pitchFamily="34" charset="0"/>
                  <a:cs typeface="Arial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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T</a:t>
                </a:r>
                <a:r>
                  <a:rPr lang="en-US" sz="2800" baseline="-250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sôi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 =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T</a:t>
                </a:r>
                <a:r>
                  <a:rPr lang="en-US" sz="2800" baseline="-250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sôi,dd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 –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T</a:t>
                </a:r>
                <a:r>
                  <a:rPr lang="en-US" sz="2800" baseline="-250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sôi,dm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 = </a:t>
                </a:r>
                <a:r>
                  <a:rPr lang="en-US" sz="2800" b="1" dirty="0" err="1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i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.C</a:t>
                </a:r>
                <a:r>
                  <a:rPr lang="en-US" sz="2800" baseline="-250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m</a:t>
                </a:r>
                <a:endParaRPr lang="en-US" sz="2800" baseline="-25000" dirty="0" smtClean="0">
                  <a:latin typeface="Arial" pitchFamily="34" charset="0"/>
                  <a:cs typeface="Arial" pitchFamily="34" charset="0"/>
                  <a:sym typeface="Symbol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>
                    <a:latin typeface="Arial" pitchFamily="34" charset="0"/>
                    <a:cs typeface="Arial" pitchFamily="34" charset="0"/>
                    <a:sym typeface="Symbol"/>
                  </a:rPr>
                  <a:t>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T</a:t>
                </a:r>
                <a:r>
                  <a:rPr lang="en-US" sz="2800" baseline="-250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đđ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800" dirty="0">
                    <a:latin typeface="Arial" pitchFamily="34" charset="0"/>
                    <a:cs typeface="Arial" pitchFamily="34" charset="0"/>
                    <a:sym typeface="Symbol"/>
                  </a:rPr>
                  <a:t>=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T</a:t>
                </a:r>
                <a:r>
                  <a:rPr lang="en-US" sz="2800" baseline="-250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đđ,dm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800" dirty="0">
                    <a:latin typeface="Arial" pitchFamily="34" charset="0"/>
                    <a:cs typeface="Arial" pitchFamily="34" charset="0"/>
                    <a:sym typeface="Symbol"/>
                  </a:rPr>
                  <a:t>–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T</a:t>
                </a:r>
                <a:r>
                  <a:rPr lang="en-US" sz="2800" baseline="-250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đđ,dd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800" dirty="0">
                    <a:latin typeface="Arial" pitchFamily="34" charset="0"/>
                    <a:cs typeface="Arial" pitchFamily="34" charset="0"/>
                    <a:sym typeface="Symbol"/>
                  </a:rPr>
                  <a:t>= </a:t>
                </a:r>
                <a:r>
                  <a:rPr lang="en-US" sz="2800" b="1" dirty="0" err="1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i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.C</a:t>
                </a:r>
                <a:r>
                  <a:rPr lang="en-US" sz="2800" baseline="-250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m</a:t>
                </a:r>
                <a:endParaRPr lang="vi-VN" sz="2800" dirty="0" smtClean="0">
                  <a:latin typeface="Arial" pitchFamily="34" charset="0"/>
                  <a:cs typeface="Arial" pitchFamily="34" charset="0"/>
                  <a:sym typeface="Symbol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vi-VN" sz="28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  <a:sym typeface="Symbol"/>
                  </a:rPr>
                  <a:t>Định luật Vant’Hoff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vi-VN" sz="28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Áp suất thẩm thấu của dung dịch: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vi-VN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   = </a:t>
                </a:r>
                <a:r>
                  <a:rPr lang="vi-VN" sz="2800" b="1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i</a:t>
                </a:r>
                <a:r>
                  <a:rPr lang="vi-VN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. C</a:t>
                </a:r>
                <a:r>
                  <a:rPr lang="vi-VN" sz="2800" baseline="-25000" dirty="0" smtClean="0">
                    <a:latin typeface="Arial" pitchFamily="34" charset="0"/>
                    <a:cs typeface="Arial" pitchFamily="34" charset="0"/>
                    <a:sym typeface="Symbol"/>
                  </a:rPr>
                  <a:t>M</a:t>
                </a:r>
                <a:r>
                  <a:rPr lang="vi-VN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.R.T</a:t>
                </a:r>
                <a:endParaRPr lang="en-US" sz="7000" dirty="0">
                  <a:latin typeface="Arial" pitchFamily="34" charset="0"/>
                  <a:cs typeface="Arial" pitchFamily="34" charset="0"/>
                  <a:sym typeface="Symbol"/>
                </a:endParaRPr>
              </a:p>
              <a:p>
                <a:pPr marL="0" indent="0">
                  <a:buNone/>
                </a:pPr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268295"/>
                <a:ext cx="5686219" cy="5786003"/>
              </a:xfrm>
              <a:blipFill rotWithShape="1">
                <a:blip r:embed="rId2"/>
                <a:stretch>
                  <a:fillRect l="-2251" t="-527" r="-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953000" y="1447800"/>
            <a:ext cx="4343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Hệ số đẳng trương:</a:t>
            </a:r>
            <a:r>
              <a:rPr lang="vi-VN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vi-VN" sz="2400" dirty="0" smtClean="0">
                <a:latin typeface="Arial" pitchFamily="34" charset="0"/>
                <a:cs typeface="Arial" pitchFamily="34" charset="0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vi-VN" sz="2400" dirty="0" smtClean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Dung dịch lỏng phân tử: </a:t>
            </a:r>
            <a:r>
              <a:rPr lang="vi-VN" sz="2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vi-VN" sz="2400" dirty="0" smtClean="0">
                <a:latin typeface="Arial" pitchFamily="34" charset="0"/>
                <a:cs typeface="Arial" pitchFamily="34" charset="0"/>
              </a:rPr>
              <a:t> =1 </a:t>
            </a:r>
          </a:p>
          <a:p>
            <a:pPr>
              <a:lnSpc>
                <a:spcPct val="150000"/>
              </a:lnSpc>
            </a:pPr>
            <a:r>
              <a:rPr lang="vi-VN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Dung dịch điện ly: </a:t>
            </a:r>
            <a:r>
              <a:rPr lang="vi-VN" sz="2400" dirty="0" smtClean="0">
                <a:latin typeface="Arial" pitchFamily="34" charset="0"/>
                <a:cs typeface="Arial" pitchFamily="34" charset="0"/>
              </a:rPr>
              <a:t>1&lt; </a:t>
            </a:r>
            <a:r>
              <a:rPr lang="vi-VN" sz="2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vi-VN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400" dirty="0" smtClean="0">
                <a:latin typeface="Arial" pitchFamily="34" charset="0"/>
                <a:cs typeface="Arial" pitchFamily="34" charset="0"/>
                <a:sym typeface="Symbol"/>
              </a:rPr>
              <a:t></a:t>
            </a:r>
            <a:r>
              <a:rPr lang="vi-VN" sz="2400" dirty="0" smtClean="0">
                <a:latin typeface="Arial" pitchFamily="34" charset="0"/>
                <a:cs typeface="Arial" pitchFamily="34" charset="0"/>
              </a:rPr>
              <a:t> m </a:t>
            </a:r>
          </a:p>
          <a:p>
            <a:pPr>
              <a:lnSpc>
                <a:spcPct val="150000"/>
              </a:lnSpc>
            </a:pPr>
            <a:r>
              <a:rPr lang="vi-VN" sz="2400" dirty="0" smtClean="0">
                <a:latin typeface="Arial" pitchFamily="34" charset="0"/>
                <a:cs typeface="Arial" pitchFamily="34" charset="0"/>
              </a:rPr>
              <a:t>                    (</a:t>
            </a:r>
            <a:r>
              <a:rPr lang="vi-VN" sz="2400" dirty="0" smtClean="0">
                <a:latin typeface="Arial" pitchFamily="34" charset="0"/>
                <a:cs typeface="Arial" pitchFamily="34" charset="0"/>
                <a:sym typeface="Symbol"/>
              </a:rPr>
              <a:t> = 1 thì </a:t>
            </a:r>
            <a:r>
              <a:rPr lang="vi-VN" sz="24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400" dirty="0" smtClean="0">
                <a:latin typeface="Arial" pitchFamily="34" charset="0"/>
                <a:cs typeface="Arial" pitchFamily="34" charset="0"/>
              </a:rPr>
              <a:t>= m)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477000" y="3768384"/>
                <a:ext cx="2527094" cy="80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>
                    <a:solidFill>
                      <a:srgbClr val="008000"/>
                    </a:solidFill>
                    <a:sym typeface="Symbol"/>
                  </a:rPr>
                  <a:t></a:t>
                </a:r>
                <a:r>
                  <a:rPr lang="vi-VN" sz="3200" baseline="-25000" dirty="0" smtClean="0">
                    <a:solidFill>
                      <a:srgbClr val="008000"/>
                    </a:solidFill>
                    <a:sym typeface="Symbol"/>
                  </a:rPr>
                  <a:t>bk</a:t>
                </a:r>
                <a:r>
                  <a:rPr lang="vi-VN" sz="3200" dirty="0" smtClean="0">
                    <a:solidFill>
                      <a:srgbClr val="008000"/>
                    </a:solidFill>
                    <a:sym typeface="Symbol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200" i="1" smtClean="0">
                            <a:solidFill>
                              <a:srgbClr val="008000"/>
                            </a:solidFill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vi-VN" sz="3200" b="0" i="1" smtClean="0">
                            <a:solidFill>
                              <a:srgbClr val="008000"/>
                            </a:solidFill>
                            <a:latin typeface="Cambria Math"/>
                            <a:sym typeface="Symbol"/>
                          </a:rPr>
                          <m:t>𝑖</m:t>
                        </m:r>
                        <m:r>
                          <a:rPr lang="vi-VN" sz="3200" b="0" i="1" smtClean="0">
                            <a:solidFill>
                              <a:srgbClr val="008000"/>
                            </a:solidFill>
                            <a:latin typeface="Cambria Math"/>
                            <a:sym typeface="Symbol"/>
                          </a:rPr>
                          <m:t> −1</m:t>
                        </m:r>
                      </m:num>
                      <m:den>
                        <m:r>
                          <a:rPr lang="vi-VN" sz="3200" b="0" i="1" smtClean="0">
                            <a:solidFill>
                              <a:srgbClr val="008000"/>
                            </a:solidFill>
                            <a:latin typeface="Cambria Math"/>
                            <a:sym typeface="Symbol"/>
                          </a:rPr>
                          <m:t>𝑚</m:t>
                        </m:r>
                        <m:r>
                          <a:rPr lang="vi-VN" sz="3200" b="0" i="1" smtClean="0">
                            <a:solidFill>
                              <a:srgbClr val="008000"/>
                            </a:solidFill>
                            <a:latin typeface="Cambria Math"/>
                            <a:sym typeface="Symbol"/>
                          </a:rPr>
                          <m:t> −1</m:t>
                        </m:r>
                      </m:den>
                    </m:f>
                  </m:oMath>
                </a14:m>
                <a:endParaRPr lang="en-US" sz="3200" dirty="0">
                  <a:solidFill>
                    <a:srgbClr val="008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768384"/>
                <a:ext cx="2527094" cy="808811"/>
              </a:xfrm>
              <a:prstGeom prst="rect">
                <a:avLst/>
              </a:prstGeom>
              <a:blipFill rotWithShape="1">
                <a:blip r:embed="rId3"/>
                <a:stretch>
                  <a:fillRect l="-6280" b="-9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53720" y="5486400"/>
            <a:ext cx="90276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Các đl  Raoult và Vant’Hoff chỉ nghiệm đúng cho dd lỏng </a:t>
            </a:r>
            <a:r>
              <a:rPr lang="vi-VN" sz="2400" u="sng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loãng</a:t>
            </a:r>
            <a:r>
              <a:rPr lang="vi-VN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u="sng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chất tan không bay hơi</a:t>
            </a:r>
            <a:r>
              <a:rPr lang="vi-VN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4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516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915400" cy="2667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Dung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dịch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H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SO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4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98% (tan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nước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khối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riêng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1,83g/ml.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Hãy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nồng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mol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/l ,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nồng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molan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nồng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phần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mol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H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SO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4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dung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dịch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này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ĐS: C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=  18,3 M ; C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 500 m 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;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H2SO4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 0,9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7521" y="2997425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98 g  H</a:t>
            </a:r>
            <a:r>
              <a:rPr lang="en-US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SO</a:t>
            </a:r>
            <a:r>
              <a:rPr lang="en-US" sz="2800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4</a:t>
            </a:r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04382" y="2997425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29796" y="3013132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100 g 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dd</a:t>
            </a:r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4394" y="2751202"/>
            <a:ext cx="24312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M</a:t>
            </a:r>
            <a:r>
              <a:rPr lang="en-US" sz="2000" baseline="-25000" dirty="0" smtClean="0">
                <a:latin typeface="Arial" pitchFamily="34" charset="0"/>
                <a:cs typeface="Arial" pitchFamily="34" charset="0"/>
              </a:rPr>
              <a:t>H2SO4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= 98 g/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mol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   M</a:t>
            </a:r>
            <a:r>
              <a:rPr lang="en-US" sz="2000" baseline="-25000" dirty="0" smtClean="0">
                <a:latin typeface="Arial" pitchFamily="34" charset="0"/>
                <a:cs typeface="Arial" pitchFamily="34" charset="0"/>
              </a:rPr>
              <a:t>H2O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=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18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g/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mol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59988" y="4813771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1000 g  H</a:t>
            </a:r>
            <a:r>
              <a:rPr lang="en-US" sz="28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O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13981" y="3540723"/>
            <a:ext cx="3521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1830 g 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(1 lit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0102" y="2906759"/>
                <a:ext cx="1219200" cy="7045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008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98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98</m:t>
                        </m:r>
                      </m:den>
                    </m:f>
                  </m:oMath>
                </a14:m>
                <a:r>
                  <a:rPr lang="en-US" sz="2800" dirty="0" smtClean="0">
                    <a:solidFill>
                      <a:srgbClr val="008000"/>
                    </a:solidFill>
                  </a:rPr>
                  <a:t> mol</a:t>
                </a:r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02" y="2906759"/>
                <a:ext cx="1219200" cy="704552"/>
              </a:xfrm>
              <a:prstGeom prst="rect">
                <a:avLst/>
              </a:prstGeom>
              <a:blipFill rotWithShape="1">
                <a:blip r:embed="rId2"/>
                <a:stretch>
                  <a:fillRect r="-1000" b="-1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700069" y="353635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</a:t>
            </a:r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0102" y="3611311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= 18,3 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6610" y="4206931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98 g  H</a:t>
            </a:r>
            <a:r>
              <a:rPr lang="en-US" sz="28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SO</a:t>
            </a:r>
            <a:r>
              <a:rPr lang="en-US" sz="28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4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04382" y="4134531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55598" y="4134531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g  H</a:t>
            </a:r>
            <a:r>
              <a:rPr lang="en-US" sz="28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O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04382" y="470678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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4287" y="4813771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en-US" sz="28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= 500 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24287" y="4128896"/>
                <a:ext cx="1219200" cy="7045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  <m:t>98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  <m:t>98</m:t>
                        </m:r>
                      </m:den>
                    </m:f>
                  </m:oMath>
                </a14:m>
                <a:r>
                  <a:rPr lang="en-US" sz="2800" dirty="0" smtClean="0">
                    <a:solidFill>
                      <a:srgbClr val="CC00FF"/>
                    </a:solidFill>
                  </a:rPr>
                  <a:t> mol</a:t>
                </a:r>
                <a:endParaRPr lang="en-US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7" y="4128896"/>
                <a:ext cx="1219200" cy="704552"/>
              </a:xfrm>
              <a:prstGeom prst="rect">
                <a:avLst/>
              </a:prstGeom>
              <a:blipFill rotWithShape="1">
                <a:blip r:embed="rId3"/>
                <a:stretch>
                  <a:fillRect r="-500" b="-1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32118" y="5422836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98 g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SO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05101" y="545070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14469" y="5454957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g  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0" y="5360036"/>
                <a:ext cx="1219200" cy="7045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98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98</m:t>
                        </m:r>
                      </m:den>
                    </m:f>
                  </m:oMath>
                </a14:m>
                <a:r>
                  <a:rPr lang="en-US" sz="2800" dirty="0" smtClean="0">
                    <a:solidFill>
                      <a:srgbClr val="0000FF"/>
                    </a:solidFill>
                  </a:rPr>
                  <a:t> mol</a:t>
                </a:r>
                <a:endParaRPr lang="en-US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60036"/>
                <a:ext cx="1219200" cy="704552"/>
              </a:xfrm>
              <a:prstGeom prst="rect">
                <a:avLst/>
              </a:prstGeom>
              <a:blipFill rotWithShape="1">
                <a:blip r:embed="rId4"/>
                <a:stretch>
                  <a:fillRect r="-500" b="-1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175960" y="5408646"/>
                <a:ext cx="1219200" cy="7045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18</m:t>
                        </m:r>
                      </m:den>
                    </m:f>
                  </m:oMath>
                </a14:m>
                <a:r>
                  <a:rPr lang="en-US" sz="2800" dirty="0" smtClean="0">
                    <a:solidFill>
                      <a:srgbClr val="0000FF"/>
                    </a:solidFill>
                  </a:rPr>
                  <a:t> mol</a:t>
                </a:r>
                <a:endParaRPr 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960" y="5408646"/>
                <a:ext cx="1219200" cy="704552"/>
              </a:xfrm>
              <a:prstGeom prst="rect">
                <a:avLst/>
              </a:prstGeom>
              <a:blipFill rotWithShape="1">
                <a:blip r:embed="rId5"/>
                <a:stretch>
                  <a:fillRect r="-1000" b="-1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411638" y="5214522"/>
                <a:ext cx="3581400" cy="896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𝐍</m:t>
                        </m:r>
                      </m:e>
                      <m:sub>
                        <m:sSub>
                          <m:sSubPr>
                            <m:ctrlP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1" i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𝐇</m:t>
                            </m:r>
                          </m:e>
                          <m:sub>
                            <m:r>
                              <a:rPr lang="en-US" sz="2800" b="1" i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𝐒</m:t>
                        </m:r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1" i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𝐎</m:t>
                            </m:r>
                          </m:e>
                          <m:sub>
                            <m:r>
                              <a:rPr lang="en-US" sz="2800" b="1" i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𝟒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b="1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f>
                          <m:fPr>
                            <m:ctrlP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num>
                          <m:den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𝟏𝟖</m:t>
                            </m:r>
                          </m:den>
                        </m:f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+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sz="2800" b="1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 = 0,9</a:t>
                </a:r>
                <a:endParaRPr lang="en-US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638" y="5214522"/>
                <a:ext cx="3581400" cy="89646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515155" y="6099429"/>
                <a:ext cx="24369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accent6">
                        <a:lumMod val="5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baseline="-2500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1" i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𝐇</m:t>
                            </m:r>
                          </m:e>
                          <m:sub>
                            <m:r>
                              <a:rPr lang="en-US" sz="2400" b="1" i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𝐎</m:t>
                        </m:r>
                      </m:e>
                      <m:sub/>
                    </m:sSub>
                  </m:oMath>
                </a14:m>
                <a:r>
                  <a:rPr lang="en-US" sz="2400" b="1" baseline="-25000" dirty="0" smtClean="0">
                    <a:solidFill>
                      <a:schemeClr val="accent6">
                        <a:lumMod val="5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b="1" dirty="0" smtClean="0">
                    <a:solidFill>
                      <a:schemeClr val="accent6">
                        <a:lumMod val="5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 = 0,1</a:t>
                </a:r>
                <a:r>
                  <a:rPr lang="en-US" sz="2400" b="1" baseline="-25000" dirty="0" smtClean="0">
                    <a:solidFill>
                      <a:schemeClr val="accent6">
                        <a:lumMod val="5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endParaRPr lang="en-US" sz="2400" b="1" baseline="-25000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155" y="6099429"/>
                <a:ext cx="2436962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4010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3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9" grpId="0" animBg="1"/>
      <p:bldP spid="20" grpId="0"/>
      <p:bldP spid="21" grpId="0"/>
      <p:bldP spid="22" grpId="0"/>
      <p:bldP spid="23" grpId="0" animBg="1"/>
      <p:bldP spid="24" grpId="0" animBg="1"/>
      <p:bldP spid="25" grpId="0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FBA8EFF-7F0B-4EC9-A855-A28ABAB36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29" y="148442"/>
            <a:ext cx="9097861" cy="27431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sz="2800" dirty="0" smtClean="0">
                <a:latin typeface="Arial" pitchFamily="34" charset="0"/>
                <a:cs typeface="Arial" pitchFamily="34" charset="0"/>
              </a:rPr>
              <a:t>Cho 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d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saccarose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(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M = 342g/mol)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tan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nước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nồng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 1,22 mol/lit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,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khối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riêng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d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1,12 g/ml.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Cho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áp suất hơi bão hòa của nước ở 25</a:t>
            </a:r>
            <a:r>
              <a:rPr lang="vi-VN" sz="28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C là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23,76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mmHg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,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k</a:t>
            </a:r>
            <a:r>
              <a:rPr lang="vi-VN" sz="2800" baseline="-25000" dirty="0">
                <a:latin typeface="Arial" pitchFamily="34" charset="0"/>
                <a:cs typeface="Arial" pitchFamily="34" charset="0"/>
              </a:rPr>
              <a:t>s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= 0,52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độ/molan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k</a:t>
            </a:r>
            <a:r>
              <a:rPr lang="vi-VN" sz="2800" baseline="-25000" dirty="0">
                <a:latin typeface="Arial" pitchFamily="34" charset="0"/>
                <a:cs typeface="Arial" pitchFamily="34" charset="0"/>
              </a:rPr>
              <a:t>đ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= 1,86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độ/molan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  <a:endParaRPr lang="vi-VN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vi-VN" sz="3000" dirty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-12940" y="2891641"/>
            <a:ext cx="91238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1.</a:t>
            </a:r>
            <a:r>
              <a:rPr lang="en-US" sz="28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Á</a:t>
            </a:r>
            <a:r>
              <a:rPr lang="vi-VN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p 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suất hơi bão hòa của dd ở </a:t>
            </a:r>
            <a:r>
              <a:rPr lang="vi-VN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25</a:t>
            </a:r>
            <a:r>
              <a:rPr lang="vi-VN" sz="2800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vi-VN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 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là </a:t>
            </a:r>
            <a:r>
              <a:rPr lang="vi-VN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23,04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mmHg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endParaRPr lang="en-US" sz="2800" dirty="0">
              <a:solidFill>
                <a:srgbClr val="CC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441" y="3657600"/>
            <a:ext cx="8763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2. N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hiệt 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độ 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ịch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bắt đầu sôi là 100,9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C.  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-12940" y="4572000"/>
            <a:ext cx="876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3. Nhiệt độ dd bắt đầu đông đặc là -</a:t>
            </a:r>
            <a:r>
              <a:rPr lang="vi-VN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3,2</a:t>
            </a:r>
            <a:r>
              <a:rPr lang="vi-VN" sz="2800" baseline="300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vi-VN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-12940" y="5352871"/>
            <a:ext cx="944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4. Áp suất thẩm thấu của dd ở 30</a:t>
            </a:r>
            <a:r>
              <a:rPr lang="vi-VN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 là 30,3 atm.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03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977" y="152400"/>
            <a:ext cx="8763000" cy="2438400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Cần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pha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bao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nhiêu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gam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đường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saccarose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500ml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nước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để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sôi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với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dung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dịch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90 gam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đường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gluco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500 ml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nước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 Cho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biết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 err="1" smtClean="0">
                <a:latin typeface="Arial" pitchFamily="34" charset="0"/>
                <a:cs typeface="Arial" pitchFamily="34" charset="0"/>
              </a:rPr>
              <a:t>gluco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= 180 g/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mol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;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 err="1" smtClean="0">
                <a:latin typeface="Arial" pitchFamily="34" charset="0"/>
                <a:cs typeface="Arial" pitchFamily="34" charset="0"/>
              </a:rPr>
              <a:t>saccarose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= 342 g/mol. </a:t>
            </a:r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ĐS: 171 gam </a:t>
            </a:r>
            <a:r>
              <a:rPr lang="en-US" sz="28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saccarose</a:t>
            </a:r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/500ml </a:t>
            </a:r>
            <a:r>
              <a:rPr lang="en-US" sz="28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nước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6200" y="2438400"/>
                <a:ext cx="9067800" cy="3941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Đối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với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dd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lỏng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loãng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u="sng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phân</a:t>
                </a:r>
                <a:r>
                  <a:rPr lang="en-US" sz="2400" u="sng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u="sng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tử</a:t>
                </a:r>
                <a:r>
                  <a:rPr lang="en-US" sz="2400" u="sng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u="sng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chất</a:t>
                </a:r>
                <a:r>
                  <a:rPr lang="en-US" sz="2400" u="sng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tan </a:t>
                </a:r>
                <a:r>
                  <a:rPr lang="en-US" sz="2400" u="sng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không</a:t>
                </a:r>
                <a:r>
                  <a:rPr lang="en-US" sz="2400" u="sng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bay </a:t>
                </a:r>
                <a:r>
                  <a:rPr lang="en-US" sz="2400" u="sng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hơi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nhiệt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độ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sôi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của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dd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không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phụ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thuộc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vào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bản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chất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chất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tan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mà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phụ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thuộc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vào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nồng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độ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chất</a:t>
                </a:r>
                <a:r>
                  <a:rPr lang="en-US" sz="24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tan. </a:t>
                </a:r>
              </a:p>
              <a:p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Để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2 dung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dịch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có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nhiệt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độ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sôi</a:t>
                </a:r>
                <a:r>
                  <a:rPr lang="en-US" sz="2400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bằng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nhau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thì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chúng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phải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có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cùng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nồng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độ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molan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r>
                  <a:rPr lang="en-US" sz="24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Nồng </a:t>
                </a:r>
                <a:r>
                  <a:rPr lang="en-US" sz="2400" dirty="0" err="1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độ</a:t>
                </a:r>
                <a:r>
                  <a:rPr lang="en-US" sz="24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molan</a:t>
                </a:r>
                <a:r>
                  <a:rPr lang="en-US" sz="24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dd</a:t>
                </a:r>
                <a:r>
                  <a:rPr lang="en-US" sz="24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gluco</a:t>
                </a:r>
                <a:r>
                  <a:rPr lang="en-US" sz="24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: C</a:t>
                </a:r>
                <a:r>
                  <a:rPr lang="en-US" sz="2400" baseline="-250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m</a:t>
                </a:r>
                <a:r>
                  <a:rPr lang="en-US" sz="24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90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180</m:t>
                        </m:r>
                      </m:den>
                    </m:f>
                  </m:oMath>
                </a14:m>
                <a:r>
                  <a:rPr lang="en-US" sz="24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1000</m:t>
                        </m:r>
                      </m:num>
                      <m:den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500</m:t>
                        </m:r>
                      </m:den>
                    </m:f>
                  </m:oMath>
                </a14:m>
                <a:r>
                  <a:rPr lang="en-US" sz="24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= 1m</a:t>
                </a:r>
              </a:p>
              <a:p>
                <a:r>
                  <a:rPr lang="en-US" sz="24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Khối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lượng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đường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saccarose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pha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trong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500 ml </a:t>
                </a:r>
                <a:r>
                  <a:rPr lang="en-US" sz="24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nước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để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dd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có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nồng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độ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1m: </a:t>
                </a:r>
              </a:p>
              <a:p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1mol </a:t>
                </a:r>
                <a:r>
                  <a:rPr lang="en-US" sz="2400" dirty="0" err="1" smtClean="0">
                    <a:latin typeface="Arial" pitchFamily="34" charset="0"/>
                    <a:cs typeface="Arial" pitchFamily="34" charset="0"/>
                  </a:rPr>
                  <a:t>saccarose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  342 gam  1000 g </a:t>
                </a:r>
                <a:r>
                  <a:rPr lang="en-US" sz="24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nước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 (C</a:t>
                </a:r>
                <a:r>
                  <a:rPr lang="en-US" sz="2400" baseline="-25000" dirty="0" smtClean="0">
                    <a:latin typeface="Arial" pitchFamily="34" charset="0"/>
                    <a:cs typeface="Arial" pitchFamily="34" charset="0"/>
                    <a:sym typeface="Symbol"/>
                  </a:rPr>
                  <a:t>m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 = 1m)</a:t>
                </a:r>
              </a:p>
              <a:p>
                <a:r>
                  <a:rPr lang="en-US" sz="2400" dirty="0"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                      </a:t>
                </a:r>
                <a:r>
                  <a:rPr lang="en-US" sz="2400" b="1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m = 171 gam  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  500 gam </a:t>
                </a:r>
                <a:r>
                  <a:rPr lang="en-US" sz="24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nước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endParaRPr lang="en-US" sz="24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2438400"/>
                <a:ext cx="9067800" cy="3941144"/>
              </a:xfrm>
              <a:prstGeom prst="rect">
                <a:avLst/>
              </a:prstGeom>
              <a:blipFill rotWithShape="1">
                <a:blip r:embed="rId2"/>
                <a:stretch>
                  <a:fillRect l="-1076" t="-1082" b="-2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694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C5A701-5501-4193-B96D-3BADD1A1D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0"/>
            <a:ext cx="8686800" cy="4574096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3300" dirty="0" err="1" smtClean="0">
                <a:latin typeface="Arial" pitchFamily="34" charset="0"/>
                <a:cs typeface="Arial" pitchFamily="34" charset="0"/>
              </a:rPr>
              <a:t>Xác</a:t>
            </a:r>
            <a:r>
              <a:rPr lang="en-US" sz="33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định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độ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điện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ly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biểu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kiến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HIO</a:t>
            </a:r>
            <a:r>
              <a:rPr lang="en-US" sz="3300" baseline="-25000" dirty="0">
                <a:latin typeface="Arial" pitchFamily="34" charset="0"/>
                <a:cs typeface="Arial" pitchFamily="34" charset="0"/>
              </a:rPr>
              <a:t>3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dung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dịch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chứa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0.506g HIO</a:t>
            </a:r>
            <a:r>
              <a:rPr lang="en-US" sz="3300" baseline="-25000" dirty="0">
                <a:latin typeface="Arial" pitchFamily="34" charset="0"/>
                <a:cs typeface="Arial" pitchFamily="34" charset="0"/>
              </a:rPr>
              <a:t>3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22.48g C</a:t>
            </a:r>
            <a:r>
              <a:rPr lang="en-US" sz="33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H</a:t>
            </a:r>
            <a:r>
              <a:rPr lang="en-US" sz="3300" baseline="-25000" dirty="0">
                <a:latin typeface="Arial" pitchFamily="34" charset="0"/>
                <a:cs typeface="Arial" pitchFamily="34" charset="0"/>
              </a:rPr>
              <a:t>5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OH. Dung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dịch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này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bắt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đầu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sôi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ở 351.624K. Cho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biết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C</a:t>
            </a:r>
            <a:r>
              <a:rPr lang="en-US" sz="33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H</a:t>
            </a:r>
            <a:r>
              <a:rPr lang="en-US" sz="3300" baseline="-25000" dirty="0">
                <a:latin typeface="Arial" pitchFamily="34" charset="0"/>
                <a:cs typeface="Arial" pitchFamily="34" charset="0"/>
              </a:rPr>
              <a:t>5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OH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sôi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ở 351.460K;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hằng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nghiệm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sôi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k</a:t>
            </a:r>
            <a:r>
              <a:rPr lang="en-US" sz="3300" baseline="-25000" dirty="0" err="1">
                <a:latin typeface="Arial" pitchFamily="34" charset="0"/>
                <a:cs typeface="Arial" pitchFamily="34" charset="0"/>
              </a:rPr>
              <a:t>s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(C</a:t>
            </a:r>
            <a:r>
              <a:rPr lang="en-US" sz="33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H</a:t>
            </a:r>
            <a:r>
              <a:rPr lang="en-US" sz="3300" baseline="-25000" dirty="0">
                <a:latin typeface="Arial" pitchFamily="34" charset="0"/>
                <a:cs typeface="Arial" pitchFamily="34" charset="0"/>
              </a:rPr>
              <a:t>5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OH) = 1.19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độ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/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molan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3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M</a:t>
            </a:r>
            <a:r>
              <a:rPr lang="en-US" sz="3300" baseline="-25000" dirty="0">
                <a:latin typeface="Arial" pitchFamily="34" charset="0"/>
                <a:cs typeface="Arial" pitchFamily="34" charset="0"/>
              </a:rPr>
              <a:t>HIO3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 = 176.0 g/mol</a:t>
            </a:r>
            <a:r>
              <a:rPr lang="en-US" sz="3300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n-US" sz="33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ĐS: 7,8%</a:t>
            </a:r>
            <a:endParaRPr lang="en-US" sz="33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lv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28600" y="3657600"/>
                <a:ext cx="8839200" cy="2801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  <a:sym typeface="Symbol"/>
                          </a:rPr>
                          <m:t>0,506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  <a:sym typeface="Symbol"/>
                          </a:rPr>
                          <m:t>176</m:t>
                        </m:r>
                      </m:den>
                    </m:f>
                  </m:oMath>
                </a14:m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mol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 HIO</a:t>
                </a:r>
                <a:r>
                  <a:rPr lang="en-US" sz="2400" baseline="-25000" dirty="0" smtClean="0">
                    <a:latin typeface="Arial" pitchFamily="34" charset="0"/>
                    <a:cs typeface="Arial" pitchFamily="34" charset="0"/>
                    <a:sym typeface="Symbol"/>
                  </a:rPr>
                  <a:t>3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              22,48 g C</a:t>
                </a:r>
                <a:r>
                  <a:rPr lang="en-US" sz="2400" baseline="-25000" dirty="0" smtClean="0">
                    <a:latin typeface="Arial" pitchFamily="34" charset="0"/>
                    <a:cs typeface="Arial" pitchFamily="34" charset="0"/>
                    <a:sym typeface="Symbol"/>
                  </a:rPr>
                  <a:t>2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H</a:t>
                </a:r>
                <a:r>
                  <a:rPr lang="en-US" sz="2400" baseline="-25000" dirty="0" smtClean="0">
                    <a:latin typeface="Arial" pitchFamily="34" charset="0"/>
                    <a:cs typeface="Arial" pitchFamily="34" charset="0"/>
                    <a:sym typeface="Symbol"/>
                  </a:rPr>
                  <a:t>5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OH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</a:t>
                </a:r>
                <a:r>
                  <a:rPr lang="en-US" sz="2400" b="1" baseline="-250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m</a:t>
                </a:r>
                <a:r>
                  <a:rPr lang="en-US" sz="2400" b="1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=  0,1279 m     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  1000 g C</a:t>
                </a:r>
                <a:r>
                  <a:rPr lang="en-US" sz="2400" baseline="-25000" dirty="0" smtClean="0">
                    <a:latin typeface="Arial" pitchFamily="34" charset="0"/>
                    <a:cs typeface="Arial" pitchFamily="34" charset="0"/>
                    <a:sym typeface="Symbol"/>
                  </a:rPr>
                  <a:t>2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H</a:t>
                </a:r>
                <a:r>
                  <a:rPr lang="en-US" sz="2400" baseline="-25000" dirty="0" smtClean="0">
                    <a:latin typeface="Arial" pitchFamily="34" charset="0"/>
                    <a:cs typeface="Arial" pitchFamily="34" charset="0"/>
                    <a:sym typeface="Symbol"/>
                  </a:rPr>
                  <a:t>5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OH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</a:t>
                </a:r>
                <a:r>
                  <a:rPr lang="en-US" sz="24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T</a:t>
                </a:r>
                <a:r>
                  <a:rPr lang="en-US" sz="2400" baseline="-250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s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 = 351.624 – 351,460 = 0,164 = </a:t>
                </a:r>
                <a:r>
                  <a:rPr lang="en-US" sz="2400" b="1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i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.1,19.0,1279  </a:t>
                </a:r>
                <a:r>
                  <a:rPr lang="en-US" sz="2400" b="1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i = 1,0775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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  <a:sym typeface="Symbol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  <a:sym typeface="Symbol"/>
                          </a:rPr>
                          <m:t> −1 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  <a:sym typeface="Symbol"/>
                          </a:rPr>
                          <m:t>𝑚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  <a:sym typeface="Symbol"/>
                          </a:rPr>
                          <m:t> −1</m:t>
                        </m:r>
                      </m:den>
                    </m:f>
                  </m:oMath>
                </a14:m>
                <a:r>
                  <a:rPr lang="en-US" sz="24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1,0775 −1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2 −1 </m:t>
                        </m:r>
                      </m:den>
                    </m:f>
                  </m:oMath>
                </a14:m>
                <a:r>
                  <a:rPr lang="en-US" sz="24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 = 0,078 = </a:t>
                </a:r>
                <a:r>
                  <a:rPr lang="en-US" sz="2400" b="1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7,8%</a:t>
                </a:r>
                <a:endParaRPr lang="en-US" sz="2400" b="1" dirty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657600"/>
                <a:ext cx="8839200" cy="2801151"/>
              </a:xfrm>
              <a:prstGeom prst="rect">
                <a:avLst/>
              </a:prstGeom>
              <a:blipFill rotWithShape="1">
                <a:blip r:embed="rId2"/>
                <a:stretch>
                  <a:fillRect l="-1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961" y="228600"/>
            <a:ext cx="9067800" cy="114300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Xác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định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điện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ly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,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hằng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số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điện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ly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K</a:t>
            </a:r>
            <a:r>
              <a:rPr lang="en-US" sz="2800" baseline="-25000" dirty="0" err="1" smtClean="0">
                <a:latin typeface="Arial" pitchFamily="34" charset="0"/>
                <a:cs typeface="Arial" pitchFamily="34" charset="0"/>
                <a:sym typeface="Symbol"/>
              </a:rPr>
              <a:t>a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HA 0,1M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pH = 3 ở 25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0" y="1463731"/>
            <a:ext cx="495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</a:rPr>
              <a:t>HA(</a:t>
            </a:r>
            <a:r>
              <a:rPr lang="en-US" sz="2800" dirty="0" err="1" smtClean="0">
                <a:solidFill>
                  <a:srgbClr val="0000FF"/>
                </a:solidFill>
              </a:rPr>
              <a:t>dd</a:t>
            </a:r>
            <a:r>
              <a:rPr lang="en-US" sz="2800" dirty="0" smtClean="0">
                <a:solidFill>
                  <a:srgbClr val="0000FF"/>
                </a:solidFill>
              </a:rPr>
              <a:t>) 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⇌  H</a:t>
            </a:r>
            <a:r>
              <a:rPr lang="en-US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  +  A</a:t>
            </a:r>
            <a:r>
              <a:rPr lang="en-US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 smtClean="0">
                <a:solidFill>
                  <a:srgbClr val="0000FF"/>
                </a:solidFill>
              </a:rPr>
              <a:t> 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2449" y="2009319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Ban </a:t>
            </a:r>
            <a:r>
              <a:rPr lang="en-US" sz="28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đầu</a:t>
            </a:r>
            <a:r>
              <a:rPr lang="en-US" sz="28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0,1M</a:t>
            </a:r>
            <a:endParaRPr lang="en-US" sz="28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2449" y="2560931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Điện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ly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0" y="2604179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n-US" sz="2800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-3  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pH = 3  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  [H</a:t>
            </a:r>
            <a:r>
              <a:rPr lang="en-US" sz="28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+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] = 10</a:t>
            </a:r>
            <a:r>
              <a:rPr lang="en-US" sz="28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-3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73258" y="2581175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10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-3 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M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42513" y="3810000"/>
                <a:ext cx="5334000" cy="76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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  <a:sym typeface="Symbo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 smtClean="0"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/>
                                <a:sym typeface="Symbol"/>
                              </a:rPr>
                              <m:t>10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/>
                                <a:sym typeface="Symbol"/>
                              </a:rPr>
                              <m:t>−3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800" i="1" smtClean="0"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/>
                                <a:sym typeface="Symbol"/>
                              </a:rPr>
                              <m:t>10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/>
                                <a:sym typeface="Symbol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= 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0,01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= 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1%</a:t>
                </a:r>
                <a:endParaRPr lang="en-US" sz="2800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513" y="3810000"/>
                <a:ext cx="5334000" cy="762901"/>
              </a:xfrm>
              <a:prstGeom prst="rect">
                <a:avLst/>
              </a:prstGeom>
              <a:blipFill rotWithShape="1">
                <a:blip r:embed="rId2"/>
                <a:stretch>
                  <a:fillRect l="-2286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26519" y="4724400"/>
            <a:ext cx="9017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Vì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 &lt; 0,05 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nên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800" baseline="-25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 C.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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= 0,1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.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10 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  <a:sym typeface="Symbol"/>
              </a:rPr>
              <a:t>-2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)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=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10</a:t>
            </a:r>
            <a:r>
              <a:rPr lang="en-US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-5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(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ở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25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C)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03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FB0B57-975A-4263-A39B-1812F2E8A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055" y="304800"/>
            <a:ext cx="8952379" cy="9144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5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1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CÂN BẰNG DUNG DỊCH CHẤT ĐIỆN LY KHÓ TAN</a:t>
            </a:r>
            <a:endParaRPr lang="en-US" sz="11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1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</a:p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14350" indent="-514350"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" y="2891730"/>
            <a:ext cx="84170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aseline="-250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AmBn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[A</a:t>
            </a:r>
            <a:r>
              <a:rPr lang="en-US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n+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en-US" sz="2800" baseline="30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800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[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baseline="30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en-US" sz="2800" baseline="300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800" baseline="-250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vi-VN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</a:t>
            </a:r>
            <a:r>
              <a:rPr lang="vi-VN" sz="2800" baseline="30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vi-VN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.m</a:t>
            </a:r>
            <a:r>
              <a:rPr lang="vi-VN" sz="2800" baseline="30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.S</a:t>
            </a:r>
            <a:r>
              <a:rPr lang="vi-VN" sz="2800" baseline="30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sz="2800" baseline="30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n+m</a:t>
            </a:r>
            <a:r>
              <a:rPr lang="vi-VN" sz="2800" baseline="30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vi-VN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; pT = -lgT</a:t>
            </a:r>
            <a:endParaRPr 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2374820"/>
            <a:ext cx="899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G</a:t>
            </a:r>
            <a:r>
              <a:rPr lang="en-US" sz="2800" b="1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800" b="1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2800" b="1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= H</a:t>
            </a:r>
            <a:r>
              <a:rPr lang="en-US" sz="2800" b="1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– T.S</a:t>
            </a:r>
            <a:r>
              <a:rPr lang="en-US" sz="2800" b="1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 </a:t>
            </a:r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= G</a:t>
            </a:r>
            <a:r>
              <a:rPr lang="en-US" sz="2800" b="1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800" b="1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tt,sp</a:t>
            </a:r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- G</a:t>
            </a:r>
            <a:r>
              <a:rPr lang="en-US" sz="2800" b="1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800" b="1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tt,cđ</a:t>
            </a:r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= </a:t>
            </a:r>
            <a:r>
              <a:rPr lang="en-US" sz="28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RTlnT</a:t>
            </a:r>
            <a:r>
              <a:rPr lang="en-US" sz="2800" b="1" baseline="-250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AmBn</a:t>
            </a:r>
            <a:endParaRPr lang="en-US" sz="2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0" y="790575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Hòa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0" y="142297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Kết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tủa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838199"/>
            <a:ext cx="7848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sz="2800" baseline="-250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2800" baseline="-250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     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⇌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sz="2800" baseline="30000" dirty="0" err="1" smtClean="0">
                <a:latin typeface="Arial" pitchFamily="34" charset="0"/>
                <a:cs typeface="Arial" pitchFamily="34" charset="0"/>
              </a:rPr>
              <a:t>n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   +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2800" baseline="30000" dirty="0" err="1" smtClean="0"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); 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sz="2800" baseline="-25000" dirty="0" err="1" smtClean="0">
                <a:latin typeface="Arial" pitchFamily="34" charset="0"/>
                <a:cs typeface="Arial" pitchFamily="34" charset="0"/>
              </a:rPr>
              <a:t>AmBn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2875" y="1685925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sym typeface="Symbol"/>
              </a:rPr>
              <a:t>G</a:t>
            </a:r>
            <a:r>
              <a:rPr lang="vi-VN" sz="2800" baseline="-25000" dirty="0" smtClean="0">
                <a:sym typeface="Symbol"/>
              </a:rPr>
              <a:t>ht</a:t>
            </a:r>
            <a:r>
              <a:rPr lang="vi-VN" sz="2800" dirty="0" smtClean="0">
                <a:sym typeface="Symbol"/>
              </a:rPr>
              <a:t> =0, </a:t>
            </a:r>
            <a:r>
              <a:rPr lang="vi-VN" sz="2800" dirty="0" smtClean="0"/>
              <a:t>S[mol/l]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6019799" y="1685925"/>
            <a:ext cx="1894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/>
              <a:t>[B</a:t>
            </a:r>
            <a:r>
              <a:rPr lang="vi-VN" sz="2800" baseline="30000" dirty="0" smtClean="0"/>
              <a:t>m-</a:t>
            </a:r>
            <a:r>
              <a:rPr lang="vi-VN" sz="2800" dirty="0" smtClean="0"/>
              <a:t>] = </a:t>
            </a:r>
            <a:r>
              <a:rPr lang="vi-VN" sz="2800" dirty="0" smtClean="0">
                <a:solidFill>
                  <a:srgbClr val="0000FF"/>
                </a:solidFill>
              </a:rPr>
              <a:t>m</a:t>
            </a:r>
            <a:r>
              <a:rPr lang="vi-VN" sz="2800" dirty="0" smtClean="0"/>
              <a:t>S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3962400" y="1685925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/>
              <a:t>[A</a:t>
            </a:r>
            <a:r>
              <a:rPr lang="vi-VN" sz="2800" baseline="30000" dirty="0" smtClean="0"/>
              <a:t>n+</a:t>
            </a:r>
            <a:r>
              <a:rPr lang="vi-VN" sz="2800" dirty="0" smtClean="0"/>
              <a:t>] = </a:t>
            </a:r>
            <a:r>
              <a:rPr lang="vi-VN" sz="2800" dirty="0" smtClean="0">
                <a:solidFill>
                  <a:srgbClr val="0000FF"/>
                </a:solidFill>
              </a:rPr>
              <a:t>n</a:t>
            </a:r>
            <a:r>
              <a:rPr lang="vi-VN" sz="2800" dirty="0" smtClean="0"/>
              <a:t>S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2862" y="3807110"/>
            <a:ext cx="91535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latin typeface="Arial" pitchFamily="34" charset="0"/>
                <a:cs typeface="Arial" pitchFamily="34" charset="0"/>
              </a:rPr>
              <a:t>Hãy tính nồng độ Ca</a:t>
            </a:r>
            <a:r>
              <a:rPr lang="vi-VN" sz="2800" baseline="30000" dirty="0" smtClean="0">
                <a:latin typeface="Arial" pitchFamily="34" charset="0"/>
                <a:cs typeface="Arial" pitchFamily="34" charset="0"/>
              </a:rPr>
              <a:t>2+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(dd) và F</a:t>
            </a:r>
            <a:r>
              <a:rPr lang="vi-VN" sz="2800" baseline="300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(dd) trong dd CaF</a:t>
            </a:r>
            <a:r>
              <a:rPr lang="vi-VN" sz="28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 bão hòa ở 25</a:t>
            </a:r>
            <a:r>
              <a:rPr lang="vi-VN" sz="28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C cho biết tích số tan của CaF</a:t>
            </a:r>
            <a:r>
              <a:rPr lang="vi-VN" sz="28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 là 3,97.10</a:t>
            </a:r>
            <a:r>
              <a:rPr lang="vi-VN" sz="2800" baseline="30000" dirty="0" smtClean="0">
                <a:latin typeface="Arial" pitchFamily="34" charset="0"/>
                <a:cs typeface="Arial" pitchFamily="34" charset="0"/>
              </a:rPr>
              <a:t>-11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. 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4761217"/>
            <a:ext cx="7543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800" dirty="0" smtClean="0">
                <a:solidFill>
                  <a:srgbClr val="CC00FF"/>
                </a:solidFill>
              </a:rPr>
              <a:t>     </a:t>
            </a:r>
            <a:r>
              <a:rPr lang="vi-VN" sz="2800" b="1" dirty="0" smtClean="0">
                <a:solidFill>
                  <a:srgbClr val="CC00FF"/>
                </a:solidFill>
              </a:rPr>
              <a:t>S = 2,15.10</a:t>
            </a:r>
            <a:r>
              <a:rPr lang="vi-VN" sz="2800" b="1" baseline="30000" dirty="0" smtClean="0">
                <a:solidFill>
                  <a:srgbClr val="CC00FF"/>
                </a:solidFill>
              </a:rPr>
              <a:t>-4 </a:t>
            </a:r>
            <a:r>
              <a:rPr lang="vi-VN" sz="2800" b="1" dirty="0" smtClean="0">
                <a:solidFill>
                  <a:srgbClr val="CC00FF"/>
                </a:solidFill>
              </a:rPr>
              <a:t>M </a:t>
            </a:r>
          </a:p>
          <a:p>
            <a:pPr>
              <a:lnSpc>
                <a:spcPct val="150000"/>
              </a:lnSpc>
            </a:pPr>
            <a:r>
              <a:rPr lang="vi-VN" sz="2800" b="1" dirty="0" smtClean="0">
                <a:solidFill>
                  <a:srgbClr val="CC00FF"/>
                </a:solidFill>
                <a:sym typeface="Symbol"/>
              </a:rPr>
              <a:t></a:t>
            </a:r>
            <a:r>
              <a:rPr lang="vi-VN" sz="2800" b="1" dirty="0" smtClean="0">
                <a:solidFill>
                  <a:srgbClr val="CC00FF"/>
                </a:solidFill>
              </a:rPr>
              <a:t> [</a:t>
            </a:r>
            <a:r>
              <a:rPr lang="vi-VN" sz="2800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Ca</a:t>
            </a:r>
            <a:r>
              <a:rPr lang="vi-VN" sz="2800" b="1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2800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]</a:t>
            </a:r>
            <a:r>
              <a:rPr lang="vi-VN" sz="2800" b="1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bh</a:t>
            </a:r>
            <a:r>
              <a:rPr lang="vi-VN" sz="2800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= 2,15.10</a:t>
            </a:r>
            <a:r>
              <a:rPr lang="vi-VN" sz="2800" b="1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-4 </a:t>
            </a:r>
            <a:r>
              <a:rPr lang="vi-VN" sz="2800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 ; </a:t>
            </a:r>
            <a:r>
              <a:rPr lang="vi-VN" sz="2800" b="1" dirty="0" smtClean="0">
                <a:solidFill>
                  <a:srgbClr val="CC00FF"/>
                </a:solidFill>
              </a:rPr>
              <a:t>[</a:t>
            </a:r>
            <a:r>
              <a:rPr lang="vi-VN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F</a:t>
            </a:r>
            <a:r>
              <a:rPr lang="vi-VN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vi-VN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]</a:t>
            </a:r>
            <a:r>
              <a:rPr lang="vi-VN" sz="2800" b="1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bh</a:t>
            </a:r>
            <a:r>
              <a:rPr lang="vi-VN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vi-VN" sz="2800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4,3.10</a:t>
            </a:r>
            <a:r>
              <a:rPr lang="vi-VN" sz="2800" b="1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-4 </a:t>
            </a:r>
            <a:r>
              <a:rPr lang="vi-VN" sz="2800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 </a:t>
            </a:r>
            <a:endParaRPr lang="en-US" sz="2800" b="1" dirty="0">
              <a:solidFill>
                <a:srgbClr val="CC00FF"/>
              </a:solidFill>
            </a:endParaRPr>
          </a:p>
          <a:p>
            <a:pPr>
              <a:lnSpc>
                <a:spcPct val="150000"/>
              </a:lnSpc>
            </a:pPr>
            <a:r>
              <a:rPr lang="vi-VN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800" dirty="0">
              <a:solidFill>
                <a:srgbClr val="CC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98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" grpId="0"/>
      <p:bldP spid="12" grpId="0"/>
      <p:bldP spid="13" grpId="0"/>
      <p:bldP spid="4" grpId="0"/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33401"/>
            <a:ext cx="8763000" cy="190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tích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tan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AgI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ở 25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C. Cho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biết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phản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</a:t>
            </a:r>
          </a:p>
          <a:p>
            <a:pPr marL="0" indent="0"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Ag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  +  I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 </a:t>
            </a:r>
            <a:r>
              <a:rPr lang="en-US" altLang="en-US" sz="2800" dirty="0" smtClean="0">
                <a:latin typeface="Arial" pitchFamily="34" charset="0"/>
                <a:cs typeface="Arial" pitchFamily="34" charset="0"/>
              </a:rPr>
              <a:t>⇌ </a:t>
            </a:r>
            <a:r>
              <a:rPr lang="en-US" altLang="en-US" sz="2800" dirty="0" err="1" smtClean="0">
                <a:latin typeface="Arial" pitchFamily="34" charset="0"/>
                <a:cs typeface="Arial" pitchFamily="34" charset="0"/>
              </a:rPr>
              <a:t>AgI</a:t>
            </a:r>
            <a:r>
              <a:rPr lang="en-US" altLang="en-US" sz="2800" dirty="0" smtClean="0">
                <a:latin typeface="Arial" pitchFamily="34" charset="0"/>
                <a:cs typeface="Arial" pitchFamily="34" charset="0"/>
              </a:rPr>
              <a:t>(r) </a:t>
            </a:r>
            <a:r>
              <a:rPr lang="en-US" altLang="en-US" sz="2800" dirty="0" err="1" smtClean="0">
                <a:latin typeface="Arial" pitchFamily="34" charset="0"/>
                <a:cs typeface="Arial" pitchFamily="34" charset="0"/>
              </a:rPr>
              <a:t>có</a:t>
            </a:r>
            <a:r>
              <a:rPr lang="en-US" alt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800" dirty="0" smtClean="0">
                <a:latin typeface="Arial" pitchFamily="34" charset="0"/>
                <a:cs typeface="Arial" pitchFamily="34" charset="0"/>
                <a:sym typeface="Symbol"/>
              </a:rPr>
              <a:t>G</a:t>
            </a:r>
            <a:r>
              <a:rPr lang="en-US" altLang="en-US" sz="2800" baseline="30000" dirty="0" smtClean="0"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altLang="en-US" sz="2800" baseline="-25000" dirty="0" smtClean="0">
                <a:latin typeface="Arial" pitchFamily="34" charset="0"/>
                <a:cs typeface="Arial" pitchFamily="34" charset="0"/>
                <a:sym typeface="Symbol"/>
              </a:rPr>
              <a:t>298</a:t>
            </a:r>
            <a:r>
              <a:rPr lang="en-US" altLang="en-US" sz="2800" dirty="0" smtClean="0">
                <a:latin typeface="Arial" pitchFamily="34" charset="0"/>
                <a:cs typeface="Arial" pitchFamily="34" charset="0"/>
                <a:sym typeface="Symbol"/>
              </a:rPr>
              <a:t> = - 91,294 kJ.</a:t>
            </a:r>
          </a:p>
          <a:p>
            <a:pPr marL="0" indent="0"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ĐS: </a:t>
            </a:r>
            <a:r>
              <a:rPr lang="en-US" sz="28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2800" b="1" baseline="-25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AgI</a:t>
            </a:r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= 10</a:t>
            </a:r>
            <a:r>
              <a:rPr lang="en-US" sz="2800" b="1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-16</a:t>
            </a:r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1411" y="2447026"/>
            <a:ext cx="8991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Tích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tan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hằng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cân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bằng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cân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bằng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AgI</a:t>
            </a:r>
            <a:r>
              <a:rPr lang="en-US" alt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(r</a:t>
            </a:r>
            <a:r>
              <a:rPr lang="en-US" alt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) ⇌ </a:t>
            </a:r>
            <a:r>
              <a:rPr 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Ag</a:t>
            </a:r>
            <a:r>
              <a:rPr lang="en-US" sz="24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4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)  +  I</a:t>
            </a:r>
            <a:r>
              <a:rPr lang="en-US" sz="24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4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dd</a:t>
            </a:r>
            <a:r>
              <a:rPr 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) ; </a:t>
            </a:r>
            <a:r>
              <a:rPr lang="en-US" alt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alt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G</a:t>
            </a:r>
            <a:r>
              <a:rPr lang="en-US" altLang="en-US" sz="2400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altLang="en-US" sz="2400" baseline="-25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298</a:t>
            </a:r>
            <a:r>
              <a:rPr lang="en-US" alt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altLang="en-US" sz="24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hòa</a:t>
            </a:r>
            <a:r>
              <a:rPr lang="en-US" alt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tan) </a:t>
            </a:r>
            <a:r>
              <a:rPr lang="en-US" alt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alt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+ </a:t>
            </a:r>
            <a:r>
              <a:rPr lang="en-US" alt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91,294 </a:t>
            </a:r>
            <a:r>
              <a:rPr lang="en-US" altLang="en-US" sz="24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kJ</a:t>
            </a:r>
          </a:p>
          <a:p>
            <a:pPr marL="342900" indent="-342900">
              <a:lnSpc>
                <a:spcPct val="150000"/>
              </a:lnSpc>
              <a:buFont typeface="Symbol"/>
              <a:buChar char="®"/>
            </a:pP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alt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G</a:t>
            </a:r>
            <a:r>
              <a:rPr lang="en-US" altLang="en-US" sz="2400" baseline="300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altLang="en-US" sz="2400" baseline="-250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298</a:t>
            </a:r>
            <a:r>
              <a:rPr lang="en-US" alt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altLang="en-US" sz="2400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hòa</a:t>
            </a:r>
            <a:r>
              <a:rPr lang="en-US" altLang="en-US" sz="2400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tan) 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= -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RTlnT</a:t>
            </a:r>
            <a:r>
              <a:rPr lang="en-US" altLang="en-US" sz="2400" baseline="-250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AgI</a:t>
            </a:r>
            <a:r>
              <a:rPr lang="en-US" alt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Symbol"/>
              <a:buChar char="®"/>
            </a:pP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91 294 = - 8,314.298.2,303.lgT</a:t>
            </a:r>
            <a:r>
              <a:rPr lang="en-US" sz="24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AgI</a:t>
            </a:r>
            <a:endParaRPr lang="en-US" sz="2400" dirty="0" smtClean="0">
              <a:solidFill>
                <a:srgbClr val="C00000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pPr marL="342900" indent="-342900">
              <a:lnSpc>
                <a:spcPct val="150000"/>
              </a:lnSpc>
              <a:buFont typeface="Symbol"/>
              <a:buChar char="®"/>
            </a:pPr>
            <a:r>
              <a:rPr lang="en-US" sz="24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2400" baseline="-25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AgI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= 10</a:t>
            </a:r>
            <a:r>
              <a:rPr lang="en-US" sz="24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16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(ở 25</a:t>
            </a:r>
            <a:r>
              <a:rPr lang="en-US" sz="24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C)</a:t>
            </a:r>
            <a:endParaRPr lang="en-U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0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xmlns="" id="{8CA58A46-9C9F-4266-A0E2-67A172BDCBD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3086" y="2006601"/>
            <a:ext cx="8734412" cy="7620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THẾ ĐIỆN CỰC (THẾ KHỬ) </a:t>
            </a:r>
            <a:r>
              <a:rPr lang="en-US" altLang="en-US" sz="2400" b="1" dirty="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  <a:sym typeface="Symbol"/>
              </a:rPr>
              <a:t> </a:t>
            </a:r>
            <a:r>
              <a:rPr lang="en-US" altLang="en-US" sz="2400" b="1" dirty="0" smtClean="0">
                <a:solidFill>
                  <a:schemeClr val="hlink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PHỤ THUỘC CÁC YẾU TỐ:</a:t>
            </a:r>
            <a:endParaRPr lang="en-US" altLang="en-US" sz="2400" b="1" dirty="0">
              <a:solidFill>
                <a:schemeClr val="hlink"/>
              </a:solidFill>
              <a:latin typeface="Arial" pitchFamily="34" charset="0"/>
              <a:cs typeface="Arial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20483" name="Object 16">
            <a:extLst>
              <a:ext uri="{FF2B5EF4-FFF2-40B4-BE49-F238E27FC236}">
                <a16:creationId xmlns:a16="http://schemas.microsoft.com/office/drawing/2014/main" xmlns="" id="{38A3D67E-1BA7-4794-947D-1C223B0329A2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00864040"/>
              </p:ext>
            </p:extLst>
          </p:nvPr>
        </p:nvGraphicFramePr>
        <p:xfrm>
          <a:off x="744028" y="1145354"/>
          <a:ext cx="63531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" name="Equation" r:id="rId3" imgW="2514600" imgH="482600" progId="Equation.3">
                  <p:embed/>
                </p:oleObj>
              </mc:Choice>
              <mc:Fallback>
                <p:oleObj name="Equation" r:id="rId3" imgW="2514600" imgH="4826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028" y="1145354"/>
                        <a:ext cx="6353175" cy="6858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4">
            <a:extLst>
              <a:ext uri="{FF2B5EF4-FFF2-40B4-BE49-F238E27FC236}">
                <a16:creationId xmlns:a16="http://schemas.microsoft.com/office/drawing/2014/main" xmlns="" id="{DB302838-44E6-4254-9680-B8F633E86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659247"/>
            <a:ext cx="815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+ ne + x[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MT</a:t>
            </a:r>
            <a:r>
              <a:rPr lang="en-US" alt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fr-FR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⇌   b </a:t>
            </a:r>
            <a:r>
              <a:rPr lang="fr-FR" alt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 </a:t>
            </a:r>
            <a:r>
              <a:rPr lang="fr-FR" alt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y[</a:t>
            </a:r>
            <a:r>
              <a:rPr lang="fr-FR" altLang="en-US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</a:t>
            </a:r>
            <a:r>
              <a:rPr lang="fr-FR" altLang="en-US" sz="2400" b="1" baseline="-25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fr-FR" alt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fr-FR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14731" name="Text Box 11">
            <a:extLst>
              <a:ext uri="{FF2B5EF4-FFF2-40B4-BE49-F238E27FC236}">
                <a16:creationId xmlns:a16="http://schemas.microsoft.com/office/drawing/2014/main" xmlns="" id="{95BBAA61-EB7F-4901-B89A-AD815D499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54" y="2510560"/>
            <a:ext cx="800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1.Bản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cặp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14732" name="Text Box 12">
            <a:extLst>
              <a:ext uri="{FF2B5EF4-FFF2-40B4-BE49-F238E27FC236}">
                <a16:creationId xmlns:a16="http://schemas.microsoft.com/office/drawing/2014/main" xmlns="" id="{A0D06593-9582-4661-9344-B1EC7D95C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008" y="3048000"/>
            <a:ext cx="815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 smtClean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2.Nồng </a:t>
            </a:r>
            <a:r>
              <a:rPr lang="en-US" altLang="en-US" sz="2400" dirty="0" err="1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4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4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4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4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4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KHỬ.</a:t>
            </a:r>
          </a:p>
        </p:txBody>
      </p:sp>
      <p:sp>
        <p:nvSpPr>
          <p:cNvPr id="414733" name="Text Box 13">
            <a:extLst>
              <a:ext uri="{FF2B5EF4-FFF2-40B4-BE49-F238E27FC236}">
                <a16:creationId xmlns:a16="http://schemas.microsoft.com/office/drawing/2014/main" xmlns="" id="{6705F3FF-1DFA-4C25-96B7-8CAE40E28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39" y="3576935"/>
            <a:ext cx="21524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4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altLang="en-US" sz="2400" dirty="0" err="1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24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14734" name="Text Box 14">
            <a:extLst>
              <a:ext uri="{FF2B5EF4-FFF2-40B4-BE49-F238E27FC236}">
                <a16:creationId xmlns:a16="http://schemas.microsoft.com/office/drawing/2014/main" xmlns="" id="{6F8F9DD5-2943-4714-A35A-FFF1E9EB9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570240"/>
            <a:ext cx="39495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altLang="en-US" sz="2400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2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altLang="en-US" sz="2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 H</a:t>
            </a:r>
            <a:r>
              <a:rPr lang="en-US" altLang="en-US" sz="2400" baseline="300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,OH</a:t>
            </a:r>
            <a:r>
              <a:rPr lang="en-US" altLang="en-US" sz="2400" baseline="300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2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</p:txBody>
      </p:sp>
      <p:sp>
        <p:nvSpPr>
          <p:cNvPr id="414735" name="Text Box 15">
            <a:extLst>
              <a:ext uri="{FF2B5EF4-FFF2-40B4-BE49-F238E27FC236}">
                <a16:creationId xmlns:a16="http://schemas.microsoft.com/office/drawing/2014/main" xmlns="" id="{0CE8C13A-AECE-411C-A2E5-D9D2BAE20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60" y="4038600"/>
            <a:ext cx="9102305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muối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lạ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ion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muối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lạ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altLang="en-US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hay </a:t>
            </a:r>
            <a:r>
              <a:rPr lang="en-US" altLang="en-US" sz="2400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en-US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tủa</a:t>
            </a:r>
            <a:r>
              <a:rPr lang="en-US" altLang="en-US" sz="24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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thay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altLang="en-US" sz="2400" dirty="0" err="1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đổi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.</a:t>
            </a:r>
            <a:endParaRPr lang="en-US" altLang="en-US" sz="2400" dirty="0" smtClean="0">
              <a:solidFill>
                <a:srgbClr val="008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Ion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muối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lạ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tủa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[</a:t>
            </a:r>
            <a:r>
              <a:rPr lang="en-US" altLang="en-US" sz="2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OXH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]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 :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tính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oxy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hóa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của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altLang="en-US" sz="2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OXH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,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tính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khử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của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alt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KH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.</a:t>
            </a:r>
          </a:p>
          <a:p>
            <a:pPr>
              <a:spcBef>
                <a:spcPct val="50000"/>
              </a:spcBef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Ion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muối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lạ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tủa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 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 [</a:t>
            </a:r>
            <a:r>
              <a:rPr lang="en-US" alt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KH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]  :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tính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oxy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hóa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của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altLang="en-US" sz="2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OXH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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tính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khử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của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alt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KH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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xmlns="" id="{D94BC755-B74A-4567-8CDE-312C613052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015" y="-8626"/>
            <a:ext cx="8534400" cy="762000"/>
          </a:xfrm>
        </p:spPr>
        <p:txBody>
          <a:bodyPr/>
          <a:lstStyle/>
          <a:p>
            <a:pPr algn="ctr" eaLnBrk="1" hangingPunct="1">
              <a:defRPr/>
            </a:pPr>
            <a:r>
              <a:rPr lang="vi-VN" altLang="en-US" sz="36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PHƯƠNG TRÌNH NERNST</a:t>
            </a:r>
            <a:endParaRPr lang="en-US" altLang="en-US" sz="3600" dirty="0">
              <a:solidFill>
                <a:srgbClr val="CC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273" y="4876799"/>
            <a:ext cx="9006157" cy="15544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Thế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điện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cực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phụ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thuộc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bề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mặt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tiếp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xúc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giữa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kim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loại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làm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điện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cực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với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dung </a:t>
            </a:r>
            <a:r>
              <a:rPr lang="en-US" sz="2800" i="1" dirty="0" err="1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dịch</a:t>
            </a:r>
            <a:r>
              <a:rPr lang="en-US" sz="2800" i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800" i="1" dirty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68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4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4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4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4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4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4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3" grpId="0" build="p"/>
      <p:bldP spid="414731" grpId="0"/>
      <p:bldP spid="414732" grpId="0"/>
      <p:bldP spid="414733" grpId="0"/>
      <p:bldP spid="414734" grpId="0"/>
      <p:bldP spid="414735" grpId="0"/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25" y="533400"/>
            <a:ext cx="8991600" cy="11430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Ở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25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C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,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2800" dirty="0" err="1"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ính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en-US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(MnO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Mn</a:t>
            </a:r>
            <a:r>
              <a:rPr lang="en-US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2+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)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                      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/>
            </a:r>
            <a:br>
              <a:rPr lang="vi-VN" sz="2800" dirty="0">
                <a:latin typeface="Arial" pitchFamily="34" charset="0"/>
                <a:cs typeface="Arial" pitchFamily="34" charset="0"/>
                <a:sym typeface="Symbol"/>
              </a:rPr>
            </a:b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C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ho </a:t>
            </a:r>
            <a:r>
              <a:rPr lang="en-US" sz="2800" dirty="0" err="1" smtClean="0">
                <a:latin typeface="Arial" pitchFamily="34" charset="0"/>
                <a:cs typeface="Arial" pitchFamily="34" charset="0"/>
                <a:sym typeface="Symbol"/>
              </a:rPr>
              <a:t>biết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: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 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MnO</a:t>
            </a:r>
            <a:r>
              <a:rPr lang="en-US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-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4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Mn</a:t>
            </a:r>
            <a:r>
              <a:rPr lang="en-US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2+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)= 1,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51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V      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/>
            </a:r>
            <a:br>
              <a:rPr lang="vi-VN" sz="2800" dirty="0">
                <a:latin typeface="Arial" pitchFamily="34" charset="0"/>
                <a:cs typeface="Arial" pitchFamily="34" charset="0"/>
                <a:sym typeface="Symbol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 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MnO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4</a:t>
            </a:r>
            <a:r>
              <a:rPr lang="en-US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-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MnO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) = 1,7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V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95275" y="2239030"/>
            <a:ext cx="8848725" cy="33235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oxy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hóa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giảm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dần</a:t>
            </a:r>
            <a:endParaRPr lang="en-US" sz="28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MnO</a:t>
            </a:r>
            <a:r>
              <a:rPr lang="en-US" sz="28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sz="28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-                          </a:t>
            </a:r>
            <a:r>
              <a:rPr lang="vi-VN" sz="28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n-US" sz="28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MnO</a:t>
            </a:r>
            <a:r>
              <a:rPr lang="en-US" sz="28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2 </a:t>
            </a:r>
            <a:r>
              <a:rPr lang="en-US" sz="28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                   Mn</a:t>
            </a:r>
            <a:r>
              <a:rPr lang="en-US" sz="28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2+</a:t>
            </a:r>
            <a:endParaRPr lang="en-US" sz="2800" b="1" baseline="-25000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04800" y="2895600"/>
            <a:ext cx="67056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3033445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+7</a:t>
            </a:r>
            <a:endParaRPr lang="en-US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48400" y="3009960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+2</a:t>
            </a:r>
            <a:endParaRPr lang="en-US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14700" y="3033445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+4</a:t>
            </a:r>
            <a:endParaRPr lang="en-US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600200" y="3581400"/>
            <a:ext cx="1714500" cy="0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476750" y="3581400"/>
            <a:ext cx="1828800" cy="0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85950" y="3052495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n-US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57725" y="305818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91000" y="152400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n-US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05350" y="22860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vi-VN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91200" y="91440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vi-VN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en-US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Curved Up Arrow 20"/>
          <p:cNvSpPr/>
          <p:nvPr/>
        </p:nvSpPr>
        <p:spPr>
          <a:xfrm>
            <a:off x="990600" y="3886200"/>
            <a:ext cx="5715000" cy="838200"/>
          </a:xfrm>
          <a:prstGeom prst="curvedUpArrow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29000" y="420118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5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vi-VN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en-US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52600" y="5029200"/>
            <a:ext cx="49530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 smtClean="0">
                <a:solidFill>
                  <a:srgbClr val="0000FF"/>
                </a:solidFill>
              </a:rPr>
              <a:t>5</a:t>
            </a:r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vi-VN" sz="3200" b="1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en-US" sz="3200" b="1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vi-VN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= </a:t>
            </a:r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en-US" sz="3200" b="1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n-US" sz="3200" b="1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vi-VN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 +  </a:t>
            </a:r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2</a:t>
            </a:r>
            <a:r>
              <a:rPr lang="en-US" sz="3200" b="1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3200" b="1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vi-VN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endParaRPr lang="en-US" sz="32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r>
              <a:rPr lang="vi-VN" dirty="0" smtClean="0"/>
              <a:t> 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638800" y="219075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 smtClean="0">
                <a:solidFill>
                  <a:srgbClr val="FF0000"/>
                </a:solidFill>
              </a:rPr>
              <a:t>= 1,23 V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286000" y="92362"/>
            <a:ext cx="5791199" cy="8382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6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/>
      <p:bldP spid="9" grpId="0"/>
      <p:bldP spid="16" grpId="0"/>
      <p:bldP spid="17" grpId="0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4031" y="152400"/>
                <a:ext cx="9067800" cy="1140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</a:rPr>
                  <a:t>SUẤT ĐIỆN ĐỘNG CỦA PIN Ở 25</a:t>
                </a:r>
                <a:r>
                  <a:rPr lang="en-US" sz="2800" b="1" baseline="30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en-US" sz="28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</a:rPr>
                  <a:t>C</a:t>
                </a:r>
              </a:p>
              <a:p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E = E</a:t>
                </a:r>
                <a:r>
                  <a:rPr lang="en-US" sz="2800" baseline="30000" dirty="0" smtClean="0"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  <a:cs typeface="Arial" pitchFamily="34" charset="0"/>
                          </a:rPr>
                          <m:t>0,059</m:t>
                        </m:r>
                      </m:num>
                      <m:den>
                        <m:r>
                          <a:rPr lang="en-US" sz="2800" b="0" i="1" smtClean="0">
                            <a:latin typeface="Cambria Math"/>
                            <a:cs typeface="Arial" pitchFamily="34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lgQ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[V]; n: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số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mol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e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trao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đổi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của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pư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OXHK</a:t>
                </a:r>
                <a:endParaRPr lang="en-US" sz="28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1" y="152400"/>
                <a:ext cx="9067800" cy="1140953"/>
              </a:xfrm>
              <a:prstGeom prst="rect">
                <a:avLst/>
              </a:prstGeom>
              <a:blipFill rotWithShape="1">
                <a:blip r:embed="rId2"/>
                <a:stretch>
                  <a:fillRect l="-1411" t="-5882" b="-5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6200" y="1398308"/>
            <a:ext cx="9067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Tính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suất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điện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động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ở 25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C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của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pin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tạo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bởi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pư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: 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     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2Fe</a:t>
            </a:r>
            <a:r>
              <a:rPr lang="en-US" sz="24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dd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 +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Cl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(k) =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2Fe</a:t>
            </a:r>
            <a:r>
              <a:rPr lang="en-US" sz="24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3+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dd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  +  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2Cl</a:t>
            </a:r>
            <a:r>
              <a:rPr lang="en-US" sz="24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dd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 ; 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= 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mol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Cho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Fe</a:t>
            </a:r>
            <a:r>
              <a:rPr lang="en-US" sz="24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3+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Fe</a:t>
            </a:r>
            <a:r>
              <a:rPr lang="en-US" sz="24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2+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) = 0,77 V; 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Cl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/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Cl</a:t>
            </a:r>
            <a:r>
              <a:rPr lang="en-US" sz="24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-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)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= 1,36 V; [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Fe</a:t>
            </a:r>
            <a:r>
              <a:rPr lang="en-US" sz="24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2+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]= 0,1M; [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Fe</a:t>
            </a:r>
            <a:r>
              <a:rPr lang="en-US" sz="24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3+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] = [</a:t>
            </a:r>
            <a:r>
              <a:rPr lang="en-US" sz="24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Cl</a:t>
            </a:r>
            <a:r>
              <a:rPr lang="en-US" sz="24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-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]=0,01 M; P</a:t>
            </a:r>
            <a:r>
              <a:rPr lang="en-US" sz="24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C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l2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= 0,01atm. 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ĐS: 0,708V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urved Down Arrow 7"/>
          <p:cNvSpPr/>
          <p:nvPr/>
        </p:nvSpPr>
        <p:spPr>
          <a:xfrm>
            <a:off x="2346811" y="2279085"/>
            <a:ext cx="3464584" cy="34999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100">
                <a:effectLst/>
                <a:ea typeface="Calibri"/>
                <a:cs typeface="Times New Roman"/>
              </a:rPr>
              <a:t>C</a:t>
            </a:r>
            <a:endParaRPr lang="en-US" sz="1100">
              <a:effectLst/>
              <a:ea typeface="Calibri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95600" y="2259464"/>
            <a:ext cx="2671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+2</a:t>
            </a:r>
            <a:r>
              <a:rPr lang="vi-VN" sz="24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(+)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urved Up Arrow 9"/>
          <p:cNvSpPr/>
          <p:nvPr/>
        </p:nvSpPr>
        <p:spPr>
          <a:xfrm>
            <a:off x="990600" y="2991855"/>
            <a:ext cx="2971800" cy="5334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9615" y="3004779"/>
            <a:ext cx="18239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-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2e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(-)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52400" y="4814628"/>
                <a:ext cx="8915400" cy="1729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E = </a:t>
                </a:r>
                <a:r>
                  <a:rPr lang="en-US" sz="24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</a:t>
                </a:r>
                <a:r>
                  <a:rPr lang="en-US" sz="2400" baseline="300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0</a:t>
                </a:r>
                <a:r>
                  <a:rPr lang="en-US" sz="24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(</a:t>
                </a:r>
                <a:r>
                  <a:rPr lang="en-US" sz="24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Cl</a:t>
                </a:r>
                <a:r>
                  <a:rPr lang="en-US" sz="2400" baseline="-25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2</a:t>
                </a:r>
                <a:r>
                  <a:rPr lang="en-US" sz="24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/</a:t>
                </a:r>
                <a:r>
                  <a:rPr lang="en-US" sz="2400" dirty="0" err="1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Cl</a:t>
                </a:r>
                <a:r>
                  <a:rPr lang="en-US" sz="2400" baseline="300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-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) - </a:t>
                </a:r>
                <a:r>
                  <a:rPr lang="en-US" sz="24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</a:t>
                </a:r>
                <a:r>
                  <a:rPr lang="en-US" sz="2400" baseline="30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0</a:t>
                </a:r>
                <a:r>
                  <a:rPr lang="en-US" sz="24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(Fe</a:t>
                </a:r>
                <a:r>
                  <a:rPr lang="en-US" sz="2400" baseline="30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3+</a:t>
                </a:r>
                <a:r>
                  <a:rPr lang="en-US" sz="24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/</a:t>
                </a:r>
                <a:r>
                  <a:rPr lang="en-US" sz="24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Fe</a:t>
                </a:r>
                <a:r>
                  <a:rPr lang="en-US" sz="2400" baseline="300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2+</a:t>
                </a:r>
                <a:r>
                  <a:rPr lang="en-US" sz="24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)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 </a:t>
                </a:r>
                <a:r>
                  <a:rPr lang="en-US" sz="2400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  <m:t>0,059</m:t>
                        </m:r>
                      </m:num>
                      <m:den>
                        <m:r>
                          <a:rPr lang="en-US" sz="2400" b="1" i="0" smtClean="0">
                            <a:solidFill>
                              <a:srgbClr val="FF0000"/>
                            </a:solidFill>
                            <a:latin typeface="Cambria Math"/>
                            <a:cs typeface="Arial" pitchFamily="34" charset="0"/>
                          </a:rPr>
                          <m:t>𝐧</m:t>
                        </m:r>
                      </m:den>
                    </m:f>
                  </m:oMath>
                </a14:m>
                <a:r>
                  <a:rPr lang="en-US" sz="2400" dirty="0" err="1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lg</a:t>
                </a:r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[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𝐹𝑒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3+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.[</m:t>
                            </m:r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𝐶𝑙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−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[</m:t>
                            </m:r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𝐹𝑒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2+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.</m:t>
                            </m:r>
                            <m:r>
                              <a:rPr lang="en-US" sz="2400" b="0" i="1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008000"/>
                                    </a:solidFill>
                                    <a:latin typeface="Cambria Math"/>
                                    <a:cs typeface="Arial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Arial" pitchFamily="34" charset="0"/>
                                  </a:rPr>
                                  <m:t>𝐶𝑙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Arial" pitchFamily="34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den>
                    </m:f>
                  </m:oMath>
                </a14:m>
                <a:r>
                  <a:rPr lang="en-US" sz="24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</a:p>
              <a:p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E = (1,36 – 0,77)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cs typeface="Arial" pitchFamily="34" charset="0"/>
                          </a:rPr>
                          <m:t>0,059</m:t>
                        </m:r>
                      </m:num>
                      <m:den>
                        <m:r>
                          <a:rPr lang="en-US" sz="2400" b="1" i="0" smtClean="0">
                            <a:solidFill>
                              <a:srgbClr val="FF0000"/>
                            </a:solidFill>
                            <a:latin typeface="Cambria Math"/>
                            <a:cs typeface="Arial" pitchFamily="34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400" dirty="0" smtClean="0"/>
                  <a:t>lg</a:t>
                </a:r>
                <a:r>
                  <a:rPr lang="en-US" sz="2400" dirty="0"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/>
                                <a:cs typeface="Arial" pitchFamily="34" charset="0"/>
                              </a:rPr>
                              <m:t>0,01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  <a:cs typeface="Arial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/>
                            <a:cs typeface="Arial" pitchFamily="34" charset="0"/>
                          </a:rPr>
                          <m:t>. 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/>
                                <a:cs typeface="Arial" pitchFamily="34" charset="0"/>
                              </a:rPr>
                              <m:t>0,01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  <a:cs typeface="Arial" pitchFamily="3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/>
                                <a:cs typeface="Arial" pitchFamily="34" charset="0"/>
                              </a:rPr>
                              <m:t>0,1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  <a:cs typeface="Arial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/>
                            <a:cs typeface="Arial" pitchFamily="34" charset="0"/>
                          </a:rPr>
                          <m:t>.0,01</m:t>
                        </m:r>
                      </m:den>
                    </m:f>
                  </m:oMath>
                </a14:m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=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0,708 V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 &gt; 0 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G = -</a:t>
                </a:r>
                <a:r>
                  <a:rPr lang="en-US" sz="24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nFE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 &lt; 0 </a:t>
                </a:r>
              </a:p>
              <a:p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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Phản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ứng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tự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phát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theo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chiều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thuận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.</a:t>
                </a:r>
                <a:endParaRPr lang="en-US" sz="2400" dirty="0">
                  <a:solidFill>
                    <a:srgbClr val="CC00FF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814628"/>
                <a:ext cx="8915400" cy="1729897"/>
              </a:xfrm>
              <a:prstGeom prst="rect">
                <a:avLst/>
              </a:prstGeom>
              <a:blipFill rotWithShape="1">
                <a:blip r:embed="rId3"/>
                <a:stretch>
                  <a:fillRect l="-1025" r="-1572" b="-6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3362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  <p:bldP spid="11" grpId="0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98408"/>
            <a:ext cx="899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XÁC ĐỊNH CHIỀU PHẢN ỨNG OXHK Ở ĐK THỰC TẾ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            a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OXH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+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fr-FR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⇌ c</a:t>
            </a:r>
            <a:r>
              <a:rPr lang="fr-FR" altLang="en-US" sz="28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fr-FR" altLang="en-US" sz="2800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fr-FR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+ d</a:t>
            </a:r>
            <a:r>
              <a:rPr lang="fr-FR" altLang="en-US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fr-FR" altLang="en-US" sz="28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400" y="1179832"/>
            <a:ext cx="8991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CÁCH 1: SO SÁNH THỂ KHỬ CỦA HAI CẶP OXHK LIÊN HỢP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Dùng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phương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trình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Nernst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tính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thế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khử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tại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đk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thực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tế</a:t>
            </a:r>
            <a:r>
              <a:rPr lang="en-US" sz="24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Nếu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(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OXH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KH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) &gt; (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OXH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KH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) :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tự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phát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theo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chiều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thuận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Arial" pitchFamily="34" charset="0"/>
                <a:cs typeface="Arial" pitchFamily="34" charset="0"/>
              </a:rPr>
              <a:t>Nếu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OXH</a:t>
            </a:r>
            <a:r>
              <a:rPr lang="en-US" sz="24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KH</a:t>
            </a:r>
            <a:r>
              <a:rPr lang="en-US" sz="24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)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&lt; 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OXH</a:t>
            </a:r>
            <a:r>
              <a:rPr lang="en-US" sz="24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KH</a:t>
            </a:r>
            <a:r>
              <a:rPr lang="en-US" sz="24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) :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tự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phát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theo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chiều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  <a:sym typeface="Symbol"/>
              </a:rPr>
              <a:t>nghịch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.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73966" y="3657600"/>
                <a:ext cx="8991600" cy="31113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accent6">
                        <a:lumMod val="5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CÁCH 2: TÍNH SUẤT ĐIỆN ĐỘNG E ĐỂ XÉT DẤU </a:t>
                </a:r>
                <a:r>
                  <a:rPr lang="en-US" sz="2400" b="1" dirty="0" smtClean="0">
                    <a:solidFill>
                      <a:schemeClr val="accent6">
                        <a:lumMod val="50000"/>
                      </a:schemeClr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G = -</a:t>
                </a:r>
                <a:r>
                  <a:rPr lang="en-US" sz="2400" b="1" dirty="0" err="1" smtClean="0">
                    <a:solidFill>
                      <a:schemeClr val="accent6">
                        <a:lumMod val="50000"/>
                      </a:schemeClr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nFE</a:t>
                </a:r>
                <a:endParaRPr lang="en-US" sz="2400" b="1" dirty="0" smtClean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cs typeface="Arial" pitchFamily="34" charset="0"/>
                  <a:sym typeface="Symbol"/>
                </a:endParaRPr>
              </a:p>
              <a:p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Ở 25</a:t>
                </a:r>
                <a:r>
                  <a:rPr lang="en-US" sz="2400" baseline="30000" dirty="0" smtClean="0"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C, E 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</a:rPr>
                  <a:t>= E</a:t>
                </a:r>
                <a:r>
                  <a:rPr lang="en-US" sz="2400" baseline="30000" dirty="0"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</a:rPr>
                  <a:t> 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cs typeface="Arial" pitchFamily="34" charset="0"/>
                          </a:rPr>
                          <m:t>0,059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cs typeface="Arial" pitchFamily="34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 err="1" smtClean="0">
                    <a:latin typeface="Arial" pitchFamily="34" charset="0"/>
                    <a:cs typeface="Arial" pitchFamily="34" charset="0"/>
                  </a:rPr>
                  <a:t>lgQ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 ; 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</a:rPr>
                  <a:t>E</a:t>
                </a:r>
                <a:r>
                  <a:rPr lang="en-US" sz="2400" baseline="30000" dirty="0"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</a:rPr>
                  <a:t> = </a:t>
                </a:r>
                <a:r>
                  <a:rPr lang="en-US" sz="2400" dirty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</a:t>
                </a:r>
                <a:r>
                  <a:rPr lang="en-US" sz="2400" baseline="30000" dirty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0</a:t>
                </a:r>
                <a:r>
                  <a:rPr lang="en-US" sz="2400" dirty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(</a:t>
                </a:r>
                <a:r>
                  <a:rPr lang="en-US" sz="24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OXH</a:t>
                </a:r>
                <a:r>
                  <a:rPr lang="en-US" sz="2400" baseline="-25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1</a:t>
                </a:r>
                <a:r>
                  <a:rPr lang="en-US" sz="2400" dirty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/</a:t>
                </a:r>
                <a:r>
                  <a:rPr lang="en-US" sz="24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KH</a:t>
                </a:r>
                <a:r>
                  <a:rPr lang="en-US" sz="2400" baseline="-250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1</a:t>
                </a:r>
                <a:r>
                  <a:rPr lang="en-US" sz="2400" dirty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) - </a:t>
                </a:r>
                <a:r>
                  <a:rPr lang="en-US" sz="2400" baseline="30000" dirty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0</a:t>
                </a:r>
                <a:r>
                  <a:rPr lang="en-US" sz="2400" dirty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(</a:t>
                </a:r>
                <a:r>
                  <a:rPr lang="en-US" sz="24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OXH</a:t>
                </a:r>
                <a:r>
                  <a:rPr lang="en-US" sz="2400" baseline="-25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2</a:t>
                </a:r>
                <a:r>
                  <a:rPr lang="en-US" sz="2400" dirty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/</a:t>
                </a:r>
                <a:r>
                  <a:rPr lang="en-US" sz="24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KH</a:t>
                </a:r>
                <a:r>
                  <a:rPr lang="en-US" sz="2400" baseline="-250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2</a:t>
                </a:r>
                <a:r>
                  <a:rPr lang="en-US" sz="24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)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 </a:t>
                </a:r>
              </a:p>
              <a:p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Q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[</m:t>
                            </m:r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𝐾𝐻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i="1" smtClean="0">
                                <a:latin typeface="Cambria Math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/>
                                <a:cs typeface="Arial" pitchFamily="34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/>
                                <a:cs typeface="Arial" pitchFamily="34" charset="0"/>
                              </a:rPr>
                              <m:t>𝑐</m:t>
                            </m:r>
                          </m:sup>
                        </m:sSup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[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𝑂𝑋𝐻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i="1" smtClean="0">
                                <a:latin typeface="Cambria Math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/>
                                <a:cs typeface="Arial" pitchFamily="34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/>
                                <a:cs typeface="Arial" pitchFamily="34" charset="0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  <a:cs typeface="Arial" pitchFamily="34" charset="0"/>
                              </a:rPr>
                              <m:t>[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𝑂𝑋𝐻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i="1" smtClean="0">
                                <a:latin typeface="Cambria Math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/>
                                <a:cs typeface="Arial" pitchFamily="34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/>
                                <a:cs typeface="Arial" pitchFamily="34" charset="0"/>
                              </a:rPr>
                              <m:t>𝑎</m:t>
                            </m:r>
                          </m:sup>
                        </m:sSup>
                        <m:sSub>
                          <m:sSubPr>
                            <m:ctrlPr>
                              <a:rPr lang="en-US" sz="2400" i="1" smtClean="0"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  <a:cs typeface="Arial" pitchFamily="34" charset="0"/>
                              </a:rPr>
                              <m:t>[</m:t>
                            </m:r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𝐾𝐻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i="1" smtClean="0">
                                <a:latin typeface="Cambria Math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/>
                                <a:cs typeface="Arial" pitchFamily="34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/>
                                <a:cs typeface="Arial" pitchFamily="34" charset="0"/>
                              </a:rPr>
                              <m:t>𝑏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 smtClean="0">
                    <a:solidFill>
                      <a:srgbClr val="0070C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(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rắn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lỏng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, H</a:t>
                </a:r>
                <a:r>
                  <a:rPr lang="en-US" sz="2400" baseline="-250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O: 1;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Khí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 P ; dung </a:t>
                </a:r>
                <a:r>
                  <a:rPr lang="en-US" sz="2400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dịch</a:t>
                </a:r>
                <a:r>
                  <a:rPr lang="en-US" sz="24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 C)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 err="1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Nếu</a:t>
                </a:r>
                <a:r>
                  <a:rPr lang="en-US" sz="2400" dirty="0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E &gt; 0  </a:t>
                </a:r>
                <a:r>
                  <a:rPr lang="en-US" sz="2400" dirty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</a:t>
                </a:r>
                <a:r>
                  <a:rPr lang="en-US" sz="2400" dirty="0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G &lt; 0 : </a:t>
                </a:r>
                <a:r>
                  <a:rPr lang="en-US" sz="2400" dirty="0" err="1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pư</a:t>
                </a:r>
                <a:r>
                  <a:rPr lang="en-US" sz="2400" dirty="0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tự</a:t>
                </a:r>
                <a:r>
                  <a:rPr lang="en-US" sz="2400" dirty="0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phát</a:t>
                </a:r>
                <a:r>
                  <a:rPr lang="en-US" sz="2400" dirty="0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theo</a:t>
                </a:r>
                <a:r>
                  <a:rPr lang="en-US" sz="2400" dirty="0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chiều</a:t>
                </a:r>
                <a:r>
                  <a:rPr lang="en-US" sz="2400" dirty="0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thuận</a:t>
                </a:r>
                <a:r>
                  <a:rPr lang="en-US" sz="2400" dirty="0" smtClean="0">
                    <a:solidFill>
                      <a:srgbClr val="00B05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 err="1">
                    <a:latin typeface="Arial" pitchFamily="34" charset="0"/>
                    <a:cs typeface="Arial" pitchFamily="34" charset="0"/>
                    <a:sym typeface="Symbol"/>
                  </a:rPr>
                  <a:t>Nếu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  <a:sym typeface="Symbol"/>
                  </a:rPr>
                  <a:t> E 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&lt; 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  <a:sym typeface="Symbol"/>
                  </a:rPr>
                  <a:t>0  G 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&gt; 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  <a:sym typeface="Symbol"/>
                  </a:rPr>
                  <a:t>0 : </a:t>
                </a:r>
                <a:r>
                  <a:rPr lang="en-US" sz="2400" dirty="0" err="1">
                    <a:latin typeface="Arial" pitchFamily="34" charset="0"/>
                    <a:cs typeface="Arial" pitchFamily="34" charset="0"/>
                    <a:sym typeface="Symbol"/>
                  </a:rPr>
                  <a:t>pư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>
                    <a:latin typeface="Arial" pitchFamily="34" charset="0"/>
                    <a:cs typeface="Arial" pitchFamily="34" charset="0"/>
                    <a:sym typeface="Symbol"/>
                  </a:rPr>
                  <a:t>tự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>
                    <a:latin typeface="Arial" pitchFamily="34" charset="0"/>
                    <a:cs typeface="Arial" pitchFamily="34" charset="0"/>
                    <a:sym typeface="Symbol"/>
                  </a:rPr>
                  <a:t>phát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>
                    <a:latin typeface="Arial" pitchFamily="34" charset="0"/>
                    <a:cs typeface="Arial" pitchFamily="34" charset="0"/>
                    <a:sym typeface="Symbol"/>
                  </a:rPr>
                  <a:t>theo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>
                    <a:latin typeface="Arial" pitchFamily="34" charset="0"/>
                    <a:cs typeface="Arial" pitchFamily="34" charset="0"/>
                    <a:sym typeface="Symbol"/>
                  </a:rPr>
                  <a:t>chiều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sz="2400" dirty="0" err="1" smtClean="0">
                    <a:latin typeface="Arial" pitchFamily="34" charset="0"/>
                    <a:cs typeface="Arial" pitchFamily="34" charset="0"/>
                    <a:sym typeface="Symbol"/>
                  </a:rPr>
                  <a:t>nghịch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  <a:sym typeface="Symbol"/>
                  </a:rPr>
                  <a:t>.</a:t>
                </a:r>
                <a:endParaRPr lang="en-US" sz="2400" dirty="0">
                  <a:latin typeface="Arial" pitchFamily="34" charset="0"/>
                  <a:cs typeface="Arial" pitchFamily="34" charset="0"/>
                  <a:sym typeface="Symbol"/>
                </a:endParaRPr>
              </a:p>
              <a:p>
                <a:endParaRPr lang="en-US" sz="24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66" y="3657600"/>
                <a:ext cx="8991600" cy="3111301"/>
              </a:xfrm>
              <a:prstGeom prst="rect">
                <a:avLst/>
              </a:prstGeom>
              <a:blipFill rotWithShape="1">
                <a:blip r:embed="rId2"/>
                <a:stretch>
                  <a:fillRect l="-1085" t="-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28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98408"/>
            <a:ext cx="899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XÁC ĐỊNH CHIỀU PHẢN ỨNG OXHK Ở ĐK CHUẨN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         a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OXH</a:t>
            </a:r>
            <a:r>
              <a:rPr lang="en-US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+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</a:t>
            </a:r>
            <a:r>
              <a:rPr lang="en-US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fr-FR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⇌ c</a:t>
            </a:r>
            <a:r>
              <a:rPr lang="fr-FR" altLang="en-US" sz="28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fr-FR" altLang="en-US" sz="2800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fr-FR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+ d</a:t>
            </a:r>
            <a:r>
              <a:rPr lang="fr-FR" altLang="en-US" sz="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fr-FR" altLang="en-US" sz="28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179832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CÁCH 1: SO SÁNH THỂ KHỬ CHUẨN CỦA HAI CẶP OXHK </a:t>
            </a:r>
            <a:r>
              <a:rPr lang="en-US" sz="2400" b="1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lh</a:t>
            </a:r>
            <a:endParaRPr lang="en-US" sz="2400" b="1" dirty="0" smtClean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Nếu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en-US" sz="24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OXH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KH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) &gt; </a:t>
            </a:r>
            <a:r>
              <a:rPr lang="en-US" sz="24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OXH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KH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):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tự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phát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theo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chiều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thuận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Arial" pitchFamily="34" charset="0"/>
                <a:cs typeface="Arial" pitchFamily="34" charset="0"/>
              </a:rPr>
              <a:t>Nếu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OXH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KH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)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&lt; 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OXH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KH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):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tự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phát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theo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chiều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  <a:sym typeface="Symbol"/>
              </a:rPr>
              <a:t>nghịch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.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5815" y="3200400"/>
            <a:ext cx="91655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CÁCH 2: TÍNH SUẤT ĐIỆN ĐỘNG E</a:t>
            </a:r>
            <a:r>
              <a:rPr lang="en-US" sz="2400" b="1" baseline="300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ĐỂ XÉT DẤU </a:t>
            </a: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G</a:t>
            </a:r>
            <a:r>
              <a:rPr lang="en-US" sz="2400" b="1" baseline="300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 = -nFE</a:t>
            </a:r>
            <a:r>
              <a:rPr lang="en-US" sz="2400" b="1" baseline="300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endParaRPr lang="en-US" sz="2400" b="1" dirty="0" smtClean="0">
              <a:solidFill>
                <a:schemeClr val="accent6">
                  <a:lumMod val="50000"/>
                </a:schemeClr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                     E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= 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en-US" sz="24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OXH</a:t>
            </a:r>
            <a:r>
              <a:rPr lang="en-US" sz="24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KH</a:t>
            </a:r>
            <a:r>
              <a:rPr lang="en-US" sz="24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1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)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- 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en-US" sz="24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OXH</a:t>
            </a:r>
            <a:r>
              <a:rPr lang="en-US" sz="24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/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KH</a:t>
            </a:r>
            <a:r>
              <a:rPr lang="en-US" sz="24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)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Nếu</a:t>
            </a:r>
            <a:r>
              <a:rPr lang="en-US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E</a:t>
            </a:r>
            <a:r>
              <a:rPr lang="en-US" sz="2400" baseline="300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&gt; 0  </a:t>
            </a:r>
            <a:r>
              <a:rPr lang="en-US" sz="2400" dirty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G</a:t>
            </a:r>
            <a:r>
              <a:rPr lang="en-US" sz="2400" baseline="300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&lt; 0 : </a:t>
            </a:r>
            <a:r>
              <a:rPr lang="en-US" sz="24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tự</a:t>
            </a:r>
            <a:r>
              <a:rPr lang="en-US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phát</a:t>
            </a:r>
            <a:r>
              <a:rPr lang="en-US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theo</a:t>
            </a:r>
            <a:r>
              <a:rPr lang="en-US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chiều</a:t>
            </a:r>
            <a:r>
              <a:rPr lang="en-US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thuận</a:t>
            </a:r>
            <a:r>
              <a:rPr lang="en-US" sz="24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  <a:sym typeface="Symbol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Nếu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E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&lt; 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0  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G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&gt; 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0 :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tự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phát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theo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chiều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  <a:sym typeface="Symbol"/>
              </a:rPr>
              <a:t>nghịch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.</a:t>
            </a:r>
            <a:endParaRPr lang="en-US" sz="2400" dirty="0">
              <a:latin typeface="Arial" pitchFamily="34" charset="0"/>
              <a:cs typeface="Arial" pitchFamily="34" charset="0"/>
              <a:sym typeface="Symbol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19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9067800" cy="1143000"/>
          </a:xfrm>
        </p:spPr>
        <p:txBody>
          <a:bodyPr>
            <a:normAutofit/>
          </a:bodyPr>
          <a:lstStyle/>
          <a:p>
            <a:pPr algn="l"/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lập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sơ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đồ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tố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Ganvanic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phản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: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60840"/>
            <a:ext cx="8382000" cy="91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Ag</a:t>
            </a:r>
            <a:r>
              <a:rPr lang="en-US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  +  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Cl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              =   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AgCl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(r)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0000" y="1971675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 Ag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05600" y="198120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+Ag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urved Up Arrow 6"/>
          <p:cNvSpPr/>
          <p:nvPr/>
        </p:nvSpPr>
        <p:spPr>
          <a:xfrm>
            <a:off x="847725" y="2523470"/>
            <a:ext cx="6457950" cy="7620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0" y="2819400"/>
            <a:ext cx="64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+e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95650" y="3332440"/>
            <a:ext cx="2171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CATOD (+)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81525" y="4114800"/>
            <a:ext cx="4248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Arial" pitchFamily="34" charset="0"/>
                <a:cs typeface="Arial" pitchFamily="34" charset="0"/>
                <a:sym typeface="Symbol"/>
              </a:rPr>
              <a:t> </a:t>
            </a:r>
            <a:r>
              <a:rPr lang="en-US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AgNO</a:t>
            </a:r>
            <a:r>
              <a:rPr lang="en-US" sz="32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en-US" sz="3200" dirty="0" smtClean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3200" dirty="0" err="1" smtClean="0">
                <a:latin typeface="Arial" pitchFamily="34" charset="0"/>
                <a:cs typeface="Arial" pitchFamily="34" charset="0"/>
                <a:sym typeface="Symbol"/>
              </a:rPr>
              <a:t>dd</a:t>
            </a:r>
            <a:r>
              <a:rPr lang="en-US" sz="3200" dirty="0" smtClean="0">
                <a:latin typeface="Arial" pitchFamily="34" charset="0"/>
                <a:cs typeface="Arial" pitchFamily="34" charset="0"/>
                <a:sym typeface="Symbol"/>
              </a:rPr>
              <a:t>) </a:t>
            </a:r>
            <a:r>
              <a:rPr lang="en-US" sz="3200" b="1" dirty="0" smtClean="0">
                <a:latin typeface="Arial" pitchFamily="34" charset="0"/>
                <a:cs typeface="Arial" pitchFamily="34" charset="0"/>
                <a:sym typeface="Symbol"/>
              </a:rPr>
              <a:t> 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Ag</a:t>
            </a:r>
            <a:r>
              <a:rPr lang="en-US" sz="3200" dirty="0" smtClean="0">
                <a:latin typeface="Arial" pitchFamily="34" charset="0"/>
                <a:cs typeface="Arial" pitchFamily="34" charset="0"/>
                <a:sym typeface="Symbol"/>
              </a:rPr>
              <a:t> (+)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19650" y="1381780"/>
            <a:ext cx="64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e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52900" y="1000781"/>
            <a:ext cx="2171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ANOD (-)</a:t>
            </a:r>
            <a:endParaRPr lang="en-US" sz="2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4133849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latin typeface="Arial" pitchFamily="34" charset="0"/>
                <a:cs typeface="Arial" pitchFamily="34" charset="0"/>
              </a:rPr>
              <a:t>(-) </a:t>
            </a:r>
            <a:r>
              <a:rPr lang="vi-VN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Ag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vi-VN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AgCl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3200" dirty="0" smtClean="0">
                <a:latin typeface="Arial" pitchFamily="34" charset="0"/>
                <a:cs typeface="Arial" pitchFamily="34" charset="0"/>
                <a:sym typeface="Symbol"/>
              </a:rPr>
              <a:t> KCl(dd)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Curved Down Arrow 15"/>
          <p:cNvSpPr/>
          <p:nvPr/>
        </p:nvSpPr>
        <p:spPr>
          <a:xfrm>
            <a:off x="4381500" y="1524001"/>
            <a:ext cx="1562100" cy="45719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33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3" grpId="0"/>
      <p:bldP spid="14" grpId="0"/>
      <p:bldP spid="15" grpId="0"/>
      <p:bldP spid="1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9067800" cy="1143000"/>
          </a:xfrm>
        </p:spPr>
        <p:txBody>
          <a:bodyPr>
            <a:normAutofit/>
          </a:bodyPr>
          <a:lstStyle/>
          <a:p>
            <a:pPr algn="l"/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lập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sơ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đồ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tố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Ganvanic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phản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: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60840"/>
            <a:ext cx="8382000" cy="91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Cl</a:t>
            </a:r>
            <a:r>
              <a:rPr lang="vi-VN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k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  +   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Zn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(r)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             =   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Zn</a:t>
            </a:r>
            <a:r>
              <a:rPr lang="vi-VN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(dd)  +  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Cl</a:t>
            </a:r>
            <a:r>
              <a:rPr lang="vi-VN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urved Up Arrow 6"/>
          <p:cNvSpPr/>
          <p:nvPr/>
        </p:nvSpPr>
        <p:spPr>
          <a:xfrm>
            <a:off x="847725" y="2523470"/>
            <a:ext cx="6457950" cy="7620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0" y="2819400"/>
            <a:ext cx="1009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e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95650" y="3332440"/>
            <a:ext cx="2171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CATOD (+)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81524" y="4114800"/>
            <a:ext cx="4486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Arial" pitchFamily="34" charset="0"/>
                <a:cs typeface="Arial" pitchFamily="34" charset="0"/>
                <a:sym typeface="Symbol"/>
              </a:rPr>
              <a:t> </a:t>
            </a:r>
            <a:r>
              <a:rPr lang="vi-VN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KCl</a:t>
            </a:r>
            <a:r>
              <a:rPr lang="en-US" sz="3200" dirty="0" smtClean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3200" dirty="0" err="1" smtClean="0">
                <a:latin typeface="Arial" pitchFamily="34" charset="0"/>
                <a:cs typeface="Arial" pitchFamily="34" charset="0"/>
                <a:sym typeface="Symbol"/>
              </a:rPr>
              <a:t>dd</a:t>
            </a:r>
            <a:r>
              <a:rPr lang="en-US" sz="3200" dirty="0" smtClean="0">
                <a:latin typeface="Arial" pitchFamily="34" charset="0"/>
                <a:cs typeface="Arial" pitchFamily="34" charset="0"/>
                <a:sym typeface="Symbol"/>
              </a:rPr>
              <a:t>) </a:t>
            </a:r>
            <a:r>
              <a:rPr lang="en-US" sz="3200" b="1" dirty="0" smtClean="0">
                <a:latin typeface="Arial" pitchFamily="34" charset="0"/>
                <a:cs typeface="Arial" pitchFamily="34" charset="0"/>
                <a:sym typeface="Symbol"/>
              </a:rPr>
              <a:t> </a:t>
            </a:r>
            <a:r>
              <a:rPr lang="vi-VN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Cl</a:t>
            </a:r>
            <a:r>
              <a:rPr lang="vi-VN" sz="32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vi-VN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(k)</a:t>
            </a:r>
            <a:r>
              <a:rPr lang="en-US" sz="3200" dirty="0" smtClean="0">
                <a:latin typeface="Arial" pitchFamily="34" charset="0"/>
                <a:cs typeface="Arial" pitchFamily="34" charset="0"/>
                <a:sym typeface="Symbol"/>
              </a:rPr>
              <a:t> </a:t>
            </a:r>
            <a:r>
              <a:rPr lang="vi-VN" sz="3200" dirty="0" smtClean="0">
                <a:latin typeface="Arial" pitchFamily="34" charset="0"/>
                <a:cs typeface="Arial" pitchFamily="34" charset="0"/>
                <a:sym typeface="Symbol"/>
              </a:rPr>
              <a:t>Pt</a:t>
            </a:r>
            <a:r>
              <a:rPr lang="en-US" sz="3200" dirty="0" smtClean="0">
                <a:latin typeface="Arial" pitchFamily="34" charset="0"/>
                <a:cs typeface="Arial" pitchFamily="34" charset="0"/>
                <a:sym typeface="Symbol"/>
              </a:rPr>
              <a:t>(+)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76650" y="1457980"/>
            <a:ext cx="1047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vi-VN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e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95650" y="936072"/>
            <a:ext cx="2171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ANOD (-)</a:t>
            </a:r>
            <a:endParaRPr lang="en-US" sz="2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5874" y="4143373"/>
            <a:ext cx="3305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latin typeface="Arial" pitchFamily="34" charset="0"/>
                <a:cs typeface="Arial" pitchFamily="34" charset="0"/>
              </a:rPr>
              <a:t>(-) </a:t>
            </a:r>
            <a:r>
              <a:rPr lang="vi-VN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Zn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3200" dirty="0" smtClean="0">
                <a:latin typeface="Arial" pitchFamily="34" charset="0"/>
                <a:cs typeface="Arial" pitchFamily="34" charset="0"/>
                <a:sym typeface="Symbol"/>
              </a:rPr>
              <a:t> </a:t>
            </a:r>
            <a:r>
              <a:rPr lang="vi-VN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ZnCl</a:t>
            </a:r>
            <a:r>
              <a:rPr lang="vi-VN" sz="32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vi-VN" sz="3200" dirty="0" smtClean="0">
                <a:latin typeface="Arial" pitchFamily="34" charset="0"/>
                <a:cs typeface="Arial" pitchFamily="34" charset="0"/>
                <a:sym typeface="Symbol"/>
              </a:rPr>
              <a:t>(dd)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Curved Down Arrow 15"/>
          <p:cNvSpPr/>
          <p:nvPr/>
        </p:nvSpPr>
        <p:spPr>
          <a:xfrm>
            <a:off x="2514600" y="1524001"/>
            <a:ext cx="2952750" cy="45719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69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3" grpId="0"/>
      <p:bldP spid="14" grpId="0"/>
      <p:bldP spid="15" grpId="0"/>
      <p:bldP spid="1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9067800" cy="1143000"/>
          </a:xfrm>
        </p:spPr>
        <p:txBody>
          <a:bodyPr>
            <a:normAutofit/>
          </a:bodyPr>
          <a:lstStyle/>
          <a:p>
            <a:pPr algn="l"/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lập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sơ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đồ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tố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Ganvanic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phản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: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960840"/>
            <a:ext cx="8610600" cy="91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Ce</a:t>
            </a:r>
            <a:r>
              <a:rPr lang="vi-VN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4+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  +   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(dd)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     =   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vi-VN" sz="28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 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(dd)  +  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Ce</a:t>
            </a:r>
            <a:r>
              <a:rPr lang="vi-VN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3+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vi-VN" sz="2800" dirty="0" smtClean="0">
                <a:latin typeface="Arial" pitchFamily="34" charset="0"/>
                <a:cs typeface="Arial" pitchFamily="34" charset="0"/>
              </a:rPr>
              <a:t>dd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urved Up Arrow 6"/>
          <p:cNvSpPr/>
          <p:nvPr/>
        </p:nvSpPr>
        <p:spPr>
          <a:xfrm>
            <a:off x="847725" y="2461230"/>
            <a:ext cx="6772276" cy="7620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0" y="2700010"/>
            <a:ext cx="1009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+e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48013" y="3312080"/>
            <a:ext cx="2171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CATOD (+)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67175" y="4124325"/>
            <a:ext cx="5057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Arial" pitchFamily="34" charset="0"/>
                <a:cs typeface="Arial" pitchFamily="34" charset="0"/>
                <a:sym typeface="Symbol"/>
              </a:rPr>
              <a:t> 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Ce</a:t>
            </a:r>
            <a:r>
              <a:rPr lang="vi-VN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(SO</a:t>
            </a:r>
            <a:r>
              <a:rPr lang="vi-VN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4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)</a:t>
            </a:r>
            <a:r>
              <a:rPr lang="vi-VN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vi-VN" sz="2800" baseline="-250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,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Ce(SO</a:t>
            </a:r>
            <a:r>
              <a:rPr lang="vi-VN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4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)</a:t>
            </a:r>
            <a:r>
              <a:rPr lang="vi-VN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vi-VN" sz="2800" baseline="-250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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 Pt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(+)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76650" y="1457980"/>
            <a:ext cx="1047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-e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95650" y="936072"/>
            <a:ext cx="2171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ANOD (-)</a:t>
            </a:r>
            <a:endParaRPr lang="en-US" sz="2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0" y="4155102"/>
            <a:ext cx="487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latin typeface="Arial" pitchFamily="34" charset="0"/>
                <a:cs typeface="Arial" pitchFamily="34" charset="0"/>
              </a:rPr>
              <a:t>(-) Pt 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 </a:t>
            </a:r>
            <a:r>
              <a:rPr lang="vi-VN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FeSO</a:t>
            </a:r>
            <a:r>
              <a:rPr lang="vi-VN" sz="28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4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,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Fe</a:t>
            </a:r>
            <a:r>
              <a:rPr lang="vi-VN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(SO</a:t>
            </a:r>
            <a:r>
              <a:rPr lang="vi-VN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4</a:t>
            </a:r>
            <a:r>
              <a:rPr lang="vi-VN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)</a:t>
            </a:r>
            <a:r>
              <a:rPr lang="vi-VN" sz="2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3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Curved Down Arrow 15"/>
          <p:cNvSpPr/>
          <p:nvPr/>
        </p:nvSpPr>
        <p:spPr>
          <a:xfrm>
            <a:off x="2667000" y="1524001"/>
            <a:ext cx="2800350" cy="45719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72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3" grpId="0"/>
      <p:bldP spid="14" grpId="0"/>
      <p:bldP spid="15" grpId="0"/>
      <p:bldP spid="1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9067800" cy="1143000"/>
          </a:xfrm>
        </p:spPr>
        <p:txBody>
          <a:bodyPr>
            <a:normAutofit/>
          </a:bodyPr>
          <a:lstStyle/>
          <a:p>
            <a:pPr algn="l"/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lập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sơ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đồ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tố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Ganvanic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phản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: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52400" y="1960840"/>
                <a:ext cx="9067800" cy="9144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vi-V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altLang="en-US" b="1" i="1"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altLang="en-US" b="1" i="1">
                            <a:latin typeface="Cambria Math"/>
                            <a:cs typeface="Arial" panose="020B0604020202020204" pitchFamily="34" charset="0"/>
                          </a:rPr>
                          <m:t>𝟏</m:t>
                        </m:r>
                      </m:num>
                      <m:den>
                        <m:r>
                          <a:rPr lang="vi-VN" altLang="en-US" b="1" i="1">
                            <a:latin typeface="Cambria Math"/>
                            <a:cs typeface="Arial" panose="020B0604020202020204" pitchFamily="34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en-US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</a:t>
                </a:r>
                <a:r>
                  <a:rPr lang="vi-VN" altLang="en-US" b="1" baseline="-25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vi-VN" alt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(k)</a:t>
                </a:r>
                <a:r>
                  <a:rPr lang="vi-VN" altLang="en-US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vi-VN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altLang="en-US" b="1" i="1"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altLang="en-US" b="1" i="1">
                            <a:latin typeface="Cambria Math"/>
                            <a:cs typeface="Arial" panose="020B0604020202020204" pitchFamily="34" charset="0"/>
                          </a:rPr>
                          <m:t>𝟏</m:t>
                        </m:r>
                      </m:num>
                      <m:den>
                        <m:r>
                          <a:rPr lang="vi-VN" altLang="en-US" b="1" i="1">
                            <a:latin typeface="Cambria Math"/>
                            <a:cs typeface="Arial" panose="020B0604020202020204" pitchFamily="34" charset="0"/>
                          </a:rPr>
                          <m:t>𝟐</m:t>
                        </m:r>
                      </m:den>
                    </m:f>
                    <m:r>
                      <a:rPr lang="vi-VN" altLang="en-US" b="1" i="1">
                        <a:latin typeface="Cambria Math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vi-VN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</a:t>
                </a:r>
                <a:r>
                  <a:rPr lang="vi-VN" altLang="en-US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alt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(k) + H</a:t>
                </a:r>
                <a:r>
                  <a:rPr lang="en-US" altLang="en-US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alt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O(l) </a:t>
                </a:r>
                <a:r>
                  <a:rPr lang="fr-FR" alt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⇌ </a:t>
                </a:r>
                <a:r>
                  <a:rPr lang="vi-VN" alt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fr-FR" altLang="en-US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fr-FR" altLang="en-US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</a:t>
                </a:r>
                <a:r>
                  <a:rPr lang="fr-FR" altLang="en-US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  <a:r>
                  <a:rPr lang="fr-FR" alt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(dd) + </a:t>
                </a:r>
                <a:r>
                  <a:rPr lang="fr-FR" altLang="en-US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fr-FR" altLang="en-US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</a:t>
                </a:r>
                <a:r>
                  <a:rPr lang="fr-FR" alt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(dd)</a:t>
                </a:r>
                <a:endParaRPr lang="en-US" alt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52400" y="1960840"/>
                <a:ext cx="9067800" cy="9144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rved Up Arrow 6"/>
          <p:cNvSpPr/>
          <p:nvPr/>
        </p:nvSpPr>
        <p:spPr>
          <a:xfrm>
            <a:off x="533400" y="2559605"/>
            <a:ext cx="7391400" cy="7620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00450" y="2779335"/>
            <a:ext cx="1009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+e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48013" y="3312080"/>
            <a:ext cx="2171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CATOD (+)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1500" y="4155102"/>
            <a:ext cx="5057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Arial" pitchFamily="34" charset="0"/>
                <a:cs typeface="Arial" pitchFamily="34" charset="0"/>
                <a:sym typeface="Symbol"/>
              </a:rPr>
              <a:t> </a:t>
            </a:r>
            <a:r>
              <a:rPr lang="vi-VN" sz="3200" b="1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HCl</a:t>
            </a:r>
            <a:r>
              <a:rPr lang="vi-VN" sz="3200" dirty="0" smtClean="0">
                <a:latin typeface="Arial" pitchFamily="34" charset="0"/>
                <a:cs typeface="Arial" pitchFamily="34" charset="0"/>
                <a:sym typeface="Symbol"/>
              </a:rPr>
              <a:t>(dd) </a:t>
            </a:r>
            <a:r>
              <a:rPr lang="en-US" sz="3200" dirty="0" smtClean="0">
                <a:latin typeface="Arial" pitchFamily="34" charset="0"/>
                <a:cs typeface="Arial" pitchFamily="34" charset="0"/>
                <a:sym typeface="Symbol"/>
              </a:rPr>
              <a:t> </a:t>
            </a:r>
            <a:r>
              <a:rPr lang="vi-VN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Cl</a:t>
            </a:r>
            <a:r>
              <a:rPr lang="vi-VN" sz="32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vi-VN" sz="3200" dirty="0" smtClean="0">
                <a:latin typeface="Arial" pitchFamily="34" charset="0"/>
                <a:cs typeface="Arial" pitchFamily="34" charset="0"/>
                <a:sym typeface="Symbol"/>
              </a:rPr>
              <a:t>(k)</a:t>
            </a:r>
            <a:r>
              <a:rPr lang="vi-VN" sz="3200" baseline="-250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3200" dirty="0" smtClean="0">
                <a:latin typeface="Arial" pitchFamily="34" charset="0"/>
                <a:cs typeface="Arial" pitchFamily="34" charset="0"/>
                <a:sym typeface="Symbol"/>
              </a:rPr>
              <a:t></a:t>
            </a:r>
            <a:r>
              <a:rPr lang="vi-VN" sz="3200" dirty="0" smtClean="0">
                <a:latin typeface="Arial" pitchFamily="34" charset="0"/>
                <a:cs typeface="Arial" pitchFamily="34" charset="0"/>
                <a:sym typeface="Symbol"/>
              </a:rPr>
              <a:t> Pt </a:t>
            </a:r>
            <a:r>
              <a:rPr lang="en-US" sz="3200" dirty="0" smtClean="0">
                <a:latin typeface="Arial" pitchFamily="34" charset="0"/>
                <a:cs typeface="Arial" pitchFamily="34" charset="0"/>
                <a:sym typeface="Symbol"/>
              </a:rPr>
              <a:t>(+)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00450" y="1459292"/>
            <a:ext cx="1047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-e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95650" y="936072"/>
            <a:ext cx="2171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ANOD (-)</a:t>
            </a:r>
            <a:endParaRPr lang="en-US" sz="2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0" y="4155102"/>
            <a:ext cx="487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latin typeface="Arial" pitchFamily="34" charset="0"/>
                <a:cs typeface="Arial" pitchFamily="34" charset="0"/>
              </a:rPr>
              <a:t>(-) Pt </a:t>
            </a:r>
            <a:r>
              <a:rPr lang="vi-VN" sz="3200" dirty="0">
                <a:latin typeface="Arial" pitchFamily="34" charset="0"/>
                <a:cs typeface="Arial" pitchFamily="34" charset="0"/>
                <a:sym typeface="Symbol"/>
              </a:rPr>
              <a:t> </a:t>
            </a:r>
            <a:r>
              <a:rPr lang="vi-VN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Cl</a:t>
            </a:r>
            <a:r>
              <a:rPr lang="vi-VN" sz="32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vi-VN" sz="3200" dirty="0" smtClean="0">
                <a:latin typeface="Arial" pitchFamily="34" charset="0"/>
                <a:cs typeface="Arial" pitchFamily="34" charset="0"/>
                <a:sym typeface="Symbol"/>
              </a:rPr>
              <a:t>(k)</a:t>
            </a:r>
            <a:r>
              <a:rPr lang="vi-VN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3200" dirty="0">
                <a:latin typeface="Arial" pitchFamily="34" charset="0"/>
                <a:cs typeface="Arial" pitchFamily="34" charset="0"/>
                <a:sym typeface="Symbol"/>
              </a:rPr>
              <a:t> </a:t>
            </a:r>
            <a:r>
              <a:rPr lang="vi-VN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HClO</a:t>
            </a:r>
            <a:r>
              <a:rPr lang="vi-VN" sz="3200" dirty="0" smtClean="0">
                <a:latin typeface="Arial" pitchFamily="34" charset="0"/>
                <a:cs typeface="Arial" pitchFamily="34" charset="0"/>
                <a:sym typeface="Symbol"/>
              </a:rPr>
              <a:t>(dd)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Curved Down Arrow 15"/>
          <p:cNvSpPr/>
          <p:nvPr/>
        </p:nvSpPr>
        <p:spPr>
          <a:xfrm>
            <a:off x="2381250" y="1490990"/>
            <a:ext cx="3333750" cy="45719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97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3" grpId="0"/>
      <p:bldP spid="14" grpId="0"/>
      <p:bldP spid="15" grpId="0"/>
      <p:bldP spid="1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26557" y="2026795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Arial" pitchFamily="34" charset="0"/>
                <a:cs typeface="Arial" pitchFamily="34" charset="0"/>
              </a:rPr>
              <a:t>      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OHX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 ││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OXH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endParaRPr lang="en-US" sz="2000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urved Down Arrow 3"/>
          <p:cNvSpPr/>
          <p:nvPr/>
        </p:nvSpPr>
        <p:spPr>
          <a:xfrm>
            <a:off x="2819400" y="1729720"/>
            <a:ext cx="2094381" cy="3810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76391" y="2710425"/>
                <a:ext cx="3657600" cy="681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φ</a:t>
                </a:r>
                <a:r>
                  <a:rPr lang="en-US" sz="2400" baseline="-25000" dirty="0" smtClean="0">
                    <a:latin typeface="Arial" pitchFamily="34" charset="0"/>
                    <a:cs typeface="Arial" pitchFamily="34" charset="0"/>
                  </a:rPr>
                  <a:t>2      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= 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</a:rPr>
                  <a:t>φ</a:t>
                </a:r>
                <a:r>
                  <a:rPr lang="en-US" sz="2400" baseline="-25000" dirty="0"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400" baseline="30000" dirty="0"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  <a:cs typeface="Arial" pitchFamily="34" charset="0"/>
                          </a:rPr>
                          <m:t>0,059</m:t>
                        </m:r>
                      </m:num>
                      <m:den>
                        <m:sSub>
                          <m:sSubPr>
                            <m:ctrlPr>
                              <a:rPr lang="en-US" sz="2400" b="1" i="1" dirty="0" smtClean="0">
                                <a:solidFill>
                                  <a:srgbClr val="FF00FF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vi-VN" sz="2400" b="1" i="1" dirty="0" smtClean="0">
                                <a:solidFill>
                                  <a:srgbClr val="FF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vi-VN" sz="2400" b="1" i="1" dirty="0" smtClean="0">
                                <a:solidFill>
                                  <a:srgbClr val="FF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.lg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[</m:t>
                            </m:r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𝑂𝑋𝐻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/>
                            <a:cs typeface="Arial" pitchFamily="34" charset="0"/>
                          </a:rPr>
                          <m:t>]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[</m:t>
                            </m:r>
                            <m:r>
                              <a:rPr lang="en-US" sz="24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𝐾𝐻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/>
                            <a:cs typeface="Arial" pitchFamily="34" charset="0"/>
                          </a:rPr>
                          <m:t>]</m:t>
                        </m:r>
                      </m:den>
                    </m:f>
                  </m:oMath>
                </a14:m>
                <a:endParaRPr lang="en-US" sz="24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88" y="2710425"/>
                <a:ext cx="4876800" cy="681790"/>
              </a:xfrm>
              <a:prstGeom prst="rect">
                <a:avLst/>
              </a:prstGeom>
              <a:blipFill rotWithShape="1">
                <a:blip r:embed="rId2"/>
                <a:stretch>
                  <a:fillRect l="-1875" b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876800" y="2633167"/>
                <a:ext cx="4055134" cy="681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φ</a:t>
                </a:r>
                <a:r>
                  <a:rPr lang="en-US" sz="2400" baseline="-25000" dirty="0" smtClean="0">
                    <a:latin typeface="Arial" pitchFamily="34" charset="0"/>
                    <a:cs typeface="Arial" pitchFamily="34" charset="0"/>
                  </a:rPr>
                  <a:t>1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    = φ</a:t>
                </a:r>
                <a:r>
                  <a:rPr lang="en-US" sz="2400" baseline="-25000" dirty="0">
                    <a:latin typeface="Arial" pitchFamily="34" charset="0"/>
                    <a:cs typeface="Arial" pitchFamily="34" charset="0"/>
                  </a:rPr>
                  <a:t>1</a:t>
                </a:r>
                <a:r>
                  <a:rPr lang="en-US" sz="2400" baseline="30000" dirty="0" smtClean="0"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400" dirty="0">
                    <a:latin typeface="Arial" pitchFamily="34" charset="0"/>
                    <a:cs typeface="Arial" pitchFamily="34" charset="0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/>
                            <a:cs typeface="Arial" pitchFamily="34" charset="0"/>
                          </a:rPr>
                          <m:t>0,059</m:t>
                        </m:r>
                      </m:num>
                      <m:den>
                        <m:sSub>
                          <m:sSubPr>
                            <m:ctrlPr>
                              <a:rPr lang="en-US" sz="2400" b="1" i="1" dirty="0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vi-VN" sz="2400" b="1" i="1" dirty="0" smtClean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400" b="1" i="1" dirty="0">
                                <a:solidFill>
                                  <a:srgbClr val="008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 smtClean="0">
                    <a:latin typeface="Arial" pitchFamily="34" charset="0"/>
                    <a:cs typeface="Arial" pitchFamily="34" charset="0"/>
                  </a:rPr>
                  <a:t>.lg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[</m:t>
                            </m:r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𝑂𝑋𝐻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/>
                            <a:cs typeface="Arial" pitchFamily="34" charset="0"/>
                          </a:rPr>
                          <m:t>]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[</m:t>
                            </m:r>
                            <m:r>
                              <a:rPr lang="en-US" sz="24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𝐾𝐻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/>
                            <a:cs typeface="Arial" pitchFamily="34" charset="0"/>
                          </a:rPr>
                          <m:t>]</m:t>
                        </m:r>
                      </m:den>
                    </m:f>
                  </m:oMath>
                </a14:m>
                <a:endParaRPr lang="en-US" sz="24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00" y="2633167"/>
                <a:ext cx="5406845" cy="681790"/>
              </a:xfrm>
              <a:prstGeom prst="rect">
                <a:avLst/>
              </a:prstGeom>
              <a:blipFill rotWithShape="1">
                <a:blip r:embed="rId3"/>
                <a:stretch>
                  <a:fillRect l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22532" y="350743"/>
            <a:ext cx="906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Ở 25</a:t>
            </a:r>
            <a:r>
              <a:rPr lang="en-US" sz="24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en-US" sz="24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; </a:t>
            </a:r>
            <a:r>
              <a:rPr lang="en-US" sz="24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Đ</a:t>
            </a:r>
            <a:r>
              <a:rPr lang="vi-VN" sz="24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IỆN CỰC</a:t>
            </a:r>
            <a:r>
              <a:rPr lang="en-US" sz="24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2 </a:t>
            </a:r>
            <a:r>
              <a:rPr lang="vi-VN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:</a:t>
            </a:r>
            <a:r>
              <a:rPr lang="en-US" sz="24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φ</a:t>
            </a:r>
            <a:r>
              <a:rPr lang="en-US" sz="2400" b="1" baseline="-25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      φ</a:t>
            </a:r>
            <a:r>
              <a:rPr lang="en-US" sz="2400" b="1" baseline="-25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4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24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: </a:t>
            </a:r>
            <a:r>
              <a:rPr lang="en-US" sz="24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</a:t>
            </a:r>
            <a:r>
              <a:rPr lang="vi-VN" sz="24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IỆN CỰC</a:t>
            </a:r>
            <a:r>
              <a:rPr lang="en-US" sz="24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1</a:t>
            </a:r>
            <a:endParaRPr lang="en-US" sz="2400" b="1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81062" y="1669073"/>
            <a:ext cx="53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983411" y="2026794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(-)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6088699" y="2034049"/>
            <a:ext cx="93056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(+)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88243" y="347155"/>
            <a:ext cx="456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&lt;</a:t>
            </a:r>
            <a:endParaRPr lang="en-US" sz="3200" dirty="0">
              <a:solidFill>
                <a:srgbClr val="CC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0128" y="872862"/>
            <a:ext cx="421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Mật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e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trên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điện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cực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2</a:t>
            </a:r>
            <a:endParaRPr lang="en-US" sz="24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96688" y="931930"/>
            <a:ext cx="4418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Mật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e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trên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điện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cực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1</a:t>
            </a:r>
            <a:endParaRPr lang="en-US" sz="24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61101" y="870376"/>
            <a:ext cx="41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&gt;</a:t>
            </a:r>
            <a:endParaRPr lang="en-US" sz="3200" b="1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200" y="2053793"/>
            <a:ext cx="1615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vi-VN" sz="2800" b="1" dirty="0" smtClean="0">
                <a:latin typeface="Arial" pitchFamily="34" charset="0"/>
                <a:cs typeface="Arial" pitchFamily="34" charset="0"/>
              </a:rPr>
              <a:t>NOD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6453636" y="2017690"/>
            <a:ext cx="20045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US" sz="2800" b="1" u="sng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vi-VN" sz="2800" b="1" dirty="0" smtClean="0">
                <a:latin typeface="Arial" pitchFamily="34" charset="0"/>
                <a:cs typeface="Arial" pitchFamily="34" charset="0"/>
              </a:rPr>
              <a:t>ATOD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64074" y="3504213"/>
            <a:ext cx="238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Arial" pitchFamily="34" charset="0"/>
                <a:cs typeface="Arial" pitchFamily="34" charset="0"/>
              </a:rPr>
              <a:t>Quá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trình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u="sng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en-US" sz="1600" b="1" dirty="0" err="1">
                <a:latin typeface="Arial" pitchFamily="34" charset="0"/>
                <a:cs typeface="Arial" pitchFamily="34" charset="0"/>
              </a:rPr>
              <a:t>xyhóa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:</a:t>
            </a:r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4913781" y="3466010"/>
            <a:ext cx="17384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Arial" pitchFamily="34" charset="0"/>
                <a:cs typeface="Arial" pitchFamily="34" charset="0"/>
              </a:rPr>
              <a:t>Quá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trình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u="sng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1600" b="1" dirty="0" err="1">
                <a:latin typeface="Arial" pitchFamily="34" charset="0"/>
                <a:cs typeface="Arial" pitchFamily="34" charset="0"/>
              </a:rPr>
              <a:t>hử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:</a:t>
            </a:r>
            <a:endParaRPr lang="en-US" sz="1600" dirty="0"/>
          </a:p>
        </p:txBody>
      </p:sp>
      <p:sp>
        <p:nvSpPr>
          <p:cNvPr id="22" name="TextBox 21"/>
          <p:cNvSpPr txBox="1"/>
          <p:nvPr/>
        </p:nvSpPr>
        <p:spPr>
          <a:xfrm>
            <a:off x="6392206" y="3443976"/>
            <a:ext cx="2495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OXH</a:t>
            </a:r>
            <a:r>
              <a:rPr lang="en-US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dirty="0">
                <a:latin typeface="Arial" pitchFamily="34" charset="0"/>
                <a:cs typeface="Arial" pitchFamily="34" charset="0"/>
              </a:rPr>
              <a:t>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 + </a:t>
            </a:r>
            <a:r>
              <a:rPr lang="en-US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vi-VN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e </a:t>
            </a:r>
            <a:r>
              <a:rPr lang="en-US" dirty="0">
                <a:latin typeface="Arial" pitchFamily="34" charset="0"/>
                <a:cs typeface="Arial" pitchFamily="34" charset="0"/>
              </a:rPr>
              <a:t>⇄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</a:t>
            </a:r>
            <a:r>
              <a:rPr lang="en-US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endParaRPr lang="en-US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2115450" y="3454990"/>
            <a:ext cx="2761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</a:t>
            </a:r>
            <a:r>
              <a:rPr lang="en-US" sz="20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vi-VN" sz="2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– </a:t>
            </a:r>
            <a:r>
              <a:rPr lang="en-US" sz="2000" b="1" dirty="0" smtClean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vi-VN" sz="2000" b="1" baseline="-25000" dirty="0" smtClean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e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⇄ 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OXH</a:t>
            </a:r>
            <a:r>
              <a:rPr lang="en-US" sz="20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4" name="Curved Right Arrow 23"/>
          <p:cNvSpPr/>
          <p:nvPr/>
        </p:nvSpPr>
        <p:spPr>
          <a:xfrm rot="5400000">
            <a:off x="3763912" y="542179"/>
            <a:ext cx="307889" cy="2375086"/>
          </a:xfrm>
          <a:prstGeom prst="curved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40910" y="1468110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i</a:t>
            </a:r>
            <a:endParaRPr lang="en-US" sz="2800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5745" y="5152000"/>
                <a:ext cx="6728622" cy="707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E = φ</a:t>
                </a:r>
                <a:r>
                  <a:rPr lang="en-US" sz="2800" baseline="-250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+ </a:t>
                </a:r>
                <a:r>
                  <a:rPr lang="en-US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- φ</a:t>
                </a:r>
                <a:r>
                  <a:rPr lang="en-US" sz="2800" baseline="-250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-</a:t>
                </a:r>
                <a:r>
                  <a:rPr lang="en-US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= φ</a:t>
                </a:r>
                <a:r>
                  <a:rPr lang="en-US" sz="2800" baseline="-250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1 </a:t>
                </a:r>
                <a:r>
                  <a:rPr lang="en-US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 - φ</a:t>
                </a:r>
                <a:r>
                  <a:rPr lang="en-US" sz="2800" baseline="-250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vi-VN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 = E</a:t>
                </a:r>
                <a:r>
                  <a:rPr lang="vi-VN" sz="2800" baseline="300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o</a:t>
                </a:r>
                <a:r>
                  <a:rPr lang="vi-VN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smtClean="0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vi-VN" sz="2800" b="0" i="1" smtClean="0">
                            <a:solidFill>
                              <a:srgbClr val="008000"/>
                            </a:solidFill>
                            <a:latin typeface="Cambria Math"/>
                            <a:cs typeface="Arial" pitchFamily="34" charset="0"/>
                          </a:rPr>
                          <m:t>0,059</m:t>
                        </m:r>
                      </m:num>
                      <m:den>
                        <m:r>
                          <a:rPr lang="vi-VN" sz="2800" b="1" i="0" smtClean="0">
                            <a:solidFill>
                              <a:srgbClr val="C00000"/>
                            </a:solidFill>
                            <a:latin typeface="Cambria Math"/>
                            <a:cs typeface="Arial" pitchFamily="34" charset="0"/>
                          </a:rPr>
                          <m:t>𝐧</m:t>
                        </m:r>
                      </m:den>
                    </m:f>
                  </m:oMath>
                </a14:m>
                <a:r>
                  <a:rPr lang="vi-VN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lgQ</a:t>
                </a:r>
                <a:r>
                  <a:rPr lang="en-US" sz="2800" dirty="0" smtClean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endParaRPr lang="en-US" sz="2800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45" y="5152000"/>
                <a:ext cx="6728622" cy="707758"/>
              </a:xfrm>
              <a:prstGeom prst="rect">
                <a:avLst/>
              </a:prstGeom>
              <a:blipFill rotWithShape="1">
                <a:blip r:embed="rId4"/>
                <a:stretch>
                  <a:fillRect l="-1902" b="-9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3470" y="4567543"/>
            <a:ext cx="2878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Khi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pin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hoạt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động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:</a:t>
            </a:r>
            <a:endParaRPr lang="en-US" sz="2400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13508" y="3346932"/>
            <a:ext cx="274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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27322" y="5210137"/>
            <a:ext cx="274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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453385" y="3391617"/>
            <a:ext cx="274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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55521" y="2765459"/>
            <a:ext cx="274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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 flipH="1">
            <a:off x="372665" y="5234849"/>
            <a:ext cx="465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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455707" y="5213872"/>
            <a:ext cx="274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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266609" y="2765458"/>
            <a:ext cx="274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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199406" y="2479592"/>
            <a:ext cx="274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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593011" y="3351642"/>
            <a:ext cx="274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</a:t>
            </a:r>
            <a:r>
              <a:rPr lang="vi-VN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23820" y="3398471"/>
            <a:ext cx="274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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208031" y="2930550"/>
            <a:ext cx="274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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291985" y="2996291"/>
            <a:ext cx="274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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375553" y="2626959"/>
            <a:ext cx="274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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1560" y="3977643"/>
            <a:ext cx="87998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 smtClean="0"/>
              <a:t>PHẢN ỨNG OXHK:  a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OXH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400" dirty="0" smtClean="0">
                <a:latin typeface="Arial" pitchFamily="34" charset="0"/>
                <a:cs typeface="Arial" pitchFamily="34" charset="0"/>
              </a:rPr>
              <a:t>+ b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⇄ </a:t>
            </a:r>
            <a:r>
              <a:rPr lang="vi-VN" sz="2400" dirty="0" smtClean="0">
                <a:latin typeface="Arial" pitchFamily="34" charset="0"/>
                <a:cs typeface="Arial" pitchFamily="34" charset="0"/>
              </a:rPr>
              <a:t> c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OXH</a:t>
            </a:r>
            <a:r>
              <a:rPr lang="en-US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4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  </a:t>
            </a:r>
            <a:r>
              <a:rPr lang="vi-VN" sz="2400" dirty="0" smtClean="0">
                <a:latin typeface="Arial" pitchFamily="34" charset="0"/>
                <a:cs typeface="Arial" pitchFamily="34" charset="0"/>
              </a:rPr>
              <a:t>d</a:t>
            </a: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</a:t>
            </a:r>
            <a:r>
              <a:rPr lang="en-US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vi-VN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; </a:t>
            </a:r>
            <a:endParaRPr lang="en-US" sz="2400" b="1" dirty="0">
              <a:solidFill>
                <a:srgbClr val="FF00FF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400" b="1" dirty="0" smtClean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400" b="1" dirty="0">
              <a:solidFill>
                <a:srgbClr val="FF00FF"/>
              </a:solidFill>
              <a:latin typeface="Arial" pitchFamily="34" charset="0"/>
              <a:cs typeface="Arial" pitchFamily="34" charset="0"/>
            </a:endParaRPr>
          </a:p>
          <a:p>
            <a:r>
              <a:rPr lang="vi-VN" dirty="0" smtClean="0"/>
              <a:t> </a:t>
            </a:r>
            <a:endParaRPr lang="en-US" dirty="0"/>
          </a:p>
        </p:txBody>
      </p:sp>
      <p:sp>
        <p:nvSpPr>
          <p:cNvPr id="48" name="Curved Down Arrow 47"/>
          <p:cNvSpPr/>
          <p:nvPr/>
        </p:nvSpPr>
        <p:spPr>
          <a:xfrm>
            <a:off x="3357858" y="3804563"/>
            <a:ext cx="4237323" cy="28574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100">
                <a:effectLst/>
                <a:ea typeface="Calibri"/>
                <a:cs typeface="Times New Roman"/>
              </a:rPr>
              <a:t>C</a:t>
            </a:r>
            <a:endParaRPr lang="en-US" sz="1100">
              <a:effectLst/>
              <a:ea typeface="Calibri"/>
              <a:cs typeface="Times New Roman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664469" y="3720974"/>
            <a:ext cx="2226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2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ne</a:t>
            </a:r>
            <a:r>
              <a:rPr lang="en-US" sz="2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(+)</a:t>
            </a:r>
            <a:endParaRPr lang="en-US" sz="20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Curved Up Arrow 49"/>
          <p:cNvSpPr/>
          <p:nvPr/>
        </p:nvSpPr>
        <p:spPr>
          <a:xfrm>
            <a:off x="4566592" y="4322185"/>
            <a:ext cx="1892570" cy="41891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899586" y="4321003"/>
            <a:ext cx="1956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vi-VN" sz="2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2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en-US" sz="2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en-US" sz="2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(-)</a:t>
            </a:r>
            <a:endParaRPr lang="en-US" sz="2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12097" y="5747527"/>
                <a:ext cx="8882576" cy="696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400" dirty="0" smtClean="0">
                    <a:solidFill>
                      <a:srgbClr val="CC00FF"/>
                    </a:solidFill>
                  </a:rPr>
                  <a:t>Khi pư đạt cân bằng: E = 0 </a:t>
                </a:r>
                <a:r>
                  <a:rPr lang="vi-VN" sz="2400" dirty="0" smtClean="0">
                    <a:solidFill>
                      <a:srgbClr val="CC00FF"/>
                    </a:solidFill>
                    <a:sym typeface="Symbol"/>
                  </a:rPr>
                  <a:t> Hằng </a:t>
                </a:r>
                <a:r>
                  <a:rPr lang="en-US" sz="2400" dirty="0" err="1" smtClean="0">
                    <a:solidFill>
                      <a:srgbClr val="CC00FF"/>
                    </a:solidFill>
                    <a:sym typeface="Symbol"/>
                  </a:rPr>
                  <a:t>số</a:t>
                </a:r>
                <a:r>
                  <a:rPr lang="en-US" sz="2400" dirty="0" smtClean="0">
                    <a:solidFill>
                      <a:srgbClr val="CC00FF"/>
                    </a:solidFill>
                    <a:sym typeface="Symbol"/>
                  </a:rPr>
                  <a:t> </a:t>
                </a:r>
                <a:r>
                  <a:rPr lang="en-US" sz="2400" dirty="0" err="1" smtClean="0">
                    <a:solidFill>
                      <a:srgbClr val="CC00FF"/>
                    </a:solidFill>
                    <a:sym typeface="Symbol"/>
                  </a:rPr>
                  <a:t>cb</a:t>
                </a:r>
                <a:r>
                  <a:rPr lang="vi-VN" sz="2400" dirty="0" smtClean="0">
                    <a:solidFill>
                      <a:srgbClr val="CC00FF"/>
                    </a:solidFill>
                    <a:sym typeface="Symbol"/>
                  </a:rPr>
                  <a:t> ở 25</a:t>
                </a:r>
                <a:r>
                  <a:rPr lang="vi-VN" sz="2400" baseline="30000" dirty="0" smtClean="0">
                    <a:solidFill>
                      <a:srgbClr val="CC00FF"/>
                    </a:solidFill>
                    <a:sym typeface="Symbol"/>
                  </a:rPr>
                  <a:t>0</a:t>
                </a:r>
                <a:r>
                  <a:rPr lang="vi-VN" sz="2400" dirty="0" smtClean="0">
                    <a:solidFill>
                      <a:srgbClr val="CC00FF"/>
                    </a:solidFill>
                    <a:sym typeface="Symbol"/>
                  </a:rPr>
                  <a:t>C: </a:t>
                </a:r>
                <a:r>
                  <a:rPr lang="en-US" sz="2400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lgK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solidFill>
                                  <a:srgbClr val="CC00FF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𝐧</m:t>
                            </m:r>
                            <m:r>
                              <m:rPr>
                                <m:sty m:val="p"/>
                              </m:rPr>
                              <a:rPr lang="en-US" sz="2400" i="0">
                                <a:solidFill>
                                  <a:srgbClr val="CC00FF"/>
                                </a:solidFill>
                                <a:latin typeface="Cambria Math"/>
                              </a:rPr>
                              <m:t>E</m:t>
                            </m:r>
                          </m:e>
                          <m:sup>
                            <m:r>
                              <a:rPr lang="en-US" sz="2400" i="0">
                                <a:solidFill>
                                  <a:srgbClr val="CC00FF"/>
                                </a:solidFill>
                                <a:latin typeface="Cambria Math"/>
                              </a:rPr>
                              <m:t>0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solidFill>
                              <a:srgbClr val="CC00FF"/>
                            </a:solidFill>
                            <a:latin typeface="Cambria Math"/>
                          </a:rPr>
                          <m:t>0,059</m:t>
                        </m:r>
                      </m:den>
                    </m:f>
                  </m:oMath>
                </a14:m>
                <a:r>
                  <a:rPr lang="vi-VN" sz="2400" dirty="0" smtClean="0">
                    <a:solidFill>
                      <a:srgbClr val="CC00FF"/>
                    </a:solidFill>
                    <a:sym typeface="Symbol"/>
                  </a:rPr>
                  <a:t> </a:t>
                </a:r>
                <a:endParaRPr lang="en-US" sz="2400" dirty="0">
                  <a:solidFill>
                    <a:srgbClr val="CC00FF"/>
                  </a:solidFill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7" y="5747527"/>
                <a:ext cx="8882576" cy="696666"/>
              </a:xfrm>
              <a:prstGeom prst="rect">
                <a:avLst/>
              </a:prstGeom>
              <a:blipFill rotWithShape="1">
                <a:blip r:embed="rId5"/>
                <a:stretch>
                  <a:fillRect l="-1098" b="-4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/>
          <p:cNvSpPr txBox="1"/>
          <p:nvPr/>
        </p:nvSpPr>
        <p:spPr>
          <a:xfrm>
            <a:off x="3861860" y="4798375"/>
            <a:ext cx="370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vi-VN" sz="2400" b="1" baseline="30000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400" b="1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 = φ</a:t>
            </a:r>
            <a:r>
              <a:rPr lang="vi-VN" sz="2400" b="1" baseline="30000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400" b="1" baseline="-25000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2400" b="1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- φ</a:t>
            </a:r>
            <a:r>
              <a:rPr lang="vi-VN" sz="2400" b="1" baseline="30000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400" b="1" baseline="-25000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vi-VN" sz="2400" b="1" baseline="-25000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= φ</a:t>
            </a:r>
            <a:r>
              <a:rPr lang="vi-VN" sz="2400" b="1" baseline="30000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400" b="1" baseline="-25000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1 </a:t>
            </a:r>
            <a:r>
              <a:rPr lang="en-US" sz="2400" b="1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 - φ</a:t>
            </a:r>
            <a:r>
              <a:rPr lang="vi-VN" sz="2400" b="1" baseline="30000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400" b="1" baseline="-25000" dirty="0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5715000" y="5098146"/>
                <a:ext cx="3300284" cy="735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400" dirty="0" smtClean="0"/>
                  <a:t>; Q =(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4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240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[</m:t>
                            </m:r>
                            <m:r>
                              <a:rPr lang="vi-VN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𝑂𝑋𝐻</m:t>
                            </m:r>
                          </m:e>
                          <m:sub>
                            <m:r>
                              <a:rPr lang="vi-VN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vi-VN" sz="24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vi-VN" sz="2400" b="0" i="1" smtClean="0">
                                <a:latin typeface="Cambria Math"/>
                              </a:rPr>
                              <m:t>]</m:t>
                            </m:r>
                          </m:e>
                          <m:sup>
                            <m:r>
                              <a:rPr lang="vi-VN" sz="2400" b="0" i="1" smtClean="0">
                                <a:latin typeface="Cambria Math"/>
                              </a:rPr>
                              <m:t>𝑐</m:t>
                            </m:r>
                          </m:sup>
                        </m:sSup>
                        <m:sSub>
                          <m:sSubPr>
                            <m:ctrlPr>
                              <a:rPr lang="vi-VN" sz="240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[</m:t>
                            </m:r>
                            <m:r>
                              <a:rPr lang="vi-VN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𝐾𝐻</m:t>
                            </m:r>
                          </m:e>
                          <m:sub>
                            <m:r>
                              <a:rPr lang="vi-VN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vi-VN" sz="24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vi-VN" sz="2400" b="0" i="1" smtClean="0">
                                <a:latin typeface="Cambria Math"/>
                              </a:rPr>
                              <m:t>]</m:t>
                            </m:r>
                          </m:e>
                          <m:sup>
                            <m:r>
                              <a:rPr lang="vi-VN" sz="2400" b="0" i="1" smtClean="0">
                                <a:latin typeface="Cambria Math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vi-VN" sz="24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2400" b="0" i="1" smtClean="0">
                                <a:latin typeface="Cambria Math"/>
                              </a:rPr>
                              <m:t>[</m:t>
                            </m:r>
                            <m:r>
                              <a:rPr lang="vi-VN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𝑂𝑋𝐻</m:t>
                            </m:r>
                          </m:e>
                          <m:sub>
                            <m:r>
                              <a:rPr lang="vi-VN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vi-VN" sz="24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vi-VN" sz="2400" b="0" i="1" smtClean="0">
                                <a:latin typeface="Cambria Math"/>
                              </a:rPr>
                              <m:t>]</m:t>
                            </m:r>
                          </m:e>
                          <m:sup>
                            <m:r>
                              <a:rPr lang="vi-VN" sz="2400" b="0" i="1" smtClean="0">
                                <a:latin typeface="Cambria Math"/>
                              </a:rPr>
                              <m:t>𝑎</m:t>
                            </m:r>
                          </m:sup>
                        </m:sSup>
                        <m:sSub>
                          <m:sSubPr>
                            <m:ctrlPr>
                              <a:rPr lang="vi-VN" sz="24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2400" b="0" i="1" smtClean="0">
                                <a:latin typeface="Cambria Math"/>
                              </a:rPr>
                              <m:t>[</m:t>
                            </m:r>
                            <m:r>
                              <a:rPr lang="vi-VN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𝐾𝐻</m:t>
                            </m:r>
                          </m:e>
                          <m:sub>
                            <m:r>
                              <a:rPr lang="vi-VN" sz="24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vi-VN" sz="24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vi-VN" sz="2400" b="0" i="1" smtClean="0">
                                <a:latin typeface="Cambria Math"/>
                              </a:rPr>
                              <m:t>]</m:t>
                            </m:r>
                          </m:e>
                          <m:sup>
                            <m:r>
                              <a:rPr lang="vi-VN" sz="2400" b="0" i="1" smtClean="0">
                                <a:latin typeface="Cambria Math"/>
                              </a:rPr>
                              <m:t>𝑏</m:t>
                            </m:r>
                          </m:sup>
                        </m:sSup>
                      </m:den>
                    </m:f>
                  </m:oMath>
                </a14:m>
                <a:r>
                  <a:rPr lang="vi-VN" sz="2400" dirty="0" smtClean="0"/>
                  <a:t>)</a:t>
                </a:r>
                <a:r>
                  <a:rPr lang="vi-VN" sz="2400" baseline="-25000" dirty="0" smtClean="0">
                    <a:sym typeface="Symbol"/>
                  </a:rPr>
                  <a:t></a:t>
                </a:r>
                <a:endParaRPr lang="en-US" sz="24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098146"/>
                <a:ext cx="3300284" cy="735073"/>
              </a:xfrm>
              <a:prstGeom prst="rect">
                <a:avLst/>
              </a:prstGeom>
              <a:blipFill rotWithShape="1">
                <a:blip r:embed="rId6"/>
                <a:stretch>
                  <a:fillRect l="-2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329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6" grpId="0"/>
      <p:bldP spid="7" grpId="0"/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3" grpId="0"/>
      <p:bldP spid="24" grpId="0" animBg="1"/>
      <p:bldP spid="25" grpId="0"/>
      <p:bldP spid="5" grpId="0"/>
      <p:bldP spid="10" grpId="0"/>
      <p:bldP spid="21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 animBg="1"/>
      <p:bldP spid="49" grpId="0"/>
      <p:bldP spid="50" grpId="0" animBg="1"/>
      <p:bldP spid="51" grpId="0"/>
      <p:bldP spid="52" grpId="0"/>
      <p:bldP spid="53" grpId="0"/>
      <p:bldP spid="5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C2FB703-7CED-4EB3-9C35-EE8016C67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8" y="1295400"/>
            <a:ext cx="9109542" cy="6438699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vi-VN" sz="8600" dirty="0" smtClean="0">
                <a:latin typeface="Arial" pitchFamily="34" charset="0"/>
                <a:cs typeface="Arial" pitchFamily="34" charset="0"/>
              </a:rPr>
              <a:t>25</a:t>
            </a:r>
            <a:r>
              <a:rPr lang="vi-VN" sz="86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C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,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</a:t>
            </a:r>
            <a:r>
              <a:rPr lang="vi-VN" sz="86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(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3+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/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) = 0,77V &lt;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</a:t>
            </a:r>
            <a:r>
              <a:rPr lang="vi-VN" sz="86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(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Cl</a:t>
            </a:r>
            <a:r>
              <a:rPr lang="vi-VN" sz="86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/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Cl</a:t>
            </a:r>
            <a:r>
              <a:rPr lang="vi-VN" sz="8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) = 1,36V </a:t>
            </a:r>
            <a:endParaRPr lang="vi-VN" sz="8600" baseline="-25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>
                <a:latin typeface="Arial" pitchFamily="34" charset="0"/>
                <a:cs typeface="Arial" pitchFamily="34" charset="0"/>
              </a:rPr>
              <a:t>Ở đk chuẩn 25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C, pư 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vi-VN" sz="86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2Fe</a:t>
            </a:r>
            <a:r>
              <a:rPr lang="vi-VN" sz="86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8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(dd) +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Cl</a:t>
            </a:r>
            <a:r>
              <a:rPr lang="vi-VN" sz="86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(k)</a:t>
            </a:r>
            <a:r>
              <a:rPr lang="vi-VN" sz="86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2Fe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3+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(dd)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+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2Cl</a:t>
            </a:r>
            <a:r>
              <a:rPr lang="vi-VN" sz="8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(dd)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;(</a:t>
            </a:r>
            <a:r>
              <a:rPr lang="en-US" sz="8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=2mol) </a:t>
            </a:r>
            <a:endParaRPr lang="vi-VN" sz="8600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endParaRPr lang="en-US" sz="8600" b="1" u="sng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b="1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vi-VN" sz="8600" b="1" dirty="0" smtClean="0">
                <a:latin typeface="Arial" pitchFamily="34" charset="0"/>
                <a:cs typeface="Arial" pitchFamily="34" charset="0"/>
              </a:rPr>
              <a:t>NOD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(-) Pt|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1M,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3+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1M | | 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Cl</a:t>
            </a:r>
            <a:r>
              <a:rPr lang="vi-VN" sz="8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1M |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Cl</a:t>
            </a:r>
            <a:r>
              <a:rPr lang="vi-VN" sz="86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1atm |Pt (+) </a:t>
            </a:r>
            <a:r>
              <a:rPr lang="vi-VN" sz="8600" b="1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vi-VN" sz="8600" b="1" dirty="0">
                <a:latin typeface="Arial" pitchFamily="34" charset="0"/>
                <a:cs typeface="Arial" pitchFamily="34" charset="0"/>
              </a:rPr>
              <a:t>ATOD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QT </a:t>
            </a:r>
            <a:r>
              <a:rPr lang="vi-VN" sz="8600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xy hóa: 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2Fe</a:t>
            </a:r>
            <a:r>
              <a:rPr lang="vi-VN" sz="8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 - 2e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2Fe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3+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;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    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Cl</a:t>
            </a:r>
            <a:r>
              <a:rPr lang="vi-VN" sz="86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+ 2e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2Cl</a:t>
            </a:r>
            <a:r>
              <a:rPr lang="vi-VN" sz="8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: QT </a:t>
            </a:r>
            <a:r>
              <a:rPr lang="vi-VN" sz="8600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hử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>
              <a:lnSpc>
                <a:spcPct val="160000"/>
              </a:lnSpc>
              <a:buNone/>
            </a:pPr>
            <a:endParaRPr lang="en-US" sz="8600" dirty="0" smtClean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86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vi-VN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vi-VN" sz="86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=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</a:t>
            </a:r>
            <a:r>
              <a:rPr lang="vi-VN" sz="86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600" baseline="-25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+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- </a:t>
            </a:r>
            <a:r>
              <a:rPr lang="vi-VN" sz="86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600" baseline="-25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-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86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=1,36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– 0,77 = </a:t>
            </a:r>
            <a:r>
              <a:rPr lang="vi-VN" sz="8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0,59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[V</a:t>
            </a:r>
            <a:r>
              <a:rPr lang="vi-VN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]</a:t>
            </a:r>
            <a:r>
              <a:rPr lang="en-US" sz="86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; F = 96500 [J/</a:t>
            </a:r>
            <a:r>
              <a:rPr lang="en-US" sz="8600" dirty="0" err="1" smtClean="0">
                <a:latin typeface="Arial" pitchFamily="34" charset="0"/>
                <a:cs typeface="Arial" pitchFamily="34" charset="0"/>
              </a:rPr>
              <a:t>Vmol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]</a:t>
            </a:r>
            <a:endParaRPr lang="vi-VN" sz="8600" dirty="0">
              <a:latin typeface="Arial" pitchFamily="34" charset="0"/>
              <a:cs typeface="Arial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G</a:t>
            </a:r>
            <a:r>
              <a:rPr lang="vi-VN" sz="86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vi-VN" sz="86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298</a:t>
            </a:r>
            <a:r>
              <a:rPr lang="en-US" sz="86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86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=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-</a:t>
            </a:r>
            <a:r>
              <a:rPr lang="vi-VN" sz="8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n</a:t>
            </a:r>
            <a:r>
              <a:rPr lang="vi-VN" sz="86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E</a:t>
            </a:r>
            <a:r>
              <a:rPr lang="vi-VN" sz="8600" baseline="300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vi-VN" sz="86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F</a:t>
            </a:r>
            <a:r>
              <a:rPr lang="en-US" sz="86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86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=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-</a:t>
            </a:r>
            <a:r>
              <a:rPr lang="vi-VN" sz="86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2.0,59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 .96500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= -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113870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J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= </a:t>
            </a:r>
            <a:r>
              <a:rPr lang="vi-VN" sz="8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-113,87 </a:t>
            </a:r>
            <a:r>
              <a:rPr lang="vi-VN" sz="8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kJ</a:t>
            </a:r>
            <a:r>
              <a:rPr lang="en-US" sz="8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&lt; - 40kJ</a:t>
            </a:r>
            <a:endParaRPr lang="vi-VN" sz="86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86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lgK</a:t>
            </a:r>
            <a:r>
              <a:rPr lang="vi-VN" sz="8600" baseline="-25000" dirty="0" smtClean="0">
                <a:latin typeface="Arial" pitchFamily="34" charset="0"/>
                <a:cs typeface="Arial" pitchFamily="34" charset="0"/>
              </a:rPr>
              <a:t>298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=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E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/0,059 = 2.0,59/0,059 = 20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 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vi-VN" sz="86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298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vi-VN" sz="8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vi-VN" sz="86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20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&gt; 10</a:t>
            </a:r>
            <a:r>
              <a:rPr lang="en-US" sz="8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(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ở 25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C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)</a:t>
            </a:r>
            <a:endParaRPr lang="vi-VN" sz="8600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   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 Phản ứng tự phát hoàn </a:t>
            </a:r>
            <a:r>
              <a:rPr lang="vi-VN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toàn</a:t>
            </a:r>
            <a:r>
              <a:rPr lang="en-US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ở 25</a:t>
            </a:r>
            <a:r>
              <a:rPr lang="en-US" sz="86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en-US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C.</a:t>
            </a:r>
            <a:endParaRPr lang="vi-VN" sz="86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76200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Ở </a:t>
            </a:r>
            <a:r>
              <a:rPr lang="en-US" sz="2400" b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đk</a:t>
            </a:r>
            <a:r>
              <a:rPr lang="en-US" sz="24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chuẩn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25</a:t>
            </a:r>
            <a:r>
              <a:rPr lang="en-US" sz="24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C,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xác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định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hiều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pư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,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pin,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vi-VN" sz="24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G</a:t>
            </a:r>
            <a:r>
              <a:rPr lang="vi-VN" sz="24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vi-VN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298</a:t>
            </a:r>
            <a:r>
              <a:rPr lang="en-US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, K</a:t>
            </a:r>
            <a:r>
              <a:rPr lang="vi-VN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298</a:t>
            </a:r>
            <a:r>
              <a:rPr lang="en-US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</a:t>
            </a:r>
            <a:r>
              <a:rPr lang="vi-VN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2Fe</a:t>
            </a:r>
            <a:r>
              <a:rPr lang="vi-VN" sz="24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vi-VN" sz="24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(dd)</a:t>
            </a:r>
            <a:r>
              <a:rPr lang="vi-VN" sz="2400" baseline="30000" dirty="0">
                <a:latin typeface="Arial" pitchFamily="34" charset="0"/>
                <a:cs typeface="Arial" pitchFamily="34" charset="0"/>
              </a:rPr>
              <a:t>  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 + </a:t>
            </a:r>
            <a:r>
              <a:rPr lang="vi-VN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2Cl</a:t>
            </a:r>
            <a:r>
              <a:rPr lang="vi-VN" sz="24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(dd)   </a:t>
            </a:r>
            <a:r>
              <a:rPr lang="en-US" altLang="en-US" sz="2400" dirty="0">
                <a:latin typeface="Arial" pitchFamily="34" charset="0"/>
                <a:cs typeface="Arial" pitchFamily="34" charset="0"/>
              </a:rPr>
              <a:t>⇌ </a:t>
            </a:r>
            <a:r>
              <a:rPr lang="vi-VN" altLang="en-US" sz="2400" dirty="0">
                <a:latin typeface="Arial" pitchFamily="34" charset="0"/>
                <a:cs typeface="Arial" pitchFamily="34" charset="0"/>
              </a:rPr>
              <a:t>    </a:t>
            </a:r>
            <a:r>
              <a:rPr lang="vi-VN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2Fe</a:t>
            </a:r>
            <a:r>
              <a:rPr lang="vi-VN" sz="24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(dd)  +  </a:t>
            </a:r>
            <a:r>
              <a:rPr lang="vi-VN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Cl</a:t>
            </a:r>
            <a:r>
              <a:rPr lang="vi-VN" sz="24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(k)</a:t>
            </a:r>
            <a:r>
              <a:rPr lang="vi-VN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endParaRPr lang="en-US" sz="2400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9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C2FB703-7CED-4EB3-9C35-EE8016C67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95055"/>
            <a:ext cx="9109542" cy="7121152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vi-VN" sz="8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     </a:t>
            </a:r>
            <a:endParaRPr lang="vi-VN" sz="86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>
                <a:latin typeface="Arial" pitchFamily="34" charset="0"/>
                <a:cs typeface="Arial" pitchFamily="34" charset="0"/>
              </a:rPr>
              <a:t>25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C ,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</a:t>
            </a:r>
            <a:r>
              <a:rPr lang="vi-VN" sz="86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(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/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) = - 0,44V &lt;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</a:t>
            </a:r>
            <a:r>
              <a:rPr lang="vi-VN" sz="86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(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H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+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/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vi-VN" sz="86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= 0V </a:t>
            </a:r>
            <a:endParaRPr lang="vi-VN" sz="8600" baseline="-25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>
                <a:latin typeface="Arial" pitchFamily="34" charset="0"/>
                <a:cs typeface="Arial" pitchFamily="34" charset="0"/>
              </a:rPr>
              <a:t>Ở đk chuẩn 25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C, pư 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(r)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+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2H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(dd)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H</a:t>
            </a:r>
            <a:r>
              <a:rPr lang="vi-VN" sz="86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(k)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+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(dd)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; (</a:t>
            </a:r>
            <a:r>
              <a:rPr lang="en-US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= 2mol e)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>
              <a:lnSpc>
                <a:spcPct val="160000"/>
              </a:lnSpc>
              <a:buNone/>
            </a:pPr>
            <a:endParaRPr lang="en-US" sz="8600" b="1" u="sng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b="1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vi-VN" sz="8600" b="1" dirty="0" smtClean="0">
                <a:latin typeface="Arial" pitchFamily="34" charset="0"/>
                <a:cs typeface="Arial" pitchFamily="34" charset="0"/>
              </a:rPr>
              <a:t>NOD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(-) 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|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1M | |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1M |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vi-VN" sz="86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1atm |Pt (+)     </a:t>
            </a:r>
            <a:r>
              <a:rPr lang="vi-VN" sz="8600" b="1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vi-VN" sz="8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vi-VN" sz="8600" b="1" dirty="0">
                <a:latin typeface="Arial" pitchFamily="34" charset="0"/>
                <a:cs typeface="Arial" pitchFamily="34" charset="0"/>
              </a:rPr>
              <a:t>TOD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QT </a:t>
            </a:r>
            <a:r>
              <a:rPr lang="vi-VN" sz="8600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xy hóa: 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Fe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 - 2e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;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     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2H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+ 2e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H</a:t>
            </a:r>
            <a:r>
              <a:rPr lang="vi-VN" sz="86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: QT </a:t>
            </a:r>
            <a:r>
              <a:rPr lang="vi-VN" sz="8600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hử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>
              <a:lnSpc>
                <a:spcPct val="160000"/>
              </a:lnSpc>
              <a:buNone/>
            </a:pPr>
            <a:endParaRPr lang="en-US" sz="86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vi-VN" sz="86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=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</a:t>
            </a:r>
            <a:r>
              <a:rPr lang="vi-VN" sz="86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600" baseline="-25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+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- </a:t>
            </a:r>
            <a:r>
              <a:rPr lang="vi-VN" sz="86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600" baseline="-25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-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= 0 – (-0,44) = </a:t>
            </a:r>
            <a:r>
              <a:rPr lang="vi-VN" sz="8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0,44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[V</a:t>
            </a:r>
            <a:r>
              <a:rPr lang="vi-VN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]</a:t>
            </a:r>
            <a:r>
              <a:rPr lang="en-US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; 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F = 96500 [J/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Vmol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]</a:t>
            </a:r>
            <a:endParaRPr lang="vi-VN" sz="8600" dirty="0">
              <a:solidFill>
                <a:srgbClr val="C00000"/>
              </a:solidFill>
              <a:latin typeface="Arial" pitchFamily="34" charset="0"/>
              <a:cs typeface="Arial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</a:t>
            </a:r>
            <a:r>
              <a:rPr lang="vi-VN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G</a:t>
            </a:r>
            <a:r>
              <a:rPr lang="vi-VN" sz="86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vi-VN" sz="86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298</a:t>
            </a:r>
            <a:r>
              <a:rPr lang="en-US" sz="86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86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=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-</a:t>
            </a:r>
            <a:r>
              <a:rPr lang="vi-VN" sz="8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n</a:t>
            </a:r>
            <a:r>
              <a:rPr lang="vi-VN" sz="86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E</a:t>
            </a:r>
            <a:r>
              <a:rPr lang="vi-VN" sz="8600" baseline="300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vi-VN" sz="86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F</a:t>
            </a:r>
            <a:r>
              <a:rPr lang="en-US" sz="86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86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=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-</a:t>
            </a:r>
            <a:r>
              <a:rPr lang="vi-VN" sz="86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2.0,44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 .96500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= - 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84920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J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= </a:t>
            </a:r>
            <a:r>
              <a:rPr lang="vi-VN" sz="8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- 84,92 kJ</a:t>
            </a:r>
            <a:r>
              <a:rPr lang="en-US" sz="8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&lt; - </a:t>
            </a:r>
            <a:r>
              <a:rPr lang="en-US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40 kJ</a:t>
            </a:r>
            <a:endParaRPr lang="vi-VN" sz="86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>
                <a:latin typeface="Arial" pitchFamily="34" charset="0"/>
                <a:cs typeface="Arial" pitchFamily="34" charset="0"/>
              </a:rPr>
              <a:t>lgK</a:t>
            </a:r>
            <a:r>
              <a:rPr lang="vi-VN" sz="8600" baseline="-25000" dirty="0">
                <a:latin typeface="Arial" pitchFamily="34" charset="0"/>
                <a:cs typeface="Arial" pitchFamily="34" charset="0"/>
              </a:rPr>
              <a:t>298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=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E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/0,059 = 2.0,44/0,059 = 15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 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vi-VN" sz="86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298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vi-VN" sz="8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vi-VN" sz="86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15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&gt; 10</a:t>
            </a:r>
            <a:r>
              <a:rPr lang="en-US" sz="8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(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ở 25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C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)</a:t>
            </a:r>
            <a:endParaRPr lang="vi-VN" sz="8600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 Phản ứng tự phát hoàn </a:t>
            </a:r>
            <a:r>
              <a:rPr lang="vi-VN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toàn</a:t>
            </a:r>
            <a:r>
              <a:rPr lang="en-US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ở 25</a:t>
            </a:r>
            <a:r>
              <a:rPr lang="en-US" sz="8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en-US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C.</a:t>
            </a:r>
            <a:endParaRPr lang="vi-VN" sz="86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endParaRPr lang="vi-VN" sz="86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7620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Ở </a:t>
            </a:r>
            <a:r>
              <a:rPr lang="en-US" sz="2400" b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đk</a:t>
            </a:r>
            <a:r>
              <a:rPr lang="en-US" sz="24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chuẩn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25</a:t>
            </a:r>
            <a:r>
              <a:rPr lang="en-US" sz="24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C,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xác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định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hiều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pư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,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pin,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vi-VN" sz="24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G</a:t>
            </a:r>
            <a:r>
              <a:rPr lang="vi-VN" sz="24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vi-VN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298</a:t>
            </a:r>
            <a:r>
              <a:rPr lang="en-US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, K</a:t>
            </a:r>
            <a:r>
              <a:rPr lang="vi-VN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298</a:t>
            </a:r>
            <a:r>
              <a:rPr lang="en-US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    </a:t>
            </a:r>
            <a:r>
              <a:rPr lang="vi-VN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vi-VN" sz="2400" baseline="-25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400" dirty="0" smtClean="0">
                <a:latin typeface="Arial" pitchFamily="34" charset="0"/>
                <a:cs typeface="Arial" pitchFamily="34" charset="0"/>
              </a:rPr>
              <a:t>(k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)</a:t>
            </a:r>
            <a:r>
              <a:rPr lang="vi-VN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      +  </a:t>
            </a:r>
            <a:r>
              <a:rPr lang="vi-VN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24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(dd)  </a:t>
            </a:r>
            <a:r>
              <a:rPr lang="en-US" altLang="en-US" sz="2400" dirty="0">
                <a:latin typeface="Arial" pitchFamily="34" charset="0"/>
                <a:cs typeface="Arial" pitchFamily="34" charset="0"/>
              </a:rPr>
              <a:t>⇌ </a:t>
            </a:r>
            <a:r>
              <a:rPr lang="vi-VN" altLang="en-US" sz="2400" dirty="0">
                <a:latin typeface="Arial" pitchFamily="34" charset="0"/>
                <a:cs typeface="Arial" pitchFamily="34" charset="0"/>
              </a:rPr>
              <a:t>       </a:t>
            </a:r>
            <a:r>
              <a:rPr lang="vi-VN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(r)</a:t>
            </a:r>
            <a:r>
              <a:rPr lang="vi-VN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  +  </a:t>
            </a:r>
            <a:r>
              <a:rPr lang="vi-VN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2H</a:t>
            </a:r>
            <a:r>
              <a:rPr lang="vi-VN" sz="24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(dd)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endParaRPr lang="en-US" sz="2400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99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C2FB703-7CED-4EB3-9C35-EE8016C67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676364"/>
            <a:ext cx="9109542" cy="6435352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endParaRPr lang="vi-VN" sz="8600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>
                <a:latin typeface="Arial" pitchFamily="34" charset="0"/>
                <a:cs typeface="Arial" pitchFamily="34" charset="0"/>
              </a:rPr>
              <a:t>25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C ,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</a:t>
            </a:r>
            <a:r>
              <a:rPr lang="vi-VN" sz="86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(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Cu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/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Cu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) = 0,34V &gt;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</a:t>
            </a:r>
            <a:r>
              <a:rPr lang="vi-VN" sz="86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(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H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+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/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vi-VN" sz="86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= 0V </a:t>
            </a:r>
            <a:endParaRPr lang="vi-VN" sz="8600" baseline="-25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>
                <a:latin typeface="Arial" pitchFamily="34" charset="0"/>
                <a:cs typeface="Arial" pitchFamily="34" charset="0"/>
              </a:rPr>
              <a:t>Ở đk chuẩn 25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C, 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pư: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Cu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(dd) + 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vi-VN" sz="86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(k) </a:t>
            </a:r>
            <a:r>
              <a:rPr lang="en-US" altLang="en-US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</a:t>
            </a:r>
            <a:r>
              <a:rPr lang="en-US" altLang="en-US" sz="86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Cu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(r)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+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2H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(dd)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; (</a:t>
            </a:r>
            <a:r>
              <a:rPr lang="en-US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= 2mol e)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>
              <a:lnSpc>
                <a:spcPct val="160000"/>
              </a:lnSpc>
              <a:buNone/>
            </a:pPr>
            <a:endParaRPr lang="en-US" sz="8600" b="1" u="sng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b="1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vi-VN" sz="8600" b="1" dirty="0" smtClean="0">
                <a:latin typeface="Arial" pitchFamily="34" charset="0"/>
                <a:cs typeface="Arial" pitchFamily="34" charset="0"/>
              </a:rPr>
              <a:t>NOD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(-) Pt | 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vi-VN" sz="86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 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1atm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|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1M | |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Cu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1M | 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Cu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(+)     </a:t>
            </a:r>
            <a:r>
              <a:rPr lang="vi-VN" sz="8600" b="1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vi-VN" sz="8600" b="1" dirty="0">
                <a:latin typeface="Arial" pitchFamily="34" charset="0"/>
                <a:cs typeface="Arial" pitchFamily="34" charset="0"/>
              </a:rPr>
              <a:t>ATOD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QT </a:t>
            </a:r>
            <a:r>
              <a:rPr lang="vi-VN" sz="8600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xy hóa 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H</a:t>
            </a:r>
            <a:r>
              <a:rPr lang="vi-VN" sz="86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 - 2e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2H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    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;     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Cu</a:t>
            </a:r>
            <a:r>
              <a:rPr lang="vi-VN" sz="86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+ 2e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</a:t>
            </a:r>
            <a:r>
              <a:rPr lang="vi-VN" sz="8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Cu    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QT </a:t>
            </a:r>
            <a:r>
              <a:rPr lang="vi-VN" sz="8600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hử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>
              <a:lnSpc>
                <a:spcPct val="160000"/>
              </a:lnSpc>
              <a:buNone/>
            </a:pPr>
            <a:endParaRPr lang="en-US" sz="86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 smtClean="0">
                <a:latin typeface="Arial" pitchFamily="34" charset="0"/>
                <a:cs typeface="Arial" pitchFamily="34" charset="0"/>
              </a:rPr>
              <a:t>E</a:t>
            </a:r>
            <a:r>
              <a:rPr lang="vi-VN" sz="86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=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</a:t>
            </a:r>
            <a:r>
              <a:rPr lang="vi-VN" sz="86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600" baseline="-25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+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- </a:t>
            </a:r>
            <a:r>
              <a:rPr lang="vi-VN" sz="86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600" baseline="-25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-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= 0,34 – 0 = </a:t>
            </a:r>
            <a:r>
              <a:rPr lang="vi-VN" sz="8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0,34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[V</a:t>
            </a:r>
            <a:r>
              <a:rPr lang="vi-VN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]</a:t>
            </a:r>
            <a:r>
              <a:rPr lang="en-US" sz="8600" dirty="0" smtClean="0">
                <a:solidFill>
                  <a:srgbClr val="9933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; 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F = 96500 [J/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Vmol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]</a:t>
            </a:r>
            <a:endParaRPr lang="vi-VN" sz="8600" dirty="0">
              <a:solidFill>
                <a:srgbClr val="9933FF"/>
              </a:solidFill>
              <a:latin typeface="Arial" pitchFamily="34" charset="0"/>
              <a:cs typeface="Arial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G</a:t>
            </a:r>
            <a:r>
              <a:rPr lang="vi-VN" sz="86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vi-VN" sz="8600" baseline="-25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298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= -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n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E</a:t>
            </a:r>
            <a:r>
              <a:rPr lang="vi-VN" sz="86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F= -</a:t>
            </a:r>
            <a:r>
              <a:rPr lang="vi-VN" sz="86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2.0,34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 .96500 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= - 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65620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8600" dirty="0" smtClean="0">
                <a:latin typeface="Arial" pitchFamily="34" charset="0"/>
                <a:cs typeface="Arial" pitchFamily="34" charset="0"/>
              </a:rPr>
              <a:t>J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= </a:t>
            </a:r>
            <a:r>
              <a:rPr lang="vi-VN" sz="8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- 65,62 kJ</a:t>
            </a:r>
            <a:r>
              <a:rPr lang="en-US" sz="8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&lt; - </a:t>
            </a:r>
            <a:r>
              <a:rPr lang="en-US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40 kJ</a:t>
            </a:r>
            <a:endParaRPr lang="vi-VN" sz="86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>
                <a:latin typeface="Arial" pitchFamily="34" charset="0"/>
                <a:cs typeface="Arial" pitchFamily="34" charset="0"/>
              </a:rPr>
              <a:t>lgK</a:t>
            </a:r>
            <a:r>
              <a:rPr lang="vi-VN" sz="8600" baseline="-25000" dirty="0">
                <a:latin typeface="Arial" pitchFamily="34" charset="0"/>
                <a:cs typeface="Arial" pitchFamily="34" charset="0"/>
              </a:rPr>
              <a:t>298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 = </a:t>
            </a:r>
            <a:r>
              <a:rPr lang="vi-VN" sz="8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E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/0,059 = 2.0,34/0,059 = 11,5 </a:t>
            </a: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 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vi-VN" sz="86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298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vi-VN" sz="8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vi-VN" sz="86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11,5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&gt; 10</a:t>
            </a:r>
            <a:r>
              <a:rPr lang="en-US" sz="8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(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ở 25</a:t>
            </a:r>
            <a:r>
              <a:rPr lang="vi-VN" sz="86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vi-VN" sz="8600" dirty="0">
                <a:latin typeface="Arial" pitchFamily="34" charset="0"/>
                <a:cs typeface="Arial" pitchFamily="34" charset="0"/>
              </a:rPr>
              <a:t>C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)</a:t>
            </a:r>
            <a:endParaRPr lang="vi-VN" sz="8600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 </a:t>
            </a:r>
            <a:r>
              <a:rPr lang="vi-VN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Phản ứng tự phát hoàn </a:t>
            </a:r>
            <a:r>
              <a:rPr lang="vi-VN" sz="8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toàn</a:t>
            </a:r>
            <a:r>
              <a:rPr lang="en-US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ở 25</a:t>
            </a:r>
            <a:r>
              <a:rPr lang="en-US" sz="8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en-US" sz="86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C.</a:t>
            </a:r>
            <a:endParaRPr lang="vi-VN" sz="86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endParaRPr lang="vi-VN" sz="86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620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Ở </a:t>
            </a:r>
            <a:r>
              <a:rPr lang="en-US" sz="2400" b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đk</a:t>
            </a:r>
            <a:r>
              <a:rPr lang="en-US" sz="24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chuẩn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25</a:t>
            </a:r>
            <a:r>
              <a:rPr lang="en-US" sz="24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C,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xác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định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hiều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pư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,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pin,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vi-VN" sz="24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G</a:t>
            </a:r>
            <a:r>
              <a:rPr lang="vi-VN" sz="24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vi-VN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298</a:t>
            </a:r>
            <a:r>
              <a:rPr lang="en-US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, K</a:t>
            </a:r>
            <a:r>
              <a:rPr lang="vi-VN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298</a:t>
            </a:r>
            <a:r>
              <a:rPr lang="en-US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</a:t>
            </a:r>
            <a:r>
              <a:rPr lang="vi-VN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Cu</a:t>
            </a:r>
            <a:r>
              <a:rPr lang="vi-VN" sz="24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4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(dd)    + </a:t>
            </a:r>
            <a:r>
              <a:rPr lang="vi-VN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vi-VN" sz="24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(k)     </a:t>
            </a:r>
            <a:r>
              <a:rPr lang="en-US" altLang="en-US" sz="2400" dirty="0">
                <a:latin typeface="Arial" pitchFamily="34" charset="0"/>
                <a:cs typeface="Arial" pitchFamily="34" charset="0"/>
              </a:rPr>
              <a:t>⇌ </a:t>
            </a:r>
            <a:r>
              <a:rPr lang="vi-VN" altLang="en-US" sz="2400" dirty="0">
                <a:latin typeface="Arial" pitchFamily="34" charset="0"/>
                <a:cs typeface="Arial" pitchFamily="34" charset="0"/>
              </a:rPr>
              <a:t>       </a:t>
            </a:r>
            <a:r>
              <a:rPr lang="vi-VN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Cu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(r)</a:t>
            </a:r>
            <a:r>
              <a:rPr lang="vi-VN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  +  </a:t>
            </a:r>
            <a:r>
              <a:rPr lang="vi-VN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2H</a:t>
            </a:r>
            <a:r>
              <a:rPr lang="vi-VN" sz="24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(dd)</a:t>
            </a:r>
            <a:endParaRPr lang="en-US" sz="2400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76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C2FB703-7CED-4EB3-9C35-EE8016C67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9109542" cy="6303776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vi-VN" sz="8800" dirty="0" smtClean="0">
                <a:latin typeface="Arial" pitchFamily="34" charset="0"/>
                <a:cs typeface="Arial" pitchFamily="34" charset="0"/>
              </a:rPr>
              <a:t>25</a:t>
            </a:r>
            <a:r>
              <a:rPr lang="vi-VN" sz="88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vi-VN" sz="8800" dirty="0" smtClean="0">
                <a:latin typeface="Arial" pitchFamily="34" charset="0"/>
                <a:cs typeface="Arial" pitchFamily="34" charset="0"/>
              </a:rPr>
              <a:t>C 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, </a:t>
            </a:r>
            <a:r>
              <a:rPr lang="vi-VN" sz="88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</a:t>
            </a:r>
            <a:r>
              <a:rPr lang="vi-VN" sz="88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8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(</a:t>
            </a:r>
            <a:r>
              <a:rPr lang="vi-VN" sz="8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/</a:t>
            </a:r>
            <a:r>
              <a:rPr lang="vi-VN" sz="8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) = - 0,44V &lt; </a:t>
            </a:r>
            <a:r>
              <a:rPr lang="vi-VN" sz="88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</a:t>
            </a:r>
            <a:r>
              <a:rPr lang="vi-VN" sz="88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8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(</a:t>
            </a:r>
            <a:r>
              <a:rPr lang="vi-VN" sz="88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Cd</a:t>
            </a:r>
            <a:r>
              <a:rPr lang="vi-VN" sz="8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2+</a:t>
            </a:r>
            <a:r>
              <a:rPr lang="vi-VN" sz="88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/</a:t>
            </a:r>
            <a:r>
              <a:rPr lang="vi-VN" sz="8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Cd)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 = -0,40V </a:t>
            </a:r>
            <a:endParaRPr lang="vi-VN" sz="8800" baseline="-25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800" dirty="0">
                <a:latin typeface="Arial" pitchFamily="34" charset="0"/>
                <a:cs typeface="Arial" pitchFamily="34" charset="0"/>
              </a:rPr>
              <a:t>Ở đk chuẩn 25</a:t>
            </a:r>
            <a:r>
              <a:rPr lang="vi-VN" sz="88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C, </a:t>
            </a:r>
            <a:r>
              <a:rPr lang="vi-VN" sz="8800" dirty="0" smtClean="0">
                <a:latin typeface="Arial" pitchFamily="34" charset="0"/>
                <a:cs typeface="Arial" pitchFamily="34" charset="0"/>
              </a:rPr>
              <a:t>pư: </a:t>
            </a:r>
            <a:r>
              <a:rPr lang="vi-VN" sz="8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(r) + </a:t>
            </a:r>
            <a:r>
              <a:rPr lang="vi-VN" sz="8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Cd</a:t>
            </a:r>
            <a:r>
              <a:rPr lang="vi-VN" sz="8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(dd) </a:t>
            </a:r>
            <a:r>
              <a:rPr lang="vi-VN" sz="88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 </a:t>
            </a:r>
            <a:r>
              <a:rPr lang="vi-VN" sz="8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(dd) + </a:t>
            </a:r>
            <a:r>
              <a:rPr lang="vi-VN" sz="8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Cd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(r)</a:t>
            </a:r>
            <a:r>
              <a:rPr lang="en-US" sz="8800" dirty="0">
                <a:latin typeface="Arial" pitchFamily="34" charset="0"/>
                <a:cs typeface="Arial" pitchFamily="34" charset="0"/>
              </a:rPr>
              <a:t>; (</a:t>
            </a:r>
            <a:r>
              <a:rPr lang="en-US" sz="8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8800" dirty="0" smtClean="0">
                <a:latin typeface="Arial" pitchFamily="34" charset="0"/>
                <a:cs typeface="Arial" pitchFamily="34" charset="0"/>
              </a:rPr>
              <a:t> = 2mol </a:t>
            </a:r>
            <a:r>
              <a:rPr lang="en-US" sz="8800" dirty="0">
                <a:latin typeface="Arial" pitchFamily="34" charset="0"/>
                <a:cs typeface="Arial" pitchFamily="34" charset="0"/>
              </a:rPr>
              <a:t>e)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vi-VN" sz="8800" b="1" dirty="0">
                <a:latin typeface="Arial" pitchFamily="34" charset="0"/>
                <a:cs typeface="Arial" pitchFamily="34" charset="0"/>
              </a:rPr>
              <a:t>          </a:t>
            </a:r>
            <a:endParaRPr lang="en-US" sz="8800" b="1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800" b="1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vi-VN" sz="8800" b="1" dirty="0" smtClean="0">
                <a:latin typeface="Arial" pitchFamily="34" charset="0"/>
                <a:cs typeface="Arial" pitchFamily="34" charset="0"/>
              </a:rPr>
              <a:t>NOD</a:t>
            </a:r>
            <a:r>
              <a:rPr lang="vi-VN" sz="8800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(-) </a:t>
            </a:r>
            <a:r>
              <a:rPr lang="vi-VN" sz="8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 | </a:t>
            </a:r>
            <a:r>
              <a:rPr lang="vi-VN" sz="8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800" baseline="300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1M  | | </a:t>
            </a:r>
            <a:r>
              <a:rPr lang="vi-VN" sz="8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Cd</a:t>
            </a:r>
            <a:r>
              <a:rPr lang="vi-VN" sz="8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800" baseline="300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1M |</a:t>
            </a:r>
            <a:r>
              <a:rPr lang="vi-VN" sz="8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Cd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 (+)     </a:t>
            </a:r>
            <a:r>
              <a:rPr lang="vi-VN" sz="8800" b="1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vi-VN" sz="8800" b="1" dirty="0">
                <a:latin typeface="Arial" pitchFamily="34" charset="0"/>
                <a:cs typeface="Arial" pitchFamily="34" charset="0"/>
              </a:rPr>
              <a:t>ATOD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vi-VN" sz="8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QT </a:t>
            </a:r>
            <a:r>
              <a:rPr lang="vi-VN" sz="8800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xy hóa: </a:t>
            </a:r>
            <a:r>
              <a:rPr lang="vi-VN" sz="8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Fe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  - 2e</a:t>
            </a:r>
            <a:r>
              <a:rPr lang="vi-VN" sz="8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8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</a:t>
            </a:r>
            <a:r>
              <a:rPr lang="vi-VN" sz="88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8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8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800" baseline="30000" dirty="0">
                <a:latin typeface="Arial" pitchFamily="34" charset="0"/>
                <a:cs typeface="Arial" pitchFamily="34" charset="0"/>
              </a:rPr>
              <a:t>    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;</a:t>
            </a:r>
            <a:r>
              <a:rPr lang="vi-VN" sz="8800" baseline="30000" dirty="0">
                <a:latin typeface="Arial" pitchFamily="34" charset="0"/>
                <a:cs typeface="Arial" pitchFamily="34" charset="0"/>
              </a:rPr>
              <a:t>       </a:t>
            </a:r>
            <a:r>
              <a:rPr lang="vi-VN" sz="8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Cd</a:t>
            </a:r>
            <a:r>
              <a:rPr lang="vi-VN" sz="8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8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+ 2e </a:t>
            </a:r>
            <a:r>
              <a:rPr lang="vi-VN" sz="88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</a:t>
            </a:r>
            <a:r>
              <a:rPr lang="vi-VN" sz="8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Cd        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: QT </a:t>
            </a:r>
            <a:r>
              <a:rPr lang="vi-VN" sz="8800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hử</a:t>
            </a:r>
            <a:r>
              <a:rPr lang="vi-VN" sz="8800" baseline="30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>
              <a:lnSpc>
                <a:spcPct val="160000"/>
              </a:lnSpc>
              <a:buNone/>
            </a:pPr>
            <a:endParaRPr lang="en-US" sz="8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vi-VN" sz="88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vi-VN" sz="8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= </a:t>
            </a:r>
            <a:r>
              <a:rPr lang="vi-VN" sz="88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</a:t>
            </a:r>
            <a:r>
              <a:rPr lang="vi-VN" sz="88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800" baseline="-25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+</a:t>
            </a:r>
            <a:r>
              <a:rPr lang="vi-VN" sz="88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- </a:t>
            </a:r>
            <a:r>
              <a:rPr lang="vi-VN" sz="8800" baseline="30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o</a:t>
            </a:r>
            <a:r>
              <a:rPr lang="vi-VN" sz="8800" baseline="-25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-</a:t>
            </a:r>
            <a:r>
              <a:rPr lang="vi-VN" sz="88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= 0 – (-0,04) = </a:t>
            </a:r>
            <a:r>
              <a:rPr lang="vi-VN" sz="8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0,04 [V</a:t>
            </a:r>
            <a:r>
              <a:rPr lang="vi-VN" sz="8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]</a:t>
            </a:r>
            <a:r>
              <a:rPr lang="en-US" sz="8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8800" dirty="0" smtClean="0">
                <a:solidFill>
                  <a:srgbClr val="9933FF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; </a:t>
            </a:r>
            <a:r>
              <a:rPr lang="en-US" sz="8800" dirty="0">
                <a:latin typeface="Arial" pitchFamily="34" charset="0"/>
                <a:cs typeface="Arial" pitchFamily="34" charset="0"/>
              </a:rPr>
              <a:t>F = 96500 [J/</a:t>
            </a:r>
            <a:r>
              <a:rPr lang="en-US" sz="8800" dirty="0" err="1">
                <a:latin typeface="Arial" pitchFamily="34" charset="0"/>
                <a:cs typeface="Arial" pitchFamily="34" charset="0"/>
              </a:rPr>
              <a:t>Vmol</a:t>
            </a:r>
            <a:r>
              <a:rPr lang="en-US" sz="8800" dirty="0" smtClean="0">
                <a:latin typeface="Arial" pitchFamily="34" charset="0"/>
                <a:cs typeface="Arial" pitchFamily="34" charset="0"/>
              </a:rPr>
              <a:t>]</a:t>
            </a:r>
            <a:endParaRPr lang="vi-VN" sz="8800" dirty="0">
              <a:solidFill>
                <a:srgbClr val="9933FF"/>
              </a:solidFill>
              <a:latin typeface="Arial" pitchFamily="34" charset="0"/>
              <a:cs typeface="Arial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</a:t>
            </a:r>
            <a:r>
              <a:rPr lang="vi-VN" sz="8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G</a:t>
            </a:r>
            <a:r>
              <a:rPr lang="vi-VN" sz="88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vi-VN" sz="88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298</a:t>
            </a:r>
            <a:r>
              <a:rPr lang="en-US" sz="88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88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= </a:t>
            </a:r>
            <a:r>
              <a:rPr lang="vi-VN" sz="88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-</a:t>
            </a:r>
            <a:r>
              <a:rPr lang="vi-VN" sz="8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n</a:t>
            </a:r>
            <a:r>
              <a:rPr lang="vi-VN" sz="88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E</a:t>
            </a:r>
            <a:r>
              <a:rPr lang="vi-VN" sz="8800" baseline="300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vi-VN" sz="88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F</a:t>
            </a:r>
            <a:r>
              <a:rPr lang="en-US" sz="88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88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= </a:t>
            </a:r>
            <a:r>
              <a:rPr lang="vi-VN" sz="88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-</a:t>
            </a:r>
            <a:r>
              <a:rPr lang="vi-VN" sz="8800" dirty="0" smtClean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2.0,04</a:t>
            </a:r>
            <a:r>
              <a:rPr lang="vi-VN" sz="8800" dirty="0" smtClean="0">
                <a:latin typeface="Arial" pitchFamily="34" charset="0"/>
                <a:cs typeface="Arial" pitchFamily="34" charset="0"/>
              </a:rPr>
              <a:t> .96500 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= - </a:t>
            </a:r>
            <a:r>
              <a:rPr lang="vi-VN" sz="8800" dirty="0" smtClean="0">
                <a:latin typeface="Arial" pitchFamily="34" charset="0"/>
                <a:cs typeface="Arial" pitchFamily="34" charset="0"/>
              </a:rPr>
              <a:t>7720</a:t>
            </a:r>
            <a:r>
              <a:rPr lang="en-US" sz="8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8800" dirty="0" smtClean="0">
                <a:latin typeface="Arial" pitchFamily="34" charset="0"/>
                <a:cs typeface="Arial" pitchFamily="34" charset="0"/>
              </a:rPr>
              <a:t>J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= </a:t>
            </a:r>
            <a:r>
              <a:rPr lang="vi-VN" sz="8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- 7,72 </a:t>
            </a:r>
            <a:r>
              <a:rPr lang="vi-VN" sz="8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kJ</a:t>
            </a:r>
            <a:r>
              <a:rPr lang="en-US" sz="8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vi-VN" sz="8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8800" dirty="0">
                <a:latin typeface="Arial" pitchFamily="34" charset="0"/>
                <a:cs typeface="Arial" pitchFamily="34" charset="0"/>
              </a:rPr>
              <a:t>lgK</a:t>
            </a:r>
            <a:r>
              <a:rPr lang="vi-VN" sz="8800" baseline="-25000" dirty="0">
                <a:latin typeface="Arial" pitchFamily="34" charset="0"/>
                <a:cs typeface="Arial" pitchFamily="34" charset="0"/>
              </a:rPr>
              <a:t>298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 = </a:t>
            </a:r>
            <a:r>
              <a:rPr lang="vi-VN" sz="8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E</a:t>
            </a:r>
            <a:r>
              <a:rPr lang="vi-VN" sz="8800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vi-VN" sz="8800" dirty="0">
                <a:latin typeface="Arial" pitchFamily="34" charset="0"/>
                <a:cs typeface="Arial" pitchFamily="34" charset="0"/>
              </a:rPr>
              <a:t>/0,059 = 2.0,04/0,059 = 1,36 </a:t>
            </a:r>
            <a:r>
              <a:rPr lang="vi-VN" sz="88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 </a:t>
            </a:r>
            <a:r>
              <a:rPr lang="vi-VN" sz="8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vi-VN" sz="88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298</a:t>
            </a:r>
            <a:r>
              <a:rPr lang="vi-VN" sz="8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10</a:t>
            </a:r>
            <a:r>
              <a:rPr lang="vi-VN" sz="8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1,36</a:t>
            </a:r>
            <a:r>
              <a:rPr lang="vi-VN" sz="8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&lt;</a:t>
            </a:r>
            <a:r>
              <a:rPr lang="en-US" sz="8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10</a:t>
            </a:r>
            <a:r>
              <a:rPr lang="en-US" sz="88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vi-VN" sz="8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vi-VN" sz="8800" dirty="0" smtClean="0">
                <a:latin typeface="Arial" pitchFamily="34" charset="0"/>
                <a:cs typeface="Arial" pitchFamily="34" charset="0"/>
              </a:rPr>
              <a:t>ở 25</a:t>
            </a:r>
            <a:r>
              <a:rPr lang="vi-VN" sz="88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vi-VN" sz="8800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8800" dirty="0" smtClean="0">
                <a:latin typeface="Arial" pitchFamily="34" charset="0"/>
                <a:cs typeface="Arial" pitchFamily="34" charset="0"/>
              </a:rPr>
              <a:t>)</a:t>
            </a:r>
            <a:endParaRPr lang="vi-VN" sz="8800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vi-VN" sz="96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 </a:t>
            </a:r>
            <a:r>
              <a:rPr lang="vi-VN" sz="96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Phản ứng thuận nghịch</a:t>
            </a:r>
            <a:endParaRPr lang="vi-VN" sz="96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6200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Ở </a:t>
            </a:r>
            <a:r>
              <a:rPr lang="en-US" sz="2400" b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đk</a:t>
            </a:r>
            <a:r>
              <a:rPr lang="en-US" sz="24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chuẩn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25</a:t>
            </a:r>
            <a:r>
              <a:rPr lang="en-US" sz="24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C,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xác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định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hiều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pư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,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pin,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vi-VN" sz="24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G</a:t>
            </a:r>
            <a:r>
              <a:rPr lang="vi-VN" sz="2400" b="1" baseline="30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vi-VN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298</a:t>
            </a:r>
            <a:r>
              <a:rPr lang="en-US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vi-VN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, K</a:t>
            </a:r>
            <a:r>
              <a:rPr lang="vi-VN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298</a:t>
            </a:r>
            <a:r>
              <a:rPr lang="en-US" sz="2400" b="1" baseline="-25000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4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vi-VN" sz="2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 </a:t>
            </a:r>
            <a:r>
              <a:rPr lang="vi-VN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(r)    +  </a:t>
            </a:r>
            <a:r>
              <a:rPr lang="vi-VN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Cd</a:t>
            </a:r>
            <a:r>
              <a:rPr lang="vi-VN" sz="24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(dd)   </a:t>
            </a:r>
            <a:r>
              <a:rPr lang="en-US" altLang="en-US" sz="2400" dirty="0">
                <a:latin typeface="Arial" pitchFamily="34" charset="0"/>
                <a:cs typeface="Arial" pitchFamily="34" charset="0"/>
              </a:rPr>
              <a:t>⇌ </a:t>
            </a:r>
            <a:r>
              <a:rPr lang="vi-VN" altLang="en-US" sz="2400" dirty="0">
                <a:latin typeface="Arial" pitchFamily="34" charset="0"/>
                <a:cs typeface="Arial" pitchFamily="34" charset="0"/>
              </a:rPr>
              <a:t>      </a:t>
            </a:r>
            <a:r>
              <a:rPr lang="vi-VN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24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(dd)  +  </a:t>
            </a:r>
            <a:r>
              <a:rPr lang="vi-VN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Cd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(r) </a:t>
            </a: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3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838" y="643389"/>
            <a:ext cx="8995911" cy="14478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s-ES" sz="2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s-E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lập</a:t>
            </a:r>
            <a:r>
              <a:rPr lang="es-E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công</a:t>
            </a:r>
            <a:r>
              <a:rPr lang="es-E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thức</a:t>
            </a:r>
            <a:r>
              <a:rPr lang="es-E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s-ES" sz="2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ính</a:t>
            </a:r>
            <a:r>
              <a:rPr lang="es-E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pH </a:t>
            </a:r>
            <a:r>
              <a:rPr lang="es-ES" sz="24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s-E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dung</a:t>
            </a:r>
            <a:r>
              <a:rPr lang="es-E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dịch</a:t>
            </a:r>
            <a:r>
              <a:rPr lang="es-E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ở 25</a:t>
            </a:r>
            <a:r>
              <a:rPr lang="es-ES" sz="2400" baseline="30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 </a:t>
            </a:r>
            <a:r>
              <a:rPr lang="es-ES" sz="2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s-E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pin </a:t>
            </a:r>
            <a:r>
              <a:rPr lang="es-ES" sz="2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sau</a:t>
            </a:r>
            <a:r>
              <a:rPr lang="es-E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(-)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Pt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  <a:sym typeface="Symbol"/>
              </a:rPr>
              <a:t> 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0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000" dirty="0">
                <a:latin typeface="Arial" pitchFamily="34" charset="0"/>
                <a:cs typeface="Arial" pitchFamily="34" charset="0"/>
                <a:sym typeface="Symbol"/>
              </a:rPr>
              <a:t> 1atm   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H</a:t>
            </a:r>
            <a:r>
              <a:rPr lang="en-US" sz="20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+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000" dirty="0" err="1">
                <a:latin typeface="Arial" pitchFamily="34" charset="0"/>
                <a:cs typeface="Arial" pitchFamily="34" charset="0"/>
                <a:sym typeface="Symbol"/>
              </a:rPr>
              <a:t>dd</a:t>
            </a:r>
            <a:r>
              <a:rPr lang="en-US" sz="2000" dirty="0">
                <a:latin typeface="Arial" pitchFamily="34" charset="0"/>
                <a:cs typeface="Arial" pitchFamily="34" charset="0"/>
                <a:sym typeface="Symbol"/>
              </a:rPr>
              <a:t>) pH = ?  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dd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KCl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bão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hòa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  <a:sym typeface="Symbol"/>
              </a:rPr>
              <a:t> 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Hg</a:t>
            </a:r>
            <a:r>
              <a:rPr lang="en-US" sz="20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Cl</a:t>
            </a:r>
            <a:r>
              <a:rPr lang="en-US" sz="20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000" dirty="0">
                <a:latin typeface="Arial" pitchFamily="34" charset="0"/>
                <a:cs typeface="Arial" pitchFamily="34" charset="0"/>
                <a:sym typeface="Symbol"/>
              </a:rPr>
              <a:t>(r)  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Hg</a:t>
            </a:r>
            <a:r>
              <a:rPr lang="en-US" sz="2000" dirty="0">
                <a:latin typeface="Arial" pitchFamily="34" charset="0"/>
                <a:cs typeface="Arial" pitchFamily="34" charset="0"/>
                <a:sym typeface="Symbol"/>
              </a:rPr>
              <a:t>(</a:t>
            </a:r>
            <a:r>
              <a:rPr lang="en-US" sz="2000" dirty="0" err="1">
                <a:latin typeface="Arial" pitchFamily="34" charset="0"/>
                <a:cs typeface="Arial" pitchFamily="34" charset="0"/>
                <a:sym typeface="Symbol"/>
              </a:rPr>
              <a:t>lỏng</a:t>
            </a:r>
            <a:r>
              <a:rPr lang="en-US" sz="2000" dirty="0">
                <a:latin typeface="Arial" pitchFamily="34" charset="0"/>
                <a:cs typeface="Arial" pitchFamily="34" charset="0"/>
                <a:sym typeface="Symbol"/>
              </a:rPr>
              <a:t>) </a:t>
            </a:r>
            <a:r>
              <a:rPr lang="en-US" sz="2000" dirty="0">
                <a:sym typeface="Symbol"/>
              </a:rPr>
              <a:t> </a:t>
            </a:r>
            <a:r>
              <a:rPr lang="en-US" sz="2000" dirty="0" err="1">
                <a:latin typeface="Arial" pitchFamily="34" charset="0"/>
                <a:cs typeface="Arial" pitchFamily="34" charset="0"/>
                <a:sym typeface="Symbol"/>
              </a:rPr>
              <a:t>Pt</a:t>
            </a:r>
            <a:r>
              <a:rPr lang="en-US" sz="2000" dirty="0">
                <a:latin typeface="Arial" pitchFamily="34" charset="0"/>
                <a:cs typeface="Arial" pitchFamily="34" charset="0"/>
                <a:sym typeface="Symbol"/>
              </a:rPr>
              <a:t> (+)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algn="l"/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algn="l"/>
            <a:endParaRPr lang="en-US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70872" y="2139710"/>
            <a:ext cx="4953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Hg</a:t>
            </a:r>
            <a:r>
              <a:rPr lang="vi-VN" sz="20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Cl</a:t>
            </a:r>
            <a:r>
              <a:rPr lang="vi-VN" sz="20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(r</a:t>
            </a:r>
            <a:r>
              <a:rPr lang="vi-VN" sz="2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vi-VN" sz="2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+ </a:t>
            </a:r>
            <a:r>
              <a:rPr lang="vi-VN" sz="2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2e </a:t>
            </a:r>
            <a:r>
              <a:rPr lang="vi-VN" sz="2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vi-VN" sz="2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2Hg</a:t>
            </a:r>
            <a:r>
              <a:rPr lang="vi-VN" sz="2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(lỏng</a:t>
            </a:r>
            <a:r>
              <a:rPr lang="vi-VN" sz="2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vi-VN" sz="2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+ 2Cl</a:t>
            </a:r>
            <a:r>
              <a:rPr lang="vi-VN" sz="2000" baseline="30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000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bãohòa</a:t>
            </a:r>
            <a:r>
              <a:rPr lang="en-US" sz="2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sz="20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  <a:p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2098378"/>
            <a:ext cx="2872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2H</a:t>
            </a:r>
            <a:r>
              <a:rPr lang="vi-VN" sz="20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(dd)  +  2e  =  </a:t>
            </a:r>
            <a:r>
              <a:rPr lang="vi-VN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vi-VN" sz="20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(k</a:t>
            </a:r>
            <a:r>
              <a:rPr lang="vi-VN" sz="2400" dirty="0">
                <a:latin typeface="Arial" pitchFamily="34" charset="0"/>
                <a:cs typeface="Arial" pitchFamily="34" charset="0"/>
              </a:rPr>
              <a:t>)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3838" y="2819400"/>
                <a:ext cx="4609379" cy="1229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000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φ</a:t>
                </a:r>
                <a:r>
                  <a:rPr lang="vi-VN" sz="2000" baseline="-25000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hydro</a:t>
                </a:r>
                <a:r>
                  <a:rPr lang="vi-VN" sz="2000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vi-VN" sz="2000" dirty="0">
                    <a:solidFill>
                      <a:schemeClr val="accent6">
                        <a:lumMod val="50000"/>
                      </a:schemeClr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  <a:sym typeface="Symbol"/>
                          </a:rPr>
                          <m:t>0,059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  <a:sym typeface="Symbol"/>
                          </a:rPr>
                          <m:t>2</m:t>
                        </m:r>
                      </m:den>
                    </m:f>
                  </m:oMath>
                </a14:m>
                <a:r>
                  <a:rPr lang="vi-VN" sz="2000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. </a:t>
                </a:r>
                <a:r>
                  <a:rPr lang="en-US" sz="2000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l</a:t>
                </a:r>
                <a:r>
                  <a:rPr lang="vi-VN" sz="2000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g</a:t>
                </a:r>
                <a:r>
                  <a:rPr lang="en-US" sz="2000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[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𝐻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]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den>
                    </m:f>
                  </m:oMath>
                </a14:m>
                <a:r>
                  <a:rPr lang="en-US" sz="2000" dirty="0" smtClean="0"/>
                  <a:t> ; </a:t>
                </a:r>
                <a:endParaRPr lang="en-US" sz="2000" dirty="0"/>
              </a:p>
              <a:p>
                <a:r>
                  <a:rPr lang="en-US" sz="2000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vi-VN" sz="2000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φ</a:t>
                </a:r>
                <a:r>
                  <a:rPr lang="vi-VN" sz="2000" baseline="-25000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hydro</a:t>
                </a:r>
                <a:r>
                  <a:rPr lang="en-US" sz="2000" baseline="-25000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vi-VN" sz="2000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= </a:t>
                </a:r>
                <a:r>
                  <a:rPr lang="vi-VN" sz="2000" dirty="0">
                    <a:solidFill>
                      <a:schemeClr val="accent6">
                        <a:lumMod val="50000"/>
                      </a:schemeClr>
                    </a:solidFill>
                  </a:rPr>
                  <a:t>0,059.lg[</a:t>
                </a:r>
                <a:r>
                  <a:rPr lang="vi-VN" sz="2000" dirty="0">
                    <a:solidFill>
                      <a:srgbClr val="FF0000"/>
                    </a:solidFill>
                  </a:rPr>
                  <a:t>H</a:t>
                </a:r>
                <a:r>
                  <a:rPr lang="vi-VN" sz="2000" baseline="30000" dirty="0">
                    <a:solidFill>
                      <a:srgbClr val="FF0000"/>
                    </a:solidFill>
                  </a:rPr>
                  <a:t>+</a:t>
                </a:r>
                <a:r>
                  <a:rPr lang="vi-VN" sz="2000" dirty="0">
                    <a:solidFill>
                      <a:srgbClr val="FF0000"/>
                    </a:solidFill>
                  </a:rPr>
                  <a:t>] </a:t>
                </a:r>
                <a:r>
                  <a:rPr lang="vi-VN" sz="2000" dirty="0">
                    <a:solidFill>
                      <a:schemeClr val="accent6">
                        <a:lumMod val="50000"/>
                      </a:schemeClr>
                    </a:solidFill>
                  </a:rPr>
                  <a:t>= - 0,059.pH </a:t>
                </a:r>
                <a:endParaRPr lang="en-US" sz="2000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38" y="2819400"/>
                <a:ext cx="4609379" cy="1229696"/>
              </a:xfrm>
              <a:prstGeom prst="rect">
                <a:avLst/>
              </a:prstGeom>
              <a:blipFill rotWithShape="1">
                <a:blip r:embed="rId2"/>
                <a:stretch>
                  <a:fillRect l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143000" y="4648200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 = 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</a:t>
            </a:r>
            <a:r>
              <a:rPr lang="en-US" sz="28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+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- </a:t>
            </a:r>
            <a:r>
              <a:rPr lang="en-US" sz="28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-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= </a:t>
            </a:r>
            <a:r>
              <a:rPr lang="en-US" sz="2800" baseline="-250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cal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- </a:t>
            </a:r>
            <a:r>
              <a:rPr lang="en-US" sz="2800" baseline="-25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hydro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= </a:t>
            </a:r>
            <a:r>
              <a:rPr lang="en-US" sz="2800" baseline="-250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cal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+ 0,059.pH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330463" y="3124200"/>
                <a:ext cx="4737337" cy="521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</a:t>
                </a:r>
                <a:r>
                  <a:rPr lang="en-US" baseline="-25000" dirty="0" err="1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cal</a:t>
                </a:r>
                <a:r>
                  <a:rPr lang="en-US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= </a:t>
                </a:r>
                <a:r>
                  <a:rPr lang="en-US" baseline="30000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0</a:t>
                </a:r>
                <a:r>
                  <a:rPr lang="en-US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CC00FF"/>
                            </a:solidFill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/>
                            <a:sym typeface="Symbol"/>
                          </a:rPr>
                          <m:t>0,059</m:t>
                        </m:r>
                      </m:num>
                      <m:den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/>
                            <a:sym typeface="Symbol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lg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CC00FF"/>
                            </a:solidFill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rgbClr val="CC00FF"/>
                            </a:solidFill>
                            <a:latin typeface="Cambria Math"/>
                            <a:sym typeface="Symbol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 dirty="0">
                                <a:solidFill>
                                  <a:srgbClr val="CC00FF"/>
                                </a:solidFill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rgbClr val="CC00FF"/>
                                </a:solidFill>
                                <a:latin typeface="Cambria Math"/>
                                <a:sym typeface="Symbol"/>
                              </a:rPr>
                              <m:t>[</m:t>
                            </m:r>
                            <m:r>
                              <a:rPr lang="en-US" i="1" dirty="0">
                                <a:solidFill>
                                  <a:srgbClr val="CC00FF"/>
                                </a:solidFill>
                                <a:latin typeface="Cambria Math"/>
                                <a:sym typeface="Symbol"/>
                              </a:rPr>
                              <m:t>𝐶𝑙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rgbClr val="CC00FF"/>
                                </a:solidFill>
                                <a:latin typeface="Cambria Math"/>
                                <a:sym typeface="Symbol"/>
                              </a:rPr>
                              <m:t>−</m:t>
                            </m:r>
                          </m:sup>
                        </m:sSup>
                        <m:sSup>
                          <m:sSupPr>
                            <m:ctrlPr>
                              <a:rPr lang="en-US" i="1" dirty="0">
                                <a:solidFill>
                                  <a:srgbClr val="CC00FF"/>
                                </a:solidFill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rgbClr val="CC00FF"/>
                                </a:solidFill>
                                <a:latin typeface="Cambria Math"/>
                                <a:sym typeface="Symbol"/>
                              </a:rPr>
                              <m:t>]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rgbClr val="CC00FF"/>
                                </a:solidFill>
                                <a:latin typeface="Cambria Math"/>
                                <a:sym typeface="Symbol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</a:t>
                </a:r>
                <a:r>
                  <a:rPr lang="en-US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= </a:t>
                </a:r>
                <a:r>
                  <a:rPr lang="en-US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const</a:t>
                </a:r>
                <a:r>
                  <a:rPr lang="en-US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 ; [</a:t>
                </a:r>
                <a:r>
                  <a:rPr lang="en-US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Cl</a:t>
                </a:r>
                <a:r>
                  <a:rPr lang="en-US" baseline="300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-</a:t>
                </a:r>
                <a:r>
                  <a:rPr lang="en-US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] = </a:t>
                </a:r>
                <a:r>
                  <a:rPr lang="en-US" dirty="0" err="1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const</a:t>
                </a:r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463" y="3124200"/>
                <a:ext cx="4737337" cy="521168"/>
              </a:xfrm>
              <a:prstGeom prst="rect">
                <a:avLst/>
              </a:prstGeom>
              <a:blipFill rotWithShape="1">
                <a:blip r:embed="rId3"/>
                <a:stretch>
                  <a:fillRect l="-1028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78280" y="215660"/>
            <a:ext cx="6469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ỨNG DỤNG PIN ĐO pH DUNG DỊCH</a:t>
            </a:r>
            <a:endParaRPr lang="en-US" sz="2800" b="1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96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4603</TotalTime>
  <Words>6900</Words>
  <Application>Microsoft Office PowerPoint</Application>
  <PresentationFormat>On-screen Show (4:3)</PresentationFormat>
  <Paragraphs>602</Paragraphs>
  <Slides>58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0" baseType="lpstr">
      <vt:lpstr>Office Theme</vt:lpstr>
      <vt:lpstr>Equation</vt:lpstr>
      <vt:lpstr>THỰC HÀNH CÔNG THỨC HÓA ĐẠI CƯƠNG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CÔNG THỨC TÍNH G0T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HẰNG SỐ CÂN BẰNG CỦA PƯ TRAO ĐỔI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PHƯƠNG TRÌNH NERNST</vt:lpstr>
      <vt:lpstr>Ở 250C, tính 0(MnO2/Mn2+)                          Cho biết:  0(MnO-4/Mn2+)= 1,51 V         0(MnO4-/MnO2) = 1,7 V</vt:lpstr>
      <vt:lpstr>PowerPoint Presentation</vt:lpstr>
      <vt:lpstr>PowerPoint Presentation</vt:lpstr>
      <vt:lpstr>PowerPoint Presentation</vt:lpstr>
      <vt:lpstr>Thiết lập sơ đồ nguyên tố Ganvanic của phản ứng sau:</vt:lpstr>
      <vt:lpstr>Thiết lập sơ đồ nguyên tố Ganvanic của phản ứng sau:</vt:lpstr>
      <vt:lpstr>Thiết lập sơ đồ nguyên tố Ganvanic của phản ứng sau:</vt:lpstr>
      <vt:lpstr>Thiết lập sơ đồ nguyên tố Ganvanic của phản ứng sau: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186</cp:revision>
  <dcterms:created xsi:type="dcterms:W3CDTF">2020-07-09T05:21:43Z</dcterms:created>
  <dcterms:modified xsi:type="dcterms:W3CDTF">2021-01-06T09:08:03Z</dcterms:modified>
</cp:coreProperties>
</file>